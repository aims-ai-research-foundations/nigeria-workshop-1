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71" r:id="rId22"/>
    <p:sldId id="259" r:id="rId10"/>
    <p:sldId id="260" r:id="rId11"/>
    <p:sldId id="274" r:id="rId13"/>
    <p:sldId id="275" r:id="rId25"/>
    <p:sldId id="276" r:id="rId26"/>
    <p:sldId id="261" r:id="rId12"/>
    <p:sldId id="263" r:id="rId14"/>
    <p:sldId id="264" r:id="rId15"/>
    <p:sldId id="265" r:id="rId16"/>
    <p:sldId id="266" r:id="rId17"/>
    <p:sldId id="267" r:id="rId18"/>
    <p:sldId id="268" r:id="rId19"/>
    <p:sldId id="273" r:id="rId24"/>
    <p:sldId id="269" r:id="rId20"/>
    <p:sldId id="270" r:id="rId2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B9C8AB-C244-43CA-B017-006A891E5830}">
  <a:tblStyle styleId="{5EB9C8AB-C244-43CA-B017-006A891E58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10.xml"/><Relationship Id="rId13" Type="http://schemas.openxmlformats.org/officeDocument/2006/relationships/slide" Target="slides/slide7.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4.xml"/><Relationship Id="rId24" Type="http://schemas.openxmlformats.org/officeDocument/2006/relationships/slide" Target="slides/slide17.xml"/><Relationship Id="rId25" Type="http://schemas.openxmlformats.org/officeDocument/2006/relationships/slide" Target="slides/slide8.xml"/><Relationship Id="rId2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a37c41e09_0_103:notes"/>
          <p:cNvSpPr/>
          <p:nvPr>
            <p:ph idx="2" type="sldImg"/>
          </p:nvPr>
        </p:nvSpPr>
        <p:spPr>
          <a:xfrm>
            <a:off x="685800" y="1524000"/>
            <a:ext cx="54864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ea37c41e09_0_103:notes"/>
          <p:cNvSpPr txBox="1"/>
          <p:nvPr>
            <p:ph idx="1" type="body"/>
          </p:nvPr>
        </p:nvSpPr>
        <p:spPr>
          <a:xfrm>
            <a:off x="685800" y="5867400"/>
            <a:ext cx="5486400" cy="4800900"/>
          </a:xfrm>
          <a:prstGeom prst="rect">
            <a:avLst/>
          </a:prstGeom>
          <a:noFill/>
          <a:ln>
            <a:noFill/>
          </a:ln>
        </p:spPr>
        <p:txBody>
          <a:bodyPr anchorCtr="0" anchor="t" bIns="45700" lIns="91425" spcFirstLastPara="1" rIns="91425" wrap="square" tIns="45700">
            <a:noAutofit/>
          </a:bodyPr>
          <a:lstStyle/>
          <a:p>
            <a:r>
              <a:t>Facilitator debrief, 30 min (Wed 16:00, both Nigeria weeks + Ghana). Participants already completed GSP531 before this session (virtual onboarding). New slides 4-5 recap the access path from the reference video; slide 16 adds two notebook gotchas found in QA that the original deck never mentioned. Menu Master says 40 min; the schedule only allocates 30, confirm with whoever owns the agenda.</a:t>
            </a:r>
          </a:p>
        </p:txBody>
      </p:sp>
      <p:sp>
        <p:nvSpPr>
          <p:cNvPr id="91" name="Google Shape;91;g3ea37c41e09_0_103:notes"/>
          <p:cNvSpPr txBox="1"/>
          <p:nvPr>
            <p:ph idx="12" type="sldNum"/>
          </p:nvPr>
        </p:nvSpPr>
        <p:spPr>
          <a:xfrm>
            <a:off x="3884613" y="11580284"/>
            <a:ext cx="2971800" cy="611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18cf5a27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f18cf5a27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f18cf5a27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All three fail silently: the cell runs, the code is right, nothing reaches Cloud Logging, and the checkpoint stays red. Three sign-in points, all of which must be the student account: the Cloud console, a second 'Choose an account to continue to Colab Enterprise' prompt, and the gcloud link inside the auth cell.</a:t>
            </a:r>
          </a:p>
          <a:p/>
          <a:p>
            <a:r>
              <a:t>Retired: the protobuf pin. Earlier decks told facilitators the install cell shipped %pip install --force-reinstall protobuf==3.20.0 and had to be edited by hand. The 2026-07-09 recording of a live run shows the cell already reads %pip install --upgrade protobuf, unrun, straight after import, so there is nothing to fix and that slide has been removed. If it ever comes back, the tell is at the first cell after the kernel restart: import keras raises ImportError: cannot import name 'runtime_version' from 'google.protobuf'. Recovery is %pip install --upgrade protobuf in a new cell, then restart the kernel again. Full history: labs-testing/challenge-lab-qa-2026-07.md.</a:t>
            </a:r>
          </a:p>
        </p:txBody>
      </p:sp>
      <p:sp>
        <p:nvSpPr>
          <p:cNvPr id="211" name="Google Shape;2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Frames: reference recording 2026-07-09, source timeline 161.3 s and 175.3 s. Steps verified against the live lab manual read 2026-08-07.</a:t>
            </a:r>
          </a:p>
          <a:p/>
          <a:p>
            <a:r>
              <a:t>The nav is four levels deep and the Notebooks level is easy to miss. The manual says only "Select the region" and redacts the file path until the lab starts, so students must read both off their own lab page. On our run it was us-west4 (Las Vegas) and &lt;project-id&gt;-bucket/gdm_challenge_lab.ipynb.</a:t>
            </a:r>
          </a:p>
          <a:p/>
          <a:p>
            <a:r>
              <a:t>The default Import source is Your computer. A student who does not switch it to Cloud Storage has nothing to import and often assumes the lab is broken.</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lab manual GSP531 read live on 2026-08-07 (manual last updated 2026-05-04); reference recording 2026-07-09.</a:t>
            </a:r>
          </a:p>
          <a:p/>
          <a:p>
            <a:r>
              <a:t>Enrolment: the manual opens with "To earn the skill badge, you must be enrolled in the challenge lab course. Please ensure you are enrolled before you begin this lab." The lab is reachable straight from the path, which is the trap: a student can score 100 and still get no badge. Route them through the course Google DeepMind: Train A Small Language Model, then Start challenge.</a:t>
            </a:r>
          </a:p>
          <a:p/>
          <a:p>
            <a:r>
              <a:t>Timer: the card advertises 1 hour. On our run the lab page read 1h 29m left once started. Tell students to budget 90 minutes and to expect no pause button.</a:t>
            </a:r>
          </a:p>
          <a:p/>
          <a:p>
            <a:r>
              <a:t>Naming: the course is Build Your Own Small Language Model; the lab is Train a Small Language Model (Challenge Lab), GSP531, 5 credits. Students confuse the two.</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Sourced from labs-testing/challenge-lab-qa-2026-07.md bugs #3 and #4 - both live in the notebook itself (reported upstream via the AIMS -&gt; UCL/DeepMind channel), but facilitators should recognise them if a student hits either.</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Frame: reference recording 2026-07-09, source timeline 217.4 s. Wording verified against the live lab manual read 2026-08-07.</a:t>
            </a:r>
          </a:p>
          <a:p/>
          <a:p>
            <a:r>
              <a:t>The manual's exact route: click the Additional connection options expander arrow at the top right of the notebook, select Connect to a runtime, then in the Connect to Agent Platform runtime dialog select Connect to an existing runtime and pick colab-cpu-runtime.</a:t>
            </a:r>
          </a:p>
          <a:p/>
          <a:p>
            <a:r>
              <a:t>Create new Runtime sits directly beside the right answer and succeeds. That is what makes it dangerous: the notebook runs, the student sees output, and nothing reaches the grader. The one-glance diagnostic is the status bar at the bottom right of the notebook.</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Frames: reference recording 2026-07-09, source timeline 289.4 s, 315.4 s and 346.4 s. The sign-in link and the verification code are blurred in the image files themselves, not covered on the slide.</a:t>
            </a:r>
          </a:p>
          <a:p/>
          <a:p>
            <a:r>
              <a:t>gcloud auth application-default login --no-launch-browser is interactive. It prints a Google Compute Engine warning, then waits at Do you want to continue (Y/n)?. A student who runs the cell and walks away comes back to a cell still showing [*] and concludes the lab has hung.</a:t>
            </a:r>
          </a:p>
          <a:p/>
          <a:p>
            <a:r>
              <a:t>This is the student's third sign-in: the Cloud console, then Colab Enterprise, then this one. Every one of them has to be the student account.</a:t>
            </a:r>
          </a:p>
          <a:p/>
          <a:p>
            <a:r>
              <a:t>The restart is deliberate: the notebook shuts down its own kernel to load the packages it just installed, and the notebook itself tells you to disregard the crash banner. Historical note: an earlier version of this deck claimed the notebook shipped a broken protobuf pin. It never did. The install cell reads %pip install --upgrade protobuf, as the frame above shows.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6"/>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7"/>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7"/>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7"/>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8"/>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8"/>
          <p:cNvSpPr txBox="1"/>
          <p:nvPr>
            <p:ph idx="1" type="body"/>
          </p:nvPr>
        </p:nvSpPr>
        <p:spPr>
          <a:xfrm>
            <a:off x="839788" y="1681163"/>
            <a:ext cx="51579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8"/>
          <p:cNvSpPr txBox="1"/>
          <p:nvPr>
            <p:ph idx="2" type="body"/>
          </p:nvPr>
        </p:nvSpPr>
        <p:spPr>
          <a:xfrm>
            <a:off x="839788" y="2505075"/>
            <a:ext cx="51579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
          <p:cNvSpPr txBox="1"/>
          <p:nvPr>
            <p:ph idx="3" type="body"/>
          </p:nvPr>
        </p:nvSpPr>
        <p:spPr>
          <a:xfrm>
            <a:off x="6172200" y="1681163"/>
            <a:ext cx="51831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8"/>
          <p:cNvSpPr txBox="1"/>
          <p:nvPr>
            <p:ph idx="4" type="body"/>
          </p:nvPr>
        </p:nvSpPr>
        <p:spPr>
          <a:xfrm>
            <a:off x="6172200" y="2505075"/>
            <a:ext cx="51831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1"/>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5183188" y="987425"/>
            <a:ext cx="61722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11"/>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1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2"/>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2"/>
          <p:cNvSpPr/>
          <p:nvPr>
            <p:ph idx="2" type="pic"/>
          </p:nvPr>
        </p:nvSpPr>
        <p:spPr>
          <a:xfrm>
            <a:off x="5183188" y="987425"/>
            <a:ext cx="6172200" cy="4873500"/>
          </a:xfrm>
          <a:prstGeom prst="rect">
            <a:avLst/>
          </a:prstGeom>
          <a:noFill/>
          <a:ln>
            <a:noFill/>
          </a:ln>
        </p:spPr>
      </p:sp>
      <p:sp>
        <p:nvSpPr>
          <p:cNvPr id="70" name="Google Shape;70;p12"/>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4"/>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4"/>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86" name="Shape 86"/>
        <p:cNvGrpSpPr/>
        <p:nvPr/>
      </p:nvGrpSpPr>
      <p:grpSpPr>
        <a:xfrm>
          <a:off x="0" y="0"/>
          <a:ext cx="0" cy="0"/>
          <a:chOff x="0" y="0"/>
          <a:chExt cx="0" cy="0"/>
        </a:xfrm>
      </p:grpSpPr>
      <p:pic>
        <p:nvPicPr>
          <p:cNvPr id="87" name="Google Shape;87;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1200" u="none" cap="none" strike="noStrike">
                <a:solidFill>
                  <a:srgbClr val="757575"/>
                </a:solidFill>
                <a:latin typeface="Arial"/>
                <a:ea typeface="Arial"/>
                <a:cs typeface="Arial"/>
                <a:sym typeface="Arial"/>
              </a:defRPr>
            </a:lvl1pPr>
            <a:lvl2pPr indent="0" lvl="1" marL="0" marR="0" algn="r">
              <a:spcBef>
                <a:spcPts val="0"/>
              </a:spcBef>
              <a:buNone/>
              <a:defRPr b="0" i="0" sz="1200" u="none" cap="none" strike="noStrike">
                <a:solidFill>
                  <a:srgbClr val="757575"/>
                </a:solidFill>
                <a:latin typeface="Arial"/>
                <a:ea typeface="Arial"/>
                <a:cs typeface="Arial"/>
                <a:sym typeface="Arial"/>
              </a:defRPr>
            </a:lvl2pPr>
            <a:lvl3pPr indent="0" lvl="2" marL="0" marR="0" algn="r">
              <a:spcBef>
                <a:spcPts val="0"/>
              </a:spcBef>
              <a:buNone/>
              <a:defRPr b="0" i="0" sz="1200" u="none" cap="none" strike="noStrike">
                <a:solidFill>
                  <a:srgbClr val="757575"/>
                </a:solidFill>
                <a:latin typeface="Arial"/>
                <a:ea typeface="Arial"/>
                <a:cs typeface="Arial"/>
                <a:sym typeface="Arial"/>
              </a:defRPr>
            </a:lvl3pPr>
            <a:lvl4pPr indent="0" lvl="3" marL="0" marR="0" algn="r">
              <a:spcBef>
                <a:spcPts val="0"/>
              </a:spcBef>
              <a:buNone/>
              <a:defRPr b="0" i="0" sz="1200" u="none" cap="none" strike="noStrike">
                <a:solidFill>
                  <a:srgbClr val="757575"/>
                </a:solidFill>
                <a:latin typeface="Arial"/>
                <a:ea typeface="Arial"/>
                <a:cs typeface="Arial"/>
                <a:sym typeface="Arial"/>
              </a:defRPr>
            </a:lvl4pPr>
            <a:lvl5pPr indent="0" lvl="4" marL="0" marR="0" algn="r">
              <a:spcBef>
                <a:spcPts val="0"/>
              </a:spcBef>
              <a:buNone/>
              <a:defRPr b="0" i="0" sz="1200" u="none" cap="none" strike="noStrike">
                <a:solidFill>
                  <a:srgbClr val="757575"/>
                </a:solidFill>
                <a:latin typeface="Arial"/>
                <a:ea typeface="Arial"/>
                <a:cs typeface="Arial"/>
                <a:sym typeface="Arial"/>
              </a:defRPr>
            </a:lvl5pPr>
            <a:lvl6pPr indent="0" lvl="5" marL="0" marR="0" algn="r">
              <a:spcBef>
                <a:spcPts val="0"/>
              </a:spcBef>
              <a:buNone/>
              <a:defRPr b="0" i="0" sz="1200" u="none" cap="none" strike="noStrike">
                <a:solidFill>
                  <a:srgbClr val="757575"/>
                </a:solidFill>
                <a:latin typeface="Arial"/>
                <a:ea typeface="Arial"/>
                <a:cs typeface="Arial"/>
                <a:sym typeface="Arial"/>
              </a:defRPr>
            </a:lvl6pPr>
            <a:lvl7pPr indent="0" lvl="6" marL="0" marR="0" algn="r">
              <a:spcBef>
                <a:spcPts val="0"/>
              </a:spcBef>
              <a:buNone/>
              <a:defRPr b="0" i="0" sz="1200" u="none" cap="none" strike="noStrike">
                <a:solidFill>
                  <a:srgbClr val="757575"/>
                </a:solidFill>
                <a:latin typeface="Arial"/>
                <a:ea typeface="Arial"/>
                <a:cs typeface="Arial"/>
                <a:sym typeface="Arial"/>
              </a:defRPr>
            </a:lvl7pPr>
            <a:lvl8pPr indent="0" lvl="7" marL="0" marR="0" algn="r">
              <a:spcBef>
                <a:spcPts val="0"/>
              </a:spcBef>
              <a:buNone/>
              <a:defRPr b="0" i="0" sz="1200" u="none" cap="none" strike="noStrike">
                <a:solidFill>
                  <a:srgbClr val="757575"/>
                </a:solidFill>
                <a:latin typeface="Arial"/>
                <a:ea typeface="Arial"/>
                <a:cs typeface="Arial"/>
                <a:sym typeface="Arial"/>
              </a:defRPr>
            </a:lvl8pPr>
            <a:lvl9pPr indent="0" lvl="8" marL="0" marR="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45.png"/><Relationship Id="rId7"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32.png"/><Relationship Id="rId4" Type="http://schemas.openxmlformats.org/officeDocument/2006/relationships/notesSlide" Target="../notesSlides/notesSlide16.xml"/><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1.png"/><Relationship Id="rId5" Type="http://schemas.openxmlformats.org/officeDocument/2006/relationships/image" Target="../media/image24.png"/><Relationship Id="rId6"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32.png"/><Relationship Id="rId4" Type="http://schemas.openxmlformats.org/officeDocument/2006/relationships/image" Target="../media/image25.png"/><Relationship Id="rId5" Type="http://schemas.openxmlformats.org/officeDocument/2006/relationships/image" Target="../media/image4.jp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32.png"/><Relationship Id="rId4" Type="http://schemas.openxmlformats.org/officeDocument/2006/relationships/image" Target="../media/image25.png"/><Relationship Id="rId5" Type="http://schemas.openxmlformats.org/officeDocument/2006/relationships/image" Target="../media/image4.jpg"/><Relationship Id="rId6" Type="http://schemas.openxmlformats.org/officeDocument/2006/relationships/image" Target="../media/image29.png"/><Relationship Id="rId7" Type="http://schemas.openxmlformats.org/officeDocument/2006/relationships/notesSlide" Target="../notesSlides/notesSlide19.xml"/><Relationship Id="rId8"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32.png"/><Relationship Id="rId4" Type="http://schemas.openxmlformats.org/officeDocument/2006/relationships/image" Target="../media/image25.png"/><Relationship Id="rId5" Type="http://schemas.openxmlformats.org/officeDocument/2006/relationships/image" Target="../media/image4.jpg"/><Relationship Id="rId6" Type="http://schemas.openxmlformats.org/officeDocument/2006/relationships/image" Target="../media/image31.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notesSlide" Target="../notesSlides/notesSlide20.xml"/><Relationship Id="rId10"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44.png"/><Relationship Id="rId5" Type="http://schemas.openxmlformats.org/officeDocument/2006/relationships/image" Target="../media/image32.png"/><Relationship Id="rId6" Type="http://schemas.openxmlformats.org/officeDocument/2006/relationships/image" Target="../media/image22.png"/><Relationship Id="rId7"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7.png"/><Relationship Id="rId5" Type="http://schemas.openxmlformats.org/officeDocument/2006/relationships/image" Target="../media/image33.png"/><Relationship Id="rId6" Type="http://schemas.openxmlformats.org/officeDocument/2006/relationships/image" Target="../media/image24.png"/><Relationship Id="rId7"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46.png"/><Relationship Id="rId5" Type="http://schemas.openxmlformats.org/officeDocument/2006/relationships/image" Target="../media/image33.png"/><Relationship Id="rId6"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6.png"/><Relationship Id="rId5" Type="http://schemas.openxmlformats.org/officeDocument/2006/relationships/image" Target="../media/image33.png"/><Relationship Id="rId6" Type="http://schemas.openxmlformats.org/officeDocument/2006/relationships/image" Target="../media/image24.png"/><Relationship Id="rId7"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49.png"/><Relationship Id="rId7"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5.png"/><Relationship Id="rId5" Type="http://schemas.openxmlformats.org/officeDocument/2006/relationships/image" Target="../media/image33.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32.png"/><Relationship Id="rId4" Type="http://schemas.openxmlformats.org/officeDocument/2006/relationships/notesSlide" Target="../notesSlides/notesSlide18.xml"/><Relationship Id="rId5"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6"/>
          <p:cNvSpPr txBox="1"/>
          <p:nvPr/>
        </p:nvSpPr>
        <p:spPr>
          <a:xfrm>
            <a:off x="753525" y="2999025"/>
            <a:ext cx="6388500" cy="2220300"/>
          </a:xfrm>
          <a:prstGeom prst="rect">
            <a:avLst/>
          </a:prstGeom>
          <a:noFill/>
          <a:ln>
            <a:noFill/>
          </a:ln>
        </p:spPr>
        <p:txBody>
          <a:bodyPr anchorCtr="0" anchor="t" bIns="0" lIns="0" spcFirstLastPara="1" rIns="0" wrap="square" tIns="0">
            <a:noAutofit/>
          </a:bodyPr>
          <a:lstStyle/>
          <a:p>
            <a:pPr indent="0" lvl="0" marL="0" rtl="0" algn="l">
              <a:lnSpc>
                <a:spcPct val="98000"/>
              </a:lnSpc>
              <a:spcBef>
                <a:spcPts val="0"/>
              </a:spcBef>
              <a:spcAft>
                <a:spcPts val="0"/>
              </a:spcAft>
              <a:buClr>
                <a:schemeClr val="dk2"/>
              </a:buClr>
              <a:buSzPts val="4800"/>
              <a:buFont typeface="Trebuchet MS"/>
              <a:buNone/>
            </a:pPr>
            <a:r>
              <a:rPr b="1" lang="en-US" sz="4800">
                <a:solidFill>
                  <a:schemeClr val="dk2"/>
                </a:solidFill>
                <a:latin typeface="Trebuchet MS"/>
                <a:ea typeface="Trebuchet MS"/>
                <a:cs typeface="Trebuchet MS"/>
                <a:sym typeface="Trebuchet MS"/>
              </a:rPr>
              <a:t>Build Your Own Small</a:t>
            </a:r>
            <a:endParaRPr sz="4800">
              <a:solidFill>
                <a:schemeClr val="dk1"/>
              </a:solidFill>
              <a:latin typeface="Calibri"/>
              <a:ea typeface="Calibri"/>
              <a:cs typeface="Calibri"/>
              <a:sym typeface="Calibri"/>
            </a:endParaRPr>
          </a:p>
          <a:p>
            <a:pPr indent="0" lvl="0" marL="0" rtl="0" algn="l">
              <a:lnSpc>
                <a:spcPct val="98000"/>
              </a:lnSpc>
              <a:spcBef>
                <a:spcPts val="0"/>
              </a:spcBef>
              <a:spcAft>
                <a:spcPts val="0"/>
              </a:spcAft>
              <a:buClr>
                <a:schemeClr val="dk2"/>
              </a:buClr>
              <a:buSzPts val="4800"/>
              <a:buFont typeface="Trebuchet MS"/>
              <a:buNone/>
            </a:pPr>
            <a:r>
              <a:rPr b="1" lang="en-US" sz="4800">
                <a:solidFill>
                  <a:schemeClr val="dk2"/>
                </a:solidFill>
                <a:latin typeface="Trebuchet MS"/>
                <a:ea typeface="Trebuchet MS"/>
                <a:cs typeface="Trebuchet MS"/>
                <a:sym typeface="Trebuchet MS"/>
              </a:rPr>
              <a:t>Language Model</a:t>
            </a:r>
            <a:endParaRPr b="1" sz="6000">
              <a:solidFill>
                <a:schemeClr val="dk2"/>
              </a:solidFill>
            </a:endParaRPr>
          </a:p>
        </p:txBody>
      </p:sp>
      <p:pic>
        <p:nvPicPr>
          <p:cNvPr id="95" name="Google Shape;95;p16"/>
          <p:cNvPicPr preferRelativeResize="0"/>
          <p:nvPr/>
        </p:nvPicPr>
        <p:blipFill rotWithShape="1">
          <a:blip r:embed="rId4">
            <a:alphaModFix/>
          </a:blip>
          <a:srcRect b="0" l="0" r="0" t="0"/>
          <a:stretch/>
        </p:blipFill>
        <p:spPr>
          <a:xfrm>
            <a:off x="6984141" y="383197"/>
            <a:ext cx="2033076" cy="837149"/>
          </a:xfrm>
          <a:prstGeom prst="rect">
            <a:avLst/>
          </a:prstGeom>
          <a:noFill/>
          <a:ln>
            <a:noFill/>
          </a:ln>
        </p:spPr>
      </p:pic>
      <p:pic>
        <p:nvPicPr>
          <p:cNvPr id="96" name="Google Shape;96;p16"/>
          <p:cNvPicPr preferRelativeResize="0"/>
          <p:nvPr/>
        </p:nvPicPr>
        <p:blipFill rotWithShape="1">
          <a:blip r:embed="rId5">
            <a:alphaModFix/>
          </a:blip>
          <a:srcRect b="0" l="0" r="0" t="0"/>
          <a:stretch/>
        </p:blipFill>
        <p:spPr>
          <a:xfrm>
            <a:off x="9108440" y="535714"/>
            <a:ext cx="2613661" cy="574731"/>
          </a:xfrm>
          <a:prstGeom prst="rect">
            <a:avLst/>
          </a:prstGeom>
          <a:noFill/>
          <a:ln>
            <a:noFill/>
          </a:ln>
        </p:spPr>
      </p:pic>
      <p:pic>
        <p:nvPicPr>
          <p:cNvPr id="97" name="Google Shape;97;p16"/>
          <p:cNvPicPr preferRelativeResize="0"/>
          <p:nvPr/>
        </p:nvPicPr>
        <p:blipFill rotWithShape="1">
          <a:blip r:embed="rId6">
            <a:alphaModFix/>
          </a:blip>
          <a:srcRect b="0" l="0" r="0" t="0"/>
          <a:stretch/>
        </p:blipFill>
        <p:spPr>
          <a:xfrm>
            <a:off x="9859010" y="5669280"/>
            <a:ext cx="1883834" cy="762000"/>
          </a:xfrm>
          <a:prstGeom prst="rect">
            <a:avLst/>
          </a:prstGeom>
          <a:noFill/>
          <a:ln>
            <a:noFill/>
          </a:ln>
        </p:spPr>
      </p:pic>
      <p:grpSp>
        <p:nvGrpSpPr>
          <p:cNvPr id="98" name="Google Shape;98;p16"/>
          <p:cNvGrpSpPr/>
          <p:nvPr/>
        </p:nvGrpSpPr>
        <p:grpSpPr>
          <a:xfrm>
            <a:off x="763050" y="5899750"/>
            <a:ext cx="6501258" cy="410463"/>
            <a:chOff x="763050" y="5899750"/>
            <a:chExt cx="6501258" cy="410463"/>
          </a:xfrm>
        </p:grpSpPr>
        <p:sp>
          <p:nvSpPr>
            <p:cNvPr id="99" name="Google Shape;99;p16"/>
            <p:cNvSpPr/>
            <p:nvPr/>
          </p:nvSpPr>
          <p:spPr>
            <a:xfrm>
              <a:off x="763050" y="5899750"/>
              <a:ext cx="29553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16"/>
            <p:cNvSpPr txBox="1"/>
            <p:nvPr/>
          </p:nvSpPr>
          <p:spPr>
            <a:xfrm>
              <a:off x="902397" y="5959075"/>
              <a:ext cx="2676600" cy="29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750">
                  <a:solidFill>
                    <a:schemeClr val="dk2"/>
                  </a:solidFill>
                </a:rPr>
                <a:t>Nigeria · Aug 2026</a:t>
              </a:r>
              <a:endParaRPr/>
            </a:p>
          </p:txBody>
        </p:sp>
        <p:sp>
          <p:nvSpPr>
            <p:cNvPr id="101" name="Google Shape;101;p16"/>
            <p:cNvSpPr/>
            <p:nvPr/>
          </p:nvSpPr>
          <p:spPr>
            <a:xfrm>
              <a:off x="3928308" y="5906113"/>
              <a:ext cx="33360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2" name="Google Shape;102;p16"/>
            <p:cNvSpPr txBox="1"/>
            <p:nvPr/>
          </p:nvSpPr>
          <p:spPr>
            <a:xfrm>
              <a:off x="3974350" y="5975050"/>
              <a:ext cx="3243900" cy="253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750">
                  <a:solidFill>
                    <a:schemeClr val="dk2"/>
                  </a:solidFill>
                </a:rPr>
                <a:t>AI Research Foundations</a:t>
              </a:r>
              <a:endParaRPr/>
            </a:p>
          </p:txBody>
        </p:sp>
      </p:grpSp>
      <p:grpSp>
        <p:nvGrpSpPr>
          <p:cNvPr id="103" name="Google Shape;103;p16"/>
          <p:cNvGrpSpPr/>
          <p:nvPr/>
        </p:nvGrpSpPr>
        <p:grpSpPr>
          <a:xfrm>
            <a:off x="753488" y="1556600"/>
            <a:ext cx="4578775" cy="762000"/>
            <a:chOff x="753525" y="1556600"/>
            <a:chExt cx="5666100" cy="762000"/>
          </a:xfrm>
        </p:grpSpPr>
        <p:sp>
          <p:nvSpPr>
            <p:cNvPr id="104" name="Google Shape;104;p16"/>
            <p:cNvSpPr/>
            <p:nvPr/>
          </p:nvSpPr>
          <p:spPr>
            <a:xfrm>
              <a:off x="753525" y="1556600"/>
              <a:ext cx="5666100" cy="762000"/>
            </a:xfrm>
            <a:prstGeom prst="roundRect">
              <a:avLst>
                <a:gd fmla="val 41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6"/>
            <p:cNvSpPr txBox="1"/>
            <p:nvPr/>
          </p:nvSpPr>
          <p:spPr>
            <a:xfrm>
              <a:off x="1144275" y="1768250"/>
              <a:ext cx="48846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200">
                  <a:solidFill>
                    <a:schemeClr val="accent1"/>
                  </a:solidFill>
                </a:rPr>
                <a:t>Challenge Lab Walkthrough</a:t>
              </a:r>
            </a:p>
          </p:txBody>
        </p:sp>
      </p:grpSp>
      <p:pic>
        <p:nvPicPr>
          <p:cNvPr id="106" name="Google Shape;106;p16"/>
          <p:cNvPicPr preferRelativeResize="0"/>
          <p:nvPr/>
        </p:nvPicPr>
        <p:blipFill>
          <a:blip r:embed="rId7">
            <a:alphaModFix/>
          </a:blip>
          <a:stretch>
            <a:fillRect/>
          </a:stretch>
        </p:blipFill>
        <p:spPr>
          <a:xfrm>
            <a:off x="5724851" y="505175"/>
            <a:ext cx="1168078" cy="593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17"/>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Why each solution works, not just how</a:t>
            </a:r>
            <a:endParaRPr b="0" i="0" sz="2900" u="none" cap="none" strike="noStrike">
              <a:solidFill>
                <a:schemeClr val="dk1"/>
              </a:solidFill>
              <a:latin typeface="Calibri"/>
              <a:ea typeface="Calibri"/>
              <a:cs typeface="Calibri"/>
              <a:sym typeface="Calibri"/>
            </a:endParaRPr>
          </a:p>
        </p:txBody>
      </p:sp>
      <p:cxnSp>
        <p:nvCxnSpPr>
          <p:cNvPr id="113" name="Google Shape;113;p17"/>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114" name="Google Shape;114;p17"/>
          <p:cNvSpPr/>
          <p:nvPr/>
        </p:nvSpPr>
        <p:spPr>
          <a:xfrm>
            <a:off x="640080" y="1783080"/>
            <a:ext cx="3429000" cy="2286000"/>
          </a:xfrm>
          <a:prstGeom prst="roundRect">
            <a:avLst>
              <a:gd fmla="val 4000" name="adj"/>
            </a:avLst>
          </a:prstGeom>
          <a:solidFill>
            <a:srgbClr val="FFFFFF"/>
          </a:solidFill>
          <a:ln cap="flat" cmpd="sng" w="15875">
            <a:solidFill>
              <a:srgbClr val="E3DEEC"/>
            </a:solidFill>
            <a:prstDash val="solid"/>
            <a:round/>
            <a:headEnd len="sm" w="sm" type="none"/>
            <a:tailEnd len="sm" w="sm" type="none"/>
          </a:ln>
          <a:effectLst>
            <a:outerShdw blurRad="762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7"/>
          <p:cNvSpPr/>
          <p:nvPr/>
        </p:nvSpPr>
        <p:spPr>
          <a:xfrm>
            <a:off x="914400" y="2057400"/>
            <a:ext cx="658368" cy="658368"/>
          </a:xfrm>
          <a:prstGeom prst="ellipse">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17"/>
          <p:cNvPicPr preferRelativeResize="0"/>
          <p:nvPr/>
        </p:nvPicPr>
        <p:blipFill rotWithShape="1">
          <a:blip r:embed="rId4">
            <a:alphaModFix/>
          </a:blip>
          <a:srcRect b="0" l="0" r="0" t="0"/>
          <a:stretch/>
        </p:blipFill>
        <p:spPr>
          <a:xfrm>
            <a:off x="1060704" y="2203704"/>
            <a:ext cx="365760" cy="365760"/>
          </a:xfrm>
          <a:prstGeom prst="rect">
            <a:avLst/>
          </a:prstGeom>
          <a:noFill/>
          <a:ln>
            <a:noFill/>
          </a:ln>
        </p:spPr>
      </p:pic>
      <p:sp>
        <p:nvSpPr>
          <p:cNvPr id="117" name="Google Shape;117;p17"/>
          <p:cNvSpPr/>
          <p:nvPr/>
        </p:nvSpPr>
        <p:spPr>
          <a:xfrm>
            <a:off x="914400" y="2852928"/>
            <a:ext cx="2880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Trebuchet MS"/>
              <a:buNone/>
            </a:pPr>
            <a:r>
              <a:rPr b="1" i="0" lang="en-US" sz="1600" u="none" cap="none" strike="noStrike">
                <a:solidFill>
                  <a:srgbClr val="361A54"/>
                </a:solidFill>
                <a:latin typeface="Trebuchet MS"/>
                <a:ea typeface="Trebuchet MS"/>
                <a:cs typeface="Trebuchet MS"/>
                <a:sym typeface="Trebuchet MS"/>
              </a:rPr>
              <a:t>Explain the reasoning</a:t>
            </a:r>
            <a:endParaRPr b="0" i="0" sz="1600" u="none" cap="none" strike="noStrike">
              <a:solidFill>
                <a:schemeClr val="dk1"/>
              </a:solidFill>
              <a:latin typeface="Calibri"/>
              <a:ea typeface="Calibri"/>
              <a:cs typeface="Calibri"/>
              <a:sym typeface="Calibri"/>
            </a:endParaRPr>
          </a:p>
        </p:txBody>
      </p:sp>
      <p:sp>
        <p:nvSpPr>
          <p:cNvPr id="118" name="Google Shape;118;p17"/>
          <p:cNvSpPr/>
          <p:nvPr/>
        </p:nvSpPr>
        <p:spPr>
          <a:xfrm>
            <a:off x="914400" y="3310128"/>
            <a:ext cx="2926080"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6B6478"/>
              </a:buClr>
              <a:buSzPts val="1250"/>
              <a:buFont typeface="Calibri"/>
              <a:buNone/>
            </a:pPr>
            <a:r>
              <a:rPr b="0" i="0" lang="en-US" sz="1650" u="none" cap="none" strike="noStrike">
                <a:solidFill>
                  <a:srgbClr val="6B6478"/>
                </a:solidFill>
                <a:latin typeface="Calibri"/>
                <a:ea typeface="Calibri"/>
                <a:cs typeface="Calibri"/>
                <a:sym typeface="Calibri"/>
              </a:rPr>
              <a:t>Articulate why a solution is correct</a:t>
            </a:r>
            <a:r>
              <a:rPr lang="en-US" sz="1650">
                <a:solidFill>
                  <a:srgbClr val="6B6478"/>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119" name="Google Shape;119;p17"/>
          <p:cNvSpPr/>
          <p:nvPr/>
        </p:nvSpPr>
        <p:spPr>
          <a:xfrm>
            <a:off x="4343400" y="1783080"/>
            <a:ext cx="3429000" cy="2286000"/>
          </a:xfrm>
          <a:prstGeom prst="roundRect">
            <a:avLst>
              <a:gd fmla="val 4000" name="adj"/>
            </a:avLst>
          </a:prstGeom>
          <a:solidFill>
            <a:srgbClr val="FFFFFF"/>
          </a:solidFill>
          <a:ln cap="flat" cmpd="sng" w="15875">
            <a:solidFill>
              <a:srgbClr val="E3DEEC"/>
            </a:solidFill>
            <a:prstDash val="solid"/>
            <a:round/>
            <a:headEnd len="sm" w="sm" type="none"/>
            <a:tailEnd len="sm" w="sm" type="none"/>
          </a:ln>
          <a:effectLst>
            <a:outerShdw blurRad="762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p:nvPr/>
        </p:nvSpPr>
        <p:spPr>
          <a:xfrm>
            <a:off x="4617720" y="2057400"/>
            <a:ext cx="658368" cy="658368"/>
          </a:xfrm>
          <a:prstGeom prst="ellipse">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17"/>
          <p:cNvPicPr preferRelativeResize="0"/>
          <p:nvPr/>
        </p:nvPicPr>
        <p:blipFill rotWithShape="1">
          <a:blip r:embed="rId5">
            <a:alphaModFix/>
          </a:blip>
          <a:srcRect b="0" l="0" r="0" t="0"/>
          <a:stretch/>
        </p:blipFill>
        <p:spPr>
          <a:xfrm>
            <a:off x="4764024" y="2203704"/>
            <a:ext cx="365760" cy="365760"/>
          </a:xfrm>
          <a:prstGeom prst="rect">
            <a:avLst/>
          </a:prstGeom>
          <a:noFill/>
          <a:ln>
            <a:noFill/>
          </a:ln>
        </p:spPr>
      </p:pic>
      <p:sp>
        <p:nvSpPr>
          <p:cNvPr id="122" name="Google Shape;122;p17"/>
          <p:cNvSpPr/>
          <p:nvPr/>
        </p:nvSpPr>
        <p:spPr>
          <a:xfrm>
            <a:off x="4617720" y="2852928"/>
            <a:ext cx="2880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Trebuchet MS"/>
              <a:buNone/>
            </a:pPr>
            <a:r>
              <a:rPr b="1" i="0" lang="en-US" sz="1600" u="none" cap="none" strike="noStrike">
                <a:solidFill>
                  <a:srgbClr val="361A54"/>
                </a:solidFill>
                <a:latin typeface="Trebuchet MS"/>
                <a:ea typeface="Trebuchet MS"/>
                <a:cs typeface="Trebuchet MS"/>
                <a:sym typeface="Trebuchet MS"/>
              </a:rPr>
              <a:t>Place each task in the arc</a:t>
            </a:r>
            <a:endParaRPr b="0" i="0" sz="1600" u="none" cap="none" strike="noStrike">
              <a:solidFill>
                <a:schemeClr val="dk1"/>
              </a:solidFill>
              <a:latin typeface="Calibri"/>
              <a:ea typeface="Calibri"/>
              <a:cs typeface="Calibri"/>
              <a:sym typeface="Calibri"/>
            </a:endParaRPr>
          </a:p>
        </p:txBody>
      </p:sp>
      <p:sp>
        <p:nvSpPr>
          <p:cNvPr id="123" name="Google Shape;123;p17"/>
          <p:cNvSpPr/>
          <p:nvPr/>
        </p:nvSpPr>
        <p:spPr>
          <a:xfrm>
            <a:off x="4617720" y="3310128"/>
            <a:ext cx="2926080"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6B6478"/>
              </a:buClr>
              <a:buSzPts val="1250"/>
              <a:buFont typeface="Calibri"/>
              <a:buNone/>
            </a:pPr>
            <a:r>
              <a:rPr b="0" i="0" lang="en-US" sz="1650" u="none" cap="none" strike="noStrike">
                <a:solidFill>
                  <a:srgbClr val="6B6478"/>
                </a:solidFill>
                <a:latin typeface="Calibri"/>
                <a:ea typeface="Calibri"/>
                <a:cs typeface="Calibri"/>
                <a:sym typeface="Calibri"/>
              </a:rPr>
              <a:t>Connect all four tasks to the path from raw text to a trainable language model.</a:t>
            </a:r>
            <a:endParaRPr b="0" i="0" sz="1650" u="none" cap="none" strike="noStrike">
              <a:solidFill>
                <a:schemeClr val="dk1"/>
              </a:solidFill>
              <a:latin typeface="Calibri"/>
              <a:ea typeface="Calibri"/>
              <a:cs typeface="Calibri"/>
              <a:sym typeface="Calibri"/>
            </a:endParaRPr>
          </a:p>
        </p:txBody>
      </p:sp>
      <p:sp>
        <p:nvSpPr>
          <p:cNvPr id="124" name="Google Shape;124;p17"/>
          <p:cNvSpPr/>
          <p:nvPr/>
        </p:nvSpPr>
        <p:spPr>
          <a:xfrm>
            <a:off x="8046720" y="1783080"/>
            <a:ext cx="3429000" cy="2286000"/>
          </a:xfrm>
          <a:prstGeom prst="roundRect">
            <a:avLst>
              <a:gd fmla="val 4000" name="adj"/>
            </a:avLst>
          </a:prstGeom>
          <a:solidFill>
            <a:srgbClr val="FFFFFF"/>
          </a:solidFill>
          <a:ln cap="flat" cmpd="sng" w="15875">
            <a:solidFill>
              <a:srgbClr val="E3DEEC"/>
            </a:solidFill>
            <a:prstDash val="solid"/>
            <a:round/>
            <a:headEnd len="sm" w="sm" type="none"/>
            <a:tailEnd len="sm" w="sm" type="none"/>
          </a:ln>
          <a:effectLst>
            <a:outerShdw blurRad="762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8321040" y="2057400"/>
            <a:ext cx="658368" cy="658368"/>
          </a:xfrm>
          <a:prstGeom prst="ellipse">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17"/>
          <p:cNvPicPr preferRelativeResize="0"/>
          <p:nvPr/>
        </p:nvPicPr>
        <p:blipFill rotWithShape="1">
          <a:blip r:embed="rId6">
            <a:alphaModFix/>
          </a:blip>
          <a:srcRect b="0" l="0" r="0" t="0"/>
          <a:stretch/>
        </p:blipFill>
        <p:spPr>
          <a:xfrm>
            <a:off x="8467344" y="2203704"/>
            <a:ext cx="365760" cy="365760"/>
          </a:xfrm>
          <a:prstGeom prst="rect">
            <a:avLst/>
          </a:prstGeom>
          <a:noFill/>
          <a:ln>
            <a:noFill/>
          </a:ln>
        </p:spPr>
      </p:pic>
      <p:sp>
        <p:nvSpPr>
          <p:cNvPr id="127" name="Google Shape;127;p17"/>
          <p:cNvSpPr/>
          <p:nvPr/>
        </p:nvSpPr>
        <p:spPr>
          <a:xfrm>
            <a:off x="8321040" y="2852928"/>
            <a:ext cx="2880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Trebuchet MS"/>
              <a:buNone/>
            </a:pPr>
            <a:r>
              <a:rPr b="1" i="0" lang="en-US" sz="1600" u="none" cap="none" strike="noStrike">
                <a:solidFill>
                  <a:srgbClr val="361A54"/>
                </a:solidFill>
                <a:latin typeface="Trebuchet MS"/>
                <a:ea typeface="Trebuchet MS"/>
                <a:cs typeface="Trebuchet MS"/>
                <a:sym typeface="Trebuchet MS"/>
              </a:rPr>
              <a:t>Pre-empt the wrong turns</a:t>
            </a:r>
            <a:endParaRPr b="0" i="0" sz="1600" u="none" cap="none" strike="noStrike">
              <a:solidFill>
                <a:schemeClr val="dk1"/>
              </a:solidFill>
              <a:latin typeface="Calibri"/>
              <a:ea typeface="Calibri"/>
              <a:cs typeface="Calibri"/>
              <a:sym typeface="Calibri"/>
            </a:endParaRPr>
          </a:p>
        </p:txBody>
      </p:sp>
      <p:sp>
        <p:nvSpPr>
          <p:cNvPr id="128" name="Google Shape;128;p17"/>
          <p:cNvSpPr/>
          <p:nvPr/>
        </p:nvSpPr>
        <p:spPr>
          <a:xfrm>
            <a:off x="8321040" y="3310128"/>
            <a:ext cx="2926080"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6B6478"/>
              </a:buClr>
              <a:buSzPts val="1250"/>
              <a:buFont typeface="Calibri"/>
              <a:buNone/>
            </a:pPr>
            <a:r>
              <a:rPr b="0" i="0" lang="en-US" sz="1650" u="none" cap="none" strike="noStrike">
                <a:solidFill>
                  <a:srgbClr val="6B6478"/>
                </a:solidFill>
                <a:latin typeface="Calibri"/>
                <a:ea typeface="Calibri"/>
                <a:cs typeface="Calibri"/>
                <a:sym typeface="Calibri"/>
              </a:rPr>
              <a:t>Name the common incorrect approaches so you can rescue a stuck student fast.</a:t>
            </a:r>
            <a:endParaRPr b="0" i="0" sz="1650" u="none" cap="none" strike="noStrike">
              <a:solidFill>
                <a:schemeClr val="dk1"/>
              </a:solidFill>
              <a:latin typeface="Calibri"/>
              <a:ea typeface="Calibri"/>
              <a:cs typeface="Calibri"/>
              <a:sym typeface="Calibri"/>
            </a:endParaRPr>
          </a:p>
        </p:txBody>
      </p:sp>
      <p:sp>
        <p:nvSpPr>
          <p:cNvPr id="129" name="Google Shape;129;p17"/>
          <p:cNvSpPr/>
          <p:nvPr/>
        </p:nvSpPr>
        <p:spPr>
          <a:xfrm>
            <a:off x="640080" y="4526280"/>
            <a:ext cx="10927080" cy="1691640"/>
          </a:xfrm>
          <a:prstGeom prst="roundRect">
            <a:avLst>
              <a:gd fmla="val 5405"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17"/>
          <p:cNvPicPr preferRelativeResize="0"/>
          <p:nvPr/>
        </p:nvPicPr>
        <p:blipFill rotWithShape="1">
          <a:blip r:embed="rId7">
            <a:alphaModFix/>
          </a:blip>
          <a:srcRect b="0" l="0" r="0" t="0"/>
          <a:stretch/>
        </p:blipFill>
        <p:spPr>
          <a:xfrm>
            <a:off x="914400" y="4846320"/>
            <a:ext cx="457200" cy="457200"/>
          </a:xfrm>
          <a:prstGeom prst="rect">
            <a:avLst/>
          </a:prstGeom>
          <a:noFill/>
          <a:ln>
            <a:noFill/>
          </a:ln>
        </p:spPr>
      </p:pic>
      <p:sp>
        <p:nvSpPr>
          <p:cNvPr id="131" name="Google Shape;131;p17"/>
          <p:cNvSpPr/>
          <p:nvPr/>
        </p:nvSpPr>
        <p:spPr>
          <a:xfrm>
            <a:off x="1554480" y="4736592"/>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D633"/>
              </a:buClr>
              <a:buSzPts val="1300"/>
              <a:buFont typeface="Trebuchet MS"/>
              <a:buNone/>
            </a:pPr>
            <a:r>
              <a:rPr b="1" i="0" lang="en-US" sz="1300" u="none" cap="none" strike="noStrike">
                <a:solidFill>
                  <a:srgbClr val="FDD633"/>
                </a:solidFill>
                <a:latin typeface="Trebuchet MS"/>
                <a:ea typeface="Trebuchet MS"/>
                <a:cs typeface="Trebuchet MS"/>
                <a:sym typeface="Trebuchet MS"/>
              </a:rPr>
              <a:t>By the end of this session</a:t>
            </a:r>
            <a:endParaRPr b="0" i="0" sz="1300" u="none" cap="none" strike="noStrike">
              <a:solidFill>
                <a:schemeClr val="dk1"/>
              </a:solidFill>
              <a:latin typeface="Calibri"/>
              <a:ea typeface="Calibri"/>
              <a:cs typeface="Calibri"/>
              <a:sym typeface="Calibri"/>
            </a:endParaRPr>
          </a:p>
        </p:txBody>
      </p:sp>
      <p:sp>
        <p:nvSpPr>
          <p:cNvPr id="132" name="Google Shape;132;p17"/>
          <p:cNvSpPr/>
          <p:nvPr/>
        </p:nvSpPr>
        <p:spPr>
          <a:xfrm>
            <a:off x="1554480" y="5029200"/>
            <a:ext cx="9692640" cy="10058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6F6"/>
              </a:buClr>
              <a:buSzPts val="1500"/>
              <a:buFont typeface="Calibri"/>
              <a:buNone/>
            </a:pPr>
            <a:r>
              <a:rPr b="0" i="0" lang="en-US" sz="1800" u="none" cap="none" strike="noStrike">
                <a:solidFill>
                  <a:srgbClr val="EDE6F6"/>
                </a:solidFill>
                <a:latin typeface="Calibri"/>
                <a:ea typeface="Calibri"/>
                <a:cs typeface="Calibri"/>
                <a:sym typeface="Calibri"/>
              </a:rPr>
              <a:t>You can map the lab's four tasks back to specific concepts from the online course content, and walk any student through the reasoning behind each checkpoint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18"/>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How “Check my progress” actually grades you</a:t>
            </a:r>
            <a:endParaRPr b="0" i="0" sz="2900" u="none" cap="none" strike="noStrike">
              <a:solidFill>
                <a:schemeClr val="dk1"/>
              </a:solidFill>
              <a:latin typeface="Calibri"/>
              <a:ea typeface="Calibri"/>
              <a:cs typeface="Calibri"/>
              <a:sym typeface="Calibri"/>
            </a:endParaRPr>
          </a:p>
        </p:txBody>
      </p:sp>
      <p:cxnSp>
        <p:nvCxnSpPr>
          <p:cNvPr id="139" name="Google Shape;139;p18"/>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140" name="Google Shape;140;p18"/>
          <p:cNvSpPr/>
          <p:nvPr/>
        </p:nvSpPr>
        <p:spPr>
          <a:xfrm>
            <a:off x="640080" y="150876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A3344"/>
              </a:buClr>
              <a:buSzPts val="1500"/>
              <a:buFont typeface="Calibri"/>
              <a:buNone/>
            </a:pPr>
            <a:r>
              <a:rPr b="0" i="0" lang="en-US" sz="1900" u="none" cap="none" strike="noStrike">
                <a:solidFill>
                  <a:srgbClr val="3A3344"/>
                </a:solidFill>
                <a:latin typeface="Calibri"/>
                <a:ea typeface="Calibri"/>
                <a:cs typeface="Calibri"/>
                <a:sym typeface="Calibri"/>
              </a:rPr>
              <a:t>Every test cell ends with a logger.info(...) call. The grader does not read your code or your outputs; it queries Google Cloud Logging for those log lines in the lab's project.</a:t>
            </a:r>
            <a:endParaRPr b="0" i="0" sz="1900" u="none" cap="none" strike="noStrike">
              <a:solidFill>
                <a:schemeClr val="dk1"/>
              </a:solidFill>
              <a:latin typeface="Calibri"/>
              <a:ea typeface="Calibri"/>
              <a:cs typeface="Calibri"/>
              <a:sym typeface="Calibri"/>
            </a:endParaRPr>
          </a:p>
        </p:txBody>
      </p:sp>
      <p:sp>
        <p:nvSpPr>
          <p:cNvPr id="141" name="Google Shape;141;p18"/>
          <p:cNvSpPr/>
          <p:nvPr/>
        </p:nvSpPr>
        <p:spPr>
          <a:xfrm>
            <a:off x="822960" y="2286000"/>
            <a:ext cx="2331720" cy="1371600"/>
          </a:xfrm>
          <a:prstGeom prst="roundRect">
            <a:avLst>
              <a:gd fmla="val 6667"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18"/>
          <p:cNvPicPr preferRelativeResize="0"/>
          <p:nvPr/>
        </p:nvPicPr>
        <p:blipFill rotWithShape="1">
          <a:blip r:embed="rId4">
            <a:alphaModFix/>
          </a:blip>
          <a:srcRect b="0" l="0" r="0" t="0"/>
          <a:stretch/>
        </p:blipFill>
        <p:spPr>
          <a:xfrm>
            <a:off x="1024128" y="2514600"/>
            <a:ext cx="384048" cy="384048"/>
          </a:xfrm>
          <a:prstGeom prst="rect">
            <a:avLst/>
          </a:prstGeom>
          <a:noFill/>
          <a:ln>
            <a:noFill/>
          </a:ln>
        </p:spPr>
      </p:pic>
      <p:sp>
        <p:nvSpPr>
          <p:cNvPr id="143" name="Google Shape;143;p18"/>
          <p:cNvSpPr/>
          <p:nvPr/>
        </p:nvSpPr>
        <p:spPr>
          <a:xfrm>
            <a:off x="1024128" y="2944368"/>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250"/>
              <a:buFont typeface="Consolas"/>
              <a:buNone/>
            </a:pPr>
            <a:r>
              <a:rPr b="1" i="0" lang="en-US" sz="1750" u="none" cap="none" strike="noStrike">
                <a:solidFill>
                  <a:srgbClr val="361A54"/>
                </a:solidFill>
                <a:latin typeface="Consolas"/>
                <a:ea typeface="Consolas"/>
                <a:cs typeface="Consolas"/>
                <a:sym typeface="Consolas"/>
              </a:rPr>
              <a:t>Test cell runs</a:t>
            </a:r>
            <a:endParaRPr b="0" i="0" sz="1750" u="none" cap="none" strike="noStrike">
              <a:solidFill>
                <a:schemeClr val="dk1"/>
              </a:solidFill>
              <a:latin typeface="Calibri"/>
              <a:ea typeface="Calibri"/>
              <a:cs typeface="Calibri"/>
              <a:sym typeface="Calibri"/>
            </a:endParaRPr>
          </a:p>
        </p:txBody>
      </p:sp>
      <p:sp>
        <p:nvSpPr>
          <p:cNvPr id="144" name="Google Shape;144;p18"/>
          <p:cNvSpPr/>
          <p:nvPr/>
        </p:nvSpPr>
        <p:spPr>
          <a:xfrm>
            <a:off x="1024128" y="3255264"/>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478"/>
              </a:buClr>
              <a:buSzPts val="1100"/>
              <a:buFont typeface="Calibri"/>
              <a:buNone/>
            </a:pPr>
            <a:r>
              <a:rPr b="0" i="0" lang="en-US" sz="1600" u="none" cap="none" strike="noStrike">
                <a:solidFill>
                  <a:srgbClr val="6B6478"/>
                </a:solidFill>
                <a:latin typeface="Calibri"/>
                <a:ea typeface="Calibri"/>
                <a:cs typeface="Calibri"/>
                <a:sym typeface="Calibri"/>
              </a:rPr>
              <a:t>code executes in Colab</a:t>
            </a:r>
            <a:endParaRPr b="0" i="0" sz="1600" u="none" cap="none" strike="noStrike">
              <a:solidFill>
                <a:schemeClr val="dk1"/>
              </a:solidFill>
              <a:latin typeface="Calibri"/>
              <a:ea typeface="Calibri"/>
              <a:cs typeface="Calibri"/>
              <a:sym typeface="Calibri"/>
            </a:endParaRPr>
          </a:p>
        </p:txBody>
      </p:sp>
      <p:sp>
        <p:nvSpPr>
          <p:cNvPr id="145" name="Google Shape;145;p18"/>
          <p:cNvSpPr/>
          <p:nvPr/>
        </p:nvSpPr>
        <p:spPr>
          <a:xfrm>
            <a:off x="3200400" y="2286000"/>
            <a:ext cx="31089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7132"/>
              </a:buClr>
              <a:buSzPts val="3000"/>
              <a:buFont typeface="Trebuchet MS"/>
              <a:buNone/>
            </a:pPr>
            <a:r>
              <a:rPr b="1" i="0" lang="en-US" sz="3000" u="none" cap="none" strike="noStrike">
                <a:solidFill>
                  <a:srgbClr val="E97132"/>
                </a:solidFill>
                <a:latin typeface="Trebuchet MS"/>
                <a:ea typeface="Trebuchet MS"/>
                <a:cs typeface="Trebuchet MS"/>
                <a:sym typeface="Trebuchet MS"/>
              </a:rPr>
              <a:t>›</a:t>
            </a:r>
            <a:endParaRPr b="0" i="0" sz="3000" u="none" cap="none" strike="noStrike">
              <a:solidFill>
                <a:schemeClr val="dk1"/>
              </a:solidFill>
              <a:latin typeface="Calibri"/>
              <a:ea typeface="Calibri"/>
              <a:cs typeface="Calibri"/>
              <a:sym typeface="Calibri"/>
            </a:endParaRPr>
          </a:p>
        </p:txBody>
      </p:sp>
      <p:sp>
        <p:nvSpPr>
          <p:cNvPr id="146" name="Google Shape;146;p18"/>
          <p:cNvSpPr/>
          <p:nvPr/>
        </p:nvSpPr>
        <p:spPr>
          <a:xfrm>
            <a:off x="3538728" y="2286000"/>
            <a:ext cx="2331720" cy="1371600"/>
          </a:xfrm>
          <a:prstGeom prst="roundRect">
            <a:avLst>
              <a:gd fmla="val 6667"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7" name="Google Shape;147;p18"/>
          <p:cNvPicPr preferRelativeResize="0"/>
          <p:nvPr/>
        </p:nvPicPr>
        <p:blipFill rotWithShape="1">
          <a:blip r:embed="rId5">
            <a:alphaModFix/>
          </a:blip>
          <a:srcRect b="0" l="0" r="0" t="0"/>
          <a:stretch/>
        </p:blipFill>
        <p:spPr>
          <a:xfrm>
            <a:off x="3739896" y="2514600"/>
            <a:ext cx="384048" cy="384048"/>
          </a:xfrm>
          <a:prstGeom prst="rect">
            <a:avLst/>
          </a:prstGeom>
          <a:noFill/>
          <a:ln>
            <a:noFill/>
          </a:ln>
        </p:spPr>
      </p:pic>
      <p:sp>
        <p:nvSpPr>
          <p:cNvPr id="148" name="Google Shape;148;p18"/>
          <p:cNvSpPr/>
          <p:nvPr/>
        </p:nvSpPr>
        <p:spPr>
          <a:xfrm>
            <a:off x="3739896" y="2944368"/>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250"/>
              <a:buFont typeface="Consolas"/>
              <a:buNone/>
            </a:pPr>
            <a:r>
              <a:rPr b="1" i="0" lang="en-US" sz="1750" u="none" cap="none" strike="noStrike">
                <a:solidFill>
                  <a:srgbClr val="361A54"/>
                </a:solidFill>
                <a:latin typeface="Consolas"/>
                <a:ea typeface="Consolas"/>
                <a:cs typeface="Consolas"/>
                <a:sym typeface="Consolas"/>
              </a:rPr>
              <a:t>logger.info(...)</a:t>
            </a:r>
            <a:endParaRPr b="0" i="0" sz="1750" u="none" cap="none" strike="noStrike">
              <a:solidFill>
                <a:schemeClr val="dk1"/>
              </a:solidFill>
              <a:latin typeface="Calibri"/>
              <a:ea typeface="Calibri"/>
              <a:cs typeface="Calibri"/>
              <a:sym typeface="Calibri"/>
            </a:endParaRPr>
          </a:p>
        </p:txBody>
      </p:sp>
      <p:sp>
        <p:nvSpPr>
          <p:cNvPr id="149" name="Google Shape;149;p18"/>
          <p:cNvSpPr/>
          <p:nvPr/>
        </p:nvSpPr>
        <p:spPr>
          <a:xfrm>
            <a:off x="3739896" y="3255264"/>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478"/>
              </a:buClr>
              <a:buSzPts val="1100"/>
              <a:buFont typeface="Calibri"/>
              <a:buNone/>
            </a:pPr>
            <a:r>
              <a:rPr b="0" i="0" lang="en-US" sz="1500" u="none" cap="none" strike="noStrike">
                <a:solidFill>
                  <a:srgbClr val="6B6478"/>
                </a:solidFill>
                <a:latin typeface="Calibri"/>
                <a:ea typeface="Calibri"/>
                <a:cs typeface="Calibri"/>
                <a:sym typeface="Calibri"/>
              </a:rPr>
              <a:t>emits a tracked value</a:t>
            </a:r>
            <a:endParaRPr b="0" i="0" sz="1500" u="none" cap="none" strike="noStrike">
              <a:solidFill>
                <a:schemeClr val="dk1"/>
              </a:solidFill>
              <a:latin typeface="Calibri"/>
              <a:ea typeface="Calibri"/>
              <a:cs typeface="Calibri"/>
              <a:sym typeface="Calibri"/>
            </a:endParaRPr>
          </a:p>
        </p:txBody>
      </p:sp>
      <p:sp>
        <p:nvSpPr>
          <p:cNvPr id="150" name="Google Shape;150;p18"/>
          <p:cNvSpPr/>
          <p:nvPr/>
        </p:nvSpPr>
        <p:spPr>
          <a:xfrm>
            <a:off x="5916168" y="2286000"/>
            <a:ext cx="31089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7132"/>
              </a:buClr>
              <a:buSzPts val="3000"/>
              <a:buFont typeface="Trebuchet MS"/>
              <a:buNone/>
            </a:pPr>
            <a:r>
              <a:rPr b="1" i="0" lang="en-US" sz="3000" u="none" cap="none" strike="noStrike">
                <a:solidFill>
                  <a:srgbClr val="E97132"/>
                </a:solidFill>
                <a:latin typeface="Trebuchet MS"/>
                <a:ea typeface="Trebuchet MS"/>
                <a:cs typeface="Trebuchet MS"/>
                <a:sym typeface="Trebuchet MS"/>
              </a:rPr>
              <a:t>›</a:t>
            </a:r>
            <a:endParaRPr b="0" i="0" sz="3000" u="none" cap="none" strike="noStrike">
              <a:solidFill>
                <a:schemeClr val="dk1"/>
              </a:solidFill>
              <a:latin typeface="Calibri"/>
              <a:ea typeface="Calibri"/>
              <a:cs typeface="Calibri"/>
              <a:sym typeface="Calibri"/>
            </a:endParaRPr>
          </a:p>
        </p:txBody>
      </p:sp>
      <p:sp>
        <p:nvSpPr>
          <p:cNvPr id="151" name="Google Shape;151;p18"/>
          <p:cNvSpPr/>
          <p:nvPr/>
        </p:nvSpPr>
        <p:spPr>
          <a:xfrm>
            <a:off x="6254496" y="2286000"/>
            <a:ext cx="2331720" cy="1371600"/>
          </a:xfrm>
          <a:prstGeom prst="roundRect">
            <a:avLst>
              <a:gd fmla="val 6667"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18"/>
          <p:cNvPicPr preferRelativeResize="0"/>
          <p:nvPr/>
        </p:nvPicPr>
        <p:blipFill rotWithShape="1">
          <a:blip r:embed="rId6">
            <a:alphaModFix/>
          </a:blip>
          <a:srcRect b="0" l="0" r="0" t="0"/>
          <a:stretch/>
        </p:blipFill>
        <p:spPr>
          <a:xfrm>
            <a:off x="6455664" y="2514600"/>
            <a:ext cx="384048" cy="384048"/>
          </a:xfrm>
          <a:prstGeom prst="rect">
            <a:avLst/>
          </a:prstGeom>
          <a:noFill/>
          <a:ln>
            <a:noFill/>
          </a:ln>
        </p:spPr>
      </p:pic>
      <p:sp>
        <p:nvSpPr>
          <p:cNvPr id="153" name="Google Shape;153;p18"/>
          <p:cNvSpPr/>
          <p:nvPr/>
        </p:nvSpPr>
        <p:spPr>
          <a:xfrm>
            <a:off x="6455664" y="2944368"/>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250"/>
              <a:buFont typeface="Consolas"/>
              <a:buNone/>
            </a:pPr>
            <a:r>
              <a:rPr b="1" i="0" lang="en-US" sz="1650" u="none" cap="none" strike="noStrike">
                <a:solidFill>
                  <a:srgbClr val="361A54"/>
                </a:solidFill>
                <a:latin typeface="Consolas"/>
                <a:ea typeface="Consolas"/>
                <a:cs typeface="Consolas"/>
                <a:sym typeface="Consolas"/>
              </a:rPr>
              <a:t>Cloud Logging</a:t>
            </a:r>
            <a:endParaRPr b="0" i="0" sz="1650" u="none" cap="none" strike="noStrike">
              <a:solidFill>
                <a:schemeClr val="dk1"/>
              </a:solidFill>
              <a:latin typeface="Calibri"/>
              <a:ea typeface="Calibri"/>
              <a:cs typeface="Calibri"/>
              <a:sym typeface="Calibri"/>
            </a:endParaRPr>
          </a:p>
        </p:txBody>
      </p:sp>
      <p:sp>
        <p:nvSpPr>
          <p:cNvPr id="154" name="Google Shape;154;p18"/>
          <p:cNvSpPr/>
          <p:nvPr/>
        </p:nvSpPr>
        <p:spPr>
          <a:xfrm>
            <a:off x="6455664" y="3255264"/>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478"/>
              </a:buClr>
              <a:buSzPts val="1100"/>
              <a:buFont typeface="Calibri"/>
              <a:buNone/>
            </a:pPr>
            <a:r>
              <a:rPr b="0" i="0" lang="en-US" sz="1500" u="none" cap="none" strike="noStrike">
                <a:solidFill>
                  <a:srgbClr val="6B6478"/>
                </a:solidFill>
                <a:latin typeface="Calibri"/>
                <a:ea typeface="Calibri"/>
                <a:cs typeface="Calibri"/>
                <a:sym typeface="Calibri"/>
              </a:rPr>
              <a:t>entry lands in the project</a:t>
            </a:r>
            <a:endParaRPr b="0" i="0" sz="1500" u="none" cap="none" strike="noStrike">
              <a:solidFill>
                <a:schemeClr val="dk1"/>
              </a:solidFill>
              <a:latin typeface="Calibri"/>
              <a:ea typeface="Calibri"/>
              <a:cs typeface="Calibri"/>
              <a:sym typeface="Calibri"/>
            </a:endParaRPr>
          </a:p>
        </p:txBody>
      </p:sp>
      <p:sp>
        <p:nvSpPr>
          <p:cNvPr id="155" name="Google Shape;155;p18"/>
          <p:cNvSpPr/>
          <p:nvPr/>
        </p:nvSpPr>
        <p:spPr>
          <a:xfrm>
            <a:off x="8631936" y="2286000"/>
            <a:ext cx="31089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7132"/>
              </a:buClr>
              <a:buSzPts val="3000"/>
              <a:buFont typeface="Trebuchet MS"/>
              <a:buNone/>
            </a:pPr>
            <a:r>
              <a:rPr b="1" i="0" lang="en-US" sz="3000" u="none" cap="none" strike="noStrike">
                <a:solidFill>
                  <a:srgbClr val="E97132"/>
                </a:solidFill>
                <a:latin typeface="Trebuchet MS"/>
                <a:ea typeface="Trebuchet MS"/>
                <a:cs typeface="Trebuchet MS"/>
                <a:sym typeface="Trebuchet MS"/>
              </a:rPr>
              <a:t>›</a:t>
            </a:r>
            <a:endParaRPr b="0" i="0" sz="3000" u="none" cap="none" strike="noStrike">
              <a:solidFill>
                <a:schemeClr val="dk1"/>
              </a:solidFill>
              <a:latin typeface="Calibri"/>
              <a:ea typeface="Calibri"/>
              <a:cs typeface="Calibri"/>
              <a:sym typeface="Calibri"/>
            </a:endParaRPr>
          </a:p>
        </p:txBody>
      </p:sp>
      <p:sp>
        <p:nvSpPr>
          <p:cNvPr id="156" name="Google Shape;156;p18"/>
          <p:cNvSpPr/>
          <p:nvPr/>
        </p:nvSpPr>
        <p:spPr>
          <a:xfrm>
            <a:off x="8970264" y="2286000"/>
            <a:ext cx="2331720" cy="1371600"/>
          </a:xfrm>
          <a:prstGeom prst="roundRect">
            <a:avLst>
              <a:gd fmla="val 6667"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 name="Google Shape;157;p18"/>
          <p:cNvPicPr preferRelativeResize="0"/>
          <p:nvPr/>
        </p:nvPicPr>
        <p:blipFill rotWithShape="1">
          <a:blip r:embed="rId7">
            <a:alphaModFix/>
          </a:blip>
          <a:srcRect b="0" l="0" r="0" t="0"/>
          <a:stretch/>
        </p:blipFill>
        <p:spPr>
          <a:xfrm>
            <a:off x="9171432" y="2514600"/>
            <a:ext cx="384048" cy="384048"/>
          </a:xfrm>
          <a:prstGeom prst="rect">
            <a:avLst/>
          </a:prstGeom>
          <a:noFill/>
          <a:ln>
            <a:noFill/>
          </a:ln>
        </p:spPr>
      </p:pic>
      <p:sp>
        <p:nvSpPr>
          <p:cNvPr id="158" name="Google Shape;158;p18"/>
          <p:cNvSpPr/>
          <p:nvPr/>
        </p:nvSpPr>
        <p:spPr>
          <a:xfrm>
            <a:off x="9171432" y="2944368"/>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250"/>
              <a:buFont typeface="Consolas"/>
              <a:buNone/>
            </a:pPr>
            <a:r>
              <a:rPr b="1" i="0" lang="en-US" sz="1650" u="none" cap="none" strike="noStrike">
                <a:solidFill>
                  <a:srgbClr val="361A54"/>
                </a:solidFill>
                <a:latin typeface="Consolas"/>
                <a:ea typeface="Consolas"/>
                <a:cs typeface="Consolas"/>
                <a:sym typeface="Consolas"/>
              </a:rPr>
              <a:t>Grader queries</a:t>
            </a:r>
            <a:endParaRPr b="0" i="0" sz="1650" u="none" cap="none" strike="noStrike">
              <a:solidFill>
                <a:schemeClr val="dk1"/>
              </a:solidFill>
              <a:latin typeface="Calibri"/>
              <a:ea typeface="Calibri"/>
              <a:cs typeface="Calibri"/>
              <a:sym typeface="Calibri"/>
            </a:endParaRPr>
          </a:p>
        </p:txBody>
      </p:sp>
      <p:sp>
        <p:nvSpPr>
          <p:cNvPr id="159" name="Google Shape;159;p18"/>
          <p:cNvSpPr/>
          <p:nvPr/>
        </p:nvSpPr>
        <p:spPr>
          <a:xfrm>
            <a:off x="9171432" y="3255264"/>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478"/>
              </a:buClr>
              <a:buSzPts val="1100"/>
              <a:buFont typeface="Calibri"/>
              <a:buNone/>
            </a:pPr>
            <a:r>
              <a:rPr b="0" i="0" lang="en-US" sz="1500" u="none" cap="none" strike="noStrike">
                <a:solidFill>
                  <a:srgbClr val="6B6478"/>
                </a:solidFill>
                <a:latin typeface="Calibri"/>
                <a:ea typeface="Calibri"/>
                <a:cs typeface="Calibri"/>
                <a:sym typeface="Calibri"/>
              </a:rPr>
              <a:t>“Check my progress”</a:t>
            </a:r>
            <a:endParaRPr b="0" i="0" sz="1500" u="none" cap="none" strike="noStrike">
              <a:solidFill>
                <a:schemeClr val="dk1"/>
              </a:solidFill>
              <a:latin typeface="Calibri"/>
              <a:ea typeface="Calibri"/>
              <a:cs typeface="Calibri"/>
              <a:sym typeface="Calibri"/>
            </a:endParaRPr>
          </a:p>
        </p:txBody>
      </p:sp>
      <p:sp>
        <p:nvSpPr>
          <p:cNvPr id="160" name="Google Shape;160;p18"/>
          <p:cNvSpPr/>
          <p:nvPr/>
        </p:nvSpPr>
        <p:spPr>
          <a:xfrm>
            <a:off x="640080" y="3977640"/>
            <a:ext cx="10927080" cy="2194560"/>
          </a:xfrm>
          <a:prstGeom prst="roundRect">
            <a:avLst>
              <a:gd fmla="val 4167"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18"/>
          <p:cNvPicPr preferRelativeResize="0"/>
          <p:nvPr/>
        </p:nvPicPr>
        <p:blipFill rotWithShape="1">
          <a:blip r:embed="rId8">
            <a:alphaModFix/>
          </a:blip>
          <a:srcRect b="0" l="0" r="0" t="0"/>
          <a:stretch/>
        </p:blipFill>
        <p:spPr>
          <a:xfrm>
            <a:off x="914400" y="4279392"/>
            <a:ext cx="457200" cy="457200"/>
          </a:xfrm>
          <a:prstGeom prst="rect">
            <a:avLst/>
          </a:prstGeom>
          <a:noFill/>
          <a:ln>
            <a:noFill/>
          </a:ln>
        </p:spPr>
      </p:pic>
      <p:sp>
        <p:nvSpPr>
          <p:cNvPr id="162" name="Google Shape;162;p18"/>
          <p:cNvSpPr/>
          <p:nvPr/>
        </p:nvSpPr>
        <p:spPr>
          <a:xfrm>
            <a:off x="1554480" y="4224528"/>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D633"/>
              </a:buClr>
              <a:buSzPts val="1500"/>
              <a:buFont typeface="Trebuchet MS"/>
              <a:buNone/>
            </a:pPr>
            <a:r>
              <a:rPr b="1" i="0" lang="en-US" sz="1500" u="none" cap="none" strike="noStrike">
                <a:solidFill>
                  <a:srgbClr val="FDD633"/>
                </a:solidFill>
                <a:latin typeface="Trebuchet MS"/>
                <a:ea typeface="Trebuchet MS"/>
                <a:cs typeface="Trebuchet MS"/>
                <a:sym typeface="Trebuchet MS"/>
              </a:rPr>
              <a:t>Why this is the most useful thing you can know</a:t>
            </a:r>
            <a:endParaRPr b="0" i="0" sz="1500" u="none" cap="none" strike="noStrike">
              <a:solidFill>
                <a:schemeClr val="dk1"/>
              </a:solidFill>
              <a:latin typeface="Calibri"/>
              <a:ea typeface="Calibri"/>
              <a:cs typeface="Calibri"/>
              <a:sym typeface="Calibri"/>
            </a:endParaRPr>
          </a:p>
        </p:txBody>
      </p:sp>
      <p:sp>
        <p:nvSpPr>
          <p:cNvPr id="163" name="Google Shape;163;p18"/>
          <p:cNvSpPr/>
          <p:nvPr/>
        </p:nvSpPr>
        <p:spPr>
          <a:xfrm>
            <a:off x="1554480" y="4608576"/>
            <a:ext cx="9784080" cy="141732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Correct code + wrong environment = a red checkmark.</a:t>
            </a:r>
            <a:endParaRPr b="0" i="0" sz="1450" u="none" cap="none" strike="noStrike">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E3DAF0"/>
              </a:buClr>
              <a:buSzPts val="1450"/>
              <a:buFont typeface="Calibri"/>
              <a:buNone/>
            </a:pPr>
            <a:r>
              <a:rPr b="0" i="0" lang="en-US" sz="1450" u="none" cap="none" strike="noStrike">
                <a:solidFill>
                  <a:srgbClr val="E3DAF0"/>
                </a:solidFill>
                <a:latin typeface="Calibri"/>
                <a:ea typeface="Calibri"/>
                <a:cs typeface="Calibri"/>
                <a:sym typeface="Calibri"/>
              </a:rPr>
              <a:t>If the runtime, the account, or a stale library stops the cell from logging, the grader sees nothing, so the checkpoint stays red even when the student's logic is flawless. The first question for any stuck student is never “show me your code.” It is: did the cell actually run, and did it log?</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a:blip r:embed="rId7">
            <a:alphaModFix/>
          </a:blip>
          <a:stretch>
            <a:fillRect/>
          </a:stretch>
        </a:blipFill>
      </p:bgPr>
    </p:bg>
    <p:spTree>
      <p:nvGrpSpPr>
        <p:cNvPr id="1" name=""/>
        <p:cNvGrpSpPr/>
        <p:nvPr/>
      </p:nvGrpSpPr>
      <p:grpSpPr/>
      <p:sp>
        <p:nvSpPr>
          <p:cNvPr id="213" name="Google Shape;213;p21"/>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Before this session: getting into the lab</a:t>
            </a:r>
          </a:p>
        </p:txBody>
      </p:sp>
      <p:cxnSp>
        <p:nvCxnSpPr>
          <p:cNvPr id="214" name="Google Shape;214;p21"/>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15" name="Google Shape;215;p21"/>
          <p:cNvSpPr/>
          <p:nvPr/>
        </p:nvSpPr>
        <p:spPr>
          <a:xfrm>
            <a:off x="64008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21"/>
          <p:cNvPicPr preferRelativeResize="0"/>
          <p:nvPr/>
        </p:nvPicPr>
        <p:blipFill rotWithShape="1">
          <a:blip r:embed="rId5">
            <a:alphaModFix/>
          </a:blip>
          <a:srcRect b="0" l="0" r="0" t="0"/>
          <a:stretch/>
        </p:blipFill>
        <p:spPr>
          <a:xfrm>
            <a:off x="896112" y="2359152"/>
            <a:ext cx="457200" cy="457200"/>
          </a:xfrm>
          <a:prstGeom prst="rect">
            <a:avLst/>
          </a:prstGeom>
          <a:noFill/>
          <a:ln>
            <a:noFill/>
          </a:ln>
        </p:spPr>
      </p:pic>
      <p:sp>
        <p:nvSpPr>
          <p:cNvPr id="217" name="Google Shape;217;p21"/>
          <p:cNvSpPr/>
          <p:nvPr/>
        </p:nvSpPr>
        <p:spPr>
          <a:xfrm>
            <a:off x="146304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Enrol, then start</a:t>
            </a:r>
          </a:p>
        </p:txBody>
      </p:sp>
      <p:sp>
        <p:nvSpPr>
          <p:cNvPr id="218" name="Google Shape;218;p21"/>
          <p:cNvSpPr/>
          <p:nvPr/>
        </p:nvSpPr>
        <p:spPr>
          <a:xfrm>
            <a:off x="89611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Start from the Train A Small Language Model course, not from the path.</a:t>
            </a:r>
          </a:p>
        </p:txBody>
      </p:sp>
      <p:sp>
        <p:nvSpPr>
          <p:cNvPr id="219" name="Google Shape;219;p21"/>
          <p:cNvSpPr/>
          <p:nvPr/>
        </p:nvSpPr>
        <p:spPr>
          <a:xfrm>
            <a:off x="89611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WHAT | Enrol in the course, then click Start challenge.</a:t>
            </a:r>
          </a:p>
        </p:txBody>
      </p:sp>
      <p:sp>
        <p:nvSpPr>
          <p:cNvPr id="220" name="Google Shape;220;p21"/>
          <p:cNvSpPr/>
          <p:nvPr/>
        </p:nvSpPr>
        <p:spPr>
          <a:xfrm>
            <a:off x="89611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WHY IT MATTERS | No enrolment means no skill badge.</a:t>
            </a:r>
          </a:p>
        </p:txBody>
      </p:sp>
      <p:sp>
        <p:nvSpPr>
          <p:cNvPr id="221" name="Google Shape;221;p21"/>
          <p:cNvSpPr/>
          <p:nvPr/>
        </p:nvSpPr>
        <p:spPr>
          <a:xfrm>
            <a:off x="434340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21"/>
          <p:cNvPicPr preferRelativeResize="0"/>
          <p:nvPr/>
        </p:nvPicPr>
        <p:blipFill rotWithShape="1">
          <a:blip r:embed="rId6">
            <a:alphaModFix/>
          </a:blip>
          <a:srcRect b="0" l="0" r="0" t="0"/>
          <a:stretch/>
        </p:blipFill>
        <p:spPr>
          <a:xfrm>
            <a:off x="4599432" y="2359152"/>
            <a:ext cx="457200" cy="457200"/>
          </a:xfrm>
          <a:prstGeom prst="rect">
            <a:avLst/>
          </a:prstGeom>
          <a:noFill/>
          <a:ln>
            <a:noFill/>
          </a:ln>
        </p:spPr>
      </p:pic>
      <p:sp>
        <p:nvSpPr>
          <p:cNvPr id="223" name="Google Shape;223;p21"/>
          <p:cNvSpPr/>
          <p:nvPr/>
        </p:nvSpPr>
        <p:spPr>
          <a:xfrm>
            <a:off x="516636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Budget 90 minutes</a:t>
            </a:r>
          </a:p>
        </p:txBody>
      </p:sp>
      <p:sp>
        <p:nvSpPr>
          <p:cNvPr id="224" name="Google Shape;224;p21"/>
          <p:cNvSpPr/>
          <p:nvPr/>
        </p:nvSpPr>
        <p:spPr>
          <a:xfrm>
            <a:off x="459943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The card says 1 hour. The running lab shows 1h 29m left.</a:t>
            </a:r>
          </a:p>
        </p:txBody>
      </p:sp>
      <p:sp>
        <p:nvSpPr>
          <p:cNvPr id="225" name="Google Shape;225;p21"/>
          <p:cNvSpPr/>
          <p:nvPr/>
        </p:nvSpPr>
        <p:spPr>
          <a:xfrm>
            <a:off x="459943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WHAT | Set aside a full, uninterrupted 90 minutes.</a:t>
            </a:r>
          </a:p>
        </p:txBody>
      </p:sp>
      <p:sp>
        <p:nvSpPr>
          <p:cNvPr id="226" name="Google Shape;226;p21"/>
          <p:cNvSpPr/>
          <p:nvPr/>
        </p:nvSpPr>
        <p:spPr>
          <a:xfrm>
            <a:off x="459943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WHY IT MATTERS | A lab cannot be paused once you click Start.</a:t>
            </a:r>
          </a:p>
        </p:txBody>
      </p:sp>
      <p:sp>
        <p:nvSpPr>
          <p:cNvPr id="900" name="Card3Shape900"/>
          <p:cNvSpPr/>
          <p:nvPr/>
        </p:nvSpPr>
        <p:spPr>
          <a:xfrm>
            <a:off x="804672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1" name="Card3Shape901"/>
          <p:cNvPicPr preferRelativeResize="0"/>
          <p:nvPr/>
        </p:nvPicPr>
        <p:blipFill rotWithShape="1">
          <a:blip r:embed="rId3">
            <a:alphaModFix/>
          </a:blip>
          <a:srcRect b="0" l="0" r="0" t="0"/>
          <a:stretch/>
        </p:blipFill>
        <p:spPr>
          <a:xfrm>
            <a:off x="8302752" y="2359152"/>
            <a:ext cx="457200" cy="457200"/>
          </a:xfrm>
          <a:prstGeom prst="rect">
            <a:avLst/>
          </a:prstGeom>
          <a:noFill/>
          <a:ln>
            <a:noFill/>
          </a:ln>
        </p:spPr>
      </p:pic>
      <p:sp>
        <p:nvSpPr>
          <p:cNvPr id="902" name="Card3Shape902"/>
          <p:cNvSpPr/>
          <p:nvPr/>
        </p:nvSpPr>
        <p:spPr>
          <a:xfrm>
            <a:off x="886968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Incognito and the student account</a:t>
            </a:r>
          </a:p>
        </p:txBody>
      </p:sp>
      <p:sp>
        <p:nvSpPr>
          <p:cNvPr id="903" name="Card3Shape903"/>
          <p:cNvSpPr/>
          <p:nvPr/>
        </p:nvSpPr>
        <p:spPr>
          <a:xfrm>
            <a:off x="830275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Open Google Cloud console prompts you to use private browsing.</a:t>
            </a:r>
          </a:p>
        </p:txBody>
      </p:sp>
      <p:sp>
        <p:nvSpPr>
          <p:cNvPr id="904" name="Card3Shape904"/>
          <p:cNvSpPr/>
          <p:nvPr/>
        </p:nvSpPr>
        <p:spPr>
          <a:xfrm>
            <a:off x="830275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WHAT | Copy the username, password and project ID first.</a:t>
            </a:r>
          </a:p>
        </p:txBody>
      </p:sp>
      <p:sp>
        <p:nvSpPr>
          <p:cNvPr id="905" name="Card3Shape905"/>
          <p:cNvSpPr/>
          <p:nvPr/>
        </p:nvSpPr>
        <p:spPr>
          <a:xfrm>
            <a:off x="830275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WHY IT MATTERS | Signing in with a personal Gmail can create real charges.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9"/>
          <p:cNvSpPr/>
          <p:nvPr/>
        </p:nvSpPr>
        <p:spPr>
          <a:xfrm>
            <a:off x="640080" y="658368"/>
            <a:ext cx="109728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lang="en-US" sz="2900">
                <a:solidFill>
                  <a:srgbClr val="361A54"/>
                </a:solidFill>
                <a:latin typeface="Trebuchet MS"/>
                <a:ea typeface="Trebuchet MS"/>
                <a:cs typeface="Trebuchet MS"/>
                <a:sym typeface="Trebuchet MS"/>
              </a:rPr>
              <a:t>The main steps</a:t>
            </a:r>
            <a:endParaRPr b="0" i="0" sz="2900" u="none" cap="none" strike="noStrike">
              <a:solidFill>
                <a:schemeClr val="dk1"/>
              </a:solidFill>
              <a:latin typeface="Calibri"/>
              <a:ea typeface="Calibri"/>
              <a:cs typeface="Calibri"/>
              <a:sym typeface="Calibri"/>
            </a:endParaRPr>
          </a:p>
        </p:txBody>
      </p:sp>
      <p:cxnSp>
        <p:nvCxnSpPr>
          <p:cNvPr id="170" name="Google Shape;170;p19"/>
          <p:cNvCxnSpPr/>
          <p:nvPr/>
        </p:nvCxnSpPr>
        <p:spPr>
          <a:xfrm>
            <a:off x="658368" y="1371600"/>
            <a:ext cx="10881300" cy="0"/>
          </a:xfrm>
          <a:prstGeom prst="straightConnector1">
            <a:avLst/>
          </a:prstGeom>
          <a:noFill/>
          <a:ln cap="flat" cmpd="sng" w="19050">
            <a:solidFill>
              <a:srgbClr val="361A54"/>
            </a:solidFill>
            <a:prstDash val="solid"/>
            <a:round/>
            <a:headEnd len="sm" w="sm" type="none"/>
            <a:tailEnd len="sm" w="sm" type="none"/>
          </a:ln>
        </p:spPr>
      </p:cxnSp>
      <p:sp>
        <p:nvSpPr>
          <p:cNvPr id="171" name="Google Shape;171;p19"/>
          <p:cNvSpPr/>
          <p:nvPr/>
        </p:nvSpPr>
        <p:spPr>
          <a:xfrm>
            <a:off x="1614775" y="1644738"/>
            <a:ext cx="3154800" cy="2011800"/>
          </a:xfrm>
          <a:prstGeom prst="roundRect">
            <a:avLst>
              <a:gd fmla="val 4000" name="adj"/>
            </a:avLst>
          </a:prstGeom>
          <a:solidFill>
            <a:srgbClr val="361A54"/>
          </a:solidFill>
          <a:ln cap="flat" cmpd="sng" w="15875">
            <a:solidFill>
              <a:srgbClr val="E3DEEC"/>
            </a:solidFill>
            <a:prstDash val="solid"/>
            <a:round/>
            <a:headEnd len="sm" w="sm" type="none"/>
            <a:tailEnd len="sm" w="sm" type="none"/>
          </a:ln>
          <a:effectLst>
            <a:outerShdw blurRad="76200" rotWithShape="0" algn="bl" dir="8100000" dist="25400">
              <a:srgbClr val="6B5B86">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61A54"/>
              </a:solidFill>
            </a:endParaRPr>
          </a:p>
        </p:txBody>
      </p:sp>
      <p:sp>
        <p:nvSpPr>
          <p:cNvPr id="172" name="Google Shape;172;p19"/>
          <p:cNvSpPr/>
          <p:nvPr/>
        </p:nvSpPr>
        <p:spPr>
          <a:xfrm>
            <a:off x="6468950" y="1656572"/>
            <a:ext cx="3154800" cy="2011800"/>
          </a:xfrm>
          <a:prstGeom prst="roundRect">
            <a:avLst>
              <a:gd fmla="val 4000" name="adj"/>
            </a:avLst>
          </a:prstGeom>
          <a:solidFill>
            <a:srgbClr val="361A54"/>
          </a:solidFill>
          <a:ln cap="flat" cmpd="sng" w="15875">
            <a:solidFill>
              <a:srgbClr val="E3DEEC"/>
            </a:solidFill>
            <a:prstDash val="solid"/>
            <a:round/>
            <a:headEnd len="sm" w="sm" type="none"/>
            <a:tailEnd len="sm" w="sm" type="none"/>
          </a:ln>
          <a:effectLst>
            <a:outerShdw blurRad="76200" rotWithShape="0" algn="bl" dir="8100000" dist="25400">
              <a:srgbClr val="6B5B86">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1638295" y="3976412"/>
            <a:ext cx="3154800" cy="2011800"/>
          </a:xfrm>
          <a:prstGeom prst="roundRect">
            <a:avLst>
              <a:gd fmla="val 4000" name="adj"/>
            </a:avLst>
          </a:prstGeom>
          <a:solidFill>
            <a:srgbClr val="361A54"/>
          </a:solidFill>
          <a:ln cap="flat" cmpd="sng" w="15875">
            <a:solidFill>
              <a:srgbClr val="E3DEEC"/>
            </a:solidFill>
            <a:prstDash val="solid"/>
            <a:round/>
            <a:headEnd len="sm" w="sm" type="none"/>
            <a:tailEnd len="sm" w="sm" type="none"/>
          </a:ln>
          <a:effectLst>
            <a:outerShdw blurRad="76200" rotWithShape="0" algn="bl" dir="8100000" dist="25400">
              <a:srgbClr val="6B5B86">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6387684" y="4029100"/>
            <a:ext cx="3247800" cy="2011800"/>
          </a:xfrm>
          <a:prstGeom prst="roundRect">
            <a:avLst>
              <a:gd fmla="val 4000" name="adj"/>
            </a:avLst>
          </a:prstGeom>
          <a:solidFill>
            <a:srgbClr val="361A54"/>
          </a:solidFill>
          <a:ln cap="flat" cmpd="sng" w="15875">
            <a:solidFill>
              <a:srgbClr val="E3DEEC"/>
            </a:solidFill>
            <a:prstDash val="solid"/>
            <a:round/>
            <a:headEnd len="sm" w="sm" type="none"/>
            <a:tailEnd len="sm" w="sm" type="none"/>
          </a:ln>
          <a:effectLst>
            <a:outerShdw blurRad="76200" rotWithShape="0" algn="bl" dir="8100000" dist="25400">
              <a:srgbClr val="6B5B86">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19"/>
          <p:cNvPicPr preferRelativeResize="0"/>
          <p:nvPr/>
        </p:nvPicPr>
        <p:blipFill rotWithShape="1">
          <a:blip r:embed="rId4">
            <a:alphaModFix amt="70000"/>
          </a:blip>
          <a:srcRect b="0" l="0" r="0" t="0"/>
          <a:stretch/>
        </p:blipFill>
        <p:spPr>
          <a:xfrm>
            <a:off x="3948299" y="2330663"/>
            <a:ext cx="731400" cy="731400"/>
          </a:xfrm>
          <a:prstGeom prst="rect">
            <a:avLst/>
          </a:prstGeom>
          <a:noFill/>
          <a:ln>
            <a:noFill/>
          </a:ln>
        </p:spPr>
      </p:pic>
      <p:sp>
        <p:nvSpPr>
          <p:cNvPr id="176" name="Google Shape;176;p19"/>
          <p:cNvSpPr txBox="1"/>
          <p:nvPr/>
        </p:nvSpPr>
        <p:spPr>
          <a:xfrm>
            <a:off x="1925700" y="2331720"/>
            <a:ext cx="2069700" cy="67665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Task 1: Import and load data</a:t>
            </a:r>
          </a:p>
        </p:txBody>
      </p:sp>
      <p:pic>
        <p:nvPicPr>
          <p:cNvPr descr="preencoded.png" id="177" name="Google Shape;177;p19"/>
          <p:cNvPicPr preferRelativeResize="0"/>
          <p:nvPr/>
        </p:nvPicPr>
        <p:blipFill rotWithShape="1">
          <a:blip r:embed="rId5">
            <a:alphaModFix amt="70000"/>
          </a:blip>
          <a:srcRect b="0" l="0" r="0" t="0"/>
          <a:stretch/>
        </p:blipFill>
        <p:spPr>
          <a:xfrm>
            <a:off x="8577279" y="2121410"/>
            <a:ext cx="987775" cy="987775"/>
          </a:xfrm>
          <a:prstGeom prst="rect">
            <a:avLst/>
          </a:prstGeom>
          <a:noFill/>
          <a:ln>
            <a:noFill/>
          </a:ln>
        </p:spPr>
      </p:pic>
      <p:sp>
        <p:nvSpPr>
          <p:cNvPr id="178" name="Google Shape;178;p19"/>
          <p:cNvSpPr txBox="1"/>
          <p:nvPr/>
        </p:nvSpPr>
        <p:spPr>
          <a:xfrm>
            <a:off x="6401744" y="2331876"/>
            <a:ext cx="2252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lt1"/>
                </a:solidFill>
              </a:rPr>
              <a:t>Task 2: Character tokenizer</a:t>
            </a:r>
          </a:p>
        </p:txBody>
      </p:sp>
      <p:pic>
        <p:nvPicPr>
          <p:cNvPr descr="preencoded.png" id="179" name="Google Shape;179;p19"/>
          <p:cNvPicPr preferRelativeResize="0"/>
          <p:nvPr/>
        </p:nvPicPr>
        <p:blipFill rotWithShape="1">
          <a:blip r:embed="rId6">
            <a:alphaModFix amt="70000"/>
          </a:blip>
          <a:srcRect b="0" l="0" r="0" t="0"/>
          <a:stretch/>
        </p:blipFill>
        <p:spPr>
          <a:xfrm>
            <a:off x="3900515" y="4632575"/>
            <a:ext cx="731400" cy="731400"/>
          </a:xfrm>
          <a:prstGeom prst="rect">
            <a:avLst/>
          </a:prstGeom>
          <a:noFill/>
          <a:ln>
            <a:noFill/>
          </a:ln>
        </p:spPr>
      </p:pic>
      <p:sp>
        <p:nvSpPr>
          <p:cNvPr id="180" name="Google Shape;180;p19"/>
          <p:cNvSpPr txBox="1"/>
          <p:nvPr/>
        </p:nvSpPr>
        <p:spPr>
          <a:xfrm>
            <a:off x="1723864" y="4757687"/>
            <a:ext cx="2252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lt1"/>
                </a:solidFill>
              </a:rPr>
              <a:t>Task 3: N-gram text generator</a:t>
            </a:r>
          </a:p>
        </p:txBody>
      </p:sp>
      <p:pic>
        <p:nvPicPr>
          <p:cNvPr descr="preencoded.png" id="181" name="Google Shape;181;p19"/>
          <p:cNvPicPr preferRelativeResize="0"/>
          <p:nvPr/>
        </p:nvPicPr>
        <p:blipFill rotWithShape="1">
          <a:blip r:embed="rId7">
            <a:alphaModFix amt="70000"/>
          </a:blip>
          <a:srcRect b="0" l="0" r="0" t="0"/>
          <a:stretch/>
        </p:blipFill>
        <p:spPr>
          <a:xfrm>
            <a:off x="8739485" y="4803670"/>
            <a:ext cx="731400" cy="731400"/>
          </a:xfrm>
          <a:prstGeom prst="rect">
            <a:avLst/>
          </a:prstGeom>
          <a:noFill/>
          <a:ln>
            <a:noFill/>
          </a:ln>
        </p:spPr>
      </p:pic>
      <p:sp>
        <p:nvSpPr>
          <p:cNvPr id="182" name="Google Shape;182;p19"/>
          <p:cNvSpPr txBox="1"/>
          <p:nvPr/>
        </p:nvSpPr>
        <p:spPr>
          <a:xfrm>
            <a:off x="6625380" y="4749694"/>
            <a:ext cx="2252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lt1"/>
                </a:solidFill>
              </a:rPr>
              <a:t>Task 4: Dataset preparation</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20"/>
          <p:cNvSpPr/>
          <p:nvPr/>
        </p:nvSpPr>
        <p:spPr>
          <a:xfrm>
            <a:off x="731520" y="1417320"/>
            <a:ext cx="10725912" cy="4023360"/>
          </a:xfrm>
          <a:prstGeom prst="roundRect">
            <a:avLst>
              <a:gd fmla="val 3182"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a:off x="1051560" y="1783080"/>
            <a:ext cx="1691640" cy="457200"/>
          </a:xfrm>
          <a:prstGeom prst="roundRect">
            <a:avLst>
              <a:gd fmla="val 16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1051560" y="178308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Trebuchet MS"/>
              <a:buNone/>
            </a:pPr>
            <a:r>
              <a:rPr b="1" i="0" lang="en-US" sz="1300" u="none" cap="none" strike="noStrike">
                <a:solidFill>
                  <a:srgbClr val="361A54"/>
                </a:solidFill>
                <a:latin typeface="Trebuchet MS"/>
                <a:ea typeface="Trebuchet MS"/>
                <a:cs typeface="Trebuchet MS"/>
                <a:sym typeface="Trebuchet MS"/>
              </a:rPr>
              <a:t>PART ONE</a:t>
            </a:r>
            <a:endParaRPr b="0" i="0" sz="1300" u="none" cap="none" strike="noStrike">
              <a:solidFill>
                <a:schemeClr val="dk1"/>
              </a:solidFill>
              <a:latin typeface="Calibri"/>
              <a:ea typeface="Calibri"/>
              <a:cs typeface="Calibri"/>
              <a:sym typeface="Calibri"/>
            </a:endParaRPr>
          </a:p>
        </p:txBody>
      </p:sp>
      <p:sp>
        <p:nvSpPr>
          <p:cNvPr id="191" name="Google Shape;191;p20"/>
          <p:cNvSpPr/>
          <p:nvPr/>
        </p:nvSpPr>
        <p:spPr>
          <a:xfrm>
            <a:off x="2926080" y="178308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FD6"/>
              </a:buClr>
              <a:buSzPts val="1600"/>
              <a:buFont typeface="Trebuchet MS"/>
              <a:buNone/>
            </a:pPr>
            <a:r>
              <a:rPr b="1" i="0" lang="en-US" sz="1600" u="none" cap="none" strike="noStrike">
                <a:solidFill>
                  <a:srgbClr val="B79FD6"/>
                </a:solidFill>
                <a:latin typeface="Trebuchet MS"/>
                <a:ea typeface="Trebuchet MS"/>
                <a:cs typeface="Trebuchet MS"/>
                <a:sym typeface="Trebuchet MS"/>
              </a:rPr>
              <a:t>Task 1</a:t>
            </a:r>
            <a:endParaRPr b="0" i="0" sz="1600" u="none" cap="none" strike="noStrike">
              <a:solidFill>
                <a:schemeClr val="dk1"/>
              </a:solidFill>
              <a:latin typeface="Calibri"/>
              <a:ea typeface="Calibri"/>
              <a:cs typeface="Calibri"/>
              <a:sym typeface="Calibri"/>
            </a:endParaRPr>
          </a:p>
        </p:txBody>
      </p:sp>
      <p:pic>
        <p:nvPicPr>
          <p:cNvPr descr="preencoded.png" id="192" name="Google Shape;192;p20"/>
          <p:cNvPicPr preferRelativeResize="0"/>
          <p:nvPr/>
        </p:nvPicPr>
        <p:blipFill rotWithShape="1">
          <a:blip r:embed="rId4">
            <a:alphaModFix amt="70000"/>
          </a:blip>
          <a:srcRect b="0" l="0" r="0" t="0"/>
          <a:stretch/>
        </p:blipFill>
        <p:spPr>
          <a:xfrm>
            <a:off x="9692640" y="1828800"/>
            <a:ext cx="1371600" cy="1371600"/>
          </a:xfrm>
          <a:prstGeom prst="rect">
            <a:avLst/>
          </a:prstGeom>
          <a:noFill/>
          <a:ln>
            <a:noFill/>
          </a:ln>
        </p:spPr>
      </p:pic>
      <p:sp>
        <p:nvSpPr>
          <p:cNvPr id="193" name="Google Shape;193;p20"/>
          <p:cNvSpPr/>
          <p:nvPr/>
        </p:nvSpPr>
        <p:spPr>
          <a:xfrm>
            <a:off x="1051560" y="2423160"/>
            <a:ext cx="8503920" cy="105156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Import and load the data</a:t>
            </a:r>
            <a:endParaRPr b="0" i="0" sz="4000" u="none" cap="none" strike="noStrike">
              <a:solidFill>
                <a:schemeClr val="dk1"/>
              </a:solidFill>
              <a:latin typeface="Calibri"/>
              <a:ea typeface="Calibri"/>
              <a:cs typeface="Calibri"/>
              <a:sym typeface="Calibri"/>
            </a:endParaRPr>
          </a:p>
        </p:txBody>
      </p:sp>
      <p:sp>
        <p:nvSpPr>
          <p:cNvPr id="194" name="Google Shape;194;p20"/>
          <p:cNvSpPr/>
          <p:nvPr/>
        </p:nvSpPr>
        <p:spPr>
          <a:xfrm>
            <a:off x="1069848" y="361188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CEEC"/>
              </a:buClr>
              <a:buSzPts val="1450"/>
              <a:buFont typeface="Calibri"/>
              <a:buNone/>
            </a:pPr>
            <a:r>
              <a:rPr b="0" i="0" lang="en-US" sz="2350" u="none" cap="none" strike="noStrike">
                <a:solidFill>
                  <a:srgbClr val="D9CEEC"/>
                </a:solidFill>
                <a:latin typeface="Calibri"/>
                <a:ea typeface="Calibri"/>
                <a:cs typeface="Calibri"/>
                <a:sym typeface="Calibri"/>
              </a:rPr>
              <a:t>The lab's own Task 1 is Import the notebook, define helper functions, and load data. There is no code to write here, and no Check my progress button.</a:t>
            </a:r>
            <a:endParaRPr b="0" i="0" sz="2350" u="none" cap="none" strike="noStrike">
              <a:solidFill>
                <a:schemeClr val="dk1"/>
              </a:solidFill>
              <a:latin typeface="Calibri"/>
              <a:ea typeface="Calibri"/>
              <a:cs typeface="Calibri"/>
              <a:sym typeface="Calibri"/>
            </a:endParaRPr>
          </a:p>
        </p:txBody>
      </p:sp>
      <p:sp>
        <p:nvSpPr>
          <p:cNvPr id="195" name="Google Shape;195;p20"/>
          <p:cNvSpPr/>
          <p:nvPr/>
        </p:nvSpPr>
        <p:spPr>
          <a:xfrm>
            <a:off x="822960" y="5806440"/>
            <a:ext cx="6382512" cy="548640"/>
          </a:xfrm>
          <a:prstGeom prst="roundRect">
            <a:avLst>
              <a:gd fmla="val 50000"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
          <p:cNvSpPr/>
          <p:nvPr/>
        </p:nvSpPr>
        <p:spPr>
          <a:xfrm>
            <a:off x="960120"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20"/>
          <p:cNvPicPr preferRelativeResize="0"/>
          <p:nvPr/>
        </p:nvPicPr>
        <p:blipFill rotWithShape="1">
          <a:blip r:embed="rId5">
            <a:alphaModFix/>
          </a:blip>
          <a:srcRect b="0" l="0" r="0" t="0"/>
          <a:stretch/>
        </p:blipFill>
        <p:spPr>
          <a:xfrm>
            <a:off x="1078992" y="5989320"/>
            <a:ext cx="182880" cy="182880"/>
          </a:xfrm>
          <a:prstGeom prst="rect">
            <a:avLst/>
          </a:prstGeom>
          <a:noFill/>
          <a:ln>
            <a:noFill/>
          </a:ln>
        </p:spPr>
      </p:pic>
      <p:sp>
        <p:nvSpPr>
          <p:cNvPr id="198" name="Google Shape;198;p20"/>
          <p:cNvSpPr/>
          <p:nvPr/>
        </p:nvSpPr>
        <p:spPr>
          <a:xfrm>
            <a:off x="1271016"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1 IMPORT</a:t>
            </a:r>
            <a:endParaRPr b="0" i="0" sz="1000" u="none" cap="none" strike="noStrike">
              <a:solidFill>
                <a:schemeClr val="dk1"/>
              </a:solidFill>
              <a:latin typeface="Calibri"/>
              <a:ea typeface="Calibri"/>
              <a:cs typeface="Calibri"/>
              <a:sym typeface="Calibri"/>
            </a:endParaRPr>
          </a:p>
        </p:txBody>
      </p:sp>
      <p:sp>
        <p:nvSpPr>
          <p:cNvPr id="199" name="Google Shape;199;p20"/>
          <p:cNvSpPr/>
          <p:nvPr/>
        </p:nvSpPr>
        <p:spPr>
          <a:xfrm>
            <a:off x="2523744" y="5897880"/>
            <a:ext cx="1417320" cy="365760"/>
          </a:xfrm>
          <a:prstGeom prst="roundRect">
            <a:avLst>
              <a:gd fmla="val 50000" name="adj"/>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20"/>
          <p:cNvPicPr preferRelativeResize="0"/>
          <p:nvPr/>
        </p:nvPicPr>
        <p:blipFill rotWithShape="1">
          <a:blip r:embed="rId6">
            <a:alphaModFix/>
          </a:blip>
          <a:srcRect b="0" l="0" r="0" t="0"/>
          <a:stretch/>
        </p:blipFill>
        <p:spPr>
          <a:xfrm>
            <a:off x="2642616" y="5989320"/>
            <a:ext cx="182880" cy="182880"/>
          </a:xfrm>
          <a:prstGeom prst="rect">
            <a:avLst/>
          </a:prstGeom>
          <a:noFill/>
          <a:ln>
            <a:noFill/>
          </a:ln>
        </p:spPr>
      </p:pic>
      <p:sp>
        <p:nvSpPr>
          <p:cNvPr id="201" name="Google Shape;201;p20"/>
          <p:cNvSpPr/>
          <p:nvPr/>
        </p:nvSpPr>
        <p:spPr>
          <a:xfrm>
            <a:off x="2834640"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EEC"/>
              </a:buClr>
              <a:buSzPts val="1000"/>
              <a:buFont typeface="Trebuchet MS"/>
              <a:buNone/>
            </a:pPr>
            <a:r>
              <a:rPr b="1" i="0" lang="en-US" sz="1000" u="none" cap="none" strike="noStrike">
                <a:solidFill>
                  <a:srgbClr val="D9CEEC"/>
                </a:solidFill>
                <a:latin typeface="Trebuchet MS"/>
                <a:ea typeface="Trebuchet MS"/>
                <a:cs typeface="Trebuchet MS"/>
                <a:sym typeface="Trebuchet MS"/>
              </a:rPr>
              <a:t>2 TOKEN</a:t>
            </a:r>
            <a:endParaRPr b="0" i="0" sz="1000" u="none" cap="none" strike="noStrike">
              <a:solidFill>
                <a:schemeClr val="dk1"/>
              </a:solidFill>
              <a:latin typeface="Calibri"/>
              <a:ea typeface="Calibri"/>
              <a:cs typeface="Calibri"/>
              <a:sym typeface="Calibri"/>
            </a:endParaRPr>
          </a:p>
        </p:txBody>
      </p:sp>
      <p:sp>
        <p:nvSpPr>
          <p:cNvPr id="202" name="Google Shape;202;p20"/>
          <p:cNvSpPr/>
          <p:nvPr/>
        </p:nvSpPr>
        <p:spPr>
          <a:xfrm>
            <a:off x="4087368" y="5897880"/>
            <a:ext cx="1417320" cy="365760"/>
          </a:xfrm>
          <a:prstGeom prst="roundRect">
            <a:avLst>
              <a:gd fmla="val 50000" name="adj"/>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20"/>
          <p:cNvPicPr preferRelativeResize="0"/>
          <p:nvPr/>
        </p:nvPicPr>
        <p:blipFill rotWithShape="1">
          <a:blip r:embed="rId6">
            <a:alphaModFix/>
          </a:blip>
          <a:srcRect b="0" l="0" r="0" t="0"/>
          <a:stretch/>
        </p:blipFill>
        <p:spPr>
          <a:xfrm>
            <a:off x="4206240" y="5989320"/>
            <a:ext cx="182880" cy="182880"/>
          </a:xfrm>
          <a:prstGeom prst="rect">
            <a:avLst/>
          </a:prstGeom>
          <a:noFill/>
          <a:ln>
            <a:noFill/>
          </a:ln>
        </p:spPr>
      </p:pic>
      <p:sp>
        <p:nvSpPr>
          <p:cNvPr id="204" name="Google Shape;204;p20"/>
          <p:cNvSpPr/>
          <p:nvPr/>
        </p:nvSpPr>
        <p:spPr>
          <a:xfrm>
            <a:off x="4398264"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EEC"/>
              </a:buClr>
              <a:buSzPts val="1000"/>
              <a:buFont typeface="Trebuchet MS"/>
              <a:buNone/>
            </a:pPr>
            <a:r>
              <a:rPr b="1" i="0" lang="en-US" sz="1000" u="none" cap="none" strike="noStrike">
                <a:solidFill>
                  <a:srgbClr val="D9CEEC"/>
                </a:solidFill>
                <a:latin typeface="Trebuchet MS"/>
                <a:ea typeface="Trebuchet MS"/>
                <a:cs typeface="Trebuchet MS"/>
                <a:sym typeface="Trebuchet MS"/>
              </a:rPr>
              <a:t>3 N-GRAM</a:t>
            </a:r>
            <a:endParaRPr b="0" i="0" sz="1000" u="none" cap="none" strike="noStrike">
              <a:solidFill>
                <a:schemeClr val="dk1"/>
              </a:solidFill>
              <a:latin typeface="Calibri"/>
              <a:ea typeface="Calibri"/>
              <a:cs typeface="Calibri"/>
              <a:sym typeface="Calibri"/>
            </a:endParaRPr>
          </a:p>
        </p:txBody>
      </p:sp>
      <p:sp>
        <p:nvSpPr>
          <p:cNvPr id="205" name="Google Shape;205;p20"/>
          <p:cNvSpPr/>
          <p:nvPr/>
        </p:nvSpPr>
        <p:spPr>
          <a:xfrm>
            <a:off x="5650992" y="5897880"/>
            <a:ext cx="1417320" cy="365760"/>
          </a:xfrm>
          <a:prstGeom prst="roundRect">
            <a:avLst>
              <a:gd fmla="val 50000" name="adj"/>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 name="Google Shape;206;p20"/>
          <p:cNvPicPr preferRelativeResize="0"/>
          <p:nvPr/>
        </p:nvPicPr>
        <p:blipFill rotWithShape="1">
          <a:blip r:embed="rId6">
            <a:alphaModFix/>
          </a:blip>
          <a:srcRect b="0" l="0" r="0" t="0"/>
          <a:stretch/>
        </p:blipFill>
        <p:spPr>
          <a:xfrm>
            <a:off x="5769864" y="5989320"/>
            <a:ext cx="182880" cy="182880"/>
          </a:xfrm>
          <a:prstGeom prst="rect">
            <a:avLst/>
          </a:prstGeom>
          <a:noFill/>
          <a:ln>
            <a:noFill/>
          </a:ln>
        </p:spPr>
      </p:pic>
      <p:sp>
        <p:nvSpPr>
          <p:cNvPr id="207" name="Google Shape;207;p20"/>
          <p:cNvSpPr/>
          <p:nvPr/>
        </p:nvSpPr>
        <p:spPr>
          <a:xfrm>
            <a:off x="5961888"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EEC"/>
              </a:buClr>
              <a:buSzPts val="1000"/>
              <a:buFont typeface="Trebuchet MS"/>
              <a:buNone/>
            </a:pPr>
            <a:r>
              <a:rPr b="1" i="0" lang="en-US" sz="1000" u="none" cap="none" strike="noStrike">
                <a:solidFill>
                  <a:srgbClr val="D9CEEC"/>
                </a:solidFill>
                <a:latin typeface="Trebuchet MS"/>
                <a:ea typeface="Trebuchet MS"/>
                <a:cs typeface="Trebuchet MS"/>
                <a:sym typeface="Trebuchet MS"/>
              </a:rPr>
              <a:t>4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a:blip r:embed="rId5">
            <a:alphaModFix/>
          </a:blip>
          <a:stretch>
            <a:fillRect/>
          </a:stretch>
        </a:blipFill>
      </p:bgPr>
    </p:bg>
    <p:spTree>
      <p:nvGrpSpPr>
        <p:cNvPr id="1" name=""/>
        <p:cNvGrpSpPr/>
        <p:nvPr/>
      </p:nvGrpSpPr>
      <p:grpSpPr/>
      <p:sp>
        <p:nvSpPr>
          <p:cNvPr id="213" name="Google Shape;213;p21"/>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Getting the notebook open</a:t>
            </a:r>
            <a:endParaRPr b="0" i="0" sz="2900" u="none" cap="none" strike="noStrike">
              <a:solidFill>
                <a:schemeClr val="dk1"/>
              </a:solidFill>
              <a:latin typeface="Calibri"/>
              <a:ea typeface="Calibri"/>
              <a:cs typeface="Calibri"/>
              <a:sym typeface="Calibri"/>
            </a:endParaRPr>
          </a:p>
        </p:txBody>
      </p:sp>
      <p:cxnSp>
        <p:nvCxnSpPr>
          <p:cNvPr id="214" name="Google Shape;214;p21"/>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15" name="Google Shape;215;p21"/>
          <p:cNvSpPr/>
          <p:nvPr/>
        </p:nvSpPr>
        <p:spPr>
          <a:xfrm>
            <a:off x="7818120" y="1783080"/>
            <a:ext cx="3730752" cy="425196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8074152" y="205740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1   </a:t>
            </a:r>
            <a:r>
              <a:rPr b="0" i="0" lang="en-US" sz="1650" u="none" cap="none" strike="noStrike">
                <a:solidFill>
                  <a:srgbClr val="3A3344"/>
                </a:solidFill>
                <a:latin typeface="Calibri"/>
                <a:ea typeface="Calibri"/>
                <a:cs typeface="Calibri"/>
                <a:sym typeface="Calibri"/>
              </a:rPr>
              <a:t>Agent Platform → Notebooks → Colab Enterprise → My notebooks</a:t>
            </a:r>
            <a:endParaRPr b="0" i="0" sz="1650" u="none" cap="none" strike="noStrike">
              <a:solidFill>
                <a:schemeClr val="dk1"/>
              </a:solidFill>
              <a:latin typeface="Calibri"/>
              <a:ea typeface="Calibri"/>
              <a:cs typeface="Calibri"/>
              <a:sym typeface="Calibri"/>
            </a:endParaRPr>
          </a:p>
        </p:txBody>
      </p:sp>
      <p:sp>
        <p:nvSpPr>
          <p:cNvPr id="901" name="Gen901"/>
          <p:cNvSpPr/>
          <p:nvPr/>
        </p:nvSpPr>
        <p:spPr>
          <a:xfrm>
            <a:off x="8074152" y="301752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2   </a:t>
            </a:r>
            <a:r>
              <a:rPr b="0" i="0" lang="en-US" sz="1650" u="none" cap="none" strike="noStrike">
                <a:solidFill>
                  <a:srgbClr val="3A3344"/>
                </a:solidFill>
                <a:latin typeface="Calibri"/>
                <a:ea typeface="Calibri"/>
                <a:cs typeface="Calibri"/>
                <a:sym typeface="Calibri"/>
              </a:rPr>
              <a:t>Set the Region shown on the lab page (us-west4 on our run)</a:t>
            </a:r>
            <a:endParaRPr b="0" i="0" sz="1650" u="none" cap="none" strike="noStrike">
              <a:solidFill>
                <a:schemeClr val="dk1"/>
              </a:solidFill>
              <a:latin typeface="Calibri"/>
              <a:ea typeface="Calibri"/>
              <a:cs typeface="Calibri"/>
              <a:sym typeface="Calibri"/>
            </a:endParaRPr>
          </a:p>
        </p:txBody>
      </p:sp>
      <p:sp>
        <p:nvSpPr>
          <p:cNvPr id="902" name="Gen902"/>
          <p:cNvSpPr/>
          <p:nvPr/>
        </p:nvSpPr>
        <p:spPr>
          <a:xfrm>
            <a:off x="8074152" y="3977639"/>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3   </a:t>
            </a:r>
            <a:r>
              <a:rPr b="0" i="0" lang="en-US" sz="1650" u="none" cap="none" strike="noStrike">
                <a:solidFill>
                  <a:srgbClr val="3A3344"/>
                </a:solidFill>
                <a:latin typeface="Calibri"/>
                <a:ea typeface="Calibri"/>
                <a:cs typeface="Calibri"/>
                <a:sym typeface="Calibri"/>
              </a:rPr>
              <a:t>Import source: Cloud Storage, not Your computer</a:t>
            </a:r>
            <a:endParaRPr b="0" i="0" sz="1650" u="none" cap="none" strike="noStrike">
              <a:solidFill>
                <a:schemeClr val="dk1"/>
              </a:solidFill>
              <a:latin typeface="Calibri"/>
              <a:ea typeface="Calibri"/>
              <a:cs typeface="Calibri"/>
              <a:sym typeface="Calibri"/>
            </a:endParaRPr>
          </a:p>
        </p:txBody>
      </p:sp>
      <p:sp>
        <p:nvSpPr>
          <p:cNvPr id="903" name="Gen903"/>
          <p:cNvSpPr/>
          <p:nvPr/>
        </p:nvSpPr>
        <p:spPr>
          <a:xfrm>
            <a:off x="8074152" y="493776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4   </a:t>
            </a:r>
            <a:r>
              <a:rPr b="0" i="0" lang="en-US" sz="1650" u="none" cap="none" strike="noStrike">
                <a:solidFill>
                  <a:srgbClr val="3A3344"/>
                </a:solidFill>
                <a:latin typeface="Calibri"/>
                <a:ea typeface="Calibri"/>
                <a:cs typeface="Calibri"/>
                <a:sym typeface="Calibri"/>
              </a:rPr>
              <a:t>Pick gdm_challenge_lab.ipynb from the project bucket</a:t>
            </a:r>
            <a:endParaRPr b="0" i="0" sz="1650" u="none" cap="none" strike="noStrike">
              <a:solidFill>
                <a:schemeClr val="dk1"/>
              </a:solidFill>
              <a:latin typeface="Calibri"/>
              <a:ea typeface="Calibri"/>
              <a:cs typeface="Calibri"/>
              <a:sym typeface="Calibri"/>
            </a:endParaRPr>
          </a:p>
        </p:txBody>
      </p:sp>
      <p:pic>
        <p:nvPicPr>
          <p:cNvPr id="904" name="Picture 903" descr="breadcrumb.png"/>
          <p:cNvPicPr>
            <a:picLocks noChangeAspect="1"/>
          </p:cNvPicPr>
          <p:nvPr/>
        </p:nvPicPr>
        <p:blipFill>
          <a:blip r:embed="rId6"/>
          <a:stretch>
            <a:fillRect/>
          </a:stretch>
        </p:blipFill>
        <p:spPr>
          <a:xfrm>
            <a:off x="640080" y="1783080"/>
            <a:ext cx="6309360" cy="345643"/>
          </a:xfrm>
          <a:prstGeom prst="rect">
            <a:avLst/>
          </a:prstGeom>
        </p:spPr>
      </p:pic>
      <p:pic>
        <p:nvPicPr>
          <p:cNvPr id="905" name="Picture 904" descr="import.png"/>
          <p:cNvPicPr>
            <a:picLocks noChangeAspect="1"/>
          </p:cNvPicPr>
          <p:nvPr/>
        </p:nvPicPr>
        <p:blipFill>
          <a:blip r:embed="rId7"/>
          <a:stretch>
            <a:fillRect/>
          </a:stretch>
        </p:blipFill>
        <p:spPr>
          <a:xfrm>
            <a:off x="640080" y="2286000"/>
            <a:ext cx="6309360" cy="373349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a:blip r:embed="rId5">
            <a:alphaModFix/>
          </a:blip>
          <a:stretch>
            <a:fillRect/>
          </a:stretch>
        </a:blipFill>
      </p:bgPr>
    </p:bg>
    <p:spTree>
      <p:nvGrpSpPr>
        <p:cNvPr id="1" name=""/>
        <p:cNvGrpSpPr/>
        <p:nvPr/>
      </p:nvGrpSpPr>
      <p:grpSpPr/>
      <p:sp>
        <p:nvSpPr>
          <p:cNvPr id="213" name="Google Shape;213;p21"/>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Connect to the runtime that is already there</a:t>
            </a:r>
            <a:endParaRPr b="0" i="0" sz="2900" u="none" cap="none" strike="noStrike">
              <a:solidFill>
                <a:schemeClr val="dk1"/>
              </a:solidFill>
              <a:latin typeface="Calibri"/>
              <a:ea typeface="Calibri"/>
              <a:cs typeface="Calibri"/>
              <a:sym typeface="Calibri"/>
            </a:endParaRPr>
          </a:p>
        </p:txBody>
      </p:sp>
      <p:cxnSp>
        <p:nvCxnSpPr>
          <p:cNvPr id="214" name="Google Shape;214;p21"/>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15" name="Google Shape;215;p21"/>
          <p:cNvSpPr/>
          <p:nvPr/>
        </p:nvSpPr>
        <p:spPr>
          <a:xfrm>
            <a:off x="7818120" y="1783080"/>
            <a:ext cx="3730752" cy="425196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8074152" y="205740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1   </a:t>
            </a:r>
            <a:r>
              <a:rPr b="0" i="0" lang="en-US" sz="1650" u="none" cap="none" strike="noStrike">
                <a:solidFill>
                  <a:srgbClr val="3A3344"/>
                </a:solidFill>
                <a:latin typeface="Calibri"/>
                <a:ea typeface="Calibri"/>
                <a:cs typeface="Calibri"/>
                <a:sym typeface="Calibri"/>
              </a:rPr>
              <a:t>In the notebook, open Additional connection options, top right</a:t>
            </a:r>
            <a:endParaRPr b="0" i="0" sz="1650" u="none" cap="none" strike="noStrike">
              <a:solidFill>
                <a:schemeClr val="dk1"/>
              </a:solidFill>
              <a:latin typeface="Calibri"/>
              <a:ea typeface="Calibri"/>
              <a:cs typeface="Calibri"/>
              <a:sym typeface="Calibri"/>
            </a:endParaRPr>
          </a:p>
        </p:txBody>
      </p:sp>
      <p:sp>
        <p:nvSpPr>
          <p:cNvPr id="901" name="Gen901"/>
          <p:cNvSpPr/>
          <p:nvPr/>
        </p:nvSpPr>
        <p:spPr>
          <a:xfrm>
            <a:off x="8074152" y="301752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2   </a:t>
            </a:r>
            <a:r>
              <a:rPr b="0" i="0" lang="en-US" sz="1650" u="none" cap="none" strike="noStrike">
                <a:solidFill>
                  <a:srgbClr val="3A3344"/>
                </a:solidFill>
                <a:latin typeface="Calibri"/>
                <a:ea typeface="Calibri"/>
                <a:cs typeface="Calibri"/>
                <a:sym typeface="Calibri"/>
              </a:rPr>
              <a:t>Choose Connect to a runtime</a:t>
            </a:r>
            <a:endParaRPr b="0" i="0" sz="1650" u="none" cap="none" strike="noStrike">
              <a:solidFill>
                <a:schemeClr val="dk1"/>
              </a:solidFill>
              <a:latin typeface="Calibri"/>
              <a:ea typeface="Calibri"/>
              <a:cs typeface="Calibri"/>
              <a:sym typeface="Calibri"/>
            </a:endParaRPr>
          </a:p>
        </p:txBody>
      </p:sp>
      <p:sp>
        <p:nvSpPr>
          <p:cNvPr id="902" name="Gen902"/>
          <p:cNvSpPr/>
          <p:nvPr/>
        </p:nvSpPr>
        <p:spPr>
          <a:xfrm>
            <a:off x="8074152" y="3977639"/>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3   </a:t>
            </a:r>
            <a:r>
              <a:rPr b="0" i="0" lang="en-US" sz="1650" u="none" cap="none" strike="noStrike">
                <a:solidFill>
                  <a:srgbClr val="3A3344"/>
                </a:solidFill>
                <a:latin typeface="Calibri"/>
                <a:ea typeface="Calibri"/>
                <a:cs typeface="Calibri"/>
                <a:sym typeface="Calibri"/>
              </a:rPr>
              <a:t>Connect to an existing runtime, then colab-cpu-runtime</a:t>
            </a:r>
            <a:endParaRPr b="0" i="0" sz="1650" u="none" cap="none" strike="noStrike">
              <a:solidFill>
                <a:schemeClr val="dk1"/>
              </a:solidFill>
              <a:latin typeface="Calibri"/>
              <a:ea typeface="Calibri"/>
              <a:cs typeface="Calibri"/>
              <a:sym typeface="Calibri"/>
            </a:endParaRPr>
          </a:p>
        </p:txBody>
      </p:sp>
      <p:sp>
        <p:nvSpPr>
          <p:cNvPr id="903" name="Gen903"/>
          <p:cNvSpPr/>
          <p:nvPr/>
        </p:nvSpPr>
        <p:spPr>
          <a:xfrm>
            <a:off x="8074152" y="493776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4   </a:t>
            </a:r>
            <a:r>
              <a:rPr b="0" i="0" lang="en-US" sz="1650" u="none" cap="none" strike="noStrike">
                <a:solidFill>
                  <a:srgbClr val="3A3344"/>
                </a:solidFill>
                <a:latin typeface="Calibri"/>
                <a:ea typeface="Calibri"/>
                <a:cs typeface="Calibri"/>
                <a:sym typeface="Calibri"/>
              </a:rPr>
              <a:t>Never Create new Runtime. The status bar confirms which one you got.</a:t>
            </a:r>
            <a:endParaRPr b="0" i="0" sz="1650" u="none" cap="none" strike="noStrike">
              <a:solidFill>
                <a:schemeClr val="dk1"/>
              </a:solidFill>
              <a:latin typeface="Calibri"/>
              <a:ea typeface="Calibri"/>
              <a:cs typeface="Calibri"/>
              <a:sym typeface="Calibri"/>
            </a:endParaRPr>
          </a:p>
        </p:txBody>
      </p:sp>
      <p:pic>
        <p:nvPicPr>
          <p:cNvPr id="904" name="Picture 903" descr="runtime.png"/>
          <p:cNvPicPr>
            <a:picLocks noChangeAspect="1"/>
          </p:cNvPicPr>
          <p:nvPr/>
        </p:nvPicPr>
        <p:blipFill>
          <a:blip r:embed="rId6"/>
          <a:stretch>
            <a:fillRect/>
          </a:stretch>
        </p:blipFill>
        <p:spPr>
          <a:xfrm>
            <a:off x="640080" y="2514600"/>
            <a:ext cx="6281928" cy="2670962"/>
          </a:xfrm>
          <a:prstGeom prst="rect">
            <a:avLst/>
          </a:prstGeom>
        </p:spPr>
      </p:pic>
      <p:pic>
        <p:nvPicPr>
          <p:cNvPr id="905" name="Picture 904" descr="statusbar.png"/>
          <p:cNvPicPr>
            <a:picLocks noChangeAspect="1"/>
          </p:cNvPicPr>
          <p:nvPr/>
        </p:nvPicPr>
        <p:blipFill>
          <a:blip r:embed="rId8"/>
          <a:stretch>
            <a:fillRect/>
          </a:stretch>
        </p:blipFill>
        <p:spPr>
          <a:xfrm>
            <a:off x="640080" y="5440680"/>
            <a:ext cx="6281928" cy="2852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a:blip r:embed="rId5">
            <a:alphaModFix/>
          </a:blip>
          <a:stretch>
            <a:fillRect/>
          </a:stretch>
        </a:blipFill>
      </p:bgPr>
    </p:bg>
    <p:spTree>
      <p:nvGrpSpPr>
        <p:cNvPr id="1" name=""/>
        <p:cNvGrpSpPr/>
        <p:nvPr/>
      </p:nvGrpSpPr>
      <p:grpSpPr/>
      <p:sp>
        <p:nvSpPr>
          <p:cNvPr id="213" name="Google Shape;213;p21"/>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The prompt waits, then the kernel restarts</a:t>
            </a:r>
            <a:endParaRPr b="0" i="0" sz="2900" u="none" cap="none" strike="noStrike">
              <a:solidFill>
                <a:schemeClr val="dk1"/>
              </a:solidFill>
              <a:latin typeface="Calibri"/>
              <a:ea typeface="Calibri"/>
              <a:cs typeface="Calibri"/>
              <a:sym typeface="Calibri"/>
            </a:endParaRPr>
          </a:p>
        </p:txBody>
      </p:sp>
      <p:cxnSp>
        <p:nvCxnSpPr>
          <p:cNvPr id="214" name="Google Shape;214;p21"/>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15" name="Google Shape;215;p21"/>
          <p:cNvSpPr/>
          <p:nvPr/>
        </p:nvSpPr>
        <p:spPr>
          <a:xfrm>
            <a:off x="7818120" y="1783080"/>
            <a:ext cx="3730752" cy="425196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8074152" y="205740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1   </a:t>
            </a:r>
            <a:r>
              <a:rPr b="0" i="0" lang="en-US" sz="1650" u="none" cap="none" strike="noStrike">
                <a:solidFill>
                  <a:srgbClr val="3A3344"/>
                </a:solidFill>
                <a:latin typeface="Calibri"/>
                <a:ea typeface="Calibri"/>
                <a:cs typeface="Calibri"/>
                <a:sym typeface="Calibri"/>
              </a:rPr>
              <a:t>The first cell is interactive. It stops at Do you want to continue (Y/n)?</a:t>
            </a:r>
            <a:endParaRPr b="0" i="0" sz="1650" u="none" cap="none" strike="noStrike">
              <a:solidFill>
                <a:schemeClr val="dk1"/>
              </a:solidFill>
              <a:latin typeface="Calibri"/>
              <a:ea typeface="Calibri"/>
              <a:cs typeface="Calibri"/>
              <a:sym typeface="Calibri"/>
            </a:endParaRPr>
          </a:p>
        </p:txBody>
      </p:sp>
      <p:sp>
        <p:nvSpPr>
          <p:cNvPr id="901" name="Gen901"/>
          <p:cNvSpPr/>
          <p:nvPr/>
        </p:nvSpPr>
        <p:spPr>
          <a:xfrm>
            <a:off x="8074152" y="301752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2   </a:t>
            </a:r>
            <a:r>
              <a:rPr b="0" i="0" lang="en-US" sz="1650" u="none" cap="none" strike="noStrike">
                <a:solidFill>
                  <a:srgbClr val="3A3344"/>
                </a:solidFill>
                <a:latin typeface="Calibri"/>
                <a:ea typeface="Calibri"/>
                <a:cs typeface="Calibri"/>
                <a:sym typeface="Calibri"/>
              </a:rPr>
              <a:t>Type Y, open the printed link, sign in as the student again</a:t>
            </a:r>
            <a:endParaRPr b="0" i="0" sz="1650" u="none" cap="none" strike="noStrike">
              <a:solidFill>
                <a:schemeClr val="dk1"/>
              </a:solidFill>
              <a:latin typeface="Calibri"/>
              <a:ea typeface="Calibri"/>
              <a:cs typeface="Calibri"/>
              <a:sym typeface="Calibri"/>
            </a:endParaRPr>
          </a:p>
        </p:txBody>
      </p:sp>
      <p:sp>
        <p:nvSpPr>
          <p:cNvPr id="902" name="Gen902"/>
          <p:cNvSpPr/>
          <p:nvPr/>
        </p:nvSpPr>
        <p:spPr>
          <a:xfrm>
            <a:off x="8074152" y="3977639"/>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3   </a:t>
            </a:r>
            <a:r>
              <a:rPr b="0" i="0" lang="en-US" sz="1650" u="none" cap="none" strike="noStrike">
                <a:solidFill>
                  <a:srgbClr val="3A3344"/>
                </a:solidFill>
                <a:latin typeface="Calibri"/>
                <a:ea typeface="Calibri"/>
                <a:cs typeface="Calibri"/>
                <a:sym typeface="Calibri"/>
              </a:rPr>
              <a:t>Paste the verification code back into the cell</a:t>
            </a:r>
            <a:endParaRPr b="0" i="0" sz="1650" u="none" cap="none" strike="noStrike">
              <a:solidFill>
                <a:schemeClr val="dk1"/>
              </a:solidFill>
              <a:latin typeface="Calibri"/>
              <a:ea typeface="Calibri"/>
              <a:cs typeface="Calibri"/>
              <a:sym typeface="Calibri"/>
            </a:endParaRPr>
          </a:p>
        </p:txBody>
      </p:sp>
      <p:sp>
        <p:nvSpPr>
          <p:cNvPr id="903" name="Gen903"/>
          <p:cNvSpPr/>
          <p:nvPr/>
        </p:nvSpPr>
        <p:spPr>
          <a:xfrm>
            <a:off x="8074152" y="4937760"/>
            <a:ext cx="3218688" cy="8686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1" i="0" lang="en-US" sz="1600" u="none" cap="none" strike="noStrike">
                <a:solidFill>
                  <a:srgbClr val="D9534F"/>
                </a:solidFill>
                <a:latin typeface="Calibri"/>
                <a:ea typeface="Calibri"/>
                <a:cs typeface="Calibri"/>
                <a:sym typeface="Calibri"/>
              </a:rPr>
              <a:t>4   </a:t>
            </a:r>
            <a:r>
              <a:rPr b="0" i="0" lang="en-US" sz="1650" u="none" cap="none" strike="noStrike">
                <a:solidFill>
                  <a:srgbClr val="3A3344"/>
                </a:solidFill>
                <a:latin typeface="Calibri"/>
                <a:ea typeface="Calibri"/>
                <a:cs typeface="Calibri"/>
                <a:sym typeface="Calibri"/>
              </a:rPr>
              <a:t>The next cell kills the kernel. Your session crashed is expected.</a:t>
            </a:r>
            <a:endParaRPr b="0" i="0" sz="1650" u="none" cap="none" strike="noStrike">
              <a:solidFill>
                <a:schemeClr val="dk1"/>
              </a:solidFill>
              <a:latin typeface="Calibri"/>
              <a:ea typeface="Calibri"/>
              <a:cs typeface="Calibri"/>
              <a:sym typeface="Calibri"/>
            </a:endParaRPr>
          </a:p>
        </p:txBody>
      </p:sp>
      <p:pic>
        <p:nvPicPr>
          <p:cNvPr id="905" name="Picture 904" descr="verify.png"/>
          <p:cNvPicPr>
            <a:picLocks noChangeAspect="1"/>
          </p:cNvPicPr>
          <p:nvPr/>
        </p:nvPicPr>
        <p:blipFill>
          <a:blip r:embed="rId7"/>
          <a:stretch>
            <a:fillRect/>
          </a:stretch>
        </p:blipFill>
        <p:spPr>
          <a:xfrm>
            <a:off x="640080" y="3813048"/>
            <a:ext cx="6583680" cy="707745"/>
          </a:xfrm>
          <a:prstGeom prst="rect">
            <a:avLst/>
          </a:prstGeom>
        </p:spPr>
      </p:pic>
      <p:pic>
        <p:nvPicPr>
          <p:cNvPr id="906" name="Picture 905" descr="restart.png"/>
          <p:cNvPicPr>
            <a:picLocks noChangeAspect="1"/>
          </p:cNvPicPr>
          <p:nvPr/>
        </p:nvPicPr>
        <p:blipFill>
          <a:blip r:embed="rId8"/>
          <a:stretch>
            <a:fillRect/>
          </a:stretch>
        </p:blipFill>
        <p:spPr>
          <a:xfrm>
            <a:off x="640080" y="4608576"/>
            <a:ext cx="6583680" cy="1538935"/>
          </a:xfrm>
          <a:prstGeom prst="rect">
            <a:avLst/>
          </a:prstGeom>
        </p:spPr>
      </p:pic>
      <p:pic>
        <p:nvPicPr>
          <p:cNvPr id="907" name="Picture 906" descr="auth.png"/>
          <p:cNvPicPr>
            <a:picLocks noChangeAspect="1"/>
          </p:cNvPicPr>
          <p:nvPr/>
        </p:nvPicPr>
        <p:blipFill>
          <a:blip r:embed="rId10"/>
          <a:stretch>
            <a:fillRect/>
          </a:stretch>
        </p:blipFill>
        <p:spPr>
          <a:xfrm>
            <a:off x="640080" y="1783080"/>
            <a:ext cx="6583680" cy="19357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21"/>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Nothing here throws an error: that's the problem</a:t>
            </a:r>
            <a:r>
              <a:rPr b="1" lang="en-US" sz="2900">
                <a:solidFill>
                  <a:srgbClr val="361A54"/>
                </a:solidFill>
                <a:latin typeface="Trebuchet MS"/>
                <a:ea typeface="Trebuchet MS"/>
                <a:cs typeface="Trebuchet MS"/>
                <a:sym typeface="Trebuchet MS"/>
              </a:rPr>
              <a:t/>
            </a:r>
            <a:r>
              <a:rPr b="1" i="0" lang="en-US" sz="2900" u="none" cap="none" strike="noStrike">
                <a:solidFill>
                  <a:srgbClr val="361A54"/>
                </a:solidFill>
                <a:latin typeface="Trebuchet MS"/>
                <a:ea typeface="Trebuchet MS"/>
                <a:cs typeface="Trebuchet MS"/>
                <a:sym typeface="Trebuchet MS"/>
              </a:rPr>
              <a:t/>
            </a:r>
            <a:endParaRPr b="0" i="0" sz="2900" u="none" cap="none" strike="noStrike">
              <a:solidFill>
                <a:schemeClr val="dk1"/>
              </a:solidFill>
              <a:latin typeface="Calibri"/>
              <a:ea typeface="Calibri"/>
              <a:cs typeface="Calibri"/>
              <a:sym typeface="Calibri"/>
            </a:endParaRPr>
          </a:p>
        </p:txBody>
      </p:sp>
      <p:cxnSp>
        <p:nvCxnSpPr>
          <p:cNvPr id="214" name="Google Shape;214;p21"/>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15" name="Google Shape;215;p21"/>
          <p:cNvSpPr/>
          <p:nvPr/>
        </p:nvSpPr>
        <p:spPr>
          <a:xfrm>
            <a:off x="64008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21"/>
          <p:cNvPicPr preferRelativeResize="0"/>
          <p:nvPr/>
        </p:nvPicPr>
        <p:blipFill rotWithShape="1">
          <a:blip r:embed="rId4">
            <a:alphaModFix/>
          </a:blip>
          <a:srcRect b="0" l="0" r="0" t="0"/>
          <a:stretch/>
        </p:blipFill>
        <p:spPr>
          <a:xfrm>
            <a:off x="896112" y="2359152"/>
            <a:ext cx="457200" cy="457200"/>
          </a:xfrm>
          <a:prstGeom prst="rect">
            <a:avLst/>
          </a:prstGeom>
          <a:noFill/>
          <a:ln>
            <a:noFill/>
          </a:ln>
        </p:spPr>
      </p:pic>
      <p:sp>
        <p:nvSpPr>
          <p:cNvPr id="217" name="Google Shape;217;p21"/>
          <p:cNvSpPr/>
          <p:nvPr/>
        </p:nvSpPr>
        <p:spPr>
          <a:xfrm>
            <a:off x="146304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Wrong runtime</a:t>
            </a:r>
            <a:endParaRPr b="0" i="0" sz="1600" u="none" cap="none" strike="noStrike">
              <a:solidFill>
                <a:schemeClr val="dk1"/>
              </a:solidFill>
              <a:latin typeface="Calibri"/>
              <a:ea typeface="Calibri"/>
              <a:cs typeface="Calibri"/>
              <a:sym typeface="Calibri"/>
            </a:endParaRPr>
          </a:p>
        </p:txBody>
      </p:sp>
      <p:sp>
        <p:nvSpPr>
          <p:cNvPr id="218" name="Google Shape;218;p21"/>
          <p:cNvSpPr/>
          <p:nvPr/>
        </p:nvSpPr>
        <p:spPr>
          <a:xfrm>
            <a:off x="89611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Created a new Runtime instead of connecting to the provisioned one.</a:t>
            </a:r>
            <a:endParaRPr b="0" i="0" sz="1650" u="none" cap="none" strike="noStrike">
              <a:solidFill>
                <a:schemeClr val="dk1"/>
              </a:solidFill>
              <a:latin typeface="Calibri"/>
              <a:ea typeface="Calibri"/>
              <a:cs typeface="Calibri"/>
              <a:sym typeface="Calibri"/>
            </a:endParaRPr>
          </a:p>
        </p:txBody>
      </p:sp>
      <p:sp>
        <p:nvSpPr>
          <p:cNvPr id="219" name="Google Shape;219;p21"/>
          <p:cNvSpPr/>
          <p:nvPr/>
        </p:nvSpPr>
        <p:spPr>
          <a:xfrm>
            <a:off x="89611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DIAGNOSE</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6B6478"/>
              </a:buClr>
              <a:buSzPts val="1150"/>
              <a:buFont typeface="Calibri"/>
              <a:buNone/>
            </a:pPr>
            <a:r>
              <a:rPr b="0" i="0" lang="en-US" sz="1750" u="none" cap="none" strike="noStrike">
                <a:solidFill>
                  <a:srgbClr val="6B6478"/>
                </a:solidFill>
                <a:latin typeface="Calibri"/>
                <a:ea typeface="Calibri"/>
                <a:cs typeface="Calibri"/>
                <a:sym typeface="Calibri"/>
              </a:rPr>
              <a:t>Ask: what does the status bar say?</a:t>
            </a:r>
            <a:endParaRPr b="0" i="0" sz="1600" u="none" cap="none" strike="noStrike">
              <a:solidFill>
                <a:schemeClr val="dk1"/>
              </a:solidFill>
              <a:latin typeface="Calibri"/>
              <a:ea typeface="Calibri"/>
              <a:cs typeface="Calibri"/>
              <a:sym typeface="Calibri"/>
            </a:endParaRPr>
          </a:p>
        </p:txBody>
      </p:sp>
      <p:sp>
        <p:nvSpPr>
          <p:cNvPr id="220" name="Google Shape;220;p21"/>
          <p:cNvSpPr/>
          <p:nvPr/>
        </p:nvSpPr>
        <p:spPr>
          <a:xfrm>
            <a:off x="89611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FIX</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A3344"/>
              </a:buClr>
              <a:buSzPts val="1150"/>
              <a:buFont typeface="Calibri"/>
              <a:buNone/>
            </a:pPr>
            <a:r>
              <a:rPr b="0" i="0" lang="en-US" sz="1750" u="none" cap="none" strike="noStrike">
                <a:solidFill>
                  <a:srgbClr val="3A3344"/>
                </a:solidFill>
                <a:latin typeface="Calibri"/>
                <a:ea typeface="Calibri"/>
                <a:cs typeface="Calibri"/>
                <a:sym typeface="Calibri"/>
              </a:rPr>
              <a:t>Reconnect via Additional connection options, top right.</a:t>
            </a:r>
            <a:endParaRPr b="0" i="0" sz="1600" u="none" cap="none" strike="noStrike">
              <a:solidFill>
                <a:schemeClr val="dk1"/>
              </a:solidFill>
              <a:latin typeface="Calibri"/>
              <a:ea typeface="Calibri"/>
              <a:cs typeface="Calibri"/>
              <a:sym typeface="Calibri"/>
            </a:endParaRPr>
          </a:p>
        </p:txBody>
      </p:sp>
      <p:sp>
        <p:nvSpPr>
          <p:cNvPr id="221" name="Google Shape;221;p21"/>
          <p:cNvSpPr/>
          <p:nvPr/>
        </p:nvSpPr>
        <p:spPr>
          <a:xfrm>
            <a:off x="434340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21"/>
          <p:cNvPicPr preferRelativeResize="0"/>
          <p:nvPr/>
        </p:nvPicPr>
        <p:blipFill rotWithShape="1">
          <a:blip r:embed="rId5">
            <a:alphaModFix/>
          </a:blip>
          <a:srcRect b="0" l="0" r="0" t="0"/>
          <a:stretch/>
        </p:blipFill>
        <p:spPr>
          <a:xfrm>
            <a:off x="4599432" y="2359152"/>
            <a:ext cx="457200" cy="457200"/>
          </a:xfrm>
          <a:prstGeom prst="rect">
            <a:avLst/>
          </a:prstGeom>
          <a:noFill/>
          <a:ln>
            <a:noFill/>
          </a:ln>
        </p:spPr>
      </p:pic>
      <p:sp>
        <p:nvSpPr>
          <p:cNvPr id="223" name="Google Shape;223;p21"/>
          <p:cNvSpPr/>
          <p:nvPr/>
        </p:nvSpPr>
        <p:spPr>
          <a:xfrm>
            <a:off x="516636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Wrong account</a:t>
            </a:r>
            <a:endParaRPr b="0" i="0" sz="1600" u="none" cap="none" strike="noStrike">
              <a:solidFill>
                <a:schemeClr val="dk1"/>
              </a:solidFill>
              <a:latin typeface="Calibri"/>
              <a:ea typeface="Calibri"/>
              <a:cs typeface="Calibri"/>
              <a:sym typeface="Calibri"/>
            </a:endParaRPr>
          </a:p>
        </p:txBody>
      </p:sp>
      <p:sp>
        <p:nvSpPr>
          <p:cNvPr id="224" name="Google Shape;224;p21"/>
          <p:cNvSpPr/>
          <p:nvPr/>
        </p:nvSpPr>
        <p:spPr>
          <a:xfrm>
            <a:off x="459943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A personal Google account signed in at one of the three sign-in points.</a:t>
            </a:r>
            <a:endParaRPr b="0" i="0" sz="1650" u="none" cap="none" strike="noStrike">
              <a:solidFill>
                <a:schemeClr val="dk1"/>
              </a:solidFill>
              <a:latin typeface="Calibri"/>
              <a:ea typeface="Calibri"/>
              <a:cs typeface="Calibri"/>
              <a:sym typeface="Calibri"/>
            </a:endParaRPr>
          </a:p>
        </p:txBody>
      </p:sp>
      <p:sp>
        <p:nvSpPr>
          <p:cNvPr id="225" name="Google Shape;225;p21"/>
          <p:cNvSpPr/>
          <p:nvPr/>
        </p:nvSpPr>
        <p:spPr>
          <a:xfrm>
            <a:off x="459943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DIAGNOSE</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6B6478"/>
              </a:buClr>
              <a:buSzPts val="1150"/>
              <a:buFont typeface="Calibri"/>
              <a:buNone/>
            </a:pPr>
            <a:r>
              <a:rPr b="0" i="0" lang="en-US" sz="1750" u="none" cap="none" strike="noStrike">
                <a:solidFill>
                  <a:srgbClr val="6B6478"/>
                </a:solidFill>
                <a:latin typeface="Calibri"/>
                <a:ea typeface="Calibri"/>
                <a:cs typeface="Calibri"/>
                <a:sym typeface="Calibri"/>
              </a:rPr>
              <a:t>Ask: which account is in the avatar?</a:t>
            </a:r>
            <a:endParaRPr b="0" i="0" sz="1600" u="none" cap="none" strike="noStrike">
              <a:solidFill>
                <a:schemeClr val="dk1"/>
              </a:solidFill>
              <a:latin typeface="Calibri"/>
              <a:ea typeface="Calibri"/>
              <a:cs typeface="Calibri"/>
              <a:sym typeface="Calibri"/>
            </a:endParaRPr>
          </a:p>
        </p:txBody>
      </p:sp>
      <p:sp>
        <p:nvSpPr>
          <p:cNvPr id="226" name="Google Shape;226;p21"/>
          <p:cNvSpPr/>
          <p:nvPr/>
        </p:nvSpPr>
        <p:spPr>
          <a:xfrm>
            <a:off x="459943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FIX</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A3344"/>
              </a:buClr>
              <a:buSzPts val="1150"/>
              <a:buFont typeface="Calibri"/>
              <a:buNone/>
            </a:pPr>
            <a:r>
              <a:rPr b="0" i="0" lang="en-US" sz="1750" u="none" cap="none" strike="noStrike">
                <a:solidFill>
                  <a:srgbClr val="3A3344"/>
                </a:solidFill>
                <a:latin typeface="Calibri"/>
                <a:ea typeface="Calibri"/>
                <a:cs typeface="Calibri"/>
                <a:sym typeface="Calibri"/>
              </a:rPr>
              <a:t>Sign out, redo all three as the student.</a:t>
            </a:r>
            <a:endParaRPr b="0" i="0" sz="1000" u="none" cap="none" strike="noStrike">
              <a:solidFill>
                <a:schemeClr val="dk1"/>
              </a:solidFill>
              <a:latin typeface="Calibri"/>
              <a:ea typeface="Calibri"/>
              <a:cs typeface="Calibri"/>
              <a:sym typeface="Calibri"/>
            </a:endParaRPr>
          </a:p>
        </p:txBody>
      </p:sp>
      <p:sp>
        <p:nvSpPr>
          <p:cNvPr id="900" name="Card3Shape900"/>
          <p:cNvSpPr/>
          <p:nvPr/>
        </p:nvSpPr>
        <p:spPr>
          <a:xfrm>
            <a:off x="804672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1" name="Card3Shape901"/>
          <p:cNvPicPr preferRelativeResize="0"/>
          <p:nvPr/>
        </p:nvPicPr>
        <p:blipFill rotWithShape="1">
          <a:blip r:embed="rId7">
            <a:alphaModFix/>
          </a:blip>
          <a:srcRect b="0" l="0" r="0" t="0"/>
          <a:stretch/>
        </p:blipFill>
        <p:spPr>
          <a:xfrm>
            <a:off x="8302752" y="2359152"/>
            <a:ext cx="457200" cy="457200"/>
          </a:xfrm>
          <a:prstGeom prst="rect">
            <a:avLst/>
          </a:prstGeom>
          <a:noFill/>
          <a:ln>
            <a:noFill/>
          </a:ln>
        </p:spPr>
      </p:pic>
      <p:sp>
        <p:nvSpPr>
          <p:cNvPr id="902" name="Card3Shape902"/>
          <p:cNvSpPr/>
          <p:nvPr/>
        </p:nvSpPr>
        <p:spPr>
          <a:xfrm>
            <a:off x="886968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Auth never finished</a:t>
            </a:r>
            <a:endParaRPr b="0" i="0" sz="1600" u="none" cap="none" strike="noStrike">
              <a:solidFill>
                <a:schemeClr val="dk1"/>
              </a:solidFill>
              <a:latin typeface="Calibri"/>
              <a:ea typeface="Calibri"/>
              <a:cs typeface="Calibri"/>
              <a:sym typeface="Calibri"/>
            </a:endParaRPr>
          </a:p>
        </p:txBody>
      </p:sp>
      <p:sp>
        <p:nvSpPr>
          <p:cNvPr id="903" name="Card3Shape903"/>
          <p:cNvSpPr/>
          <p:nvPr/>
        </p:nvSpPr>
        <p:spPr>
          <a:xfrm>
            <a:off x="830275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The gcloud cell is still waiting at Do you want to continue (Y/n)?</a:t>
            </a:r>
            <a:endParaRPr b="0" i="0" sz="1650" u="none" cap="none" strike="noStrike">
              <a:solidFill>
                <a:schemeClr val="dk1"/>
              </a:solidFill>
              <a:latin typeface="Calibri"/>
              <a:ea typeface="Calibri"/>
              <a:cs typeface="Calibri"/>
              <a:sym typeface="Calibri"/>
            </a:endParaRPr>
          </a:p>
        </p:txBody>
      </p:sp>
      <p:sp>
        <p:nvSpPr>
          <p:cNvPr id="904" name="Card3Shape904"/>
          <p:cNvSpPr/>
          <p:nvPr/>
        </p:nvSpPr>
        <p:spPr>
          <a:xfrm>
            <a:off x="830275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DIAGNOSE</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6B6478"/>
              </a:buClr>
              <a:buSzPts val="1150"/>
              <a:buFont typeface="Calibri"/>
              <a:buNone/>
            </a:pPr>
            <a:r>
              <a:rPr b="0" i="0" lang="en-US" sz="1750" u="none" cap="none" strike="noStrike">
                <a:solidFill>
                  <a:srgbClr val="6B6478"/>
                </a:solidFill>
                <a:latin typeface="Calibri"/>
                <a:ea typeface="Calibri"/>
                <a:cs typeface="Calibri"/>
                <a:sym typeface="Calibri"/>
              </a:rPr>
              <a:t>Ask: is that first cell still showing [*]?</a:t>
            </a:r>
            <a:endParaRPr b="0" i="0" sz="1600" u="none" cap="none" strike="noStrike">
              <a:solidFill>
                <a:schemeClr val="dk1"/>
              </a:solidFill>
              <a:latin typeface="Calibri"/>
              <a:ea typeface="Calibri"/>
              <a:cs typeface="Calibri"/>
              <a:sym typeface="Calibri"/>
            </a:endParaRPr>
          </a:p>
        </p:txBody>
      </p:sp>
      <p:sp>
        <p:nvSpPr>
          <p:cNvPr id="905" name="Card3Shape905"/>
          <p:cNvSpPr/>
          <p:nvPr/>
        </p:nvSpPr>
        <p:spPr>
          <a:xfrm>
            <a:off x="830275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FIX</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A3344"/>
              </a:buClr>
              <a:buSzPts val="1150"/>
              <a:buFont typeface="Calibri"/>
              <a:buNone/>
            </a:pPr>
            <a:r>
              <a:rPr b="0" i="0" lang="en-US" sz="1750" u="none" cap="none" strike="noStrike">
                <a:solidFill>
                  <a:srgbClr val="3A3344"/>
                </a:solidFill>
                <a:latin typeface="Calibri"/>
                <a:ea typeface="Calibri"/>
                <a:cs typeface="Calibri"/>
                <a:sym typeface="Calibri"/>
              </a:rPr>
              <a:t>Answer Y, then paste the verification code.</a:t>
            </a:r>
            <a:endParaRPr b="0" i="0" sz="1000" u="none" cap="none" strike="noStrike">
              <a:solidFill>
                <a:schemeClr val="dk1"/>
              </a:solidFill>
              <a:latin typeface="Calibri"/>
              <a:ea typeface="Calibri"/>
              <a:cs typeface="Calibri"/>
              <a:sym typeface="Calibri"/>
            </a:endParaRPr>
          </a:p>
        </p:txBody>
      </p:sp>
      <p:sp>
        <p:nvSpPr>
          <p:cNvPr id="906" name="Gen906"/>
          <p:cNvSpPr/>
          <p:nvPr/>
        </p:nvSpPr>
        <p:spPr>
          <a:xfrm>
            <a:off x="640080" y="1517904"/>
            <a:ext cx="10881360" cy="38404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Task 1 has no Check my progress button. All three of these first surface as a failed Task 2 check.</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 name="Shape 240"/>
        <p:cNvGrpSpPr/>
        <p:nvPr/>
      </p:nvGrpSpPr>
      <p:grpSpPr>
        <a:xfrm>
          <a:off x="0" y="0"/>
          <a:ext cx="0" cy="0"/>
          <a:chOff x="0" y="0"/>
          <a:chExt cx="0" cy="0"/>
        </a:xfrm>
      </p:grpSpPr>
      <p:sp>
        <p:nvSpPr>
          <p:cNvPr id="241" name="Google Shape;241;p23"/>
          <p:cNvSpPr/>
          <p:nvPr/>
        </p:nvSpPr>
        <p:spPr>
          <a:xfrm>
            <a:off x="731520" y="1417320"/>
            <a:ext cx="10725912" cy="4023360"/>
          </a:xfrm>
          <a:prstGeom prst="roundRect">
            <a:avLst>
              <a:gd fmla="val 3182"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a:off x="1051560" y="1783080"/>
            <a:ext cx="1691640" cy="457200"/>
          </a:xfrm>
          <a:prstGeom prst="roundRect">
            <a:avLst>
              <a:gd fmla="val 16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3"/>
          <p:cNvSpPr/>
          <p:nvPr/>
        </p:nvSpPr>
        <p:spPr>
          <a:xfrm>
            <a:off x="1051560" y="178308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Trebuchet MS"/>
              <a:buNone/>
            </a:pPr>
            <a:r>
              <a:rPr b="1" i="0" lang="en-US" sz="1300" u="none" cap="none" strike="noStrike">
                <a:solidFill>
                  <a:srgbClr val="361A54"/>
                </a:solidFill>
                <a:latin typeface="Trebuchet MS"/>
                <a:ea typeface="Trebuchet MS"/>
                <a:cs typeface="Trebuchet MS"/>
                <a:sym typeface="Trebuchet MS"/>
              </a:rPr>
              <a:t>PART TWO</a:t>
            </a:r>
            <a:endParaRPr b="0" i="0" sz="1300" u="none" cap="none" strike="noStrike">
              <a:solidFill>
                <a:schemeClr val="dk1"/>
              </a:solidFill>
              <a:latin typeface="Calibri"/>
              <a:ea typeface="Calibri"/>
              <a:cs typeface="Calibri"/>
              <a:sym typeface="Calibri"/>
            </a:endParaRPr>
          </a:p>
        </p:txBody>
      </p:sp>
      <p:sp>
        <p:nvSpPr>
          <p:cNvPr id="244" name="Google Shape;244;p23"/>
          <p:cNvSpPr/>
          <p:nvPr/>
        </p:nvSpPr>
        <p:spPr>
          <a:xfrm>
            <a:off x="2926080" y="178308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FD6"/>
              </a:buClr>
              <a:buSzPts val="1600"/>
              <a:buFont typeface="Trebuchet MS"/>
              <a:buNone/>
            </a:pPr>
            <a:r>
              <a:rPr b="1" i="0" lang="en-US" sz="1600" u="none" cap="none" strike="noStrike">
                <a:solidFill>
                  <a:srgbClr val="B79FD6"/>
                </a:solidFill>
                <a:latin typeface="Trebuchet MS"/>
                <a:ea typeface="Trebuchet MS"/>
                <a:cs typeface="Trebuchet MS"/>
                <a:sym typeface="Trebuchet MS"/>
              </a:rPr>
              <a:t>Task 2</a:t>
            </a:r>
            <a:endParaRPr b="0" i="0" sz="1600" u="none" cap="none" strike="noStrike">
              <a:solidFill>
                <a:schemeClr val="dk1"/>
              </a:solidFill>
              <a:latin typeface="Calibri"/>
              <a:ea typeface="Calibri"/>
              <a:cs typeface="Calibri"/>
              <a:sym typeface="Calibri"/>
            </a:endParaRPr>
          </a:p>
        </p:txBody>
      </p:sp>
      <p:pic>
        <p:nvPicPr>
          <p:cNvPr descr="preencoded.png" id="245" name="Google Shape;245;p23"/>
          <p:cNvPicPr preferRelativeResize="0"/>
          <p:nvPr/>
        </p:nvPicPr>
        <p:blipFill rotWithShape="1">
          <a:blip r:embed="rId4">
            <a:alphaModFix amt="70000"/>
          </a:blip>
          <a:srcRect b="0" l="0" r="0" t="0"/>
          <a:stretch/>
        </p:blipFill>
        <p:spPr>
          <a:xfrm>
            <a:off x="9692640" y="1828800"/>
            <a:ext cx="1371600" cy="1371600"/>
          </a:xfrm>
          <a:prstGeom prst="rect">
            <a:avLst/>
          </a:prstGeom>
          <a:noFill/>
          <a:ln>
            <a:noFill/>
          </a:ln>
        </p:spPr>
      </p:pic>
      <p:sp>
        <p:nvSpPr>
          <p:cNvPr id="246" name="Google Shape;246;p23"/>
          <p:cNvSpPr/>
          <p:nvPr/>
        </p:nvSpPr>
        <p:spPr>
          <a:xfrm>
            <a:off x="1051560" y="2423160"/>
            <a:ext cx="8503920" cy="105156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Character Tokenizer</a:t>
            </a:r>
            <a:endParaRPr b="0" i="0" sz="4000" u="none" cap="none" strike="noStrike">
              <a:solidFill>
                <a:schemeClr val="dk1"/>
              </a:solidFill>
              <a:latin typeface="Calibri"/>
              <a:ea typeface="Calibri"/>
              <a:cs typeface="Calibri"/>
              <a:sym typeface="Calibri"/>
            </a:endParaRPr>
          </a:p>
        </p:txBody>
      </p:sp>
      <p:sp>
        <p:nvSpPr>
          <p:cNvPr id="247" name="Google Shape;247;p23"/>
          <p:cNvSpPr/>
          <p:nvPr/>
        </p:nvSpPr>
        <p:spPr>
          <a:xfrm>
            <a:off x="1069848" y="361188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CEEC"/>
              </a:buClr>
              <a:buSzPts val="1450"/>
              <a:buFont typeface="Calibri"/>
              <a:buNone/>
            </a:pPr>
            <a:r>
              <a:rPr b="0" i="0" lang="en-US" sz="2050" u="none" cap="none" strike="noStrike">
                <a:solidFill>
                  <a:srgbClr val="D9CEEC"/>
                </a:solidFill>
                <a:latin typeface="Calibri"/>
                <a:ea typeface="Calibri"/>
                <a:cs typeface="Calibri"/>
                <a:sym typeface="Calibri"/>
              </a:rPr>
              <a:t>Two methods to complete. Both are one line. The lesson is restraint: the standard library already does the hard part.</a:t>
            </a:r>
            <a:endParaRPr b="0" i="0" sz="2050" u="none" cap="none" strike="noStrike">
              <a:solidFill>
                <a:schemeClr val="dk1"/>
              </a:solidFill>
              <a:latin typeface="Calibri"/>
              <a:ea typeface="Calibri"/>
              <a:cs typeface="Calibri"/>
              <a:sym typeface="Calibri"/>
            </a:endParaRPr>
          </a:p>
        </p:txBody>
      </p:sp>
      <p:sp>
        <p:nvSpPr>
          <p:cNvPr id="248" name="Google Shape;248;p23"/>
          <p:cNvSpPr/>
          <p:nvPr/>
        </p:nvSpPr>
        <p:spPr>
          <a:xfrm>
            <a:off x="822960" y="5806440"/>
            <a:ext cx="6382512" cy="548640"/>
          </a:xfrm>
          <a:prstGeom prst="roundRect">
            <a:avLst>
              <a:gd fmla="val 50000"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
          <p:cNvSpPr/>
          <p:nvPr/>
        </p:nvSpPr>
        <p:spPr>
          <a:xfrm>
            <a:off x="960120"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0" name="Google Shape;250;p23"/>
          <p:cNvPicPr preferRelativeResize="0"/>
          <p:nvPr/>
        </p:nvPicPr>
        <p:blipFill rotWithShape="1">
          <a:blip r:embed="rId5">
            <a:alphaModFix/>
          </a:blip>
          <a:srcRect b="0" l="0" r="0" t="0"/>
          <a:stretch/>
        </p:blipFill>
        <p:spPr>
          <a:xfrm>
            <a:off x="1078992" y="5989320"/>
            <a:ext cx="182880" cy="182880"/>
          </a:xfrm>
          <a:prstGeom prst="rect">
            <a:avLst/>
          </a:prstGeom>
          <a:noFill/>
          <a:ln>
            <a:noFill/>
          </a:ln>
        </p:spPr>
      </p:pic>
      <p:sp>
        <p:nvSpPr>
          <p:cNvPr id="251" name="Google Shape;251;p23"/>
          <p:cNvSpPr/>
          <p:nvPr/>
        </p:nvSpPr>
        <p:spPr>
          <a:xfrm>
            <a:off x="1271016"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1 IMPORT</a:t>
            </a:r>
            <a:endParaRPr b="0" i="0" sz="1000" u="none" cap="none" strike="noStrike">
              <a:solidFill>
                <a:schemeClr val="dk1"/>
              </a:solidFill>
              <a:latin typeface="Calibri"/>
              <a:ea typeface="Calibri"/>
              <a:cs typeface="Calibri"/>
              <a:sym typeface="Calibri"/>
            </a:endParaRPr>
          </a:p>
        </p:txBody>
      </p:sp>
      <p:sp>
        <p:nvSpPr>
          <p:cNvPr id="252" name="Google Shape;252;p23"/>
          <p:cNvSpPr/>
          <p:nvPr/>
        </p:nvSpPr>
        <p:spPr>
          <a:xfrm>
            <a:off x="2523744"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3" name="Google Shape;253;p23"/>
          <p:cNvPicPr preferRelativeResize="0"/>
          <p:nvPr/>
        </p:nvPicPr>
        <p:blipFill rotWithShape="1">
          <a:blip r:embed="rId6">
            <a:alphaModFix/>
          </a:blip>
          <a:srcRect b="0" l="0" r="0" t="0"/>
          <a:stretch/>
        </p:blipFill>
        <p:spPr>
          <a:xfrm>
            <a:off x="2642616" y="5989320"/>
            <a:ext cx="182880" cy="182880"/>
          </a:xfrm>
          <a:prstGeom prst="rect">
            <a:avLst/>
          </a:prstGeom>
          <a:noFill/>
          <a:ln>
            <a:noFill/>
          </a:ln>
        </p:spPr>
      </p:pic>
      <p:sp>
        <p:nvSpPr>
          <p:cNvPr id="254" name="Google Shape;254;p23"/>
          <p:cNvSpPr/>
          <p:nvPr/>
        </p:nvSpPr>
        <p:spPr>
          <a:xfrm>
            <a:off x="2834640"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2 TOKEN</a:t>
            </a:r>
            <a:endParaRPr b="0" i="0" sz="1000" u="none" cap="none" strike="noStrike">
              <a:solidFill>
                <a:schemeClr val="dk1"/>
              </a:solidFill>
              <a:latin typeface="Calibri"/>
              <a:ea typeface="Calibri"/>
              <a:cs typeface="Calibri"/>
              <a:sym typeface="Calibri"/>
            </a:endParaRPr>
          </a:p>
        </p:txBody>
      </p:sp>
      <p:sp>
        <p:nvSpPr>
          <p:cNvPr id="255" name="Google Shape;255;p23"/>
          <p:cNvSpPr/>
          <p:nvPr/>
        </p:nvSpPr>
        <p:spPr>
          <a:xfrm>
            <a:off x="4087368" y="5897880"/>
            <a:ext cx="1417320" cy="365760"/>
          </a:xfrm>
          <a:prstGeom prst="roundRect">
            <a:avLst>
              <a:gd fmla="val 50000" name="adj"/>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6" name="Google Shape;256;p23"/>
          <p:cNvPicPr preferRelativeResize="0"/>
          <p:nvPr/>
        </p:nvPicPr>
        <p:blipFill rotWithShape="1">
          <a:blip r:embed="rId7">
            <a:alphaModFix/>
          </a:blip>
          <a:srcRect b="0" l="0" r="0" t="0"/>
          <a:stretch/>
        </p:blipFill>
        <p:spPr>
          <a:xfrm>
            <a:off x="4206240" y="5989320"/>
            <a:ext cx="182880" cy="182880"/>
          </a:xfrm>
          <a:prstGeom prst="rect">
            <a:avLst/>
          </a:prstGeom>
          <a:noFill/>
          <a:ln>
            <a:noFill/>
          </a:ln>
        </p:spPr>
      </p:pic>
      <p:sp>
        <p:nvSpPr>
          <p:cNvPr id="257" name="Google Shape;257;p23"/>
          <p:cNvSpPr/>
          <p:nvPr/>
        </p:nvSpPr>
        <p:spPr>
          <a:xfrm>
            <a:off x="4398264"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EEC"/>
              </a:buClr>
              <a:buSzPts val="1000"/>
              <a:buFont typeface="Trebuchet MS"/>
              <a:buNone/>
            </a:pPr>
            <a:r>
              <a:rPr b="1" i="0" lang="en-US" sz="1000" u="none" cap="none" strike="noStrike">
                <a:solidFill>
                  <a:srgbClr val="D9CEEC"/>
                </a:solidFill>
                <a:latin typeface="Trebuchet MS"/>
                <a:ea typeface="Trebuchet MS"/>
                <a:cs typeface="Trebuchet MS"/>
                <a:sym typeface="Trebuchet MS"/>
              </a:rPr>
              <a:t>3 N-GRAM</a:t>
            </a:r>
            <a:endParaRPr b="0" i="0" sz="1000" u="none" cap="none" strike="noStrike">
              <a:solidFill>
                <a:schemeClr val="dk1"/>
              </a:solidFill>
              <a:latin typeface="Calibri"/>
              <a:ea typeface="Calibri"/>
              <a:cs typeface="Calibri"/>
              <a:sym typeface="Calibri"/>
            </a:endParaRPr>
          </a:p>
        </p:txBody>
      </p:sp>
      <p:sp>
        <p:nvSpPr>
          <p:cNvPr id="258" name="Google Shape;258;p23"/>
          <p:cNvSpPr/>
          <p:nvPr/>
        </p:nvSpPr>
        <p:spPr>
          <a:xfrm>
            <a:off x="5650992" y="5897880"/>
            <a:ext cx="1417320" cy="365760"/>
          </a:xfrm>
          <a:prstGeom prst="roundRect">
            <a:avLst>
              <a:gd fmla="val 50000" name="adj"/>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9" name="Google Shape;259;p23"/>
          <p:cNvPicPr preferRelativeResize="0"/>
          <p:nvPr/>
        </p:nvPicPr>
        <p:blipFill rotWithShape="1">
          <a:blip r:embed="rId7">
            <a:alphaModFix/>
          </a:blip>
          <a:srcRect b="0" l="0" r="0" t="0"/>
          <a:stretch/>
        </p:blipFill>
        <p:spPr>
          <a:xfrm>
            <a:off x="5769864" y="5989320"/>
            <a:ext cx="182880" cy="182880"/>
          </a:xfrm>
          <a:prstGeom prst="rect">
            <a:avLst/>
          </a:prstGeom>
          <a:noFill/>
          <a:ln>
            <a:noFill/>
          </a:ln>
        </p:spPr>
      </p:pic>
      <p:sp>
        <p:nvSpPr>
          <p:cNvPr id="260" name="Google Shape;260;p23"/>
          <p:cNvSpPr/>
          <p:nvPr/>
        </p:nvSpPr>
        <p:spPr>
          <a:xfrm>
            <a:off x="5961888"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EEC"/>
              </a:buClr>
              <a:buSzPts val="1000"/>
              <a:buFont typeface="Trebuchet MS"/>
              <a:buNone/>
            </a:pPr>
            <a:r>
              <a:rPr b="1" i="0" lang="en-US" sz="1000" u="none" cap="none" strike="noStrike">
                <a:solidFill>
                  <a:srgbClr val="D9CEEC"/>
                </a:solidFill>
                <a:latin typeface="Trebuchet MS"/>
                <a:ea typeface="Trebuchet MS"/>
                <a:cs typeface="Trebuchet MS"/>
                <a:sym typeface="Trebuchet MS"/>
              </a:rPr>
              <a:t>4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sp>
        <p:nvSpPr>
          <p:cNvPr id="266" name="Google Shape;266;p24"/>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Trust the standard library</a:t>
            </a:r>
            <a:endParaRPr b="0" i="0" sz="2900" u="none" cap="none" strike="noStrike">
              <a:solidFill>
                <a:schemeClr val="dk1"/>
              </a:solidFill>
              <a:latin typeface="Calibri"/>
              <a:ea typeface="Calibri"/>
              <a:cs typeface="Calibri"/>
              <a:sym typeface="Calibri"/>
            </a:endParaRPr>
          </a:p>
        </p:txBody>
      </p:sp>
      <p:cxnSp>
        <p:nvCxnSpPr>
          <p:cNvPr id="267" name="Google Shape;267;p24"/>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68" name="Google Shape;268;p24"/>
          <p:cNvSpPr/>
          <p:nvPr/>
        </p:nvSpPr>
        <p:spPr>
          <a:xfrm>
            <a:off x="640080" y="1481328"/>
            <a:ext cx="10881360" cy="5029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350"/>
              <a:buFont typeface="Calibri"/>
              <a:buNone/>
            </a:pPr>
            <a:r>
              <a:rPr b="0" i="0" lang="en-US" sz="1850" u="none" cap="none" strike="noStrike">
                <a:solidFill>
                  <a:srgbClr val="3A3344"/>
                </a:solidFill>
                <a:latin typeface="Calibri"/>
                <a:ea typeface="Calibri"/>
                <a:cs typeface="Calibri"/>
                <a:sym typeface="Calibri"/>
              </a:rPr>
              <a:t>Python's str is Unicode-aware, and the bidirectional + diacritic characters were already stripped during preprocessing. So the order is already correct, no special handling needed.</a:t>
            </a:r>
            <a:endParaRPr b="0" i="0" sz="1850" u="none" cap="none" strike="noStrike">
              <a:solidFill>
                <a:schemeClr val="dk1"/>
              </a:solidFill>
              <a:latin typeface="Calibri"/>
              <a:ea typeface="Calibri"/>
              <a:cs typeface="Calibri"/>
              <a:sym typeface="Calibri"/>
            </a:endParaRPr>
          </a:p>
        </p:txBody>
      </p:sp>
      <p:sp>
        <p:nvSpPr>
          <p:cNvPr id="269" name="Google Shape;269;p24"/>
          <p:cNvSpPr/>
          <p:nvPr/>
        </p:nvSpPr>
        <p:spPr>
          <a:xfrm>
            <a:off x="640080" y="2194560"/>
            <a:ext cx="5943600" cy="2468880"/>
          </a:xfrm>
          <a:prstGeom prst="roundRect">
            <a:avLst>
              <a:gd fmla="val 2222" name="adj"/>
            </a:avLst>
          </a:prstGeom>
          <a:solidFill>
            <a:srgbClr val="281243"/>
          </a:solidFill>
          <a:ln>
            <a:noFill/>
          </a:ln>
          <a:effectLst>
            <a:outerShdw blurRad="889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804672" y="2304288"/>
            <a:ext cx="5614416" cy="224942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def character_tokenize(self, text):</a:t>
            </a:r>
          </a:p>
          <a:p>
            <a:pPr indent="0" lvl="0" marL="0" marR="0" rtl="0" algn="l">
              <a:lnSpc>
                <a:spcPct val="112000"/>
              </a:lnSpc>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    tokens = list(text)</a:t>
            </a:r>
          </a:p>
          <a:p>
            <a:pPr indent="0" lvl="0" marL="0" marR="0" rtl="0" algn="l">
              <a:lnSpc>
                <a:spcPct val="112000"/>
              </a:lnSpc>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    return tokens</a:t>
            </a:r>
          </a:p>
          <a:p>
            <a:pPr indent="0" lvl="0" marL="0" marR="0" rtl="0" algn="l">
              <a:lnSpc>
                <a:spcPct val="112000"/>
              </a:lnSpc>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def join_text(self, tokens):</a:t>
            </a:r>
          </a:p>
          <a:p>
            <a:pPr indent="0" lvl="0" marL="0" marR="0" rtl="0" algn="l">
              <a:lnSpc>
                <a:spcPct val="112000"/>
              </a:lnSpc>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    text = "".join(tokens)</a:t>
            </a:r>
          </a:p>
          <a:p>
            <a:pPr indent="0" lvl="0" marL="0" marR="0" rtl="0" algn="l">
              <a:lnSpc>
                <a:spcPct val="112000"/>
              </a:lnSpc>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    return text</a:t>
            </a:r>
          </a:p>
        </p:txBody>
      </p:sp>
      <p:sp>
        <p:nvSpPr>
          <p:cNvPr id="271" name="Google Shape;271;p24"/>
          <p:cNvSpPr/>
          <p:nvPr/>
        </p:nvSpPr>
        <p:spPr>
          <a:xfrm>
            <a:off x="6812280" y="2286000"/>
            <a:ext cx="4754880" cy="1078992"/>
          </a:xfrm>
          <a:prstGeom prst="roundRect">
            <a:avLst>
              <a:gd fmla="val 8475" name="adj"/>
            </a:avLst>
          </a:prstGeom>
          <a:solidFill>
            <a:srgbClr val="FFFFFF"/>
          </a:solidFill>
          <a:ln cap="flat" cmpd="sng" w="15875">
            <a:solidFill>
              <a:srgbClr val="E3DE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24"/>
          <p:cNvPicPr preferRelativeResize="0"/>
          <p:nvPr/>
        </p:nvPicPr>
        <p:blipFill rotWithShape="1">
          <a:blip r:embed="rId4">
            <a:alphaModFix/>
          </a:blip>
          <a:srcRect b="0" l="0" r="0" t="0"/>
          <a:stretch/>
        </p:blipFill>
        <p:spPr>
          <a:xfrm>
            <a:off x="7022592" y="2487168"/>
            <a:ext cx="384048" cy="384048"/>
          </a:xfrm>
          <a:prstGeom prst="rect">
            <a:avLst/>
          </a:prstGeom>
          <a:noFill/>
          <a:ln>
            <a:noFill/>
          </a:ln>
        </p:spPr>
      </p:pic>
      <p:sp>
        <p:nvSpPr>
          <p:cNvPr id="273" name="Google Shape;273;p24"/>
          <p:cNvSpPr/>
          <p:nvPr/>
        </p:nvSpPr>
        <p:spPr>
          <a:xfrm>
            <a:off x="7543800" y="2432304"/>
            <a:ext cx="3886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50"/>
              <a:buFont typeface="Trebuchet MS"/>
              <a:buNone/>
            </a:pPr>
            <a:r>
              <a:rPr b="1" i="0" lang="en-US" sz="1350" u="none" cap="none" strike="noStrike">
                <a:solidFill>
                  <a:srgbClr val="361A54"/>
                </a:solidFill>
                <a:latin typeface="Trebuchet MS"/>
                <a:ea typeface="Trebuchet MS"/>
                <a:cs typeface="Trebuchet MS"/>
                <a:sym typeface="Trebuchet MS"/>
              </a:rPr>
              <a:t>list(text) keeps logical order</a:t>
            </a:r>
            <a:endParaRPr b="0" i="0" sz="1350" u="none" cap="none" strike="noStrike">
              <a:solidFill>
                <a:schemeClr val="dk1"/>
              </a:solidFill>
              <a:latin typeface="Calibri"/>
              <a:ea typeface="Calibri"/>
              <a:cs typeface="Calibri"/>
              <a:sym typeface="Calibri"/>
            </a:endParaRPr>
          </a:p>
        </p:txBody>
      </p:sp>
      <p:sp>
        <p:nvSpPr>
          <p:cNvPr id="274" name="Google Shape;274;p24"/>
          <p:cNvSpPr/>
          <p:nvPr/>
        </p:nvSpPr>
        <p:spPr>
          <a:xfrm>
            <a:off x="7543800" y="2788920"/>
            <a:ext cx="393192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B6478"/>
              </a:buClr>
              <a:buSzPts val="1150"/>
              <a:buFont typeface="Calibri"/>
              <a:buNone/>
            </a:pPr>
            <a:r>
              <a:rPr b="0" i="0" lang="en-US" sz="1150" u="none" cap="none" strike="noStrike">
                <a:solidFill>
                  <a:srgbClr val="6B6478"/>
                </a:solidFill>
                <a:latin typeface="Calibri"/>
                <a:ea typeface="Calibri"/>
                <a:cs typeface="Calibri"/>
                <a:sym typeface="Calibri"/>
              </a:rPr>
              <a:t>Index 0 is the first character read (the right-most glyph). Visual RTL ≠ index order.</a:t>
            </a:r>
            <a:endParaRPr b="0" i="0" sz="1150" u="none" cap="none" strike="noStrike">
              <a:solidFill>
                <a:schemeClr val="dk1"/>
              </a:solidFill>
              <a:latin typeface="Calibri"/>
              <a:ea typeface="Calibri"/>
              <a:cs typeface="Calibri"/>
              <a:sym typeface="Calibri"/>
            </a:endParaRPr>
          </a:p>
        </p:txBody>
      </p:sp>
      <p:sp>
        <p:nvSpPr>
          <p:cNvPr id="275" name="Google Shape;275;p24"/>
          <p:cNvSpPr/>
          <p:nvPr/>
        </p:nvSpPr>
        <p:spPr>
          <a:xfrm>
            <a:off x="6812280" y="3520440"/>
            <a:ext cx="4754880" cy="1078992"/>
          </a:xfrm>
          <a:prstGeom prst="roundRect">
            <a:avLst>
              <a:gd fmla="val 8475" name="adj"/>
            </a:avLst>
          </a:prstGeom>
          <a:solidFill>
            <a:srgbClr val="FFFFFF"/>
          </a:solidFill>
          <a:ln cap="flat" cmpd="sng" w="15875">
            <a:solidFill>
              <a:srgbClr val="E3DE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6" name="Google Shape;276;p24"/>
          <p:cNvPicPr preferRelativeResize="0"/>
          <p:nvPr/>
        </p:nvPicPr>
        <p:blipFill rotWithShape="1">
          <a:blip r:embed="rId5">
            <a:alphaModFix/>
          </a:blip>
          <a:srcRect b="0" l="0" r="0" t="0"/>
          <a:stretch/>
        </p:blipFill>
        <p:spPr>
          <a:xfrm>
            <a:off x="7022592" y="3721608"/>
            <a:ext cx="384048" cy="384048"/>
          </a:xfrm>
          <a:prstGeom prst="rect">
            <a:avLst/>
          </a:prstGeom>
          <a:noFill/>
          <a:ln>
            <a:noFill/>
          </a:ln>
        </p:spPr>
      </p:pic>
      <p:sp>
        <p:nvSpPr>
          <p:cNvPr id="277" name="Google Shape;277;p24"/>
          <p:cNvSpPr/>
          <p:nvPr/>
        </p:nvSpPr>
        <p:spPr>
          <a:xfrm>
            <a:off x="7543800" y="3666744"/>
            <a:ext cx="3886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50"/>
              <a:buFont typeface="Trebuchet MS"/>
              <a:buNone/>
            </a:pPr>
            <a:r>
              <a:rPr b="1" i="0" lang="en-US" sz="1350" u="none" cap="none" strike="noStrike">
                <a:solidFill>
                  <a:srgbClr val="361A54"/>
                </a:solidFill>
                <a:latin typeface="Trebuchet MS"/>
                <a:ea typeface="Trebuchet MS"/>
                <a:cs typeface="Trebuchet MS"/>
                <a:sym typeface="Trebuchet MS"/>
              </a:rPr>
              <a:t>“join” means concatenate</a:t>
            </a:r>
            <a:endParaRPr b="0" i="0" sz="1350" u="none" cap="none" strike="noStrike">
              <a:solidFill>
                <a:schemeClr val="dk1"/>
              </a:solidFill>
              <a:latin typeface="Calibri"/>
              <a:ea typeface="Calibri"/>
              <a:cs typeface="Calibri"/>
              <a:sym typeface="Calibri"/>
            </a:endParaRPr>
          </a:p>
        </p:txBody>
      </p:sp>
      <p:sp>
        <p:nvSpPr>
          <p:cNvPr id="278" name="Google Shape;278;p24"/>
          <p:cNvSpPr/>
          <p:nvPr/>
        </p:nvSpPr>
        <p:spPr>
          <a:xfrm>
            <a:off x="7543800" y="4023360"/>
            <a:ext cx="393192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B6478"/>
              </a:buClr>
              <a:buSzPts val="1150"/>
              <a:buFont typeface="Calibri"/>
              <a:buNone/>
            </a:pPr>
            <a:r>
              <a:rPr b="0" i="0" lang="en-US" sz="1150" u="none" cap="none" strike="noStrike">
                <a:solidFill>
                  <a:srgbClr val="6B6478"/>
                </a:solidFill>
                <a:latin typeface="Calibri"/>
                <a:ea typeface="Calibri"/>
                <a:cs typeface="Calibri"/>
                <a:sym typeface="Calibri"/>
              </a:rPr>
              <a:t>Joining with "" rebuilds the exact text. The empty separator is the whole point.</a:t>
            </a:r>
            <a:endParaRPr b="0" i="0" sz="1150" u="none" cap="none" strike="noStrike">
              <a:solidFill>
                <a:schemeClr val="dk1"/>
              </a:solidFill>
              <a:latin typeface="Calibri"/>
              <a:ea typeface="Calibri"/>
              <a:cs typeface="Calibri"/>
              <a:sym typeface="Calibri"/>
            </a:endParaRPr>
          </a:p>
        </p:txBody>
      </p:sp>
      <p:sp>
        <p:nvSpPr>
          <p:cNvPr id="279" name="Google Shape;279;p24"/>
          <p:cNvSpPr/>
          <p:nvPr/>
        </p:nvSpPr>
        <p:spPr>
          <a:xfrm>
            <a:off x="640080" y="4892040"/>
            <a:ext cx="10927080" cy="1234440"/>
          </a:xfrm>
          <a:prstGeom prst="roundRect">
            <a:avLst>
              <a:gd fmla="val 7407" name="adj"/>
            </a:avLst>
          </a:prstGeom>
          <a:solidFill>
            <a:srgbClr val="FFF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0" name="Google Shape;280;p24"/>
          <p:cNvPicPr preferRelativeResize="0"/>
          <p:nvPr/>
        </p:nvPicPr>
        <p:blipFill rotWithShape="1">
          <a:blip r:embed="rId6">
            <a:alphaModFix/>
          </a:blip>
          <a:srcRect b="0" l="0" r="0" t="0"/>
          <a:stretch/>
        </p:blipFill>
        <p:spPr>
          <a:xfrm>
            <a:off x="868680" y="5184648"/>
            <a:ext cx="411480" cy="411480"/>
          </a:xfrm>
          <a:prstGeom prst="rect">
            <a:avLst/>
          </a:prstGeom>
          <a:noFill/>
          <a:ln>
            <a:noFill/>
          </a:ln>
        </p:spPr>
      </p:pic>
      <p:sp>
        <p:nvSpPr>
          <p:cNvPr id="281" name="Google Shape;281;p24"/>
          <p:cNvSpPr/>
          <p:nvPr/>
        </p:nvSpPr>
        <p:spPr>
          <a:xfrm>
            <a:off x="1463040" y="4983480"/>
            <a:ext cx="9921240" cy="10515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61A54"/>
              </a:buClr>
              <a:buSzPts val="1350"/>
              <a:buFont typeface="Calibri"/>
              <a:buNone/>
            </a:pPr>
            <a:r>
              <a:rPr b="1" i="0" lang="en-US" sz="1750" u="none" cap="none" strike="noStrike">
                <a:solidFill>
                  <a:srgbClr val="361A54"/>
                </a:solidFill>
                <a:latin typeface="Calibri"/>
                <a:ea typeface="Calibri"/>
                <a:cs typeface="Calibri"/>
                <a:sym typeface="Calibri"/>
              </a:rPr>
              <a:t>What the grader checks: it logs the token count of the first line (len(first_line_tokens)). A character tokenizer returns one token per character; a whitespace split returns far fewer, so the logged count is wrong and the checkpoint fails with no exception to point at.</a:t>
            </a:r>
            <a:r>
              <a:rPr b="0" i="0" lang="en-US" sz="1750" u="none" cap="none" strike="noStrike">
                <a:solidFill>
                  <a:srgbClr val="3A3344"/>
                </a:solidFill>
                <a:latin typeface="Calibri"/>
                <a:ea typeface="Calibri"/>
                <a:cs typeface="Calibri"/>
                <a:sym typeface="Calibri"/>
              </a:rPr>
              <a:t/>
            </a:r>
            <a:r>
              <a:rPr b="0" i="0" lang="en-US" sz="1700" u="none" cap="none" strike="noStrike">
                <a:solidFill>
                  <a:srgbClr val="361A54"/>
                </a:solidFill>
                <a:latin typeface="Consolas"/>
                <a:ea typeface="Consolas"/>
                <a:cs typeface="Consolas"/>
                <a:sym typeface="Consolas"/>
              </a:rPr>
              <a:t/>
            </a:r>
            <a:r>
              <a:rPr b="0" i="0" lang="en-US" sz="1750" u="none" cap="none" strike="noStrike">
                <a:solidFill>
                  <a:srgbClr val="3A3344"/>
                </a:solidFill>
                <a:latin typeface="Calibri"/>
                <a:ea typeface="Calibri"/>
                <a:cs typeface="Calibri"/>
                <a:sym typeface="Calibri"/>
              </a:rPr>
              <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6" name="Shape 286"/>
        <p:cNvGrpSpPr/>
        <p:nvPr/>
      </p:nvGrpSpPr>
      <p:grpSpPr>
        <a:xfrm>
          <a:off x="0" y="0"/>
          <a:ext cx="0" cy="0"/>
          <a:chOff x="0" y="0"/>
          <a:chExt cx="0" cy="0"/>
        </a:xfrm>
      </p:grpSpPr>
      <p:sp>
        <p:nvSpPr>
          <p:cNvPr id="287" name="Google Shape;287;p25"/>
          <p:cNvSpPr/>
          <p:nvPr/>
        </p:nvSpPr>
        <p:spPr>
          <a:xfrm>
            <a:off x="731520" y="1417320"/>
            <a:ext cx="10725912" cy="4023360"/>
          </a:xfrm>
          <a:prstGeom prst="roundRect">
            <a:avLst>
              <a:gd fmla="val 3182"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5"/>
          <p:cNvSpPr/>
          <p:nvPr/>
        </p:nvSpPr>
        <p:spPr>
          <a:xfrm>
            <a:off x="1051560" y="1783080"/>
            <a:ext cx="1691640" cy="457200"/>
          </a:xfrm>
          <a:prstGeom prst="roundRect">
            <a:avLst>
              <a:gd fmla="val 16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5"/>
          <p:cNvSpPr/>
          <p:nvPr/>
        </p:nvSpPr>
        <p:spPr>
          <a:xfrm>
            <a:off x="1051560" y="178308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Trebuchet MS"/>
              <a:buNone/>
            </a:pPr>
            <a:r>
              <a:rPr b="1" i="0" lang="en-US" sz="1300" u="none" cap="none" strike="noStrike">
                <a:solidFill>
                  <a:srgbClr val="361A54"/>
                </a:solidFill>
                <a:latin typeface="Trebuchet MS"/>
                <a:ea typeface="Trebuchet MS"/>
                <a:cs typeface="Trebuchet MS"/>
                <a:sym typeface="Trebuchet MS"/>
              </a:rPr>
              <a:t>PART THREE</a:t>
            </a:r>
            <a:endParaRPr b="0" i="0" sz="1300" u="none" cap="none" strike="noStrike">
              <a:solidFill>
                <a:schemeClr val="dk1"/>
              </a:solidFill>
              <a:latin typeface="Calibri"/>
              <a:ea typeface="Calibri"/>
              <a:cs typeface="Calibri"/>
              <a:sym typeface="Calibri"/>
            </a:endParaRPr>
          </a:p>
        </p:txBody>
      </p:sp>
      <p:sp>
        <p:nvSpPr>
          <p:cNvPr id="290" name="Google Shape;290;p25"/>
          <p:cNvSpPr/>
          <p:nvPr/>
        </p:nvSpPr>
        <p:spPr>
          <a:xfrm>
            <a:off x="2926080" y="178308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FD6"/>
              </a:buClr>
              <a:buSzPts val="1600"/>
              <a:buFont typeface="Trebuchet MS"/>
              <a:buNone/>
            </a:pPr>
            <a:r>
              <a:rPr b="1" i="0" lang="en-US" sz="1600" u="none" cap="none" strike="noStrike">
                <a:solidFill>
                  <a:srgbClr val="B79FD6"/>
                </a:solidFill>
                <a:latin typeface="Trebuchet MS"/>
                <a:ea typeface="Trebuchet MS"/>
                <a:cs typeface="Trebuchet MS"/>
                <a:sym typeface="Trebuchet MS"/>
              </a:rPr>
              <a:t>Task 3</a:t>
            </a:r>
            <a:endParaRPr b="0" i="0" sz="1600" u="none" cap="none" strike="noStrike">
              <a:solidFill>
                <a:schemeClr val="dk1"/>
              </a:solidFill>
              <a:latin typeface="Calibri"/>
              <a:ea typeface="Calibri"/>
              <a:cs typeface="Calibri"/>
              <a:sym typeface="Calibri"/>
            </a:endParaRPr>
          </a:p>
        </p:txBody>
      </p:sp>
      <p:pic>
        <p:nvPicPr>
          <p:cNvPr descr="preencoded.png" id="291" name="Google Shape;291;p25"/>
          <p:cNvPicPr preferRelativeResize="0"/>
          <p:nvPr/>
        </p:nvPicPr>
        <p:blipFill rotWithShape="1">
          <a:blip r:embed="rId4">
            <a:alphaModFix amt="70000"/>
          </a:blip>
          <a:srcRect b="0" l="0" r="0" t="0"/>
          <a:stretch/>
        </p:blipFill>
        <p:spPr>
          <a:xfrm>
            <a:off x="9692640" y="1828800"/>
            <a:ext cx="1371600" cy="1371600"/>
          </a:xfrm>
          <a:prstGeom prst="rect">
            <a:avLst/>
          </a:prstGeom>
          <a:noFill/>
          <a:ln>
            <a:noFill/>
          </a:ln>
        </p:spPr>
      </p:pic>
      <p:sp>
        <p:nvSpPr>
          <p:cNvPr id="292" name="Google Shape;292;p25"/>
          <p:cNvSpPr/>
          <p:nvPr/>
        </p:nvSpPr>
        <p:spPr>
          <a:xfrm>
            <a:off x="1051560" y="2423160"/>
            <a:ext cx="8503920" cy="105156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N-gram Text Generator</a:t>
            </a:r>
            <a:endParaRPr b="0" i="0" sz="4000" u="none" cap="none" strike="noStrike">
              <a:solidFill>
                <a:schemeClr val="dk1"/>
              </a:solidFill>
              <a:latin typeface="Calibri"/>
              <a:ea typeface="Calibri"/>
              <a:cs typeface="Calibri"/>
              <a:sym typeface="Calibri"/>
            </a:endParaRPr>
          </a:p>
        </p:txBody>
      </p:sp>
      <p:sp>
        <p:nvSpPr>
          <p:cNvPr id="293" name="Google Shape;293;p25"/>
          <p:cNvSpPr/>
          <p:nvPr/>
        </p:nvSpPr>
        <p:spPr>
          <a:xfrm>
            <a:off x="1069848" y="361188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CEEC"/>
              </a:buClr>
              <a:buSzPts val="1450"/>
              <a:buFont typeface="Calibri"/>
              <a:buNone/>
            </a:pPr>
            <a:r>
              <a:rPr b="0" i="0" lang="en-US" sz="1650" u="none" cap="none" strike="noStrike">
                <a:solidFill>
                  <a:srgbClr val="D9CEEC"/>
                </a:solidFill>
                <a:latin typeface="Calibri"/>
                <a:ea typeface="Calibri"/>
                <a:cs typeface="Calibri"/>
                <a:sym typeface="Calibri"/>
              </a:rPr>
              <a:t>The students write the generation loop on top of Cymbal Chat's pre-built model. This is where the deepest misunderstandings live, and where greedy “bugs” are actually the lesson.</a:t>
            </a:r>
            <a:endParaRPr b="0" i="0" sz="1650" u="none" cap="none" strike="noStrike">
              <a:solidFill>
                <a:schemeClr val="dk1"/>
              </a:solidFill>
              <a:latin typeface="Calibri"/>
              <a:ea typeface="Calibri"/>
              <a:cs typeface="Calibri"/>
              <a:sym typeface="Calibri"/>
            </a:endParaRPr>
          </a:p>
        </p:txBody>
      </p:sp>
      <p:sp>
        <p:nvSpPr>
          <p:cNvPr id="294" name="Google Shape;294;p25"/>
          <p:cNvSpPr/>
          <p:nvPr/>
        </p:nvSpPr>
        <p:spPr>
          <a:xfrm>
            <a:off x="822960" y="5806440"/>
            <a:ext cx="6382512" cy="548640"/>
          </a:xfrm>
          <a:prstGeom prst="roundRect">
            <a:avLst>
              <a:gd fmla="val 50000"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5"/>
          <p:cNvSpPr/>
          <p:nvPr/>
        </p:nvSpPr>
        <p:spPr>
          <a:xfrm>
            <a:off x="960120"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6" name="Google Shape;296;p25"/>
          <p:cNvPicPr preferRelativeResize="0"/>
          <p:nvPr/>
        </p:nvPicPr>
        <p:blipFill rotWithShape="1">
          <a:blip r:embed="rId5">
            <a:alphaModFix/>
          </a:blip>
          <a:srcRect b="0" l="0" r="0" t="0"/>
          <a:stretch/>
        </p:blipFill>
        <p:spPr>
          <a:xfrm>
            <a:off x="1078992" y="5989320"/>
            <a:ext cx="182880" cy="182880"/>
          </a:xfrm>
          <a:prstGeom prst="rect">
            <a:avLst/>
          </a:prstGeom>
          <a:noFill/>
          <a:ln>
            <a:noFill/>
          </a:ln>
        </p:spPr>
      </p:pic>
      <p:sp>
        <p:nvSpPr>
          <p:cNvPr id="297" name="Google Shape;297;p25"/>
          <p:cNvSpPr/>
          <p:nvPr/>
        </p:nvSpPr>
        <p:spPr>
          <a:xfrm>
            <a:off x="1271016"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1 IMPORT</a:t>
            </a:r>
            <a:endParaRPr b="0" i="0" sz="1000" u="none" cap="none" strike="noStrike">
              <a:solidFill>
                <a:schemeClr val="dk1"/>
              </a:solidFill>
              <a:latin typeface="Calibri"/>
              <a:ea typeface="Calibri"/>
              <a:cs typeface="Calibri"/>
              <a:sym typeface="Calibri"/>
            </a:endParaRPr>
          </a:p>
        </p:txBody>
      </p:sp>
      <p:sp>
        <p:nvSpPr>
          <p:cNvPr id="298" name="Google Shape;298;p25"/>
          <p:cNvSpPr/>
          <p:nvPr/>
        </p:nvSpPr>
        <p:spPr>
          <a:xfrm>
            <a:off x="2523744"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25"/>
          <p:cNvPicPr preferRelativeResize="0"/>
          <p:nvPr/>
        </p:nvPicPr>
        <p:blipFill rotWithShape="1">
          <a:blip r:embed="rId5">
            <a:alphaModFix/>
          </a:blip>
          <a:srcRect b="0" l="0" r="0" t="0"/>
          <a:stretch/>
        </p:blipFill>
        <p:spPr>
          <a:xfrm>
            <a:off x="2642616" y="5989320"/>
            <a:ext cx="182880" cy="182880"/>
          </a:xfrm>
          <a:prstGeom prst="rect">
            <a:avLst/>
          </a:prstGeom>
          <a:noFill/>
          <a:ln>
            <a:noFill/>
          </a:ln>
        </p:spPr>
      </p:pic>
      <p:sp>
        <p:nvSpPr>
          <p:cNvPr id="300" name="Google Shape;300;p25"/>
          <p:cNvSpPr/>
          <p:nvPr/>
        </p:nvSpPr>
        <p:spPr>
          <a:xfrm>
            <a:off x="2834640"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2 TOKEN</a:t>
            </a:r>
            <a:endParaRPr b="0" i="0" sz="1000" u="none" cap="none" strike="noStrike">
              <a:solidFill>
                <a:schemeClr val="dk1"/>
              </a:solidFill>
              <a:latin typeface="Calibri"/>
              <a:ea typeface="Calibri"/>
              <a:cs typeface="Calibri"/>
              <a:sym typeface="Calibri"/>
            </a:endParaRPr>
          </a:p>
        </p:txBody>
      </p:sp>
      <p:sp>
        <p:nvSpPr>
          <p:cNvPr id="301" name="Google Shape;301;p25"/>
          <p:cNvSpPr/>
          <p:nvPr/>
        </p:nvSpPr>
        <p:spPr>
          <a:xfrm>
            <a:off x="4087368"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2" name="Google Shape;302;p25"/>
          <p:cNvPicPr preferRelativeResize="0"/>
          <p:nvPr/>
        </p:nvPicPr>
        <p:blipFill rotWithShape="1">
          <a:blip r:embed="rId6">
            <a:alphaModFix/>
          </a:blip>
          <a:srcRect b="0" l="0" r="0" t="0"/>
          <a:stretch/>
        </p:blipFill>
        <p:spPr>
          <a:xfrm>
            <a:off x="4206240" y="5989320"/>
            <a:ext cx="182880" cy="182880"/>
          </a:xfrm>
          <a:prstGeom prst="rect">
            <a:avLst/>
          </a:prstGeom>
          <a:noFill/>
          <a:ln>
            <a:noFill/>
          </a:ln>
        </p:spPr>
      </p:pic>
      <p:sp>
        <p:nvSpPr>
          <p:cNvPr id="303" name="Google Shape;303;p25"/>
          <p:cNvSpPr/>
          <p:nvPr/>
        </p:nvSpPr>
        <p:spPr>
          <a:xfrm>
            <a:off x="4398264"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3 N-GRAM</a:t>
            </a:r>
            <a:endParaRPr b="0" i="0" sz="1000" u="none" cap="none" strike="noStrike">
              <a:solidFill>
                <a:schemeClr val="dk1"/>
              </a:solidFill>
              <a:latin typeface="Calibri"/>
              <a:ea typeface="Calibri"/>
              <a:cs typeface="Calibri"/>
              <a:sym typeface="Calibri"/>
            </a:endParaRPr>
          </a:p>
        </p:txBody>
      </p:sp>
      <p:sp>
        <p:nvSpPr>
          <p:cNvPr id="304" name="Google Shape;304;p25"/>
          <p:cNvSpPr/>
          <p:nvPr/>
        </p:nvSpPr>
        <p:spPr>
          <a:xfrm>
            <a:off x="5650992" y="5897880"/>
            <a:ext cx="1417320" cy="365760"/>
          </a:xfrm>
          <a:prstGeom prst="roundRect">
            <a:avLst>
              <a:gd fmla="val 50000" name="adj"/>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5" name="Google Shape;305;p25"/>
          <p:cNvPicPr preferRelativeResize="0"/>
          <p:nvPr/>
        </p:nvPicPr>
        <p:blipFill rotWithShape="1">
          <a:blip r:embed="rId7">
            <a:alphaModFix/>
          </a:blip>
          <a:srcRect b="0" l="0" r="0" t="0"/>
          <a:stretch/>
        </p:blipFill>
        <p:spPr>
          <a:xfrm>
            <a:off x="5769864" y="5989320"/>
            <a:ext cx="182880" cy="182880"/>
          </a:xfrm>
          <a:prstGeom prst="rect">
            <a:avLst/>
          </a:prstGeom>
          <a:noFill/>
          <a:ln>
            <a:noFill/>
          </a:ln>
        </p:spPr>
      </p:pic>
      <p:sp>
        <p:nvSpPr>
          <p:cNvPr id="306" name="Google Shape;306;p25"/>
          <p:cNvSpPr/>
          <p:nvPr/>
        </p:nvSpPr>
        <p:spPr>
          <a:xfrm>
            <a:off x="5961888"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EEC"/>
              </a:buClr>
              <a:buSzPts val="1000"/>
              <a:buFont typeface="Trebuchet MS"/>
              <a:buNone/>
            </a:pPr>
            <a:r>
              <a:rPr b="1" i="0" lang="en-US" sz="1000" u="none" cap="none" strike="noStrike">
                <a:solidFill>
                  <a:srgbClr val="D9CEEC"/>
                </a:solidFill>
                <a:latin typeface="Trebuchet MS"/>
                <a:ea typeface="Trebuchet MS"/>
                <a:cs typeface="Trebuchet MS"/>
                <a:sym typeface="Trebuchet MS"/>
              </a:rPr>
              <a:t>4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1" name="Shape 311"/>
        <p:cNvGrpSpPr/>
        <p:nvPr/>
      </p:nvGrpSpPr>
      <p:grpSpPr>
        <a:xfrm>
          <a:off x="0" y="0"/>
          <a:ext cx="0" cy="0"/>
          <a:chOff x="0" y="0"/>
          <a:chExt cx="0" cy="0"/>
        </a:xfrm>
      </p:grpSpPr>
      <p:sp>
        <p:nvSpPr>
          <p:cNvPr id="312" name="Google Shape;312;p26"/>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Three moves, repeated n_tokens times</a:t>
            </a:r>
            <a:endParaRPr b="0" i="0" sz="2900" u="none" cap="none" strike="noStrike">
              <a:solidFill>
                <a:schemeClr val="dk1"/>
              </a:solidFill>
              <a:latin typeface="Calibri"/>
              <a:ea typeface="Calibri"/>
              <a:cs typeface="Calibri"/>
              <a:sym typeface="Calibri"/>
            </a:endParaRPr>
          </a:p>
        </p:txBody>
      </p:sp>
      <p:cxnSp>
        <p:nvCxnSpPr>
          <p:cNvPr id="313" name="Google Shape;313;p26"/>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314" name="Google Shape;314;p26"/>
          <p:cNvSpPr/>
          <p:nvPr/>
        </p:nvSpPr>
        <p:spPr>
          <a:xfrm>
            <a:off x="640080" y="1481328"/>
            <a:ext cx="10881360" cy="5029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350"/>
              <a:buFont typeface="Calibri"/>
              <a:buNone/>
            </a:pPr>
            <a:r>
              <a:rPr b="0" i="0" lang="en-US" sz="1550" u="none" cap="none" strike="noStrike">
                <a:solidFill>
                  <a:srgbClr val="3A3344"/>
                </a:solidFill>
                <a:latin typeface="Calibri"/>
                <a:ea typeface="Calibri"/>
                <a:cs typeface="Calibri"/>
                <a:sym typeface="Calibri"/>
              </a:rPr>
              <a:t>Built on the model's three pre-written functions. With n = 4, the context is the last 3 characters, and it must be a joined string, because that is exactly how the model keys its contexts.</a:t>
            </a:r>
            <a:endParaRPr b="0" i="0" sz="1550" u="none" cap="none" strike="noStrike">
              <a:solidFill>
                <a:schemeClr val="dk1"/>
              </a:solidFill>
              <a:latin typeface="Calibri"/>
              <a:ea typeface="Calibri"/>
              <a:cs typeface="Calibri"/>
              <a:sym typeface="Calibri"/>
            </a:endParaRPr>
          </a:p>
        </p:txBody>
      </p:sp>
      <p:sp>
        <p:nvSpPr>
          <p:cNvPr id="315" name="Google Shape;315;p26"/>
          <p:cNvSpPr/>
          <p:nvPr/>
        </p:nvSpPr>
        <p:spPr>
          <a:xfrm>
            <a:off x="640080" y="2679346"/>
            <a:ext cx="3429000" cy="2240400"/>
          </a:xfrm>
          <a:prstGeom prst="roundRect">
            <a:avLst>
              <a:gd fmla="val 4082"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6"/>
          <p:cNvSpPr/>
          <p:nvPr/>
        </p:nvSpPr>
        <p:spPr>
          <a:xfrm>
            <a:off x="896112" y="2914177"/>
            <a:ext cx="640200" cy="640200"/>
          </a:xfrm>
          <a:prstGeom prst="ellipse">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7" name="Google Shape;317;p26"/>
          <p:cNvPicPr preferRelativeResize="0"/>
          <p:nvPr/>
        </p:nvPicPr>
        <p:blipFill rotWithShape="1">
          <a:blip r:embed="rId4">
            <a:alphaModFix/>
          </a:blip>
          <a:srcRect b="0" l="0" r="0" t="0"/>
          <a:stretch/>
        </p:blipFill>
        <p:spPr>
          <a:xfrm>
            <a:off x="1042416" y="3036367"/>
            <a:ext cx="347472" cy="347472"/>
          </a:xfrm>
          <a:prstGeom prst="rect">
            <a:avLst/>
          </a:prstGeom>
          <a:noFill/>
          <a:ln>
            <a:noFill/>
          </a:ln>
        </p:spPr>
      </p:pic>
      <p:sp>
        <p:nvSpPr>
          <p:cNvPr id="318" name="Google Shape;318;p26"/>
          <p:cNvSpPr/>
          <p:nvPr/>
        </p:nvSpPr>
        <p:spPr>
          <a:xfrm>
            <a:off x="896112" y="3676042"/>
            <a:ext cx="297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50"/>
              <a:buFont typeface="Trebuchet MS"/>
              <a:buNone/>
            </a:pPr>
            <a:r>
              <a:rPr b="1" i="0" lang="en-US" sz="1450" u="none" cap="none" strike="noStrike">
                <a:solidFill>
                  <a:srgbClr val="361A54"/>
                </a:solidFill>
                <a:latin typeface="Trebuchet MS"/>
                <a:ea typeface="Trebuchet MS"/>
                <a:cs typeface="Trebuchet MS"/>
                <a:sym typeface="Trebuchet MS"/>
              </a:rPr>
              <a:t>1 · Build the context</a:t>
            </a:r>
            <a:endParaRPr b="0" i="0" sz="1450" u="none" cap="none" strike="noStrike">
              <a:solidFill>
                <a:schemeClr val="dk1"/>
              </a:solidFill>
              <a:latin typeface="Calibri"/>
              <a:ea typeface="Calibri"/>
              <a:cs typeface="Calibri"/>
              <a:sym typeface="Calibri"/>
            </a:endParaRPr>
          </a:p>
        </p:txBody>
      </p:sp>
      <p:sp>
        <p:nvSpPr>
          <p:cNvPr id="319" name="Google Shape;319;p26"/>
          <p:cNvSpPr/>
          <p:nvPr/>
        </p:nvSpPr>
        <p:spPr>
          <a:xfrm>
            <a:off x="896112" y="4087522"/>
            <a:ext cx="2971800" cy="7773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6B6478"/>
              </a:buClr>
              <a:buSzPts val="1200"/>
              <a:buFont typeface="Calibri"/>
              <a:buNone/>
            </a:pPr>
            <a:r>
              <a:rPr b="0" i="0" lang="en-US" sz="1500" u="none" cap="none" strike="noStrike">
                <a:solidFill>
                  <a:srgbClr val="6B6478"/>
                </a:solidFill>
                <a:latin typeface="Calibri"/>
                <a:ea typeface="Calibri"/>
                <a:cs typeface="Calibri"/>
                <a:sym typeface="Calibri"/>
              </a:rPr>
              <a:t>Take the last n-1 tokens and "".join them into a string key: the model is indexed by string contexts, not tuples.</a:t>
            </a:r>
            <a:endParaRPr b="0" i="0" sz="1500" u="none" cap="none" strike="noStrike">
              <a:solidFill>
                <a:schemeClr val="dk1"/>
              </a:solidFill>
              <a:latin typeface="Calibri"/>
              <a:ea typeface="Calibri"/>
              <a:cs typeface="Calibri"/>
              <a:sym typeface="Calibri"/>
            </a:endParaRPr>
          </a:p>
        </p:txBody>
      </p:sp>
      <p:sp>
        <p:nvSpPr>
          <p:cNvPr id="320" name="Google Shape;320;p26"/>
          <p:cNvSpPr/>
          <p:nvPr/>
        </p:nvSpPr>
        <p:spPr>
          <a:xfrm>
            <a:off x="4343400" y="2703460"/>
            <a:ext cx="3429000" cy="2240400"/>
          </a:xfrm>
          <a:prstGeom prst="roundRect">
            <a:avLst>
              <a:gd fmla="val 4082"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6"/>
          <p:cNvSpPr/>
          <p:nvPr/>
        </p:nvSpPr>
        <p:spPr>
          <a:xfrm>
            <a:off x="4599432" y="2950348"/>
            <a:ext cx="640200" cy="640200"/>
          </a:xfrm>
          <a:prstGeom prst="ellipse">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2" name="Google Shape;322;p26"/>
          <p:cNvPicPr preferRelativeResize="0"/>
          <p:nvPr/>
        </p:nvPicPr>
        <p:blipFill rotWithShape="1">
          <a:blip r:embed="rId5">
            <a:alphaModFix/>
          </a:blip>
          <a:srcRect b="0" l="0" r="0" t="0"/>
          <a:stretch/>
        </p:blipFill>
        <p:spPr>
          <a:xfrm>
            <a:off x="4745736" y="3096652"/>
            <a:ext cx="347472" cy="347472"/>
          </a:xfrm>
          <a:prstGeom prst="rect">
            <a:avLst/>
          </a:prstGeom>
          <a:noFill/>
          <a:ln>
            <a:noFill/>
          </a:ln>
        </p:spPr>
      </p:pic>
      <p:sp>
        <p:nvSpPr>
          <p:cNvPr id="323" name="Google Shape;323;p26"/>
          <p:cNvSpPr/>
          <p:nvPr/>
        </p:nvSpPr>
        <p:spPr>
          <a:xfrm>
            <a:off x="4599432" y="3700156"/>
            <a:ext cx="297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50"/>
              <a:buFont typeface="Trebuchet MS"/>
              <a:buNone/>
            </a:pPr>
            <a:r>
              <a:rPr b="1" i="0" lang="en-US" sz="1450" u="none" cap="none" strike="noStrike">
                <a:solidFill>
                  <a:srgbClr val="361A54"/>
                </a:solidFill>
                <a:latin typeface="Trebuchet MS"/>
                <a:ea typeface="Trebuchet MS"/>
                <a:cs typeface="Trebuchet MS"/>
                <a:sym typeface="Trebuchet MS"/>
              </a:rPr>
              <a:t>2 · Query the model</a:t>
            </a:r>
            <a:endParaRPr b="0" i="0" sz="1450" u="none" cap="none" strike="noStrike">
              <a:solidFill>
                <a:schemeClr val="dk1"/>
              </a:solidFill>
              <a:latin typeface="Calibri"/>
              <a:ea typeface="Calibri"/>
              <a:cs typeface="Calibri"/>
              <a:sym typeface="Calibri"/>
            </a:endParaRPr>
          </a:p>
        </p:txBody>
      </p:sp>
      <p:sp>
        <p:nvSpPr>
          <p:cNvPr id="324" name="Google Shape;324;p26"/>
          <p:cNvSpPr/>
          <p:nvPr/>
        </p:nvSpPr>
        <p:spPr>
          <a:xfrm>
            <a:off x="4599432" y="4111636"/>
            <a:ext cx="2971800" cy="7773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6B6478"/>
              </a:buClr>
              <a:buSzPts val="1200"/>
              <a:buFont typeface="Calibri"/>
              <a:buNone/>
            </a:pPr>
            <a:r>
              <a:rPr b="0" i="0" lang="en-US" sz="1500" u="none" cap="none" strike="noStrike">
                <a:solidFill>
                  <a:srgbClr val="6B6478"/>
                </a:solidFill>
                <a:latin typeface="Calibri"/>
                <a:ea typeface="Calibri"/>
                <a:cs typeface="Calibri"/>
                <a:sym typeface="Calibri"/>
              </a:rPr>
              <a:t>ngram_model[context] returns a { next_token: probability } distribution for that context.</a:t>
            </a:r>
            <a:endParaRPr b="0" i="0" sz="1500" u="none" cap="none" strike="noStrike">
              <a:solidFill>
                <a:schemeClr val="dk1"/>
              </a:solidFill>
              <a:latin typeface="Calibri"/>
              <a:ea typeface="Calibri"/>
              <a:cs typeface="Calibri"/>
              <a:sym typeface="Calibri"/>
            </a:endParaRPr>
          </a:p>
        </p:txBody>
      </p:sp>
      <p:sp>
        <p:nvSpPr>
          <p:cNvPr id="325" name="Google Shape;325;p26"/>
          <p:cNvSpPr/>
          <p:nvPr/>
        </p:nvSpPr>
        <p:spPr>
          <a:xfrm>
            <a:off x="8046720" y="2679346"/>
            <a:ext cx="3429000" cy="2240400"/>
          </a:xfrm>
          <a:prstGeom prst="roundRect">
            <a:avLst>
              <a:gd fmla="val 4082" name="adj"/>
            </a:avLst>
          </a:prstGeom>
          <a:solidFill>
            <a:srgbClr val="FFFFFF"/>
          </a:solidFill>
          <a:ln cap="flat" cmpd="sng" w="15875">
            <a:solidFill>
              <a:srgbClr val="E3DEEC"/>
            </a:solidFill>
            <a:prstDash val="solid"/>
            <a:round/>
            <a:headEnd len="sm" w="sm" type="none"/>
            <a:tailEnd len="sm" w="sm" type="none"/>
          </a:ln>
          <a:effectLst>
            <a:outerShdw blurRad="63500" rotWithShape="0" algn="bl" dir="8100000" dist="25400">
              <a:srgbClr val="6B5B86">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p:nvPr/>
        </p:nvSpPr>
        <p:spPr>
          <a:xfrm>
            <a:off x="8302752" y="2926234"/>
            <a:ext cx="640200" cy="640200"/>
          </a:xfrm>
          <a:prstGeom prst="ellipse">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7" name="Google Shape;327;p26"/>
          <p:cNvPicPr preferRelativeResize="0"/>
          <p:nvPr/>
        </p:nvPicPr>
        <p:blipFill rotWithShape="1">
          <a:blip r:embed="rId6">
            <a:alphaModFix/>
          </a:blip>
          <a:srcRect b="0" l="0" r="0" t="0"/>
          <a:stretch/>
        </p:blipFill>
        <p:spPr>
          <a:xfrm>
            <a:off x="8449056" y="3072538"/>
            <a:ext cx="347472" cy="347472"/>
          </a:xfrm>
          <a:prstGeom prst="rect">
            <a:avLst/>
          </a:prstGeom>
          <a:noFill/>
          <a:ln>
            <a:noFill/>
          </a:ln>
        </p:spPr>
      </p:pic>
      <p:sp>
        <p:nvSpPr>
          <p:cNvPr id="328" name="Google Shape;328;p26"/>
          <p:cNvSpPr/>
          <p:nvPr/>
        </p:nvSpPr>
        <p:spPr>
          <a:xfrm>
            <a:off x="8302752" y="3676042"/>
            <a:ext cx="297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50"/>
              <a:buFont typeface="Trebuchet MS"/>
              <a:buNone/>
            </a:pPr>
            <a:r>
              <a:rPr b="1" i="0" lang="en-US" sz="1450" u="none" cap="none" strike="noStrike">
                <a:solidFill>
                  <a:srgbClr val="361A54"/>
                </a:solidFill>
                <a:latin typeface="Trebuchet MS"/>
                <a:ea typeface="Trebuchet MS"/>
                <a:cs typeface="Trebuchet MS"/>
                <a:sym typeface="Trebuchet MS"/>
              </a:rPr>
              <a:t>3 · Branch on sampling</a:t>
            </a:r>
            <a:endParaRPr b="0" i="0" sz="1450" u="none" cap="none" strike="noStrike">
              <a:solidFill>
                <a:schemeClr val="dk1"/>
              </a:solidFill>
              <a:latin typeface="Calibri"/>
              <a:ea typeface="Calibri"/>
              <a:cs typeface="Calibri"/>
              <a:sym typeface="Calibri"/>
            </a:endParaRPr>
          </a:p>
        </p:txBody>
      </p:sp>
      <p:sp>
        <p:nvSpPr>
          <p:cNvPr id="329" name="Google Shape;329;p26"/>
          <p:cNvSpPr/>
          <p:nvPr/>
        </p:nvSpPr>
        <p:spPr>
          <a:xfrm>
            <a:off x="8302752" y="4087522"/>
            <a:ext cx="2971800" cy="7773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6B6478"/>
              </a:buClr>
              <a:buSzPts val="1200"/>
              <a:buFont typeface="Calibri"/>
              <a:buNone/>
            </a:pPr>
            <a:r>
              <a:rPr b="0" i="0" lang="en-US" u="none" cap="none" strike="noStrike">
                <a:solidFill>
                  <a:srgbClr val="6B6478"/>
                </a:solidFill>
                <a:latin typeface="Calibri"/>
                <a:ea typeface="Calibri"/>
                <a:cs typeface="Calibri"/>
                <a:sym typeface="Calibri"/>
              </a:rPr>
              <a:t>greedy → argmax of the probabilities. random → sample weighted by them. Append, then repeat.</a:t>
            </a:r>
            <a:endParaRPr b="0" i="0" u="none" cap="none" strike="noStrike">
              <a:solidFill>
                <a:schemeClr val="dk1"/>
              </a:solidFill>
              <a:latin typeface="Calibri"/>
              <a:ea typeface="Calibri"/>
              <a:cs typeface="Calibri"/>
              <a:sym typeface="Calibri"/>
            </a:endParaRPr>
          </a:p>
        </p:txBody>
      </p:sp>
      <p:sp>
        <p:nvSpPr>
          <p:cNvPr id="330" name="Google Shape;330;p26"/>
          <p:cNvSpPr/>
          <p:nvPr/>
        </p:nvSpPr>
        <p:spPr>
          <a:xfrm>
            <a:off x="700365" y="5482831"/>
            <a:ext cx="10927200" cy="1234500"/>
          </a:xfrm>
          <a:prstGeom prst="roundRect">
            <a:avLst>
              <a:gd fmla="val 7407" name="adj"/>
            </a:avLst>
          </a:prstGeom>
          <a:solidFill>
            <a:srgbClr val="FFF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1" name="Google Shape;331;p26"/>
          <p:cNvPicPr preferRelativeResize="0"/>
          <p:nvPr/>
        </p:nvPicPr>
        <p:blipFill rotWithShape="1">
          <a:blip r:embed="rId7">
            <a:alphaModFix/>
          </a:blip>
          <a:srcRect b="0" l="0" r="0" t="0"/>
          <a:stretch/>
        </p:blipFill>
        <p:spPr>
          <a:xfrm>
            <a:off x="928965" y="5775439"/>
            <a:ext cx="411480" cy="411480"/>
          </a:xfrm>
          <a:prstGeom prst="rect">
            <a:avLst/>
          </a:prstGeom>
          <a:noFill/>
          <a:ln>
            <a:noFill/>
          </a:ln>
        </p:spPr>
      </p:pic>
      <p:sp>
        <p:nvSpPr>
          <p:cNvPr id="332" name="Google Shape;332;p26"/>
          <p:cNvSpPr/>
          <p:nvPr/>
        </p:nvSpPr>
        <p:spPr>
          <a:xfrm>
            <a:off x="1523325" y="5574271"/>
            <a:ext cx="9921300" cy="1051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61A54"/>
              </a:buClr>
              <a:buSzPts val="1350"/>
              <a:buFont typeface="Calibri"/>
              <a:buNone/>
            </a:pPr>
            <a:r>
              <a:rPr b="1" i="0" lang="en-US" sz="1750" u="none" cap="none" strike="noStrike">
                <a:solidFill>
                  <a:srgbClr val="361A54"/>
                </a:solidFill>
                <a:latin typeface="Calibri"/>
                <a:ea typeface="Calibri"/>
                <a:cs typeface="Calibri"/>
                <a:sym typeface="Calibri"/>
              </a:rPr>
              <a:t>What the grader checks: it logs the word count of the generated text. </a:t>
            </a:r>
            <a:r>
              <a:rPr b="0" i="0" lang="en-US" sz="1750" u="none" cap="none" strike="noStrike">
                <a:solidFill>
                  <a:srgbClr val="3A3344"/>
                </a:solidFill>
                <a:latin typeface="Calibri"/>
                <a:ea typeface="Calibri"/>
                <a:cs typeface="Calibri"/>
                <a:sym typeface="Calibri"/>
              </a:rPr>
              <a:t/>
            </a:r>
            <a:r>
              <a:rPr lang="en-US" sz="1750">
                <a:solidFill>
                  <a:srgbClr val="3A3344"/>
                </a:solidFill>
                <a:latin typeface="Calibri"/>
                <a:ea typeface="Calibri"/>
                <a:cs typeface="Calibri"/>
                <a:sym typeface="Calibri"/>
              </a:rPr>
              <a:t/>
            </a:r>
            <a:r>
              <a:rPr b="0" i="0" lang="en-US" sz="1750" u="none" cap="none" strike="noStrike">
                <a:solidFill>
                  <a:srgbClr val="3A3344"/>
                </a:solidFill>
                <a:latin typeface="Calibri"/>
                <a:ea typeface="Calibri"/>
                <a:cs typeface="Calibri"/>
                <a:sym typeface="Calibri"/>
              </a:rPr>
              <a:t/>
            </a:r>
            <a:r>
              <a:rPr b="0" i="0" lang="en-US" sz="1700" u="none" cap="none" strike="noStrike">
                <a:solidFill>
                  <a:srgbClr val="361A54"/>
                </a:solidFill>
                <a:latin typeface="Consolas"/>
                <a:ea typeface="Consolas"/>
                <a:cs typeface="Consolas"/>
                <a:sym typeface="Consolas"/>
              </a:rPr>
              <a:t/>
            </a:r>
            <a:r>
              <a:rPr lang="en-US" sz="1700">
                <a:solidFill>
                  <a:srgbClr val="361A54"/>
                </a:solidFill>
                <a:latin typeface="Consolas"/>
                <a:ea typeface="Consolas"/>
                <a:cs typeface="Consolas"/>
                <a:sym typeface="Consolas"/>
              </a:rPr>
              <a:t/>
            </a:r>
            <a:r>
              <a:rPr b="0" i="0" lang="en-US" sz="1700" u="none" cap="none" strike="noStrike">
                <a:solidFill>
                  <a:srgbClr val="361A54"/>
                </a:solidFill>
                <a:latin typeface="Consolas"/>
                <a:ea typeface="Consolas"/>
                <a:cs typeface="Consolas"/>
                <a:sym typeface="Consolas"/>
              </a:rPr>
              <a:t/>
            </a:r>
            <a:r>
              <a:rPr b="0" i="0" lang="en-US" sz="1750" u="none" cap="none" strike="noStrike">
                <a:solidFill>
                  <a:srgbClr val="3A3344"/>
                </a:solidFill>
                <a:latin typeface="Calibri"/>
                <a:ea typeface="Calibri"/>
                <a:cs typeface="Calibri"/>
                <a:sym typeface="Calibri"/>
              </a:rPr>
              <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7" name="Shape 337"/>
        <p:cNvGrpSpPr/>
        <p:nvPr/>
      </p:nvGrpSpPr>
      <p:grpSpPr>
        <a:xfrm>
          <a:off x="0" y="0"/>
          <a:ext cx="0" cy="0"/>
          <a:chOff x="0" y="0"/>
          <a:chExt cx="0" cy="0"/>
        </a:xfrm>
      </p:grpSpPr>
      <p:sp>
        <p:nvSpPr>
          <p:cNvPr id="338" name="Google Shape;338;p27"/>
          <p:cNvSpPr/>
          <p:nvPr/>
        </p:nvSpPr>
        <p:spPr>
          <a:xfrm>
            <a:off x="731520" y="1417320"/>
            <a:ext cx="10725912" cy="4023360"/>
          </a:xfrm>
          <a:prstGeom prst="roundRect">
            <a:avLst>
              <a:gd fmla="val 3182"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1051560" y="1783080"/>
            <a:ext cx="1691640" cy="457200"/>
          </a:xfrm>
          <a:prstGeom prst="roundRect">
            <a:avLst>
              <a:gd fmla="val 16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1051560" y="178308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Trebuchet MS"/>
              <a:buNone/>
            </a:pPr>
            <a:r>
              <a:rPr b="1" i="0" lang="en-US" sz="1300" u="none" cap="none" strike="noStrike">
                <a:solidFill>
                  <a:srgbClr val="361A54"/>
                </a:solidFill>
                <a:latin typeface="Trebuchet MS"/>
                <a:ea typeface="Trebuchet MS"/>
                <a:cs typeface="Trebuchet MS"/>
                <a:sym typeface="Trebuchet MS"/>
              </a:rPr>
              <a:t>PART FOUR</a:t>
            </a:r>
            <a:endParaRPr b="0" i="0" sz="1300" u="none" cap="none" strike="noStrike">
              <a:solidFill>
                <a:schemeClr val="dk1"/>
              </a:solidFill>
              <a:latin typeface="Calibri"/>
              <a:ea typeface="Calibri"/>
              <a:cs typeface="Calibri"/>
              <a:sym typeface="Calibri"/>
            </a:endParaRPr>
          </a:p>
        </p:txBody>
      </p:sp>
      <p:sp>
        <p:nvSpPr>
          <p:cNvPr id="341" name="Google Shape;341;p27"/>
          <p:cNvSpPr/>
          <p:nvPr/>
        </p:nvSpPr>
        <p:spPr>
          <a:xfrm>
            <a:off x="2926080" y="178308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FD6"/>
              </a:buClr>
              <a:buSzPts val="1600"/>
              <a:buFont typeface="Trebuchet MS"/>
              <a:buNone/>
            </a:pPr>
            <a:r>
              <a:rPr b="1" i="0" lang="en-US" sz="1600" u="none" cap="none" strike="noStrike">
                <a:solidFill>
                  <a:srgbClr val="B79FD6"/>
                </a:solidFill>
                <a:latin typeface="Trebuchet MS"/>
                <a:ea typeface="Trebuchet MS"/>
                <a:cs typeface="Trebuchet MS"/>
                <a:sym typeface="Trebuchet MS"/>
              </a:rPr>
              <a:t>Task 4</a:t>
            </a:r>
            <a:endParaRPr b="0" i="0" sz="1600" u="none" cap="none" strike="noStrike">
              <a:solidFill>
                <a:schemeClr val="dk1"/>
              </a:solidFill>
              <a:latin typeface="Calibri"/>
              <a:ea typeface="Calibri"/>
              <a:cs typeface="Calibri"/>
              <a:sym typeface="Calibri"/>
            </a:endParaRPr>
          </a:p>
        </p:txBody>
      </p:sp>
      <p:pic>
        <p:nvPicPr>
          <p:cNvPr descr="preencoded.png" id="342" name="Google Shape;342;p27"/>
          <p:cNvPicPr preferRelativeResize="0"/>
          <p:nvPr/>
        </p:nvPicPr>
        <p:blipFill rotWithShape="1">
          <a:blip r:embed="rId4">
            <a:alphaModFix amt="70000"/>
          </a:blip>
          <a:srcRect b="0" l="0" r="0" t="0"/>
          <a:stretch/>
        </p:blipFill>
        <p:spPr>
          <a:xfrm>
            <a:off x="9692640" y="1828800"/>
            <a:ext cx="1371600" cy="1371600"/>
          </a:xfrm>
          <a:prstGeom prst="rect">
            <a:avLst/>
          </a:prstGeom>
          <a:noFill/>
          <a:ln>
            <a:noFill/>
          </a:ln>
        </p:spPr>
      </p:pic>
      <p:sp>
        <p:nvSpPr>
          <p:cNvPr id="343" name="Google Shape;343;p27"/>
          <p:cNvSpPr/>
          <p:nvPr/>
        </p:nvSpPr>
        <p:spPr>
          <a:xfrm>
            <a:off x="1051560" y="2423160"/>
            <a:ext cx="8503920" cy="105156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Dataset Preparation</a:t>
            </a:r>
            <a:endParaRPr b="0" i="0" sz="4000" u="none" cap="none" strike="noStrike">
              <a:solidFill>
                <a:schemeClr val="dk1"/>
              </a:solidFill>
              <a:latin typeface="Calibri"/>
              <a:ea typeface="Calibri"/>
              <a:cs typeface="Calibri"/>
              <a:sym typeface="Calibri"/>
            </a:endParaRPr>
          </a:p>
        </p:txBody>
      </p:sp>
      <p:sp>
        <p:nvSpPr>
          <p:cNvPr id="344" name="Google Shape;344;p27"/>
          <p:cNvSpPr/>
          <p:nvPr/>
        </p:nvSpPr>
        <p:spPr>
          <a:xfrm>
            <a:off x="1069848" y="361188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CEEC"/>
              </a:buClr>
              <a:buSzPts val="1450"/>
              <a:buFont typeface="Calibri"/>
              <a:buNone/>
            </a:pPr>
            <a:r>
              <a:rPr b="0" i="0" lang="en-US" sz="1750" u="none" cap="none" strike="noStrike">
                <a:solidFill>
                  <a:srgbClr val="D9CEEC"/>
                </a:solidFill>
                <a:latin typeface="Calibri"/>
                <a:ea typeface="Calibri"/>
                <a:cs typeface="Calibri"/>
                <a:sym typeface="Calibri"/>
              </a:rPr>
              <a:t>Two functions turn raw stories into training tensors. The grader checks segment counts and array shapes, and most failures are one tiny wiring mistake away from correct.</a:t>
            </a:r>
            <a:endParaRPr b="0" i="0" sz="1750" u="none" cap="none" strike="noStrike">
              <a:solidFill>
                <a:schemeClr val="dk1"/>
              </a:solidFill>
              <a:latin typeface="Calibri"/>
              <a:ea typeface="Calibri"/>
              <a:cs typeface="Calibri"/>
              <a:sym typeface="Calibri"/>
            </a:endParaRPr>
          </a:p>
        </p:txBody>
      </p:sp>
      <p:sp>
        <p:nvSpPr>
          <p:cNvPr id="345" name="Google Shape;345;p27"/>
          <p:cNvSpPr/>
          <p:nvPr/>
        </p:nvSpPr>
        <p:spPr>
          <a:xfrm>
            <a:off x="822960" y="5806440"/>
            <a:ext cx="6382512" cy="548640"/>
          </a:xfrm>
          <a:prstGeom prst="roundRect">
            <a:avLst>
              <a:gd fmla="val 50000" name="adj"/>
            </a:avLst>
          </a:prstGeom>
          <a:solidFill>
            <a:srgbClr val="361A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960120"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7" name="Google Shape;347;p27"/>
          <p:cNvPicPr preferRelativeResize="0"/>
          <p:nvPr/>
        </p:nvPicPr>
        <p:blipFill rotWithShape="1">
          <a:blip r:embed="rId5">
            <a:alphaModFix/>
          </a:blip>
          <a:srcRect b="0" l="0" r="0" t="0"/>
          <a:stretch/>
        </p:blipFill>
        <p:spPr>
          <a:xfrm>
            <a:off x="1078992" y="5989320"/>
            <a:ext cx="182880" cy="182880"/>
          </a:xfrm>
          <a:prstGeom prst="rect">
            <a:avLst/>
          </a:prstGeom>
          <a:noFill/>
          <a:ln>
            <a:noFill/>
          </a:ln>
        </p:spPr>
      </p:pic>
      <p:sp>
        <p:nvSpPr>
          <p:cNvPr id="348" name="Google Shape;348;p27"/>
          <p:cNvSpPr/>
          <p:nvPr/>
        </p:nvSpPr>
        <p:spPr>
          <a:xfrm>
            <a:off x="1271016"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1 IMPORT</a:t>
            </a:r>
            <a:endParaRPr b="0" i="0" sz="1000" u="none" cap="none" strike="noStrike">
              <a:solidFill>
                <a:schemeClr val="dk1"/>
              </a:solidFill>
              <a:latin typeface="Calibri"/>
              <a:ea typeface="Calibri"/>
              <a:cs typeface="Calibri"/>
              <a:sym typeface="Calibri"/>
            </a:endParaRPr>
          </a:p>
        </p:txBody>
      </p:sp>
      <p:sp>
        <p:nvSpPr>
          <p:cNvPr id="349" name="Google Shape;349;p27"/>
          <p:cNvSpPr/>
          <p:nvPr/>
        </p:nvSpPr>
        <p:spPr>
          <a:xfrm>
            <a:off x="2523744"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0" name="Google Shape;350;p27"/>
          <p:cNvPicPr preferRelativeResize="0"/>
          <p:nvPr/>
        </p:nvPicPr>
        <p:blipFill rotWithShape="1">
          <a:blip r:embed="rId5">
            <a:alphaModFix/>
          </a:blip>
          <a:srcRect b="0" l="0" r="0" t="0"/>
          <a:stretch/>
        </p:blipFill>
        <p:spPr>
          <a:xfrm>
            <a:off x="2642616" y="5989320"/>
            <a:ext cx="182880" cy="182880"/>
          </a:xfrm>
          <a:prstGeom prst="rect">
            <a:avLst/>
          </a:prstGeom>
          <a:noFill/>
          <a:ln>
            <a:noFill/>
          </a:ln>
        </p:spPr>
      </p:pic>
      <p:sp>
        <p:nvSpPr>
          <p:cNvPr id="351" name="Google Shape;351;p27"/>
          <p:cNvSpPr/>
          <p:nvPr/>
        </p:nvSpPr>
        <p:spPr>
          <a:xfrm>
            <a:off x="2834640"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2 TOKEN</a:t>
            </a:r>
            <a:endParaRPr b="0" i="0" sz="1000" u="none" cap="none" strike="noStrike">
              <a:solidFill>
                <a:schemeClr val="dk1"/>
              </a:solidFill>
              <a:latin typeface="Calibri"/>
              <a:ea typeface="Calibri"/>
              <a:cs typeface="Calibri"/>
              <a:sym typeface="Calibri"/>
            </a:endParaRPr>
          </a:p>
        </p:txBody>
      </p:sp>
      <p:sp>
        <p:nvSpPr>
          <p:cNvPr id="352" name="Google Shape;352;p27"/>
          <p:cNvSpPr/>
          <p:nvPr/>
        </p:nvSpPr>
        <p:spPr>
          <a:xfrm>
            <a:off x="4087368"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3" name="Google Shape;353;p27"/>
          <p:cNvPicPr preferRelativeResize="0"/>
          <p:nvPr/>
        </p:nvPicPr>
        <p:blipFill rotWithShape="1">
          <a:blip r:embed="rId5">
            <a:alphaModFix/>
          </a:blip>
          <a:srcRect b="0" l="0" r="0" t="0"/>
          <a:stretch/>
        </p:blipFill>
        <p:spPr>
          <a:xfrm>
            <a:off x="4206240" y="5989320"/>
            <a:ext cx="182880" cy="182880"/>
          </a:xfrm>
          <a:prstGeom prst="rect">
            <a:avLst/>
          </a:prstGeom>
          <a:noFill/>
          <a:ln>
            <a:noFill/>
          </a:ln>
        </p:spPr>
      </p:pic>
      <p:sp>
        <p:nvSpPr>
          <p:cNvPr id="354" name="Google Shape;354;p27"/>
          <p:cNvSpPr/>
          <p:nvPr/>
        </p:nvSpPr>
        <p:spPr>
          <a:xfrm>
            <a:off x="4398264"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3 N-GRAM</a:t>
            </a:r>
            <a:endParaRPr b="0" i="0" sz="1000" u="none" cap="none" strike="noStrike">
              <a:solidFill>
                <a:schemeClr val="dk1"/>
              </a:solidFill>
              <a:latin typeface="Calibri"/>
              <a:ea typeface="Calibri"/>
              <a:cs typeface="Calibri"/>
              <a:sym typeface="Calibri"/>
            </a:endParaRPr>
          </a:p>
        </p:txBody>
      </p:sp>
      <p:sp>
        <p:nvSpPr>
          <p:cNvPr id="355" name="Google Shape;355;p27"/>
          <p:cNvSpPr/>
          <p:nvPr/>
        </p:nvSpPr>
        <p:spPr>
          <a:xfrm>
            <a:off x="5650992" y="5897880"/>
            <a:ext cx="1417320" cy="365760"/>
          </a:xfrm>
          <a:prstGeom prst="roundRect">
            <a:avLst>
              <a:gd fmla="val 50000" name="adj"/>
            </a:avLst>
          </a:prstGeom>
          <a:solidFill>
            <a:srgbClr val="FDD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6" name="Google Shape;356;p27"/>
          <p:cNvPicPr preferRelativeResize="0"/>
          <p:nvPr/>
        </p:nvPicPr>
        <p:blipFill rotWithShape="1">
          <a:blip r:embed="rId6">
            <a:alphaModFix/>
          </a:blip>
          <a:srcRect b="0" l="0" r="0" t="0"/>
          <a:stretch/>
        </p:blipFill>
        <p:spPr>
          <a:xfrm>
            <a:off x="5769864" y="5989320"/>
            <a:ext cx="182880" cy="182880"/>
          </a:xfrm>
          <a:prstGeom prst="rect">
            <a:avLst/>
          </a:prstGeom>
          <a:noFill/>
          <a:ln>
            <a:noFill/>
          </a:ln>
        </p:spPr>
      </p:pic>
      <p:sp>
        <p:nvSpPr>
          <p:cNvPr id="357" name="Google Shape;357;p27"/>
          <p:cNvSpPr/>
          <p:nvPr/>
        </p:nvSpPr>
        <p:spPr>
          <a:xfrm>
            <a:off x="5961888" y="5897880"/>
            <a:ext cx="1088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Trebuchet MS"/>
              <a:buNone/>
            </a:pPr>
            <a:r>
              <a:rPr b="1" i="0" lang="en-US" sz="1000" u="none" cap="none" strike="noStrike">
                <a:solidFill>
                  <a:srgbClr val="361A54"/>
                </a:solidFill>
                <a:latin typeface="Trebuchet MS"/>
                <a:ea typeface="Trebuchet MS"/>
                <a:cs typeface="Trebuchet MS"/>
                <a:sym typeface="Trebuchet MS"/>
              </a:rPr>
              <a:t>4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2" name="Shape 362"/>
        <p:cNvGrpSpPr/>
        <p:nvPr/>
      </p:nvGrpSpPr>
      <p:grpSpPr>
        <a:xfrm>
          <a:off x="0" y="0"/>
          <a:ext cx="0" cy="0"/>
          <a:chOff x="0" y="0"/>
          <a:chExt cx="0" cy="0"/>
        </a:xfrm>
      </p:grpSpPr>
      <p:sp>
        <p:nvSpPr>
          <p:cNvPr id="363" name="Google Shape;363;p28"/>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Slide a window, keep an overlap</a:t>
            </a:r>
            <a:endParaRPr b="0" i="0" sz="2900" u="none" cap="none" strike="noStrike">
              <a:solidFill>
                <a:schemeClr val="dk1"/>
              </a:solidFill>
              <a:latin typeface="Calibri"/>
              <a:ea typeface="Calibri"/>
              <a:cs typeface="Calibri"/>
              <a:sym typeface="Calibri"/>
            </a:endParaRPr>
          </a:p>
        </p:txBody>
      </p:sp>
      <p:cxnSp>
        <p:nvCxnSpPr>
          <p:cNvPr id="364" name="Google Shape;364;p28"/>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365" name="Google Shape;365;p28"/>
          <p:cNvSpPr/>
          <p:nvPr/>
        </p:nvSpPr>
        <p:spPr>
          <a:xfrm>
            <a:off x="640080" y="1685660"/>
            <a:ext cx="5486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300"/>
              <a:buFont typeface="Trebuchet MS"/>
              <a:buNone/>
            </a:pPr>
            <a:r>
              <a:rPr b="1" i="0" lang="en-US" sz="1300" u="none" cap="none" strike="noStrike">
                <a:solidFill>
                  <a:srgbClr val="E97132"/>
                </a:solidFill>
                <a:latin typeface="Trebuchet MS"/>
                <a:ea typeface="Trebuchet MS"/>
                <a:cs typeface="Trebuchet MS"/>
                <a:sym typeface="Trebuchet MS"/>
              </a:rPr>
              <a:t>Worked example: max_length = 3, n_overlap = 1</a:t>
            </a:r>
            <a:r>
              <a:rPr b="1" lang="en-US" sz="1300">
                <a:solidFill>
                  <a:srgbClr val="E97132"/>
                </a:solidFill>
                <a:latin typeface="Trebuchet MS"/>
                <a:ea typeface="Trebuchet MS"/>
                <a:cs typeface="Trebuchet MS"/>
                <a:sym typeface="Trebuchet MS"/>
              </a:rPr>
              <a:t/>
            </a:r>
            <a:r>
              <a:rPr b="1" i="0" lang="en-US" sz="1300" u="none" cap="none" strike="noStrike">
                <a:solidFill>
                  <a:srgbClr val="E97132"/>
                </a:solidFill>
                <a:latin typeface="Trebuchet MS"/>
                <a:ea typeface="Trebuchet MS"/>
                <a:cs typeface="Trebuchet MS"/>
                <a:sym typeface="Trebuchet MS"/>
              </a:rPr>
              <a:t/>
            </a:r>
            <a:endParaRPr b="0" i="0" sz="1300" u="none" cap="none" strike="noStrike">
              <a:solidFill>
                <a:schemeClr val="dk1"/>
              </a:solidFill>
              <a:latin typeface="Calibri"/>
              <a:ea typeface="Calibri"/>
              <a:cs typeface="Calibri"/>
              <a:sym typeface="Calibri"/>
            </a:endParaRPr>
          </a:p>
        </p:txBody>
      </p:sp>
      <p:sp>
        <p:nvSpPr>
          <p:cNvPr id="366" name="Google Shape;366;p28"/>
          <p:cNvSpPr/>
          <p:nvPr/>
        </p:nvSpPr>
        <p:spPr>
          <a:xfrm>
            <a:off x="640080" y="2051420"/>
            <a:ext cx="5943600" cy="1783200"/>
          </a:xfrm>
          <a:prstGeom prst="roundRect">
            <a:avLst>
              <a:gd fmla="val 3077" name="adj"/>
            </a:avLst>
          </a:prstGeom>
          <a:solidFill>
            <a:srgbClr val="281243"/>
          </a:solidFill>
          <a:ln>
            <a:noFill/>
          </a:ln>
          <a:effectLst>
            <a:outerShdw blurRad="889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8"/>
          <p:cNvSpPr/>
          <p:nvPr/>
        </p:nvSpPr>
        <p:spPr>
          <a:xfrm>
            <a:off x="804672" y="2161148"/>
            <a:ext cx="5614500" cy="1563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DD633"/>
              </a:buClr>
              <a:buSzPts val="1300"/>
              <a:buFont typeface="Consolas"/>
              <a:buNone/>
            </a:pPr>
            <a:r>
              <a:rPr b="0" i="0" lang="en-US" sz="1800" u="none" cap="none" strike="noStrike">
                <a:solidFill>
                  <a:srgbClr val="FDD633"/>
                </a:solidFill>
                <a:latin typeface="Consolas"/>
                <a:ea typeface="Consolas"/>
                <a:cs typeface="Consolas"/>
                <a:sym typeface="Consolas"/>
              </a:rPr>
              <a:t>[17, 40, 30, 41, 29, 2, 33, 40, 35, 20]</a:t>
            </a:r>
            <a:endParaRPr b="0" i="0" sz="18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180B0"/>
              </a:buClr>
              <a:buSzPts val="1300"/>
              <a:buFont typeface="Consolas"/>
              <a:buNone/>
            </a:pPr>
            <a:r>
              <a:rPr b="0" i="0" lang="en-US" sz="1800" u="none" cap="none" strike="noStrike">
                <a:solidFill>
                  <a:srgbClr val="9180B0"/>
                </a:solidFill>
                <a:latin typeface="Consolas"/>
                <a:ea typeface="Consolas"/>
                <a:cs typeface="Consolas"/>
                <a:sym typeface="Consolas"/>
              </a:rPr>
              <a:t>        →  step = 3 - 1 = 2</a:t>
            </a:r>
            <a:endParaRPr b="0" i="0" sz="18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DBCFEF"/>
              </a:buClr>
              <a:buSzPts val="1300"/>
              <a:buFont typeface="Consolas"/>
              <a:buNone/>
            </a:pPr>
            <a:r>
              <a:rPr b="0" i="0" lang="en-US" sz="1800" u="none" cap="none" strike="noStrike">
                <a:solidFill>
                  <a:srgbClr val="DBCFEF"/>
                </a:solidFill>
                <a:latin typeface="Consolas"/>
                <a:ea typeface="Consolas"/>
                <a:cs typeface="Consolas"/>
                <a:sym typeface="Consolas"/>
              </a:rPr>
              <a:t>[17,40,30] [30,41,29] [29,2,33]</a:t>
            </a:r>
            <a:endParaRPr b="0" i="0" sz="18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DBCFEF"/>
              </a:buClr>
              <a:buSzPts val="1300"/>
              <a:buFont typeface="Consolas"/>
              <a:buNone/>
            </a:pPr>
            <a:r>
              <a:rPr b="0" i="0" lang="en-US" sz="1800" u="none" cap="none" strike="noStrike">
                <a:solidFill>
                  <a:srgbClr val="DBCFEF"/>
                </a:solidFill>
                <a:latin typeface="Consolas"/>
                <a:ea typeface="Consolas"/>
                <a:cs typeface="Consolas"/>
                <a:sym typeface="Consolas"/>
              </a:rPr>
              <a:t>[33,40,35] [35,20]   ← last is shorter</a:t>
            </a:r>
            <a:endParaRPr b="0" i="0" sz="1800" u="none" cap="none" strike="noStrike">
              <a:solidFill>
                <a:schemeClr val="dk1"/>
              </a:solidFill>
              <a:latin typeface="Calibri"/>
              <a:ea typeface="Calibri"/>
              <a:cs typeface="Calibri"/>
              <a:sym typeface="Calibri"/>
            </a:endParaRPr>
          </a:p>
        </p:txBody>
      </p:sp>
      <p:sp>
        <p:nvSpPr>
          <p:cNvPr id="368" name="Google Shape;368;p28"/>
          <p:cNvSpPr/>
          <p:nvPr/>
        </p:nvSpPr>
        <p:spPr>
          <a:xfrm>
            <a:off x="662875" y="4204770"/>
            <a:ext cx="10927200" cy="2156400"/>
          </a:xfrm>
          <a:prstGeom prst="roundRect">
            <a:avLst>
              <a:gd fmla="val 7407" name="adj"/>
            </a:avLst>
          </a:prstGeom>
          <a:solidFill>
            <a:srgbClr val="FFF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9" name="Google Shape;369;p28"/>
          <p:cNvPicPr preferRelativeResize="0"/>
          <p:nvPr/>
        </p:nvPicPr>
        <p:blipFill rotWithShape="1">
          <a:blip r:embed="rId4">
            <a:alphaModFix/>
          </a:blip>
          <a:srcRect b="0" l="0" r="0" t="0"/>
          <a:stretch/>
        </p:blipFill>
        <p:spPr>
          <a:xfrm>
            <a:off x="891475" y="4715910"/>
            <a:ext cx="411480" cy="718790"/>
          </a:xfrm>
          <a:prstGeom prst="rect">
            <a:avLst/>
          </a:prstGeom>
          <a:noFill/>
          <a:ln>
            <a:noFill/>
          </a:ln>
        </p:spPr>
      </p:pic>
      <p:sp>
        <p:nvSpPr>
          <p:cNvPr id="370" name="Google Shape;370;p28"/>
          <p:cNvSpPr/>
          <p:nvPr/>
        </p:nvSpPr>
        <p:spPr>
          <a:xfrm>
            <a:off x="1485835" y="4364502"/>
            <a:ext cx="9921300" cy="1836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61A54"/>
              </a:buClr>
              <a:buSzPts val="1350"/>
              <a:buFont typeface="Calibri"/>
              <a:buNone/>
            </a:pPr>
            <a:r>
              <a:rPr b="1" i="0" lang="en-US" sz="1750" u="none" cap="none" strike="noStrike">
                <a:solidFill>
                  <a:srgbClr val="361A54"/>
                </a:solidFill>
                <a:latin typeface="Calibri"/>
                <a:ea typeface="Calibri"/>
                <a:cs typeface="Calibri"/>
                <a:sym typeface="Calibri"/>
              </a:rPr>
              <a:t>What the grader checks: - It logs the length of the sequence (len(sequence)).</a:t>
            </a:r>
          </a:p>
          <a:p>
            <a:pPr indent="0" lvl="0" marL="0" marR="0" rtl="0" algn="l">
              <a:lnSpc>
                <a:spcPct val="110000"/>
              </a:lnSpc>
              <a:spcBef>
                <a:spcPts val="0"/>
              </a:spcBef>
              <a:spcAft>
                <a:spcPts val="0"/>
              </a:spcAft>
              <a:buClr>
                <a:srgbClr val="361A54"/>
              </a:buClr>
              <a:buSzPts val="1350"/>
              <a:buFont typeface="Calibri"/>
              <a:buNone/>
            </a:pPr>
            <a:r>
              <a:rPr b="1" i="0" lang="en-US" sz="1750" u="none" cap="none" strike="noStrike">
                <a:solidFill>
                  <a:srgbClr val="361A54"/>
                </a:solidFill>
                <a:latin typeface="Calibri"/>
                <a:ea typeface="Calibri"/>
                <a:cs typeface="Calibri"/>
                <a:sym typeface="Calibri"/>
              </a:rPr>
              <a:t>- It logs the shape of the input and the targets.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a:blip r:embed="rId5">
            <a:alphaModFix/>
          </a:blip>
          <a:stretch>
            <a:fillRect/>
          </a:stretch>
        </a:blipFill>
      </p:bgPr>
    </p:bg>
    <p:spTree>
      <p:nvGrpSpPr>
        <p:cNvPr id="1" name=""/>
        <p:cNvGrpSpPr/>
        <p:nvPr/>
      </p:nvGrpSpPr>
      <p:grpSpPr/>
      <p:sp>
        <p:nvSpPr>
          <p:cNvPr id="213" name="Google Shape;213;p21"/>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Two more gotchas to watch for</a:t>
            </a:r>
          </a:p>
        </p:txBody>
      </p:sp>
      <p:cxnSp>
        <p:nvCxnSpPr>
          <p:cNvPr id="214" name="Google Shape;214;p21"/>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sp>
        <p:nvSpPr>
          <p:cNvPr id="215" name="Google Shape;215;p21"/>
          <p:cNvSpPr/>
          <p:nvPr/>
        </p:nvSpPr>
        <p:spPr>
          <a:xfrm>
            <a:off x="1966346"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21"/>
          <p:cNvPicPr preferRelativeResize="0"/>
          <p:nvPr/>
        </p:nvPicPr>
        <p:blipFill rotWithShape="1">
          <a:blip r:embed="rId2">
            <a:alphaModFix/>
          </a:blip>
          <a:srcRect b="0" l="0" r="0" t="0"/>
          <a:stretch/>
        </p:blipFill>
        <p:spPr>
          <a:xfrm>
            <a:off x="2222378" y="2359152"/>
            <a:ext cx="457200" cy="457200"/>
          </a:xfrm>
          <a:prstGeom prst="rect">
            <a:avLst/>
          </a:prstGeom>
          <a:noFill/>
          <a:ln>
            <a:noFill/>
          </a:ln>
        </p:spPr>
      </p:pic>
      <p:sp>
        <p:nvSpPr>
          <p:cNvPr id="217" name="Google Shape;217;p21"/>
          <p:cNvSpPr/>
          <p:nvPr/>
        </p:nvSpPr>
        <p:spPr>
          <a:xfrm>
            <a:off x="2789306"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Task 3, unseen-context crash</a:t>
            </a:r>
          </a:p>
        </p:txBody>
      </p:sp>
      <p:sp>
        <p:nvSpPr>
          <p:cNvPr id="218" name="Google Shape;218;p21"/>
          <p:cNvSpPr/>
          <p:nvPr/>
        </p:nvSpPr>
        <p:spPr>
          <a:xfrm>
            <a:off x="2222378"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A sampled context was never seen during training.</a:t>
            </a:r>
          </a:p>
        </p:txBody>
      </p:sp>
      <p:sp>
        <p:nvSpPr>
          <p:cNvPr id="219" name="Google Shape;219;p21"/>
          <p:cNvSpPr/>
          <p:nvPr/>
        </p:nvSpPr>
        <p:spPr>
          <a:xfrm>
            <a:off x="2222378"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DIAGNOSE | Ask: did generation stop with a KeyError?</a:t>
            </a:r>
          </a:p>
        </p:txBody>
      </p:sp>
      <p:sp>
        <p:nvSpPr>
          <p:cNvPr id="220" name="Google Shape;220;p21"/>
          <p:cNvSpPr/>
          <p:nvPr/>
        </p:nvSpPr>
        <p:spPr>
          <a:xfrm>
            <a:off x="2222378"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600" u="none" cap="none" strike="noStrike">
                <a:solidFill>
                  <a:srgbClr val="1B9E8C"/>
                </a:solidFill>
                <a:latin typeface="Calibri"/>
                <a:ea typeface="Calibri"/>
                <a:cs typeface="Calibri"/>
                <a:sym typeface="Calibri"/>
              </a:rPr>
              <a:t>FIX | Guard the lookup: skip generation if context not in ngram_model.</a:t>
            </a:r>
          </a:p>
        </p:txBody>
      </p:sp>
      <p:sp>
        <p:nvSpPr>
          <p:cNvPr id="221" name="Google Shape;221;p21"/>
          <p:cNvSpPr/>
          <p:nvPr/>
        </p:nvSpPr>
        <p:spPr>
          <a:xfrm>
            <a:off x="7080330" y="2103120"/>
            <a:ext cx="3429000" cy="3794700"/>
          </a:xfrm>
          <a:prstGeom prst="roundRect">
            <a:avLst>
              <a:gd fmla="val 2667" name="adj"/>
            </a:avLst>
          </a:prstGeom>
          <a:solidFill>
            <a:srgbClr val="FBE9E7"/>
          </a:solidFill>
          <a:ln cap="flat" cmpd="sng" w="15875">
            <a:solidFill>
              <a:srgbClr val="D953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21"/>
          <p:cNvPicPr preferRelativeResize="0"/>
          <p:nvPr/>
        </p:nvPicPr>
        <p:blipFill rotWithShape="1">
          <a:blip r:embed="rId3">
            <a:alphaModFix/>
          </a:blip>
          <a:srcRect b="0" l="0" r="0" t="0"/>
          <a:stretch/>
        </p:blipFill>
        <p:spPr>
          <a:xfrm>
            <a:off x="7336362" y="2359152"/>
            <a:ext cx="457200" cy="457200"/>
          </a:xfrm>
          <a:prstGeom prst="rect">
            <a:avLst/>
          </a:prstGeom>
          <a:noFill/>
          <a:ln>
            <a:noFill/>
          </a:ln>
        </p:spPr>
      </p:pic>
      <p:sp>
        <p:nvSpPr>
          <p:cNvPr id="223" name="Google Shape;223;p21"/>
          <p:cNvSpPr/>
          <p:nvPr/>
        </p:nvSpPr>
        <p:spPr>
          <a:xfrm>
            <a:off x="7903290" y="2340864"/>
            <a:ext cx="246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4F"/>
              </a:buClr>
              <a:buSzPts val="1600"/>
              <a:buFont typeface="Trebuchet MS"/>
              <a:buNone/>
            </a:pPr>
            <a:r>
              <a:rPr b="1" i="0" lang="en-US" sz="1600" u="none" cap="none" strike="noStrike">
                <a:solidFill>
                  <a:srgbClr val="D9534F"/>
                </a:solidFill>
                <a:latin typeface="Trebuchet MS"/>
                <a:ea typeface="Trebuchet MS"/>
                <a:cs typeface="Trebuchet MS"/>
                <a:sym typeface="Trebuchet MS"/>
              </a:rPr>
              <a:t>Task 4, overlap direction</a:t>
            </a:r>
          </a:p>
        </p:txBody>
      </p:sp>
      <p:sp>
        <p:nvSpPr>
          <p:cNvPr id="224" name="Google Shape;224;p21"/>
          <p:cNvSpPr/>
          <p:nvPr/>
        </p:nvSpPr>
        <p:spPr>
          <a:xfrm>
            <a:off x="7336362" y="2926080"/>
            <a:ext cx="2926200"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3A3344"/>
              </a:buClr>
              <a:buSzPts val="1250"/>
              <a:buFont typeface="Calibri"/>
              <a:buNone/>
            </a:pPr>
            <a:r>
              <a:rPr b="0" i="0" lang="en-US" sz="1650" u="none" cap="none" strike="noStrike">
                <a:solidFill>
                  <a:srgbClr val="3A3344"/>
                </a:solidFill>
                <a:latin typeface="Calibri"/>
                <a:ea typeface="Calibri"/>
                <a:cs typeface="Calibri"/>
                <a:sym typeface="Calibri"/>
              </a:rPr>
              <a:t>The docstring's overlap spec is inverted.</a:t>
            </a:r>
          </a:p>
        </p:txBody>
      </p:sp>
      <p:sp>
        <p:nvSpPr>
          <p:cNvPr id="225" name="Google Shape;225;p21"/>
          <p:cNvSpPr/>
          <p:nvPr/>
        </p:nvSpPr>
        <p:spPr>
          <a:xfrm>
            <a:off x="7336362" y="3950208"/>
            <a:ext cx="29718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9534F"/>
              </a:buClr>
              <a:buSzPts val="1000"/>
              <a:buFont typeface="Calibri"/>
              <a:buNone/>
            </a:pPr>
            <a:r>
              <a:rPr b="1" i="0" lang="en-US" sz="1600" u="none" cap="none" strike="noStrike">
                <a:solidFill>
                  <a:srgbClr val="D9534F"/>
                </a:solidFill>
                <a:latin typeface="Calibri"/>
                <a:ea typeface="Calibri"/>
                <a:cs typeface="Calibri"/>
                <a:sym typeface="Calibri"/>
              </a:rPr>
              <a:t>DIAGNOSE | Ask: does it match the worked example, not the docstring?</a:t>
            </a:r>
          </a:p>
        </p:txBody>
      </p:sp>
      <p:sp>
        <p:nvSpPr>
          <p:cNvPr id="226" name="Google Shape;226;p21"/>
          <p:cNvSpPr/>
          <p:nvPr/>
        </p:nvSpPr>
        <p:spPr>
          <a:xfrm>
            <a:off x="7336362" y="4864608"/>
            <a:ext cx="2971800" cy="868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9E8C"/>
              </a:buClr>
              <a:buSzPts val="1000"/>
              <a:buFont typeface="Calibri"/>
              <a:buNone/>
            </a:pPr>
            <a:r>
              <a:rPr b="1" i="0" lang="en-US" sz="1000" u="none" cap="none" strike="noStrike">
                <a:solidFill>
                  <a:srgbClr val="1B9E8C"/>
                </a:solidFill>
                <a:latin typeface="Calibri"/>
                <a:ea typeface="Calibri"/>
                <a:cs typeface="Calibri"/>
                <a:sym typeface="Calibri"/>
              </a:rPr>
              <a:t>FIX | Last n_overlap tokens of segment i = first n_overlap of segment i+1.</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5" name="Shape 375"/>
        <p:cNvGrpSpPr/>
        <p:nvPr/>
      </p:nvGrpSpPr>
      <p:grpSpPr>
        <a:xfrm>
          <a:off x="0" y="0"/>
          <a:ext cx="0" cy="0"/>
          <a:chOff x="0" y="0"/>
          <a:chExt cx="0" cy="0"/>
        </a:xfrm>
      </p:grpSpPr>
      <p:sp>
        <p:nvSpPr>
          <p:cNvPr id="376" name="Google Shape;376;p29"/>
          <p:cNvSpPr/>
          <p:nvPr/>
        </p:nvSpPr>
        <p:spPr>
          <a:xfrm>
            <a:off x="640080" y="658368"/>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61A54"/>
              </a:buClr>
              <a:buSzPts val="2900"/>
              <a:buFont typeface="Trebuchet MS"/>
              <a:buNone/>
            </a:pPr>
            <a:r>
              <a:rPr b="1" i="0" lang="en-US" sz="2900" u="none" cap="none" strike="noStrike">
                <a:solidFill>
                  <a:srgbClr val="361A54"/>
                </a:solidFill>
                <a:latin typeface="Trebuchet MS"/>
                <a:ea typeface="Trebuchet MS"/>
                <a:cs typeface="Trebuchet MS"/>
                <a:sym typeface="Trebuchet MS"/>
              </a:rPr>
              <a:t>Four grader checks, and the task that has none</a:t>
            </a:r>
            <a:endParaRPr b="0" i="0" sz="2900" u="none" cap="none" strike="noStrike">
              <a:solidFill>
                <a:schemeClr val="dk1"/>
              </a:solidFill>
              <a:latin typeface="Calibri"/>
              <a:ea typeface="Calibri"/>
              <a:cs typeface="Calibri"/>
              <a:sym typeface="Calibri"/>
            </a:endParaRPr>
          </a:p>
        </p:txBody>
      </p:sp>
      <p:cxnSp>
        <p:nvCxnSpPr>
          <p:cNvPr id="377" name="Google Shape;377;p29"/>
          <p:cNvCxnSpPr/>
          <p:nvPr/>
        </p:nvCxnSpPr>
        <p:spPr>
          <a:xfrm>
            <a:off x="658368" y="1371600"/>
            <a:ext cx="10881360" cy="0"/>
          </a:xfrm>
          <a:prstGeom prst="straightConnector1">
            <a:avLst/>
          </a:prstGeom>
          <a:noFill/>
          <a:ln cap="flat" cmpd="sng" w="19050">
            <a:solidFill>
              <a:srgbClr val="361A54"/>
            </a:solidFill>
            <a:prstDash val="solid"/>
            <a:round/>
            <a:headEnd len="sm" w="sm" type="none"/>
            <a:tailEnd len="sm" w="sm" type="none"/>
          </a:ln>
        </p:spPr>
      </p:cxnSp>
      <p:graphicFrame>
        <p:nvGraphicFramePr>
          <p:cNvPr id="378" name="Google Shape;378;p29"/>
          <p:cNvGraphicFramePr/>
          <p:nvPr/>
        </p:nvGraphicFramePr>
        <p:xfrm>
          <a:off x="640080" y="2194560"/>
          <a:ext cx="3000000" cy="3000000"/>
        </p:xfrm>
        <a:graphic>
          <a:graphicData uri="http://schemas.openxmlformats.org/drawingml/2006/table">
            <a:tbl>
              <a:tblPr>
                <a:noFill/>
                <a:tableStyleId>{5EB9C8AB-C244-43CA-B017-006A891E5830}</a:tableStyleId>
              </a:tblPr>
              <a:tblGrid>
                <a:gridCol w="2743200"/>
                <a:gridCol w="3977650"/>
                <a:gridCol w="4206250"/>
              </a:tblGrid>
              <a:tr h="457200">
                <a:tc>
                  <a:txBody>
                    <a:bodyPr/>
                    <a:lstStyle/>
                    <a:p>
                      <a:pPr indent="0" lvl="0" marL="0" marR="0" rtl="0" algn="l">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TASK</a:t>
                      </a:r>
                      <a:endParaRPr sz="1200" u="none" cap="none" strike="noStrike">
                        <a:latin typeface="Trebuchet MS"/>
                        <a:ea typeface="Trebuchet MS"/>
                        <a:cs typeface="Trebuchet MS"/>
                        <a:sym typeface="Trebuchet M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361A54"/>
                    </a:solidFill>
                  </a:tcPr>
                </a:tc>
                <a:tc>
                  <a:txBody>
                    <a:bodyPr/>
                    <a:lstStyle/>
                    <a:p>
                      <a:pPr indent="0" lvl="0" marL="0" marR="0" rtl="0" algn="l">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WHAT THE STUDENT WRITES</a:t>
                      </a:r>
                      <a:endParaRPr sz="1200" u="none" cap="none" strike="noStrike">
                        <a:latin typeface="Trebuchet MS"/>
                        <a:ea typeface="Trebuchet MS"/>
                        <a:cs typeface="Trebuchet MS"/>
                        <a:sym typeface="Trebuchet M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361A54"/>
                    </a:solidFill>
                  </a:tcPr>
                </a:tc>
                <a:tc>
                  <a:txBody>
                    <a:bodyPr/>
                    <a:lstStyle/>
                    <a:p>
                      <a:pPr indent="0" lvl="0" marL="0" marR="0" rtl="0" algn="l">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WHAT THE GRADER READS FROM THE LOG</a:t>
                      </a:r>
                      <a:endParaRPr sz="1200" u="none" cap="none" strike="noStrike">
                        <a:latin typeface="Trebuchet MS"/>
                        <a:ea typeface="Trebuchet MS"/>
                        <a:cs typeface="Trebuchet MS"/>
                        <a:sym typeface="Trebuchet M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361A54"/>
                    </a:solidFill>
                  </a:tcPr>
                </a:tc>
              </a:tr>
              <a:tr h="566925">
                <a:tc>
                  <a:txBody>
                    <a:bodyPr/>
                    <a:lstStyle/>
                    <a:p>
                      <a:pPr indent="0" lvl="0" marL="0" marR="0" rtl="0" algn="l">
                        <a:spcBef>
                          <a:spcPts val="0"/>
                        </a:spcBef>
                        <a:spcAft>
                          <a:spcPts val="0"/>
                        </a:spcAft>
                        <a:buClr>
                          <a:srgbClr val="361A54"/>
                        </a:buClr>
                        <a:buSzPts val="1250"/>
                        <a:buFont typeface="Calibri"/>
                        <a:buNone/>
                      </a:pPr>
                      <a:r>
                        <a:rPr b="1" lang="en-US" sz="1550" u="none" cap="none" strike="noStrike">
                          <a:solidFill>
                            <a:srgbClr val="361A54"/>
                          </a:solidFill>
                          <a:latin typeface="Calibri"/>
                          <a:ea typeface="Calibri"/>
                          <a:cs typeface="Calibri"/>
                          <a:sym typeface="Calibri"/>
                        </a:rPr>
                        <a:t>1 · Import and load</a:t>
                      </a:r>
                      <a:endParaRPr sz="15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344"/>
                        </a:buClr>
                        <a:buSzPts val="1250"/>
                        <a:buFont typeface="Consolas"/>
                        <a:buNone/>
                      </a:pPr>
                      <a:r>
                        <a:rPr lang="en-US" sz="1650" u="none" cap="none" strike="noStrike">
                          <a:solidFill>
                            <a:srgbClr val="3A3344"/>
                          </a:solidFill>
                          <a:latin typeface="Consolas"/>
                          <a:ea typeface="Consolas"/>
                          <a:cs typeface="Consolas"/>
                          <a:sym typeface="Consolas"/>
                        </a:rPr>
                        <a:t>Nothing, runs as shipped</a:t>
                      </a:r>
                      <a:endParaRPr sz="1650" u="none" cap="none" strike="noStrike">
                        <a:latin typeface="Consolas"/>
                        <a:ea typeface="Consolas"/>
                        <a:cs typeface="Consolas"/>
                        <a:sym typeface="Consola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344"/>
                        </a:buClr>
                        <a:buSzPts val="1250"/>
                        <a:buFont typeface="Calibri"/>
                        <a:buNone/>
                      </a:pPr>
                      <a:r>
                        <a:rPr lang="en-US" sz="1650" u="none" cap="none" strike="noStrike">
                          <a:solidFill>
                            <a:srgbClr val="3A3344"/>
                          </a:solidFill>
                          <a:latin typeface="Calibri"/>
                          <a:ea typeface="Calibri"/>
                          <a:cs typeface="Calibri"/>
                          <a:sym typeface="Calibri"/>
                        </a:rPr>
                        <a:t>No check here; its failures surface at the Task 2 check</a:t>
                      </a:r>
                      <a:endParaRPr sz="16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361A54"/>
                        </a:buClr>
                        <a:buSzPts val="1250"/>
                        <a:buFont typeface="Calibri"/>
                        <a:buNone/>
                      </a:pPr>
                      <a:r>
                        <a:rPr b="1" lang="en-US" sz="1550" u="none" cap="none" strike="noStrike">
                          <a:solidFill>
                            <a:srgbClr val="361A54"/>
                          </a:solidFill>
                          <a:latin typeface="Calibri"/>
                          <a:ea typeface="Calibri"/>
                          <a:cs typeface="Calibri"/>
                          <a:sym typeface="Calibri"/>
                        </a:rPr>
                        <a:t>2 · Tokenizer</a:t>
                      </a:r>
                      <a:endParaRPr sz="15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3EEFA"/>
                    </a:solidFill>
                  </a:tcPr>
                </a:tc>
                <a:tc>
                  <a:txBody>
                    <a:bodyPr/>
                    <a:lstStyle/>
                    <a:p>
                      <a:pPr indent="0" lvl="0" marL="0" marR="0" rtl="0" algn="l">
                        <a:spcBef>
                          <a:spcPts val="0"/>
                        </a:spcBef>
                        <a:spcAft>
                          <a:spcPts val="0"/>
                        </a:spcAft>
                        <a:buClr>
                          <a:srgbClr val="3A3344"/>
                        </a:buClr>
                        <a:buSzPts val="1250"/>
                        <a:buFont typeface="Consolas"/>
                        <a:buNone/>
                      </a:pPr>
                      <a:r>
                        <a:rPr lang="en-US" sz="1550" u="none" cap="none" strike="noStrike">
                          <a:solidFill>
                            <a:srgbClr val="3A3344"/>
                          </a:solidFill>
                          <a:latin typeface="Consolas"/>
                          <a:ea typeface="Consolas"/>
                          <a:cs typeface="Consolas"/>
                          <a:sym typeface="Consolas"/>
                        </a:rPr>
                        <a:t>list(text) / "".join(tokens)</a:t>
                      </a:r>
                      <a:endParaRPr sz="1550" u="none" cap="none" strike="noStrike">
                        <a:latin typeface="Consolas"/>
                        <a:ea typeface="Consolas"/>
                        <a:cs typeface="Consolas"/>
                        <a:sym typeface="Consola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3EEFA"/>
                    </a:solidFill>
                  </a:tcPr>
                </a:tc>
                <a:tc>
                  <a:txBody>
                    <a:bodyPr/>
                    <a:lstStyle/>
                    <a:p>
                      <a:pPr indent="0" lvl="0" marL="0" marR="0" rtl="0" algn="l">
                        <a:spcBef>
                          <a:spcPts val="0"/>
                        </a:spcBef>
                        <a:spcAft>
                          <a:spcPts val="0"/>
                        </a:spcAft>
                        <a:buClr>
                          <a:srgbClr val="3A3344"/>
                        </a:buClr>
                        <a:buSzPts val="1250"/>
                        <a:buFont typeface="Calibri"/>
                        <a:buNone/>
                      </a:pPr>
                      <a:r>
                        <a:rPr lang="en-US" sz="1750" u="none" cap="none" strike="noStrike">
                          <a:solidFill>
                            <a:srgbClr val="3A3344"/>
                          </a:solidFill>
                          <a:latin typeface="Calibri"/>
                          <a:ea typeface="Calibri"/>
                          <a:cs typeface="Calibri"/>
                          <a:sym typeface="Calibri"/>
                        </a:rPr>
                        <a:t>Token count of the first line</a:t>
                      </a:r>
                      <a:endParaRPr sz="17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3EEFA"/>
                    </a:solidFill>
                  </a:tcPr>
                </a:tc>
              </a:tr>
              <a:tr h="566925">
                <a:tc>
                  <a:txBody>
                    <a:bodyPr/>
                    <a:lstStyle/>
                    <a:p>
                      <a:pPr indent="0" lvl="0" marL="0" marR="0" rtl="0" algn="l">
                        <a:spcBef>
                          <a:spcPts val="0"/>
                        </a:spcBef>
                        <a:spcAft>
                          <a:spcPts val="0"/>
                        </a:spcAft>
                        <a:buClr>
                          <a:srgbClr val="361A54"/>
                        </a:buClr>
                        <a:buSzPts val="1250"/>
                        <a:buFont typeface="Calibri"/>
                        <a:buNone/>
                      </a:pPr>
                      <a:r>
                        <a:rPr b="1" lang="en-US" sz="1550" u="none" cap="none" strike="noStrike">
                          <a:solidFill>
                            <a:srgbClr val="361A54"/>
                          </a:solidFill>
                          <a:latin typeface="Calibri"/>
                          <a:ea typeface="Calibri"/>
                          <a:cs typeface="Calibri"/>
                          <a:sym typeface="Calibri"/>
                        </a:rPr>
                        <a:t>3 · N-gram</a:t>
                      </a:r>
                      <a:endParaRPr sz="15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344"/>
                        </a:buClr>
                        <a:buSzPts val="1250"/>
                        <a:buFont typeface="Consolas"/>
                        <a:buNone/>
                      </a:pPr>
                      <a:r>
                        <a:rPr lang="en-US" sz="1650" u="none" cap="none" strike="noStrike">
                          <a:solidFill>
                            <a:srgbClr val="3A3344"/>
                          </a:solidFill>
                          <a:latin typeface="Consolas"/>
                          <a:ea typeface="Consolas"/>
                          <a:cs typeface="Consolas"/>
                          <a:sym typeface="Consolas"/>
                        </a:rPr>
                        <a:t>The generation loop</a:t>
                      </a:r>
                      <a:endParaRPr sz="1650" u="none" cap="none" strike="noStrike">
                        <a:latin typeface="Consolas"/>
                        <a:ea typeface="Consolas"/>
                        <a:cs typeface="Consolas"/>
                        <a:sym typeface="Consola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344"/>
                        </a:buClr>
                        <a:buSzPts val="1250"/>
                        <a:buFont typeface="Calibri"/>
                        <a:buNone/>
                      </a:pPr>
                      <a:r>
                        <a:rPr lang="en-US" sz="1650" u="none" cap="none" strike="noStrike">
                          <a:solidFill>
                            <a:srgbClr val="3A3344"/>
                          </a:solidFill>
                          <a:latin typeface="Calibri"/>
                          <a:ea typeface="Calibri"/>
                          <a:cs typeface="Calibri"/>
                          <a:sym typeface="Calibri"/>
                        </a:rPr>
                        <a:t>Word count of the generated text</a:t>
                      </a:r>
                      <a:endParaRPr sz="16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361A54"/>
                        </a:buClr>
                        <a:buSzPts val="1250"/>
                        <a:buFont typeface="Calibri"/>
                        <a:buNone/>
                      </a:pPr>
                      <a:r>
                        <a:rPr b="1" lang="en-US" sz="1550" u="none" cap="none" strike="noStrike">
                          <a:solidFill>
                            <a:srgbClr val="361A54"/>
                          </a:solidFill>
                          <a:latin typeface="Calibri"/>
                          <a:ea typeface="Calibri"/>
                          <a:cs typeface="Calibri"/>
                          <a:sym typeface="Calibri"/>
                        </a:rPr>
                        <a:t>4a · Segment</a:t>
                      </a:r>
                      <a:endParaRPr sz="15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3EEFA"/>
                    </a:solidFill>
                  </a:tcPr>
                </a:tc>
                <a:tc>
                  <a:txBody>
                    <a:bodyPr/>
                    <a:lstStyle/>
                    <a:p>
                      <a:pPr indent="0" lvl="0" marL="0" marR="0" rtl="0" algn="l">
                        <a:spcBef>
                          <a:spcPts val="0"/>
                        </a:spcBef>
                        <a:spcAft>
                          <a:spcPts val="0"/>
                        </a:spcAft>
                        <a:buClr>
                          <a:srgbClr val="3A3344"/>
                        </a:buClr>
                        <a:buSzPts val="1250"/>
                        <a:buFont typeface="Consolas"/>
                        <a:buNone/>
                      </a:pPr>
                      <a:r>
                        <a:rPr lang="en-US" sz="1550" u="none" cap="none" strike="noStrike">
                          <a:solidFill>
                            <a:srgbClr val="3A3344"/>
                          </a:solidFill>
                          <a:latin typeface="Consolas"/>
                          <a:ea typeface="Consolas"/>
                          <a:cs typeface="Consolas"/>
                          <a:sym typeface="Consolas"/>
                        </a:rPr>
                        <a:t>Sliding-window with overlap</a:t>
                      </a:r>
                      <a:endParaRPr sz="1550" u="none" cap="none" strike="noStrike">
                        <a:latin typeface="Consolas"/>
                        <a:ea typeface="Consolas"/>
                        <a:cs typeface="Consolas"/>
                        <a:sym typeface="Consola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3EEFA"/>
                    </a:solidFill>
                  </a:tcPr>
                </a:tc>
                <a:tc>
                  <a:txBody>
                    <a:bodyPr/>
                    <a:lstStyle/>
                    <a:p>
                      <a:pPr indent="0" lvl="0" marL="0" marR="0" rtl="0" algn="l">
                        <a:spcBef>
                          <a:spcPts val="0"/>
                        </a:spcBef>
                        <a:spcAft>
                          <a:spcPts val="0"/>
                        </a:spcAft>
                        <a:buClr>
                          <a:srgbClr val="3A3344"/>
                        </a:buClr>
                        <a:buSzPts val="1250"/>
                        <a:buFont typeface="Calibri"/>
                        <a:buNone/>
                      </a:pPr>
                      <a:r>
                        <a:rPr lang="en-US" sz="1650" u="none" cap="none" strike="noStrike">
                          <a:solidFill>
                            <a:srgbClr val="3A3344"/>
                          </a:solidFill>
                          <a:latin typeface="Calibri"/>
                          <a:ea typeface="Calibri"/>
                          <a:cs typeface="Calibri"/>
                          <a:sym typeface="Calibri"/>
                        </a:rPr>
                        <a:t>Aggregate length across all subsequences</a:t>
                      </a:r>
                      <a:endParaRPr sz="16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3EEFA"/>
                    </a:solidFill>
                  </a:tcPr>
                </a:tc>
              </a:tr>
              <a:tr h="566925">
                <a:tc>
                  <a:txBody>
                    <a:bodyPr/>
                    <a:lstStyle/>
                    <a:p>
                      <a:pPr indent="0" lvl="0" marL="0" marR="0" rtl="0" algn="l">
                        <a:spcBef>
                          <a:spcPts val="0"/>
                        </a:spcBef>
                        <a:spcAft>
                          <a:spcPts val="0"/>
                        </a:spcAft>
                        <a:buClr>
                          <a:srgbClr val="361A54"/>
                        </a:buClr>
                        <a:buSzPts val="1250"/>
                        <a:buFont typeface="Calibri"/>
                        <a:buNone/>
                      </a:pPr>
                      <a:r>
                        <a:rPr b="1" lang="en-US" sz="1550" u="none" cap="none" strike="noStrike">
                          <a:solidFill>
                            <a:srgbClr val="361A54"/>
                          </a:solidFill>
                          <a:latin typeface="Calibri"/>
                          <a:ea typeface="Calibri"/>
                          <a:cs typeface="Calibri"/>
                          <a:sym typeface="Calibri"/>
                        </a:rPr>
                        <a:t>4b · Sequences</a:t>
                      </a:r>
                      <a:endParaRPr sz="15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344"/>
                        </a:buClr>
                        <a:buSzPts val="1250"/>
                        <a:buFont typeface="Consolas"/>
                        <a:buNone/>
                      </a:pPr>
                      <a:r>
                        <a:rPr lang="en-US" sz="1550" u="none" cap="none" strike="noStrike">
                          <a:solidFill>
                            <a:srgbClr val="3A3344"/>
                          </a:solidFill>
                          <a:latin typeface="Consolas"/>
                          <a:ea typeface="Consolas"/>
                          <a:cs typeface="Consolas"/>
                          <a:sym typeface="Consolas"/>
                        </a:rPr>
                        <a:t>encode → segment → extend</a:t>
                      </a:r>
                      <a:endParaRPr sz="1550" u="none" cap="none" strike="noStrike">
                        <a:latin typeface="Consolas"/>
                        <a:ea typeface="Consolas"/>
                        <a:cs typeface="Consolas"/>
                        <a:sym typeface="Consolas"/>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344"/>
                        </a:buClr>
                        <a:buSzPts val="1250"/>
                        <a:buFont typeface="Calibri"/>
                        <a:buNone/>
                      </a:pPr>
                      <a:r>
                        <a:rPr lang="en-US" sz="1650" u="none" cap="none" strike="noStrike">
                          <a:solidFill>
                            <a:srgbClr val="3A3344"/>
                          </a:solidFill>
                          <a:latin typeface="Calibri"/>
                          <a:ea typeface="Calibri"/>
                          <a:cs typeface="Calibri"/>
                          <a:sym typeface="Calibri"/>
                        </a:rPr>
                        <a:t>Shapes of the inputs and targets arrays</a:t>
                      </a:r>
                      <a:endParaRPr sz="1650" u="none" cap="none" strike="noStrike">
                        <a:latin typeface="Calibri"/>
                        <a:ea typeface="Calibri"/>
                        <a:cs typeface="Calibri"/>
                        <a:sym typeface="Calibri"/>
                      </a:endParaRPr>
                    </a:p>
                  </a:txBody>
                  <a:tcPr marT="50800" marB="50800" marR="101600" marL="101600" anchor="ctr">
                    <a:lnL cap="flat" cmpd="sng" w="12700">
                      <a:solidFill>
                        <a:srgbClr val="E3DEEC"/>
                      </a:solidFill>
                      <a:prstDash val="solid"/>
                      <a:round/>
                      <a:headEnd len="sm" w="sm" type="none"/>
                      <a:tailEnd len="sm" w="sm" type="none"/>
                    </a:lnL>
                    <a:lnR cap="flat" cmpd="sng" w="12700">
                      <a:solidFill>
                        <a:srgbClr val="E3DEEC"/>
                      </a:solidFill>
                      <a:prstDash val="solid"/>
                      <a:round/>
                      <a:headEnd len="sm" w="sm" type="none"/>
                      <a:tailEnd len="sm" w="sm" type="none"/>
                    </a:lnR>
                    <a:lnT cap="flat" cmpd="sng" w="12700">
                      <a:solidFill>
                        <a:srgbClr val="E3DEEC"/>
                      </a:solidFill>
                      <a:prstDash val="solid"/>
                      <a:round/>
                      <a:headEnd len="sm" w="sm" type="none"/>
                      <a:tailEnd len="sm" w="sm" type="none"/>
                    </a:lnT>
                    <a:lnB cap="flat" cmpd="sng" w="12700">
                      <a:solidFill>
                        <a:srgbClr val="E3DEE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A54"/>
        </a:solidFill>
      </p:bgPr>
    </p:bg>
    <p:spTree>
      <p:nvGrpSpPr>
        <p:cNvPr id="383" name="Shape 383"/>
        <p:cNvGrpSpPr/>
        <p:nvPr/>
      </p:nvGrpSpPr>
      <p:grpSpPr>
        <a:xfrm>
          <a:off x="0" y="0"/>
          <a:ext cx="0" cy="0"/>
          <a:chOff x="0" y="0"/>
          <a:chExt cx="0" cy="0"/>
        </a:xfrm>
      </p:grpSpPr>
      <p:sp>
        <p:nvSpPr>
          <p:cNvPr id="384" name="Google Shape;384;p30"/>
          <p:cNvSpPr/>
          <p:nvPr/>
        </p:nvSpPr>
        <p:spPr>
          <a:xfrm>
            <a:off x="9692640" y="-914400"/>
            <a:ext cx="3291840" cy="3291840"/>
          </a:xfrm>
          <a:prstGeom prst="ellipse">
            <a:avLst/>
          </a:prstGeom>
          <a:solidFill>
            <a:srgbClr val="4A2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p:nvPr/>
        </p:nvSpPr>
        <p:spPr>
          <a:xfrm>
            <a:off x="731520" y="1463040"/>
            <a:ext cx="10058400" cy="155448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DD633"/>
              </a:buClr>
              <a:buSzPts val="3800"/>
              <a:buFont typeface="Trebuchet MS"/>
              <a:buNone/>
            </a:pPr>
            <a:r>
              <a:rPr b="1" lang="en-US" sz="3800">
                <a:solidFill>
                  <a:srgbClr val="FDD633"/>
                </a:solidFill>
                <a:latin typeface="Trebuchet MS"/>
                <a:ea typeface="Trebuchet MS"/>
                <a:cs typeface="Trebuchet MS"/>
                <a:sym typeface="Trebuchet MS"/>
              </a:rPr>
              <a:t>The goal: be able to decode it, not just do it!</a:t>
            </a:r>
            <a:r>
              <a:rPr b="1" i="0" lang="en-US" sz="3800" u="none" cap="none" strike="noStrike">
                <a:solidFill>
                  <a:srgbClr val="FDD633"/>
                </a:solidFill>
                <a:latin typeface="Trebuchet MS"/>
                <a:ea typeface="Trebuchet MS"/>
                <a:cs typeface="Trebuchet MS"/>
                <a:sym typeface="Trebuchet MS"/>
              </a:rPr>
              <a:t/>
            </a:r>
            <a:r>
              <a:rPr b="1" lang="en-US" sz="3800">
                <a:solidFill>
                  <a:srgbClr val="FDD633"/>
                </a:solidFill>
                <a:latin typeface="Trebuchet MS"/>
                <a:ea typeface="Trebuchet MS"/>
                <a:cs typeface="Trebuchet MS"/>
                <a:sym typeface="Trebuchet MS"/>
              </a:rPr>
              <a:t/>
            </a:r>
            <a:endParaRPr b="0" i="0" sz="3800" u="none" cap="none" strike="noStrike">
              <a:solidFill>
                <a:schemeClr val="dk1"/>
              </a:solidFill>
              <a:latin typeface="Calibri"/>
              <a:ea typeface="Calibri"/>
              <a:cs typeface="Calibri"/>
              <a:sym typeface="Calibri"/>
            </a:endParaRPr>
          </a:p>
        </p:txBody>
      </p:sp>
      <p:pic>
        <p:nvPicPr>
          <p:cNvPr descr="preencoded.png" id="386" name="Google Shape;386;p30"/>
          <p:cNvPicPr preferRelativeResize="0"/>
          <p:nvPr/>
        </p:nvPicPr>
        <p:blipFill rotWithShape="1">
          <a:blip r:embed="rId3">
            <a:alphaModFix/>
          </a:blip>
          <a:srcRect b="0" l="0" r="0" t="0"/>
          <a:stretch/>
        </p:blipFill>
        <p:spPr>
          <a:xfrm>
            <a:off x="777240" y="3246120"/>
            <a:ext cx="310896" cy="310896"/>
          </a:xfrm>
          <a:prstGeom prst="rect">
            <a:avLst/>
          </a:prstGeom>
          <a:noFill/>
          <a:ln>
            <a:noFill/>
          </a:ln>
        </p:spPr>
      </p:pic>
      <p:sp>
        <p:nvSpPr>
          <p:cNvPr id="387" name="Google Shape;387;p30"/>
          <p:cNvSpPr/>
          <p:nvPr/>
        </p:nvSpPr>
        <p:spPr>
          <a:xfrm>
            <a:off x="1234440" y="32004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AF7"/>
              </a:buClr>
              <a:buSzPts val="1450"/>
              <a:buFont typeface="Calibri"/>
              <a:buNone/>
            </a:pPr>
            <a:r>
              <a:rPr b="0" i="0" lang="en-US" sz="1850" u="none" cap="none" strike="noStrike">
                <a:solidFill>
                  <a:srgbClr val="EFEAF7"/>
                </a:solidFill>
                <a:latin typeface="Calibri"/>
                <a:ea typeface="Calibri"/>
                <a:cs typeface="Calibri"/>
                <a:sym typeface="Calibri"/>
              </a:rPr>
              <a:t>Explain the reasoning behind each solution, not reproduce it.</a:t>
            </a:r>
            <a:endParaRPr b="0" i="0" sz="1850" u="none" cap="none" strike="noStrike">
              <a:solidFill>
                <a:schemeClr val="dk1"/>
              </a:solidFill>
              <a:latin typeface="Calibri"/>
              <a:ea typeface="Calibri"/>
              <a:cs typeface="Calibri"/>
              <a:sym typeface="Calibri"/>
            </a:endParaRPr>
          </a:p>
        </p:txBody>
      </p:sp>
      <p:pic>
        <p:nvPicPr>
          <p:cNvPr descr="preencoded.png" id="388" name="Google Shape;388;p30"/>
          <p:cNvPicPr preferRelativeResize="0"/>
          <p:nvPr/>
        </p:nvPicPr>
        <p:blipFill rotWithShape="1">
          <a:blip r:embed="rId3">
            <a:alphaModFix/>
          </a:blip>
          <a:srcRect b="0" l="0" r="0" t="0"/>
          <a:stretch/>
        </p:blipFill>
        <p:spPr>
          <a:xfrm>
            <a:off x="777240" y="3813048"/>
            <a:ext cx="310896" cy="310896"/>
          </a:xfrm>
          <a:prstGeom prst="rect">
            <a:avLst/>
          </a:prstGeom>
          <a:noFill/>
          <a:ln>
            <a:noFill/>
          </a:ln>
        </p:spPr>
      </p:pic>
      <p:sp>
        <p:nvSpPr>
          <p:cNvPr id="389" name="Google Shape;389;p30"/>
          <p:cNvSpPr/>
          <p:nvPr/>
        </p:nvSpPr>
        <p:spPr>
          <a:xfrm>
            <a:off x="1234440" y="37673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AF7"/>
              </a:buClr>
              <a:buSzPts val="1450"/>
              <a:buFont typeface="Calibri"/>
              <a:buNone/>
            </a:pPr>
            <a:r>
              <a:rPr b="0" i="0" lang="en-US" sz="1850" u="none" cap="none" strike="noStrike">
                <a:solidFill>
                  <a:srgbClr val="EFEAF7"/>
                </a:solidFill>
                <a:latin typeface="Calibri"/>
                <a:ea typeface="Calibri"/>
                <a:cs typeface="Calibri"/>
                <a:sym typeface="Calibri"/>
              </a:rPr>
              <a:t>Name the failure mode for each task and the fix to offer.</a:t>
            </a:r>
            <a:endParaRPr b="0" i="0" sz="1850" u="none" cap="none" strike="noStrike">
              <a:solidFill>
                <a:schemeClr val="dk1"/>
              </a:solidFill>
              <a:latin typeface="Calibri"/>
              <a:ea typeface="Calibri"/>
              <a:cs typeface="Calibri"/>
              <a:sym typeface="Calibri"/>
            </a:endParaRPr>
          </a:p>
        </p:txBody>
      </p:sp>
      <p:pic>
        <p:nvPicPr>
          <p:cNvPr descr="preencoded.png" id="390" name="Google Shape;390;p30"/>
          <p:cNvPicPr preferRelativeResize="0"/>
          <p:nvPr/>
        </p:nvPicPr>
        <p:blipFill rotWithShape="1">
          <a:blip r:embed="rId3">
            <a:alphaModFix/>
          </a:blip>
          <a:srcRect b="0" l="0" r="0" t="0"/>
          <a:stretch/>
        </p:blipFill>
        <p:spPr>
          <a:xfrm>
            <a:off x="777240" y="4344056"/>
            <a:ext cx="310896" cy="310896"/>
          </a:xfrm>
          <a:prstGeom prst="rect">
            <a:avLst/>
          </a:prstGeom>
          <a:noFill/>
          <a:ln>
            <a:noFill/>
          </a:ln>
        </p:spPr>
      </p:pic>
      <p:sp>
        <p:nvSpPr>
          <p:cNvPr id="391" name="Google Shape;391;p30"/>
          <p:cNvSpPr/>
          <p:nvPr/>
        </p:nvSpPr>
        <p:spPr>
          <a:xfrm>
            <a:off x="1234440" y="4298336"/>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AF7"/>
              </a:buClr>
              <a:buSzPts val="1450"/>
              <a:buFont typeface="Calibri"/>
              <a:buNone/>
            </a:pPr>
            <a:r>
              <a:rPr b="0" i="0" lang="en-US" sz="1750" u="none" cap="none" strike="noStrike">
                <a:solidFill>
                  <a:srgbClr val="EFEAF7"/>
                </a:solidFill>
                <a:latin typeface="Calibri"/>
                <a:ea typeface="Calibri"/>
                <a:cs typeface="Calibri"/>
                <a:sym typeface="Calibri"/>
              </a:rPr>
              <a:t>Leave with shared, student-facing guidance for your cohort.</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