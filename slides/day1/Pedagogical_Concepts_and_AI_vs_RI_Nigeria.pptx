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8" r:id="rId6"/>
  </p:sldMasterIdLst>
  <p:notesMasterIdLst>
    <p:notesMasterId r:id="rId7"/>
  </p:notesMasterIdLst>
  <p:sldIdLst>
    <p:sldId id="256" r:id="rId8"/>
    <p:sldId id="290" r:id="rId4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6858000" cx="12192000"/>
  <p:notesSz cx="6858000" cy="9144000"/>
  <p:embeddedFontLst>
    <p:embeddedFont>
      <p:font typeface="Nuni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MWew2Y1bDiUb70Czw+OU08O0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font" Target="fonts/Nunito-regular.fntdata"/><Relationship Id="rId43" Type="http://schemas.openxmlformats.org/officeDocument/2006/relationships/font" Target="fonts/Nunito-bold.fntdata"/><Relationship Id="rId44" Type="http://schemas.openxmlformats.org/officeDocument/2006/relationships/font" Target="fonts/Nunito-italic.fntdata"/><Relationship Id="rId45" Type="http://schemas.openxmlformats.org/officeDocument/2006/relationships/font" Target="fonts/Nunito-boldItalic.fntdata"/><Relationship Id="rId46" Type="http://customschemas.google.com/relationships/presentationmetadata" Target="metadata"/><Relationship Id="rId4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390a230c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a390a230c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Combined session, two parts: Part 1 Pedagogical Concepts (30 min) + Part 2 AI vs RI Activities (30 min). Week 1 splits the parts around lunch: close Part 1 on the recap slide, reopen after lunch with the Part 2 title slide. Week 2 runs them back-to-back.</a:t>
            </a:r>
          </a:p>
        </p:txBody>
      </p:sp>
      <p:sp>
        <p:nvSpPr>
          <p:cNvPr id="251" name="Google Shape;251;g3ea390a230c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8cad5b4db_0_8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e8cad5b4db_0_8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e8cad5b4db_0_8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a97859ded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da97859ded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da97859ded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a97859ded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da97859ded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da97859ded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8cad5b4db_0_3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e8cad5b4db_0_39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8cad5b4db_0_39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bee170f95_0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ebee170f95_0_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bee170f95_0_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bee170f95_0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ebee170f95_0_7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ebee170f95_0_7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bee170f95_0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ebee170f95_0_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ebee170f95_0_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bee170f95_0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ebee170f95_0_8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ebee170f95_0_8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bee170f95_0_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ebee170f95_0_8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ebee170f95_0_8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8cad5b4db_0_1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e8cad5b4db_0_1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Talk-through, not a handout (~3 min): read the two filled rows aloud, then ask the room to propose the missing Understand/Apply and Evaluate/Create entries verbally. Do not distribute paper.</a:t>
            </a:r>
          </a:p>
        </p:txBody>
      </p:sp>
      <p:sp>
        <p:nvSpPr>
          <p:cNvPr id="563" name="Google Shape;563;g3e8cad5b4db_0_1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8cad5b4db_0_1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e8cad5b4db_0_1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g3e8cad5b4db_0_1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c0db17601_0_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ec0db17601_0_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Part 2 opener. If delivering after the lunch split, re-anchor quickly with the two-ladders recap on the next slide before moving into the toolkit.</a:t>
            </a:r>
          </a:p>
        </p:txBody>
      </p:sp>
      <p:sp>
        <p:nvSpPr>
          <p:cNvPr id="633" name="Google Shape;633;g3ec0db17601_0_436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c0db17601_0_4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ec0db17601_0_4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ec0db17601_0_451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c0db17601_0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ec0db17601_0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Gloss if asked: the Conversational Framework is Diana Laurillard's (UCL) taxonomy of learning-activity types (acquisition, discussion, practice, production...). One sentence only: Bloom is today's focus. GCSB = Google Cloud Skills Boost, where students do the online Spotlight activities.</a:t>
            </a:r>
          </a:p>
        </p:txBody>
      </p:sp>
      <p:sp>
        <p:nvSpPr>
          <p:cNvPr id="691" name="Google Shape;691;g3ec0db17601_0_492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c0db17601_0_5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ec0db17601_0_5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ec0db17601_0_506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c0db17601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3ec0db17601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ec0db17601_0_514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ec0db17601_0_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3ec0db17601_0_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Make the link explicit here (it returns as takeaway 02): longer formats climb Bloom: Short activities sit around Understand/Apply, Medium around Analyze/Evaluate, Long (with notebooks) reach Create.</a:t>
            </a:r>
          </a:p>
        </p:txBody>
      </p:sp>
      <p:sp>
        <p:nvSpPr>
          <p:cNvPr id="740" name="Google Shape;740;g3ec0db17601_0_538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ec0db17601_0_5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3ec0db17601_0_5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ec0db17601_0_556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ec0db17601_0_6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3ec0db17601_0_6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ec0db17601_0_608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ec0db17601_0_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g3ec0db17601_0_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ec0db17601_0_624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ec0db17601_0_6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g3ec0db17601_0_6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3ec0db17601_0_642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ec0db17601_0_6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g3ec0db17601_0_6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ec0db17601_0_659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ec0db17601_0_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g3ec0db17601_0_6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ec0db17601_0_677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c0db17601_0_6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g3ec0db17601_0_6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ec0db17601_0_695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ec0db17601_0_7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g3ec0db17601_0_7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g3ec0db17601_0_713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ec0db17601_0_7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3ec0db17601_0_7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g3ec0db17601_0_731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ec0db17601_0_7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3ec0db17601_0_7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TODO before delivery: this QR code is still the PILOT Mentimeter. Build the Nigeria Mentimeter from the 10-question 'Quizz' bank (classify: AI or RI + Bloom level) in the AI vs RI activities Drive folder, then replace this QR. Timing: cap the live run at ~5 questions (~5 min); the full bank of 10 does not fit the 30-min half.</a:t>
            </a:r>
          </a:p>
        </p:txBody>
      </p:sp>
      <p:sp>
        <p:nvSpPr>
          <p:cNvPr id="965" name="Google Shape;965;g3ec0db17601_0_753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ec0db17601_0_7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2" name="Google Shape;972;g3ec0db17601_0_76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Why Both Matter (5 min). 2 minutes table discussion, take 3 responses, guide toward bullets. Close: 'The toolkit pairs AI and RI activities deliberately. As AI Champions, your job is to protect that pairing. When time is tight, shorten; do not cut.'</a:t>
            </a:r>
          </a:p>
        </p:txBody>
      </p:sp>
      <p:sp>
        <p:nvSpPr>
          <p:cNvPr id="973" name="Google Shape;973;g3ec0db17601_0_76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ec0db17601_0_7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g3ec0db17601_0_7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g3ec0db17601_0_768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838200" y="2136807"/>
            <a:ext cx="10515600" cy="40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4075923" y="-1100915"/>
            <a:ext cx="404015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390a230c_0_1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ea390a230c_0_11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4" name="Google Shape;94;g3ea390a230c_0_11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a390a230c_0_11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ea390a230c_0_11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a390a230c_0_12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ea390a230c_0_125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g3ea390a230c_0_12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ea390a230c_0_12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ea390a230c_0_12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a390a230c_0_13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ea390a230c_0_13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6" name="Google Shape;106;g3ea390a230c_0_13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a390a230c_0_13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ea390a230c_0_13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a390a230c_0_137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ea390a230c_0_13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3ea390a230c_0_13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ea390a230c_0_13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a390a230c_0_13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ea390a230c_0_13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390a230c_0_14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ea390a230c_0_14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g3ea390a230c_0_14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g3ea390a230c_0_14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g3ea390a230c_0_14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3ea390a230c_0_14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ea390a230c_0_14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ea390a230c_0_14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a390a230c_0_15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a390a230c_0_15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a390a230c_0_15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ea390a230c_0_15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390a230c_0_15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ea390a230c_0_15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ea390a230c_0_15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a390a230c_0_16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ea390a230c_0_16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7" name="Google Shape;137;g3ea390a230c_0_16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g3ea390a230c_0_16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ea390a230c_0_16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ea390a230c_0_16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a390a230c_0_16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ea390a230c_0_16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g3ea390a230c_0_16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g3ea390a230c_0_16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a390a230c_0_16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ea390a230c_0_16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a390a230c_0_176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ea390a230c_0_176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g3ea390a230c_0_17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ea390a230c_0_17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a390a230c_0_17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a390a230c_0_18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ea390a230c_0_18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g3ea390a230c_0_18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ea390a230c_0_18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ea390a230c_0_18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ea390a230c_0_1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0db17601_0_79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0" name="Google Shape;170;g3ec0db17601_0_79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1" name="Google Shape;171;g3ec0db17601_0_79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2" name="Google Shape;172;g3ec0db17601_0_79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3" name="Google Shape;173;g3ec0db17601_0_79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0db17601_0_798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6" name="Google Shape;176;g3ec0db17601_0_798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77" name="Google Shape;177;g3ec0db17601_0_79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8" name="Google Shape;178;g3ec0db17601_0_79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9" name="Google Shape;179;g3ec0db17601_0_79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0db17601_0_80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2" name="Google Shape;182;g3ec0db17601_0_80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83" name="Google Shape;183;g3ec0db17601_0_80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4" name="Google Shape;184;g3ec0db17601_0_80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5" name="Google Shape;185;g3ec0db17601_0_80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c0db17601_0_810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8" name="Google Shape;188;g3ec0db17601_0_81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89" name="Google Shape;189;g3ec0db17601_0_81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0" name="Google Shape;190;g3ec0db17601_0_81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g3ec0db17601_0_81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2" name="Google Shape;192;g3ec0db17601_0_81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0db17601_0_81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5" name="Google Shape;195;g3ec0db17601_0_81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g3ec0db17601_0_81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7" name="Google Shape;197;g3ec0db17601_0_81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g3ec0db17601_0_81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9" name="Google Shape;199;g3ec0db17601_0_81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0" name="Google Shape;200;g3ec0db17601_0_81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1" name="Google Shape;201;g3ec0db17601_0_81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c0db17601_0_826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" name="Google Shape;204;g3ec0db17601_0_82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5" name="Google Shape;205;g3ec0db17601_0_82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6" name="Google Shape;206;g3ec0db17601_0_82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c0db17601_0_83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9" name="Google Shape;209;g3ec0db17601_0_83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0" name="Google Shape;210;g3ec0db17601_0_83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0db17601_0_835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3" name="Google Shape;213;g3ec0db17601_0_835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4" name="Google Shape;214;g3ec0db17601_0_835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15" name="Google Shape;215;g3ec0db17601_0_83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6" name="Google Shape;216;g3ec0db17601_0_83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7" name="Google Shape;217;g3ec0db17601_0_83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c0db17601_0_842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0" name="Google Shape;220;g3ec0db17601_0_842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g3ec0db17601_0_84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22" name="Google Shape;222;g3ec0db17601_0_84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3" name="Google Shape;223;g3ec0db17601_0_84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g3ec0db17601_0_84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c0db17601_0_849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7" name="Google Shape;227;g3ec0db17601_0_849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8" name="Google Shape;228;g3ec0db17601_0_84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9" name="Google Shape;229;g3ec0db17601_0_84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0" name="Google Shape;230;g3ec0db17601_0_84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c0db17601_0_85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3" name="Google Shape;233;g3ec0db17601_0_85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4" name="Google Shape;234;g3ec0db17601_0_85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5" name="Google Shape;235;g3ec0db17601_0_85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6" name="Google Shape;236;g3ec0db17601_0_85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ec0db17601_0_8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c0db17601_0_86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●"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4" name="Google Shape;244;g3ec0db17601_0_86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5" name="Google Shape;245;g3ec0db17601_0_86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6" name="Google Shape;246;g3ec0db17601_0_86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7" name="Google Shape;247;g3ec0db17601_0_86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1500"/>
            </a:lvl1pPr>
            <a:lvl2pPr indent="0" lvl="1" marL="0" algn="r">
              <a:spcBef>
                <a:spcPts val="0"/>
              </a:spcBef>
              <a:buNone/>
              <a:defRPr sz="1500"/>
            </a:lvl2pPr>
            <a:lvl3pPr indent="0" lvl="2" marL="0" algn="r">
              <a:spcBef>
                <a:spcPts val="0"/>
              </a:spcBef>
              <a:buNone/>
              <a:defRPr sz="1500"/>
            </a:lvl3pPr>
            <a:lvl4pPr indent="0" lvl="3" marL="0" algn="r">
              <a:spcBef>
                <a:spcPts val="0"/>
              </a:spcBef>
              <a:buNone/>
              <a:defRPr sz="1500"/>
            </a:lvl4pPr>
            <a:lvl5pPr indent="0" lvl="4" marL="0" algn="r">
              <a:spcBef>
                <a:spcPts val="0"/>
              </a:spcBef>
              <a:buNone/>
              <a:defRPr sz="1500"/>
            </a:lvl5pPr>
            <a:lvl6pPr indent="0" lvl="5" marL="0" algn="r">
              <a:spcBef>
                <a:spcPts val="0"/>
              </a:spcBef>
              <a:buNone/>
              <a:defRPr sz="1500"/>
            </a:lvl6pPr>
            <a:lvl7pPr indent="0" lvl="6" marL="0" algn="r">
              <a:spcBef>
                <a:spcPts val="0"/>
              </a:spcBef>
              <a:buNone/>
              <a:defRPr sz="1500"/>
            </a:lvl7pPr>
            <a:lvl8pPr indent="0" lvl="7" marL="0" algn="r">
              <a:spcBef>
                <a:spcPts val="0"/>
              </a:spcBef>
              <a:buNone/>
              <a:defRPr sz="1500"/>
            </a:lvl8pPr>
            <a:lvl9pPr indent="0" lvl="8" marL="0" algn="r">
              <a:spcBef>
                <a:spcPts val="0"/>
              </a:spcBef>
              <a:buNone/>
              <a:defRPr sz="15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theme" Target="../theme/theme5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577516"/>
            <a:ext cx="10515600" cy="11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2136807"/>
            <a:ext cx="10515600" cy="40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a390a230c_0_11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g3ea390a230c_0_113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ea390a230c_0_11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ea390a230c_0_11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ea390a230c_0_11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c0db17601_0_786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64" name="Google Shape;164;g3ec0db17601_0_786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g3ec0db17601_0_78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ec0db17601_0_78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ec0db17601_0_78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ea390a230c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ea390a230c_0_95"/>
          <p:cNvSpPr txBox="1"/>
          <p:nvPr/>
        </p:nvSpPr>
        <p:spPr>
          <a:xfrm>
            <a:off x="753525" y="2999025"/>
            <a:ext cx="107691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lang="en-ZA" sz="5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PEDAGOGICAL CONCEPTS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lang="en-ZA" sz="5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&amp; AI vs RI ACTIVITIES</a:t>
            </a:r>
          </a:p>
        </p:txBody>
      </p:sp>
      <p:pic>
        <p:nvPicPr>
          <p:cNvPr id="255" name="Google Shape;255;g3ea390a230c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141" y="383197"/>
            <a:ext cx="2033076" cy="83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ea390a230c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8440" y="535714"/>
            <a:ext cx="2613661" cy="5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ea390a230c_0_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9010" y="5669280"/>
            <a:ext cx="188383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g3ea390a230c_0_95"/>
          <p:cNvGrpSpPr/>
          <p:nvPr/>
        </p:nvGrpSpPr>
        <p:grpSpPr>
          <a:xfrm>
            <a:off x="763050" y="5899750"/>
            <a:ext cx="6501258" cy="410463"/>
            <a:chOff x="763050" y="5899750"/>
            <a:chExt cx="6501258" cy="410463"/>
          </a:xfrm>
        </p:grpSpPr>
        <p:sp>
          <p:nvSpPr>
            <p:cNvPr id="259" name="Google Shape;259;g3ea390a230c_0_95"/>
            <p:cNvSpPr/>
            <p:nvPr/>
          </p:nvSpPr>
          <p:spPr>
            <a:xfrm>
              <a:off x="763050" y="5899750"/>
              <a:ext cx="29553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ea390a230c_0_95"/>
            <p:cNvSpPr txBox="1"/>
            <p:nvPr/>
          </p:nvSpPr>
          <p:spPr>
            <a:xfrm>
              <a:off x="902397" y="5959075"/>
              <a:ext cx="26766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ZA" sz="1750">
                  <a:solidFill>
                    <a:schemeClr val="dk2"/>
                  </a:solidFill>
                </a:rPr>
                <a:t>Nigeria · Aug 2026</a:t>
              </a:r>
              <a:endParaRPr/>
            </a:p>
          </p:txBody>
        </p:sp>
        <p:sp>
          <p:nvSpPr>
            <p:cNvPr id="261" name="Google Shape;261;g3ea390a230c_0_95"/>
            <p:cNvSpPr/>
            <p:nvPr/>
          </p:nvSpPr>
          <p:spPr>
            <a:xfrm>
              <a:off x="3928308" y="5906113"/>
              <a:ext cx="33360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ea390a230c_0_95"/>
            <p:cNvSpPr txBox="1"/>
            <p:nvPr/>
          </p:nvSpPr>
          <p:spPr>
            <a:xfrm>
              <a:off x="3974350" y="5975050"/>
              <a:ext cx="3243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ZA" sz="1750">
                  <a:solidFill>
                    <a:schemeClr val="dk2"/>
                  </a:solidFill>
                </a:rPr>
                <a:t>AI Research Foundations</a:t>
              </a:r>
              <a:endParaRPr/>
            </a:p>
          </p:txBody>
        </p:sp>
      </p:grpSp>
      <p:pic>
        <p:nvPicPr>
          <p:cNvPr id="263" name="Google Shape;263;g3ea390a230c_0_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4851" y="505175"/>
            <a:ext cx="1168078" cy="5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93" name="Google Shape;693;g3ec0db17601_0_4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ec0db17601_0_492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One session, two parts</a:t>
            </a:r>
          </a:p>
        </p:txBody>
      </p:sp>
      <p:sp>
        <p:nvSpPr>
          <p:cNvPr id="695" name="Google Shape;695;g3ec0db17601_0_492"/>
          <p:cNvSpPr/>
          <p:nvPr/>
        </p:nvSpPr>
        <p:spPr>
          <a:xfrm>
            <a:off x="1860633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ec0db17601_0_492"/>
          <p:cNvSpPr/>
          <p:nvPr/>
        </p:nvSpPr>
        <p:spPr>
          <a:xfrm>
            <a:off x="2104473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7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Part 1</a:t>
            </a:r>
          </a:p>
        </p:txBody>
      </p:sp>
      <p:sp>
        <p:nvSpPr>
          <p:cNvPr id="697" name="Google Shape;697;g3ec0db17601_0_492"/>
          <p:cNvSpPr/>
          <p:nvPr/>
        </p:nvSpPr>
        <p:spPr>
          <a:xfrm>
            <a:off x="2165433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Pedagogical Concepts</a:t>
            </a:r>
          </a:p>
        </p:txBody>
      </p:sp>
      <p:sp>
        <p:nvSpPr>
          <p:cNvPr id="698" name="Google Shape;698;g3ec0db17601_0_492"/>
          <p:cNvSpPr/>
          <p:nvPr/>
        </p:nvSpPr>
        <p:spPr>
          <a:xfrm>
            <a:off x="2165433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30 min. Learning objectives, and Bloom's cognitive and affective domains: the levels online courses and classroom sessions should each target.</a:t>
            </a:r>
          </a:p>
        </p:txBody>
      </p:sp>
      <p:sp>
        <p:nvSpPr>
          <p:cNvPr id="699" name="Google Shape;699;g3ec0db17601_0_492"/>
          <p:cNvSpPr/>
          <p:nvPr/>
        </p:nvSpPr>
        <p:spPr>
          <a:xfrm>
            <a:off x="6289611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ec0db17601_0_492"/>
          <p:cNvSpPr/>
          <p:nvPr/>
        </p:nvSpPr>
        <p:spPr>
          <a:xfrm>
            <a:off x="6533451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52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Part 2</a:t>
            </a:r>
          </a:p>
        </p:txBody>
      </p:sp>
      <p:sp>
        <p:nvSpPr>
          <p:cNvPr id="701" name="Google Shape;701;g3ec0db17601_0_492"/>
          <p:cNvSpPr/>
          <p:nvPr/>
        </p:nvSpPr>
        <p:spPr>
          <a:xfrm>
            <a:off x="6594411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vs RI Activities</a:t>
            </a:r>
          </a:p>
        </p:txBody>
      </p:sp>
      <p:sp>
        <p:nvSpPr>
          <p:cNvPr id="702" name="Google Shape;702;g3ec0db17601_0_492"/>
          <p:cNvSpPr/>
          <p:nvPr/>
        </p:nvSpPr>
        <p:spPr>
          <a:xfrm>
            <a:off x="6594411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30 min. The UCL Lecturer Toolkit on UCL Extend, the AI and RI activity pillars, and a classify-the-activity quiz.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3"/>
          <p:cNvCxnSpPr/>
          <p:nvPr/>
        </p:nvCxnSpPr>
        <p:spPr>
          <a:xfrm>
            <a:off x="753533" y="1580827"/>
            <a:ext cx="10544731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1" name="Google Shape;271;p3"/>
          <p:cNvSpPr/>
          <p:nvPr/>
        </p:nvSpPr>
        <p:spPr>
          <a:xfrm>
            <a:off x="544481" y="576753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      </a:t>
            </a: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What Level Were You Thinking At?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510753" y="1768184"/>
            <a:ext cx="9982800" cy="384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"/>
          <p:cNvSpPr/>
          <p:nvPr/>
        </p:nvSpPr>
        <p:spPr>
          <a:xfrm>
            <a:off x="510753" y="1768190"/>
            <a:ext cx="109800" cy="2926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"/>
          <p:cNvSpPr/>
          <p:nvPr/>
        </p:nvSpPr>
        <p:spPr>
          <a:xfrm>
            <a:off x="785073" y="1722470"/>
            <a:ext cx="7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8000"/>
              <a:buFont typeface="Georgia"/>
              <a:buNone/>
            </a:pPr>
            <a:r>
              <a:rPr b="1" i="0" lang="en-ZA" sz="8000" u="none" cap="none" strike="noStrike">
                <a:solidFill>
                  <a:srgbClr val="E7E8D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b="0" i="0" sz="8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"/>
          <p:cNvSpPr/>
          <p:nvPr/>
        </p:nvSpPr>
        <p:spPr>
          <a:xfrm>
            <a:off x="1333713" y="245399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2200"/>
              <a:buFont typeface="Georgia"/>
              <a:buNone/>
            </a:pPr>
            <a:r>
              <a:rPr b="1" i="1" lang="en-ZA" sz="27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'Jide was hungry so she went looking for…'</a:t>
            </a:r>
            <a:endParaRPr b="0" i="0" sz="2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"/>
          <p:cNvSpPr/>
          <p:nvPr/>
        </p:nvSpPr>
        <p:spPr>
          <a:xfrm>
            <a:off x="1333703" y="300263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600"/>
              <a:buFont typeface="Calibri"/>
              <a:buNone/>
            </a:pPr>
            <a:r>
              <a:rPr b="0" i="0" lang="en-ZA" sz="2100" u="none" cap="none" strike="noStrike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…and predicted the next word. What were you doing, cognitively?</a:t>
            </a:r>
            <a:endParaRPr b="0" i="0" sz="21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"/>
          <p:cNvSpPr/>
          <p:nvPr/>
        </p:nvSpPr>
        <p:spPr>
          <a:xfrm>
            <a:off x="1333703" y="3734169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ZA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Recalling a fact?    Applying a rule?    Creating something new?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e8cad5b4db_0_8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e8cad5b4db_0_8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9526" y="152389"/>
            <a:ext cx="657125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g3da97859ded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da97859ded_0_9"/>
          <p:cNvSpPr/>
          <p:nvPr/>
        </p:nvSpPr>
        <p:spPr>
          <a:xfrm>
            <a:off x="704175" y="696871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Learning Objective 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da97859ded_0_9"/>
          <p:cNvSpPr/>
          <p:nvPr/>
        </p:nvSpPr>
        <p:spPr>
          <a:xfrm>
            <a:off x="1008031" y="1861186"/>
            <a:ext cx="9982800" cy="108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lang="en-ZA" sz="17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DEFINITION  A clear, specific statement describing what a learner is expected to be able to do by the end of a lesson, course, or activity, always starting with an action verb.  </a:t>
            </a:r>
            <a:r>
              <a:rPr lang="en-ZA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ZA" sz="17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ZA" sz="1700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ZA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rgbClr val="2C2418"/>
              </a:solidFill>
            </a:endParaRPr>
          </a:p>
        </p:txBody>
      </p:sp>
      <p:sp>
        <p:nvSpPr>
          <p:cNvPr id="293" name="Google Shape;293;g3da97859ded_0_9"/>
          <p:cNvSpPr/>
          <p:nvPr/>
        </p:nvSpPr>
        <p:spPr>
          <a:xfrm flipH="1">
            <a:off x="824288" y="1843912"/>
            <a:ext cx="164400" cy="10821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da97859ded_0_9"/>
          <p:cNvSpPr txBox="1"/>
          <p:nvPr/>
        </p:nvSpPr>
        <p:spPr>
          <a:xfrm>
            <a:off x="824293" y="3375256"/>
            <a:ext cx="995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ZA" sz="1800">
                <a:solidFill>
                  <a:srgbClr val="8B2E2E"/>
                </a:solidFill>
                <a:latin typeface="Nunito"/>
                <a:ea typeface="Nunito"/>
                <a:cs typeface="Nunito"/>
                <a:sym typeface="Nunito"/>
              </a:rPr>
              <a:t>Examples:</a:t>
            </a:r>
            <a:r>
              <a:rPr b="1" lang="en-ZA" sz="1700">
                <a:solidFill>
                  <a:srgbClr val="8B2E2E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b="1" sz="1700">
              <a:solidFill>
                <a:srgbClr val="8B2E2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g3da97859ded_0_9"/>
          <p:cNvSpPr txBox="1"/>
          <p:nvPr/>
        </p:nvSpPr>
        <p:spPr>
          <a:xfrm>
            <a:off x="712518" y="4169881"/>
            <a:ext cx="99501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8B2E2E"/>
              </a:buClr>
              <a:buSzPts val="2100"/>
              <a:buFont typeface="Nunito"/>
              <a:buChar char="●"/>
            </a:pPr>
            <a:r>
              <a:rPr lang="en-ZA" sz="1700">
                <a:solidFill>
                  <a:srgbClr val="8B2E2E"/>
                </a:solidFill>
                <a:latin typeface="Nunito"/>
                <a:ea typeface="Nunito"/>
                <a:cs typeface="Nunito"/>
                <a:sym typeface="Nunito"/>
              </a:rPr>
              <a:t>By the end of this lesson, students will be able to understand tokenization and compare different tokenization methods. </a:t>
            </a:r>
            <a:r>
              <a:rPr lang="en-ZA" sz="1700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ZA" sz="1700">
                <a:solidFill>
                  <a:srgbClr val="8B2E2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700">
              <a:solidFill>
                <a:srgbClr val="8B2E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8B2E2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8B2E2E"/>
              </a:buClr>
              <a:buSzPts val="2300"/>
              <a:buFont typeface="Nunito"/>
              <a:buChar char="●"/>
            </a:pPr>
            <a:r>
              <a:rPr lang="en-ZA" sz="17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By the end of this course, students will be able to explain how the BPE algorithm builds a vocabulary step by step.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10"/>
          <p:cNvCxnSpPr/>
          <p:nvPr/>
        </p:nvCxnSpPr>
        <p:spPr>
          <a:xfrm>
            <a:off x="753533" y="1580827"/>
            <a:ext cx="10544731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10"/>
          <p:cNvSpPr/>
          <p:nvPr/>
        </p:nvSpPr>
        <p:spPr>
          <a:xfrm>
            <a:off x="617358" y="537004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Three </a:t>
            </a:r>
            <a:r>
              <a:rPr b="1" lang="en-ZA" sz="3600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Domains</a:t>
            </a: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 of Bloom's Taxonomy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20040" y="1916987"/>
            <a:ext cx="36576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320040" y="1916987"/>
            <a:ext cx="3657600" cy="10059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320040" y="2099867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ZA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COGNITIVE</a:t>
            </a:r>
            <a:endParaRPr b="0" i="0" sz="2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40080" y="3151427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rPr lang="en-ZA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ZA" sz="1400" u="none" cap="none" strike="noStrike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How learners process knowledge </a:t>
            </a:r>
            <a:endParaRPr b="0" i="0" sz="14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051560" y="4888787"/>
            <a:ext cx="2194500" cy="3657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051560" y="4888787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SCOPE TODA</a:t>
            </a:r>
            <a:r>
              <a:rPr b="1" lang="en-ZA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251960" y="1916987"/>
            <a:ext cx="36576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251960" y="1916987"/>
            <a:ext cx="3657600" cy="1005900"/>
          </a:xfrm>
          <a:prstGeom prst="rect">
            <a:avLst/>
          </a:prstGeom>
          <a:solidFill>
            <a:srgbClr val="5C8B7E"/>
          </a:solidFill>
          <a:ln cap="flat" cmpd="sng" w="12700">
            <a:solidFill>
              <a:srgbClr val="5C8B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4251960" y="2099867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ZA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AFFECTIVE</a:t>
            </a:r>
            <a:endParaRPr b="0" i="0" sz="2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572000" y="3151427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rPr b="0" i="0" lang="en-ZA" sz="1400" u="none" cap="none" strike="noStrike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How learners engage with values, attitudes and ethics </a:t>
            </a:r>
            <a:endParaRPr b="0" i="0" sz="14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983480" y="4888787"/>
            <a:ext cx="2194500" cy="365700"/>
          </a:xfrm>
          <a:prstGeom prst="rect">
            <a:avLst/>
          </a:prstGeom>
          <a:solidFill>
            <a:srgbClr val="5C8B7E"/>
          </a:solidFill>
          <a:ln cap="flat" cmpd="sng" w="12700">
            <a:solidFill>
              <a:srgbClr val="5C8B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4983480" y="4888787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SCOPE TODAY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183855" y="1916987"/>
            <a:ext cx="36576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8183880" y="1916987"/>
            <a:ext cx="3657600" cy="1005900"/>
          </a:xfrm>
          <a:prstGeom prst="rect">
            <a:avLst/>
          </a:prstGeom>
          <a:solidFill>
            <a:srgbClr val="5C4A3A"/>
          </a:solidFill>
          <a:ln cap="flat" cmpd="sng" w="12700">
            <a:solidFill>
              <a:srgbClr val="5C4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8183880" y="2099867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ZA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PSYCHOMOTOR</a:t>
            </a:r>
            <a:endParaRPr b="0" i="0" sz="2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694175" y="3151422"/>
            <a:ext cx="2827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>
                <a:latin typeface="Calibri"/>
                <a:ea typeface="Calibri"/>
                <a:cs typeface="Calibri"/>
                <a:sym typeface="Calibri"/>
              </a:rPr>
              <a:t>How learners develop physical skills through practice and hands-on experience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458200" y="4980227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b="0" i="1" lang="en-ZA" sz="1100" u="none" cap="none" strike="noStrike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1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da97859ded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g3da97859ded_0_45"/>
          <p:cNvCxnSpPr/>
          <p:nvPr/>
        </p:nvCxnSpPr>
        <p:spPr>
          <a:xfrm>
            <a:off x="753533" y="1580827"/>
            <a:ext cx="10544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8" name="Google Shape;328;g3da97859ded_0_45"/>
          <p:cNvSpPr/>
          <p:nvPr/>
        </p:nvSpPr>
        <p:spPr>
          <a:xfrm>
            <a:off x="497239" y="617082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The Cognitive Domain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da97859ded_0_45"/>
          <p:cNvSpPr/>
          <p:nvPr/>
        </p:nvSpPr>
        <p:spPr>
          <a:xfrm>
            <a:off x="612625" y="1921665"/>
            <a:ext cx="11247000" cy="73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da97859ded_0_45"/>
          <p:cNvSpPr/>
          <p:nvPr/>
        </p:nvSpPr>
        <p:spPr>
          <a:xfrm>
            <a:off x="777250" y="1854840"/>
            <a:ext cx="107898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ZA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DEFINITION   </a:t>
            </a:r>
            <a:r>
              <a:rPr lang="en-ZA" sz="15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Describes how learners develop knowledge and skills, from remembering facts to creating original work.</a:t>
            </a:r>
            <a:endParaRPr sz="1800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da97859ded_0_45"/>
          <p:cNvSpPr/>
          <p:nvPr/>
        </p:nvSpPr>
        <p:spPr>
          <a:xfrm>
            <a:off x="1965960" y="3017520"/>
            <a:ext cx="8229600" cy="420600"/>
          </a:xfrm>
          <a:prstGeom prst="rect">
            <a:avLst/>
          </a:prstGeom>
          <a:solidFill>
            <a:srgbClr val="8B2E2E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a97859ded_0_45"/>
          <p:cNvSpPr/>
          <p:nvPr/>
        </p:nvSpPr>
        <p:spPr>
          <a:xfrm>
            <a:off x="1965960" y="3017520"/>
            <a:ext cx="4114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da97859ded_0_45"/>
          <p:cNvSpPr/>
          <p:nvPr/>
        </p:nvSpPr>
        <p:spPr>
          <a:xfrm>
            <a:off x="6263640" y="3017520"/>
            <a:ext cx="3931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design, generate, invent</a:t>
            </a:r>
            <a:endParaRPr b="0" i="0" sz="1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a97859ded_0_45"/>
          <p:cNvSpPr/>
          <p:nvPr/>
        </p:nvSpPr>
        <p:spPr>
          <a:xfrm>
            <a:off x="2468880" y="3493008"/>
            <a:ext cx="7223700" cy="420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da97859ded_0_45"/>
          <p:cNvSpPr/>
          <p:nvPr/>
        </p:nvSpPr>
        <p:spPr>
          <a:xfrm>
            <a:off x="2468880" y="3493008"/>
            <a:ext cx="361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da97859ded_0_45"/>
          <p:cNvSpPr/>
          <p:nvPr/>
        </p:nvSpPr>
        <p:spPr>
          <a:xfrm>
            <a:off x="6263640" y="3493008"/>
            <a:ext cx="342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judge, critique, defend</a:t>
            </a:r>
            <a:endParaRPr b="0" i="0" sz="1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da97859ded_0_45"/>
          <p:cNvSpPr/>
          <p:nvPr/>
        </p:nvSpPr>
        <p:spPr>
          <a:xfrm>
            <a:off x="2971800" y="3968496"/>
            <a:ext cx="6217800" cy="420600"/>
          </a:xfrm>
          <a:prstGeom prst="rect">
            <a:avLst/>
          </a:prstGeom>
          <a:solidFill>
            <a:srgbClr val="D08F5A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da97859ded_0_45"/>
          <p:cNvSpPr/>
          <p:nvPr/>
        </p:nvSpPr>
        <p:spPr>
          <a:xfrm>
            <a:off x="2971800" y="3968496"/>
            <a:ext cx="310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da97859ded_0_45"/>
          <p:cNvSpPr/>
          <p:nvPr/>
        </p:nvSpPr>
        <p:spPr>
          <a:xfrm>
            <a:off x="6263640" y="3968496"/>
            <a:ext cx="2926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compare, distinguish, examine</a:t>
            </a:r>
            <a:endParaRPr b="0" i="0" sz="1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da97859ded_0_45"/>
          <p:cNvSpPr/>
          <p:nvPr/>
        </p:nvSpPr>
        <p:spPr>
          <a:xfrm>
            <a:off x="3474720" y="4443984"/>
            <a:ext cx="5212200" cy="420600"/>
          </a:xfrm>
          <a:prstGeom prst="rect">
            <a:avLst/>
          </a:prstGeom>
          <a:solidFill>
            <a:srgbClr val="C4A47C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da97859ded_0_45"/>
          <p:cNvSpPr/>
          <p:nvPr/>
        </p:nvSpPr>
        <p:spPr>
          <a:xfrm>
            <a:off x="3474720" y="4443984"/>
            <a:ext cx="2606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a97859ded_0_45"/>
          <p:cNvSpPr/>
          <p:nvPr/>
        </p:nvSpPr>
        <p:spPr>
          <a:xfrm>
            <a:off x="6263640" y="4443984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execute, implement, use</a:t>
            </a:r>
            <a:endParaRPr b="0" i="0" sz="1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a97859ded_0_45"/>
          <p:cNvSpPr/>
          <p:nvPr/>
        </p:nvSpPr>
        <p:spPr>
          <a:xfrm>
            <a:off x="3977640" y="4919472"/>
            <a:ext cx="4206300" cy="420600"/>
          </a:xfrm>
          <a:prstGeom prst="rect">
            <a:avLst/>
          </a:prstGeom>
          <a:solidFill>
            <a:srgbClr val="7A8FA0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da97859ded_0_45"/>
          <p:cNvSpPr/>
          <p:nvPr/>
        </p:nvSpPr>
        <p:spPr>
          <a:xfrm>
            <a:off x="3977640" y="4919472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da97859ded_0_45"/>
          <p:cNvSpPr/>
          <p:nvPr/>
        </p:nvSpPr>
        <p:spPr>
          <a:xfrm>
            <a:off x="6263640" y="4919472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explain, summarize, classify</a:t>
            </a:r>
            <a:endParaRPr b="0" i="0" sz="1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da97859ded_0_45"/>
          <p:cNvSpPr/>
          <p:nvPr/>
        </p:nvSpPr>
        <p:spPr>
          <a:xfrm>
            <a:off x="4480560" y="5394960"/>
            <a:ext cx="3200400" cy="420600"/>
          </a:xfrm>
          <a:prstGeom prst="rect">
            <a:avLst/>
          </a:prstGeom>
          <a:solidFill>
            <a:srgbClr val="6B7B8C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da97859ded_0_45"/>
          <p:cNvSpPr/>
          <p:nvPr/>
        </p:nvSpPr>
        <p:spPr>
          <a:xfrm>
            <a:off x="4480560" y="5394960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a97859ded_0_45"/>
          <p:cNvSpPr/>
          <p:nvPr/>
        </p:nvSpPr>
        <p:spPr>
          <a:xfrm>
            <a:off x="6263640" y="5394960"/>
            <a:ext cx="141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recall, list, name</a:t>
            </a:r>
            <a:endParaRPr b="0" i="0" sz="1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8cad5b4db_0_393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7B2D3A"/>
          </a:solidFill>
          <a:ln cap="flat" cmpd="sng" w="16925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8cad5b4db_0_393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8cad5b4db_0_393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e8cad5b4db_0_393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6B7B8B"/>
          </a:solidFill>
          <a:ln cap="flat" cmpd="sng" w="16925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e8cad5b4db_0_393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 ·  L1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8cad5b4db_0_393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remember and recall previously learned facts</a:t>
            </a: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concepts</a:t>
            </a: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i="1" lang="en-ZA" sz="15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g3e8cad5b4db_0_393"/>
          <p:cNvCxnSpPr/>
          <p:nvPr/>
        </p:nvCxnSpPr>
        <p:spPr>
          <a:xfrm>
            <a:off x="463296" y="3124424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g3e8cad5b4db_0_393"/>
          <p:cNvSpPr/>
          <p:nvPr/>
        </p:nvSpPr>
        <p:spPr>
          <a:xfrm>
            <a:off x="487671" y="3643522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8cad5b4db_0_393"/>
          <p:cNvSpPr/>
          <p:nvPr/>
        </p:nvSpPr>
        <p:spPr>
          <a:xfrm>
            <a:off x="463196" y="3914544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4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 the five steps of the BPE algorithm used to create subword tokens from text data.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e8cad5b4db_0_393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8cad5b4db_0_393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8cad5b4db_0_393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e8cad5b4db_0_393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8cad5b4db_0_393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8cad5b4db_0_393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8cad5b4db_0_393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8cad5b4db_0_393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7A8FA0"/>
          </a:solidFill>
          <a:ln cap="flat" cmpd="sng" w="16925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8cad5b4db_0_393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  ·  L2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e8cad5b4db_0_393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explain information in your own words, demonstrating understanding of its meaning.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g3e8cad5b4db_0_393"/>
          <p:cNvCxnSpPr/>
          <p:nvPr/>
        </p:nvCxnSpPr>
        <p:spPr>
          <a:xfrm>
            <a:off x="6559196" y="3136174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g3e8cad5b4db_0_393"/>
          <p:cNvSpPr/>
          <p:nvPr/>
        </p:nvSpPr>
        <p:spPr>
          <a:xfrm>
            <a:off x="6559296" y="3633068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8cad5b4db_0_393"/>
          <p:cNvSpPr/>
          <p:nvPr/>
        </p:nvSpPr>
        <p:spPr>
          <a:xfrm>
            <a:off x="6486146" y="3883255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1467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Explain why word-level tokenization struggles with unknown words.</a:t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e8cad5b4db_0_393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8cad5b4db_0_393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e8cad5b4db_0_393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e8cad5b4db_0_393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Summarize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8cad5b4db_0_393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8cad5b4db_0_393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bee170f95_0_68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7B2D3A"/>
          </a:solidFill>
          <a:ln cap="flat" cmpd="sng" w="16925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bee170f95_0_68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bee170f95_0_68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ebee170f95_0_68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C4A47D"/>
          </a:solidFill>
          <a:ln cap="flat" cmpd="sng" w="16925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bee170f95_0_68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 ·  L3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bee170f95_0_68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apply knowledge in new situations by using what you know to solve problems.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g3ebee170f95_0_68"/>
          <p:cNvCxnSpPr/>
          <p:nvPr/>
        </p:nvCxnSpPr>
        <p:spPr>
          <a:xfrm>
            <a:off x="463196" y="3089274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g3ebee170f95_0_68"/>
          <p:cNvSpPr/>
          <p:nvPr/>
        </p:nvSpPr>
        <p:spPr>
          <a:xfrm>
            <a:off x="390146" y="357319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bee170f95_0_68"/>
          <p:cNvSpPr/>
          <p:nvPr/>
        </p:nvSpPr>
        <p:spPr>
          <a:xfrm>
            <a:off x="390146" y="3883255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1467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Apply the first three steps of the BPE algorithm to a small corpus.</a:t>
            </a:r>
            <a:endParaRPr sz="1467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sz="1467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bee170f95_0_68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bee170f95_0_68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Implement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ebee170f95_0_68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ebee170f95_0_68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ebee170f95_0_68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bee170f95_0_68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Solve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bee170f95_0_68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ebee170f95_0_68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D08E5A"/>
          </a:solidFill>
          <a:ln cap="flat" cmpd="sng" w="16925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bee170f95_0_68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 ·  L4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bee170f95_0_68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break complex information into parts and examine how those parts connect and relate to each other.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g3ebee170f95_0_68"/>
          <p:cNvCxnSpPr/>
          <p:nvPr/>
        </p:nvCxnSpPr>
        <p:spPr>
          <a:xfrm>
            <a:off x="6559296" y="3089270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g3ebee170f95_0_68"/>
          <p:cNvSpPr/>
          <p:nvPr/>
        </p:nvSpPr>
        <p:spPr>
          <a:xfrm>
            <a:off x="6556484" y="3578495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bee170f95_0_68"/>
          <p:cNvSpPr/>
          <p:nvPr/>
        </p:nvSpPr>
        <p:spPr>
          <a:xfrm>
            <a:off x="6559196" y="3882168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lang="en-ZA" sz="1467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Distinguish between the OOV problem in word-level tokenization and the long sequence problem in character-level tokenization. </a:t>
            </a:r>
            <a:endParaRPr b="0" i="0" sz="1467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bee170f95_0_68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bee170f95_0_68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bee170f95_0_68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ebee170f95_0_68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Distinguish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bee170f95_0_68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bee170f95_0_68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Examine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bee170f95_0_72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7B2D3A"/>
          </a:solidFill>
          <a:ln cap="flat" cmpd="sng" w="16925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bee170f95_0_72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bee170f95_0_72"/>
          <p:cNvSpPr/>
          <p:nvPr/>
        </p:nvSpPr>
        <p:spPr>
          <a:xfrm>
            <a:off x="255563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bee170f95_0_72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B75041"/>
          </a:solidFill>
          <a:ln cap="flat" cmpd="sng" w="16925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bee170f95_0_72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 ·  L5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bee170f95_0_72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make informed judgments using criteria and standards to assess the quality or validity of something.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g3ebee170f95_0_72"/>
          <p:cNvCxnSpPr/>
          <p:nvPr/>
        </p:nvCxnSpPr>
        <p:spPr>
          <a:xfrm>
            <a:off x="463196" y="328854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g3ebee170f95_0_72"/>
          <p:cNvSpPr/>
          <p:nvPr/>
        </p:nvSpPr>
        <p:spPr>
          <a:xfrm>
            <a:off x="463296" y="3633068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bee170f95_0_72"/>
          <p:cNvSpPr/>
          <p:nvPr/>
        </p:nvSpPr>
        <p:spPr>
          <a:xfrm>
            <a:off x="390146" y="393801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1467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Evaluate whether removing emojis from review data is a good preprocessing choice for a sentiment analysis task.</a:t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bee170f95_0_72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ebee170f95_0_72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ebee170f95_0_72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bee170f95_0_72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bee170f95_0_72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bee170f95_0_72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Argue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ebee170f95_0_72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ebee170f95_0_72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8A2F2E"/>
          </a:solidFill>
          <a:ln cap="flat" cmpd="sng" w="16925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ebee170f95_0_72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 ·  L6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bee170f95_0_72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highest level of thinking, involving combining elements to create something new, such as a product, plan, or idea.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g3ebee170f95_0_72"/>
          <p:cNvCxnSpPr/>
          <p:nvPr/>
        </p:nvCxnSpPr>
        <p:spPr>
          <a:xfrm>
            <a:off x="6559296" y="32533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g3ebee170f95_0_72"/>
          <p:cNvSpPr/>
          <p:nvPr/>
        </p:nvSpPr>
        <p:spPr>
          <a:xfrm>
            <a:off x="6559196" y="3631526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bee170f95_0_72"/>
          <p:cNvSpPr/>
          <p:nvPr/>
        </p:nvSpPr>
        <p:spPr>
          <a:xfrm>
            <a:off x="6559296" y="3900025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4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Design a 2D embedding map for ten words from your own language community.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bee170f95_0_72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bee170f95_0_72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ebee170f95_0_72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ebee170f95_0_72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bee170f95_0_72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ebee170f95_0_72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12"/>
          <p:cNvCxnSpPr/>
          <p:nvPr/>
        </p:nvCxnSpPr>
        <p:spPr>
          <a:xfrm>
            <a:off x="753533" y="2194975"/>
            <a:ext cx="10544731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12"/>
          <p:cNvSpPr/>
          <p:nvPr/>
        </p:nvSpPr>
        <p:spPr>
          <a:xfrm>
            <a:off x="457200" y="1017476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The Affective Domain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57200" y="2397735"/>
            <a:ext cx="11247000" cy="73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671732" y="2548963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B7E"/>
              </a:buClr>
              <a:buSzPts val="1400"/>
              <a:buFont typeface="Calibri"/>
              <a:buNone/>
            </a:pPr>
            <a:r>
              <a:rPr b="1" i="0" lang="en-ZA" sz="1400" u="none" cap="none" strike="noStrike">
                <a:solidFill>
                  <a:srgbClr val="5C8B7E"/>
                </a:solidFill>
                <a:latin typeface="Calibri"/>
                <a:ea typeface="Calibri"/>
                <a:cs typeface="Calibri"/>
                <a:sym typeface="Calibri"/>
              </a:rPr>
              <a:t>DEFINITION </a:t>
            </a:r>
            <a:r>
              <a:rPr b="1" lang="en-ZA">
                <a:solidFill>
                  <a:srgbClr val="5C8B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ZA" sz="1400" u="none" cap="none" strike="noStrike">
                <a:solidFill>
                  <a:srgbClr val="5C8B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ZA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The affective domain is about how learners develop values and ethics, from receiving information to internalizing it as part of their behaviour.</a:t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B7E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2878018" y="3702376"/>
            <a:ext cx="5486400" cy="530400"/>
          </a:xfrm>
          <a:prstGeom prst="rect">
            <a:avLst/>
          </a:prstGeom>
          <a:solidFill>
            <a:srgbClr val="244D44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2878018" y="3702376"/>
            <a:ext cx="2633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Internalize</a:t>
            </a:r>
            <a:endParaRPr b="0" i="0" sz="13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648650" y="3702376"/>
            <a:ext cx="2715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embody, act consistently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3220918" y="4305880"/>
            <a:ext cx="4800600" cy="530400"/>
          </a:xfrm>
          <a:prstGeom prst="rect">
            <a:avLst/>
          </a:prstGeom>
          <a:solidFill>
            <a:srgbClr val="3D6B5F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3220918" y="4305880"/>
            <a:ext cx="23043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Organize</a:t>
            </a:r>
            <a:endParaRPr b="0" i="0" sz="13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662366" y="4305880"/>
            <a:ext cx="2359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integrate, prioritize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3563818" y="4909384"/>
            <a:ext cx="4114800" cy="530400"/>
          </a:xfrm>
          <a:prstGeom prst="rect">
            <a:avLst/>
          </a:prstGeom>
          <a:solidFill>
            <a:srgbClr val="5C8B7E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3563818" y="4909384"/>
            <a:ext cx="197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3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5676082" y="4909384"/>
            <a:ext cx="2002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advocate, commit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3906718" y="5512888"/>
            <a:ext cx="3429000" cy="530400"/>
          </a:xfrm>
          <a:prstGeom prst="rect">
            <a:avLst/>
          </a:prstGeom>
          <a:solidFill>
            <a:srgbClr val="7FA08F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3906718" y="5512888"/>
            <a:ext cx="1645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3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5689798" y="5512888"/>
            <a:ext cx="1645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react, comply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249618" y="6116392"/>
            <a:ext cx="2743200" cy="530400"/>
          </a:xfrm>
          <a:prstGeom prst="rect">
            <a:avLst/>
          </a:prstGeom>
          <a:solidFill>
            <a:srgbClr val="9DB4A6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4249618" y="6116392"/>
            <a:ext cx="1316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endParaRPr b="0" i="0" sz="13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703514" y="6116392"/>
            <a:ext cx="1289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attend, observe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1090725" y="3707885"/>
            <a:ext cx="8572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ZA" sz="1100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Higher-order →</a:t>
            </a:r>
            <a:endParaRPr sz="11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bee170f95_0_76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2E5E4E"/>
          </a:solidFill>
          <a:ln cap="flat" cmpd="sng" w="16925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bee170f95_0_76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bee170f95_0_76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bee170f95_0_76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809F90"/>
          </a:solidFill>
          <a:ln cap="flat" cmpd="sng" w="16925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bee170f95_0_76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  ·  L1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ebee170f95_0_76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become aware of an attitude, behaviour, or value and show willingness to pay attention to it.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g3ebee170f95_0_76"/>
          <p:cNvCxnSpPr/>
          <p:nvPr/>
        </p:nvCxnSpPr>
        <p:spPr>
          <a:xfrm>
            <a:off x="463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g3ebee170f95_0_76"/>
          <p:cNvSpPr/>
          <p:nvPr/>
        </p:nvSpPr>
        <p:spPr>
          <a:xfrm>
            <a:off x="463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bee170f95_0_76"/>
          <p:cNvSpPr/>
          <p:nvPr/>
        </p:nvSpPr>
        <p:spPr>
          <a:xfrm>
            <a:off x="463296" y="325526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lang="en-ZA" sz="1467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Listen to a community member describe how they use an AI tool in daily life.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ebee170f95_0_76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ebee170f95_0_76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Attend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bee170f95_0_76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ebee170f95_0_76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ebee170f95_0_76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ebee170f95_0_76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Notice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ebee170f95_0_76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bee170f95_0_76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5C8A7D"/>
          </a:solidFill>
          <a:ln cap="flat" cmpd="sng" w="16925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ebee170f95_0_76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  ·  L2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ebee170f95_0_76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respond to a value or attitude and demonstrate active participation.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g3ebee170f95_0_76"/>
          <p:cNvCxnSpPr/>
          <p:nvPr/>
        </p:nvCxnSpPr>
        <p:spPr>
          <a:xfrm>
            <a:off x="6559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g3ebee170f95_0_76"/>
          <p:cNvSpPr/>
          <p:nvPr/>
        </p:nvSpPr>
        <p:spPr>
          <a:xfrm>
            <a:off x="6559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ebee170f95_0_76"/>
          <p:cNvSpPr/>
          <p:nvPr/>
        </p:nvSpPr>
        <p:spPr>
          <a:xfrm>
            <a:off x="6559296" y="325526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4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Discuss how a community is affected when an AI model does not understand their language.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ebee170f95_0_76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ebee170f95_0_76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Discuss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ebee170f95_0_76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ebee170f95_0_76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Contribute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ebee170f95_0_76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ebee170f95_0_76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bee170f95_0_80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2E5E4E"/>
          </a:solidFill>
          <a:ln cap="flat" cmpd="sng" w="16925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ebee170f95_0_80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bee170f95_0_80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ebee170f95_0_80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44685E"/>
          </a:solidFill>
          <a:ln cap="flat" cmpd="sng" w="16925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bee170f95_0_80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 ·  L3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ebee170f95_0_80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recognise and demonstrate a value through their involvement or commitment, showing that they care about it.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g3ebee170f95_0_80"/>
          <p:cNvCxnSpPr/>
          <p:nvPr/>
        </p:nvCxnSpPr>
        <p:spPr>
          <a:xfrm>
            <a:off x="463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g3ebee170f95_0_80"/>
          <p:cNvSpPr/>
          <p:nvPr/>
        </p:nvSpPr>
        <p:spPr>
          <a:xfrm>
            <a:off x="463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ebee170f95_0_80"/>
          <p:cNvSpPr/>
          <p:nvPr/>
        </p:nvSpPr>
        <p:spPr>
          <a:xfrm>
            <a:off x="463296" y="325526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4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Advocate for community members having a say in how their language and culture are represented in AI.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ebee170f95_0_80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ebee170f95_0_80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Advocate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ebee170f95_0_80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bee170f95_0_80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ebee170f95_0_80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ebee170f95_0_80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Justify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ebee170f95_0_80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ebee170f95_0_80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275749"/>
          </a:solidFill>
          <a:ln cap="flat" cmpd="sng" w="16925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ebee170f95_0_80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ORGANIZE  ·  L4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ebee170f95_0_80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determine priorities and resolve conflicts between different values, developing a personal value system.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g3ebee170f95_0_80"/>
          <p:cNvCxnSpPr/>
          <p:nvPr/>
        </p:nvCxnSpPr>
        <p:spPr>
          <a:xfrm>
            <a:off x="6559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g3ebee170f95_0_80"/>
          <p:cNvSpPr/>
          <p:nvPr/>
        </p:nvSpPr>
        <p:spPr>
          <a:xfrm>
            <a:off x="6559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00"/>
              <a:buFont typeface="Calibri"/>
              <a:buNone/>
            </a:pPr>
            <a:r>
              <a:rPr b="1" i="0" lang="en-ZA" sz="1500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ebee170f95_0_80"/>
          <p:cNvSpPr/>
          <p:nvPr/>
        </p:nvSpPr>
        <p:spPr>
          <a:xfrm>
            <a:off x="6559296" y="325526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1467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Prioritize local languages over convenience when choosing training data for an African AI project.</a:t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sz="1467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ebee170f95_0_80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ebee170f95_0_80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Prioritize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ebee170f95_0_80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ebee170f95_0_80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Integrate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ebee170f95_0_80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ebee170f95_0_80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bee170f95_0_84"/>
          <p:cNvSpPr/>
          <p:nvPr/>
        </p:nvSpPr>
        <p:spPr>
          <a:xfrm>
            <a:off x="0" y="0"/>
            <a:ext cx="12356700" cy="1112100"/>
          </a:xfrm>
          <a:prstGeom prst="rect">
            <a:avLst/>
          </a:prstGeom>
          <a:solidFill>
            <a:srgbClr val="2E5E4E"/>
          </a:solidFill>
          <a:ln cap="flat" cmpd="sng" w="1715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ebee170f95_0_84"/>
          <p:cNvSpPr/>
          <p:nvPr/>
        </p:nvSpPr>
        <p:spPr>
          <a:xfrm>
            <a:off x="494270" y="0"/>
            <a:ext cx="86496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3"/>
              <a:buFont typeface="Calibri"/>
              <a:buNone/>
            </a:pPr>
            <a:r>
              <a:rPr b="1" i="0" lang="en-ZA" sz="29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29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ebee170f95_0_84"/>
          <p:cNvSpPr/>
          <p:nvPr/>
        </p:nvSpPr>
        <p:spPr>
          <a:xfrm>
            <a:off x="2965619" y="1297459"/>
            <a:ext cx="6425700" cy="50664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7150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  <a:effectLst>
            <a:outerShdw blurRad="85811" rotWithShape="0" algn="bl" dir="2700000" dist="34324">
              <a:srgbClr val="000000">
                <a:alpha val="10199"/>
              </a:srgbClr>
            </a:outerShdw>
          </a:effectLst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ebee170f95_0_84"/>
          <p:cNvSpPr/>
          <p:nvPr/>
        </p:nvSpPr>
        <p:spPr>
          <a:xfrm>
            <a:off x="3113900" y="1445741"/>
            <a:ext cx="2718600" cy="444600"/>
          </a:xfrm>
          <a:prstGeom prst="roundRect">
            <a:avLst>
              <a:gd fmla="val 22222" name="adj"/>
            </a:avLst>
          </a:prstGeom>
          <a:solidFill>
            <a:srgbClr val="23241E"/>
          </a:solidFill>
          <a:ln cap="flat" cmpd="sng" w="17150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ebee170f95_0_84"/>
          <p:cNvSpPr/>
          <p:nvPr/>
        </p:nvSpPr>
        <p:spPr>
          <a:xfrm>
            <a:off x="3113900" y="1445741"/>
            <a:ext cx="2718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1"/>
              <a:buFont typeface="Calibri"/>
              <a:buNone/>
            </a:pPr>
            <a:r>
              <a:rPr b="1" i="0" lang="en-ZA" sz="13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INTERNALIZE  ·  L5</a:t>
            </a:r>
            <a:endParaRPr b="0" i="0" sz="13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ebee170f95_0_84"/>
          <p:cNvSpPr/>
          <p:nvPr/>
        </p:nvSpPr>
        <p:spPr>
          <a:xfrm>
            <a:off x="3188040" y="1989438"/>
            <a:ext cx="5980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16"/>
              <a:buFont typeface="Calibri"/>
              <a:buNone/>
            </a:pPr>
            <a:r>
              <a:rPr b="0" i="1" lang="en-ZA" sz="1516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act consistently with their internalized beliefs, making the value a natural part of their behaviour.</a:t>
            </a:r>
            <a:endParaRPr b="0" i="0" sz="1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g3ebee170f95_0_84"/>
          <p:cNvCxnSpPr/>
          <p:nvPr/>
        </p:nvCxnSpPr>
        <p:spPr>
          <a:xfrm>
            <a:off x="3188040" y="2940908"/>
            <a:ext cx="5980500" cy="0"/>
          </a:xfrm>
          <a:prstGeom prst="straightConnector1">
            <a:avLst/>
          </a:prstGeom>
          <a:noFill/>
          <a:ln cap="flat" cmpd="sng" w="1287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g3ebee170f95_0_84"/>
          <p:cNvSpPr/>
          <p:nvPr/>
        </p:nvSpPr>
        <p:spPr>
          <a:xfrm>
            <a:off x="3188040" y="3027405"/>
            <a:ext cx="59805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16"/>
              <a:buFont typeface="Calibri"/>
              <a:buNone/>
            </a:pPr>
            <a:r>
              <a:rPr b="1" i="0" lang="en-ZA" sz="1516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ebee170f95_0_84"/>
          <p:cNvSpPr/>
          <p:nvPr/>
        </p:nvSpPr>
        <p:spPr>
          <a:xfrm>
            <a:off x="3188040" y="3299254"/>
            <a:ext cx="59805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84"/>
              <a:buFont typeface="Calibri"/>
              <a:buNone/>
            </a:pPr>
            <a:r>
              <a:rPr b="0" i="0" lang="en-ZA" sz="1484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Embody the habit of asking who is affected by your AI tool before asking how well it performs.</a:t>
            </a:r>
            <a:endParaRPr b="0" i="0" sz="1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ebee170f95_0_84"/>
          <p:cNvSpPr/>
          <p:nvPr/>
        </p:nvSpPr>
        <p:spPr>
          <a:xfrm>
            <a:off x="3188040" y="5745892"/>
            <a:ext cx="1927800" cy="4077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875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ebee170f95_0_84"/>
          <p:cNvSpPr/>
          <p:nvPr/>
        </p:nvSpPr>
        <p:spPr>
          <a:xfrm>
            <a:off x="3188040" y="5745892"/>
            <a:ext cx="192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84"/>
              <a:buFont typeface="Calibri"/>
              <a:buNone/>
            </a:pPr>
            <a:r>
              <a:rPr b="0" i="0" lang="en-ZA" sz="1284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Embody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ebee170f95_0_84"/>
          <p:cNvSpPr/>
          <p:nvPr/>
        </p:nvSpPr>
        <p:spPr>
          <a:xfrm>
            <a:off x="5214546" y="5745892"/>
            <a:ext cx="1927800" cy="4077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875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ebee170f95_0_84"/>
          <p:cNvSpPr/>
          <p:nvPr/>
        </p:nvSpPr>
        <p:spPr>
          <a:xfrm>
            <a:off x="5214546" y="5745892"/>
            <a:ext cx="192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84"/>
              <a:buFont typeface="Calibri"/>
              <a:buNone/>
            </a:pPr>
            <a:r>
              <a:rPr b="0" i="0" lang="en-ZA" sz="1284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Maintain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ebee170f95_0_84"/>
          <p:cNvSpPr/>
          <p:nvPr/>
        </p:nvSpPr>
        <p:spPr>
          <a:xfrm>
            <a:off x="7241052" y="5745892"/>
            <a:ext cx="1927800" cy="4077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875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ebee170f95_0_84"/>
          <p:cNvSpPr/>
          <p:nvPr/>
        </p:nvSpPr>
        <p:spPr>
          <a:xfrm>
            <a:off x="7241052" y="5745892"/>
            <a:ext cx="192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84"/>
              <a:buFont typeface="Calibri"/>
              <a:buNone/>
            </a:pPr>
            <a:r>
              <a:rPr b="0" i="0" lang="en-ZA" sz="1284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Influence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g3e8cad5b4db_0_1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0" y="-11048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e8cad5b4db_0_1100"/>
          <p:cNvSpPr/>
          <p:nvPr/>
        </p:nvSpPr>
        <p:spPr>
          <a:xfrm>
            <a:off x="286075" y="-2124"/>
            <a:ext cx="109728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200"/>
              <a:buFont typeface="Calibri"/>
              <a:buNone/>
            </a:pPr>
            <a:r>
              <a:rPr b="1" lang="en-ZA" sz="1200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Worksheet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e8cad5b4db_0_1100"/>
          <p:cNvSpPr/>
          <p:nvPr/>
        </p:nvSpPr>
        <p:spPr>
          <a:xfrm>
            <a:off x="609550" y="266384"/>
            <a:ext cx="109728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Georgia"/>
              <a:buNone/>
            </a:pPr>
            <a:r>
              <a:rPr b="1" i="0" lang="en-ZA" sz="2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Online vs. Classroom Learning Objectives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e8cad5b4db_0_1100"/>
          <p:cNvSpPr/>
          <p:nvPr/>
        </p:nvSpPr>
        <p:spPr>
          <a:xfrm>
            <a:off x="609600" y="1202788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i="1" lang="en-Z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learning objective of online learning is to build basic knowledge, while the learning objective of classroom learning is to develop deeper thinking and more complex skills. </a:t>
            </a:r>
            <a:endParaRPr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e8cad5b4db_0_1100"/>
          <p:cNvSpPr/>
          <p:nvPr/>
        </p:nvSpPr>
        <p:spPr>
          <a:xfrm>
            <a:off x="356413" y="1938041"/>
            <a:ext cx="5303700" cy="4238100"/>
          </a:xfrm>
          <a:prstGeom prst="rect">
            <a:avLst/>
          </a:prstGeom>
          <a:solidFill>
            <a:srgbClr val="F8F4F0"/>
          </a:solidFill>
          <a:ln cap="flat" cmpd="sng" w="169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e8cad5b4db_0_1100"/>
          <p:cNvSpPr/>
          <p:nvPr/>
        </p:nvSpPr>
        <p:spPr>
          <a:xfrm>
            <a:off x="351692" y="1926336"/>
            <a:ext cx="5303700" cy="6339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e8cad5b4db_0_1100"/>
          <p:cNvSpPr/>
          <p:nvPr/>
        </p:nvSpPr>
        <p:spPr>
          <a:xfrm>
            <a:off x="557784" y="1950720"/>
            <a:ext cx="5120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COURSES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e8cad5b4db_0_1100"/>
          <p:cNvSpPr/>
          <p:nvPr/>
        </p:nvSpPr>
        <p:spPr>
          <a:xfrm>
            <a:off x="499413" y="2669957"/>
            <a:ext cx="1828800" cy="2928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8cad5b4db_0_1100"/>
          <p:cNvSpPr/>
          <p:nvPr/>
        </p:nvSpPr>
        <p:spPr>
          <a:xfrm>
            <a:off x="440806" y="2669957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(L1)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e8cad5b4db_0_1100"/>
          <p:cNvSpPr/>
          <p:nvPr/>
        </p:nvSpPr>
        <p:spPr>
          <a:xfrm>
            <a:off x="499466" y="3278236"/>
            <a:ext cx="5055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List the types of tokenization: sentence-level, word-level, character-level, and subword tokenization.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e8cad5b4db_0_1100"/>
          <p:cNvSpPr/>
          <p:nvPr/>
        </p:nvSpPr>
        <p:spPr>
          <a:xfrm>
            <a:off x="511144" y="3922825"/>
            <a:ext cx="1828800" cy="2928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e8cad5b4db_0_1100"/>
          <p:cNvSpPr/>
          <p:nvPr/>
        </p:nvSpPr>
        <p:spPr>
          <a:xfrm>
            <a:off x="499421" y="3922725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 (L2)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e8cad5b4db_0_1100"/>
          <p:cNvSpPr/>
          <p:nvPr/>
        </p:nvSpPr>
        <p:spPr>
          <a:xfrm>
            <a:off x="565113" y="4338901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e8cad5b4db_0_1100"/>
          <p:cNvSpPr/>
          <p:nvPr/>
        </p:nvSpPr>
        <p:spPr>
          <a:xfrm>
            <a:off x="499403" y="5193792"/>
            <a:ext cx="1828800" cy="2928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e8cad5b4db_0_1100"/>
          <p:cNvSpPr/>
          <p:nvPr/>
        </p:nvSpPr>
        <p:spPr>
          <a:xfrm>
            <a:off x="410321" y="5168725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(L3)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e8cad5b4db_0_1100"/>
          <p:cNvSpPr/>
          <p:nvPr/>
        </p:nvSpPr>
        <p:spPr>
          <a:xfrm>
            <a:off x="589080" y="5547452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e8cad5b4db_0_1100"/>
          <p:cNvSpPr/>
          <p:nvPr/>
        </p:nvSpPr>
        <p:spPr>
          <a:xfrm>
            <a:off x="6547050" y="1926325"/>
            <a:ext cx="5303700" cy="4343700"/>
          </a:xfrm>
          <a:prstGeom prst="rect">
            <a:avLst/>
          </a:prstGeom>
          <a:solidFill>
            <a:srgbClr val="F0F5F3"/>
          </a:solidFill>
          <a:ln cap="flat" cmpd="sng" w="169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e8cad5b4db_0_1100"/>
          <p:cNvSpPr/>
          <p:nvPr/>
        </p:nvSpPr>
        <p:spPr>
          <a:xfrm>
            <a:off x="6548511" y="1926336"/>
            <a:ext cx="5303700" cy="6339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e8cad5b4db_0_1100"/>
          <p:cNvSpPr/>
          <p:nvPr/>
        </p:nvSpPr>
        <p:spPr>
          <a:xfrm>
            <a:off x="6761871" y="1950720"/>
            <a:ext cx="5120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CLASSROOM SESSIONS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e8cad5b4db_0_1100"/>
          <p:cNvSpPr/>
          <p:nvPr/>
        </p:nvSpPr>
        <p:spPr>
          <a:xfrm>
            <a:off x="6696222" y="2706624"/>
            <a:ext cx="1828800" cy="2928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e8cad5b4db_0_1100"/>
          <p:cNvSpPr/>
          <p:nvPr/>
        </p:nvSpPr>
        <p:spPr>
          <a:xfrm>
            <a:off x="6731391" y="2706624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ZA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b="1" i="0" lang="en-Z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(L4)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e8cad5b4db_0_1100"/>
          <p:cNvSpPr/>
          <p:nvPr/>
        </p:nvSpPr>
        <p:spPr>
          <a:xfrm>
            <a:off x="6661060" y="3259953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Compare how two tokenizers split a word and identify which one better preserves its meaning.</a:t>
            </a:r>
            <a:endParaRPr sz="13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e8cad5b4db_0_1100"/>
          <p:cNvSpPr/>
          <p:nvPr/>
        </p:nvSpPr>
        <p:spPr>
          <a:xfrm>
            <a:off x="6719668" y="3950208"/>
            <a:ext cx="1828800" cy="2928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e8cad5b4db_0_1100"/>
          <p:cNvSpPr/>
          <p:nvPr/>
        </p:nvSpPr>
        <p:spPr>
          <a:xfrm>
            <a:off x="6672775" y="3950208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(L5)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e8cad5b4db_0_1100"/>
          <p:cNvSpPr/>
          <p:nvPr/>
        </p:nvSpPr>
        <p:spPr>
          <a:xfrm>
            <a:off x="6661060" y="4352601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e8cad5b4db_0_1100"/>
          <p:cNvSpPr/>
          <p:nvPr/>
        </p:nvSpPr>
        <p:spPr>
          <a:xfrm>
            <a:off x="6743122" y="5175575"/>
            <a:ext cx="1828800" cy="2928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e8cad5b4db_0_1100"/>
          <p:cNvSpPr/>
          <p:nvPr/>
        </p:nvSpPr>
        <p:spPr>
          <a:xfrm>
            <a:off x="6661060" y="5175575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(L6)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e8cad5b4db_0_1100"/>
          <p:cNvSpPr/>
          <p:nvPr/>
        </p:nvSpPr>
        <p:spPr>
          <a:xfrm>
            <a:off x="6661060" y="5538335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g3e8cad5b4db_0_1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e8cad5b4db_0_1170"/>
          <p:cNvSpPr/>
          <p:nvPr/>
        </p:nvSpPr>
        <p:spPr>
          <a:xfrm>
            <a:off x="609600" y="536448"/>
            <a:ext cx="1097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b="1" lang="en-ZA" sz="3600">
                <a:solidFill>
                  <a:srgbClr val="0C343D"/>
                </a:solidFill>
                <a:latin typeface="Georgia"/>
                <a:ea typeface="Georgia"/>
                <a:cs typeface="Georgia"/>
                <a:sym typeface="Georgia"/>
              </a:rPr>
              <a:t>Part 1 Recap</a:t>
            </a:r>
          </a:p>
        </p:txBody>
      </p:sp>
      <p:sp>
        <p:nvSpPr>
          <p:cNvPr id="614" name="Google Shape;614;g3e8cad5b4db_0_1170"/>
          <p:cNvSpPr/>
          <p:nvPr/>
        </p:nvSpPr>
        <p:spPr>
          <a:xfrm>
            <a:off x="609600" y="136550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e8cad5b4db_0_1170"/>
          <p:cNvSpPr/>
          <p:nvPr/>
        </p:nvSpPr>
        <p:spPr>
          <a:xfrm>
            <a:off x="609600" y="1365504"/>
            <a:ext cx="73200" cy="11217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e8cad5b4db_0_1170"/>
          <p:cNvSpPr/>
          <p:nvPr/>
        </p:nvSpPr>
        <p:spPr>
          <a:xfrm>
            <a:off x="877824" y="148742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C8973A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e8cad5b4db_0_1170"/>
          <p:cNvSpPr/>
          <p:nvPr/>
        </p:nvSpPr>
        <p:spPr>
          <a:xfrm>
            <a:off x="877824" y="180441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clear, specific statement describing what a learner should be able to do by the end, always beginning with an action verb.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e8cad5b4db_0_1170"/>
          <p:cNvSpPr/>
          <p:nvPr/>
        </p:nvSpPr>
        <p:spPr>
          <a:xfrm>
            <a:off x="609600" y="264566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8B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8cad5b4db_0_1170"/>
          <p:cNvSpPr/>
          <p:nvPr/>
        </p:nvSpPr>
        <p:spPr>
          <a:xfrm>
            <a:off x="609600" y="2645664"/>
            <a:ext cx="73200" cy="11217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e8cad5b4db_0_1170"/>
          <p:cNvSpPr/>
          <p:nvPr/>
        </p:nvSpPr>
        <p:spPr>
          <a:xfrm>
            <a:off x="877824" y="276758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35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8B2035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e8cad5b4db_0_1170"/>
          <p:cNvSpPr/>
          <p:nvPr/>
        </p:nvSpPr>
        <p:spPr>
          <a:xfrm>
            <a:off x="877824" y="308457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levels from Remember to Create, showing how learners develop knowledge and skills.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e8cad5b4db_0_1170"/>
          <p:cNvSpPr/>
          <p:nvPr/>
        </p:nvSpPr>
        <p:spPr>
          <a:xfrm>
            <a:off x="609600" y="392582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2D6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e8cad5b4db_0_1170"/>
          <p:cNvSpPr/>
          <p:nvPr/>
        </p:nvSpPr>
        <p:spPr>
          <a:xfrm>
            <a:off x="609600" y="3925824"/>
            <a:ext cx="73200" cy="11217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e8cad5b4db_0_1170"/>
          <p:cNvSpPr/>
          <p:nvPr/>
        </p:nvSpPr>
        <p:spPr>
          <a:xfrm>
            <a:off x="877824" y="404774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5C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2D6A5C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e8cad5b4db_0_1170"/>
          <p:cNvSpPr/>
          <p:nvPr/>
        </p:nvSpPr>
        <p:spPr>
          <a:xfrm>
            <a:off x="877824" y="4364736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levels from Receive to Internalize, showing how learners develop in values, ethics, and commitment.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e8cad5b4db_0_1170"/>
          <p:cNvSpPr/>
          <p:nvPr/>
        </p:nvSpPr>
        <p:spPr>
          <a:xfrm>
            <a:off x="609600" y="5205984"/>
            <a:ext cx="10972800" cy="1121700"/>
          </a:xfrm>
          <a:prstGeom prst="rect">
            <a:avLst/>
          </a:prstGeom>
          <a:solidFill>
            <a:schemeClr val="lt1"/>
          </a:solidFill>
          <a:ln cap="flat" cmpd="sng" w="16925">
            <a:solidFill>
              <a:srgbClr val="7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8cad5b4db_0_1170"/>
          <p:cNvSpPr/>
          <p:nvPr/>
        </p:nvSpPr>
        <p:spPr>
          <a:xfrm>
            <a:off x="609600" y="5205984"/>
            <a:ext cx="73200" cy="1121700"/>
          </a:xfrm>
          <a:prstGeom prst="rect">
            <a:avLst/>
          </a:prstGeom>
          <a:solidFill>
            <a:srgbClr val="7A5A9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8cad5b4db_0_1170"/>
          <p:cNvSpPr/>
          <p:nvPr/>
        </p:nvSpPr>
        <p:spPr>
          <a:xfrm>
            <a:off x="877824" y="5327904"/>
            <a:ext cx="2682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A9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7A5A9A"/>
                </a:solidFill>
                <a:latin typeface="Calibri"/>
                <a:ea typeface="Calibri"/>
                <a:cs typeface="Calibri"/>
                <a:sym typeface="Calibri"/>
              </a:rPr>
              <a:t>Online vs. Classroom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e8cad5b4db_0_1170"/>
          <p:cNvSpPr/>
          <p:nvPr/>
        </p:nvSpPr>
        <p:spPr>
          <a:xfrm>
            <a:off x="877825" y="5644900"/>
            <a:ext cx="104241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DD8"/>
              </a:buClr>
              <a:buSzPts val="15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learning covers lower levels (Remember to Apply), while classroom time focuses on higher levels like Analyze, Evaluate, and Create.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g3ec0db17601_0_4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g3ec0db17601_0_436"/>
          <p:cNvSpPr txBox="1"/>
          <p:nvPr/>
        </p:nvSpPr>
        <p:spPr>
          <a:xfrm>
            <a:off x="753534" y="2999033"/>
            <a:ext cx="93984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8000"/>
              <a:buFont typeface="Georgia"/>
              <a:buNone/>
            </a:pPr>
            <a:r>
              <a:rPr b="1" lang="en-ZA" sz="8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Part 2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8000"/>
              <a:buFont typeface="Georgia"/>
              <a:buNone/>
            </a:pPr>
            <a:r>
              <a:rPr b="1" lang="en-ZA" sz="8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vs RI Activities</a:t>
            </a:r>
          </a:p>
        </p:txBody>
      </p:sp>
      <p:pic>
        <p:nvPicPr>
          <p:cNvPr id="637" name="Google Shape;637;g3ec0db17601_0_4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141" y="383197"/>
            <a:ext cx="2033076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g3ec0db17601_0_4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8440" y="535714"/>
            <a:ext cx="2613661" cy="5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g3ec0db17601_0_4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9010" y="5669280"/>
            <a:ext cx="188383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g3ec0db17601_0_436"/>
          <p:cNvGrpSpPr/>
          <p:nvPr/>
        </p:nvGrpSpPr>
        <p:grpSpPr>
          <a:xfrm>
            <a:off x="763050" y="5899750"/>
            <a:ext cx="6501258" cy="410463"/>
            <a:chOff x="763050" y="5899750"/>
            <a:chExt cx="6501258" cy="410463"/>
          </a:xfrm>
        </p:grpSpPr>
        <p:sp>
          <p:nvSpPr>
            <p:cNvPr id="641" name="Google Shape;641;g3ec0db17601_0_436"/>
            <p:cNvSpPr/>
            <p:nvPr/>
          </p:nvSpPr>
          <p:spPr>
            <a:xfrm>
              <a:off x="763050" y="5899750"/>
              <a:ext cx="29553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ec0db17601_0_436"/>
            <p:cNvSpPr txBox="1"/>
            <p:nvPr/>
          </p:nvSpPr>
          <p:spPr>
            <a:xfrm>
              <a:off x="902397" y="5959075"/>
              <a:ext cx="26766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ZA" sz="1700">
                  <a:solidFill>
                    <a:schemeClr val="dk2"/>
                  </a:solidFill>
                </a:rPr>
                <a:t>Nigeria · Aug 2026</a:t>
              </a:r>
              <a:endParaRPr sz="1500"/>
            </a:p>
          </p:txBody>
        </p:sp>
        <p:sp>
          <p:nvSpPr>
            <p:cNvPr id="643" name="Google Shape;643;g3ec0db17601_0_436"/>
            <p:cNvSpPr/>
            <p:nvPr/>
          </p:nvSpPr>
          <p:spPr>
            <a:xfrm>
              <a:off x="3928308" y="5906113"/>
              <a:ext cx="33360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ec0db17601_0_436"/>
            <p:cNvSpPr txBox="1"/>
            <p:nvPr/>
          </p:nvSpPr>
          <p:spPr>
            <a:xfrm>
              <a:off x="3974350" y="5975050"/>
              <a:ext cx="3243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ZA" sz="1700">
                  <a:solidFill>
                    <a:schemeClr val="dk2"/>
                  </a:solidFill>
                </a:rPr>
                <a:t>AI Research Foundations</a:t>
              </a:r>
              <a:endParaRPr sz="1500"/>
            </a:p>
          </p:txBody>
        </p:sp>
      </p:grpSp>
      <p:pic>
        <p:nvPicPr>
          <p:cNvPr id="645" name="Google Shape;645;g3ec0db17601_0_4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4851" y="505175"/>
            <a:ext cx="1168078" cy="5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g3ec0db17601_0_4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ec0db17601_0_451"/>
          <p:cNvSpPr/>
          <p:nvPr/>
        </p:nvSpPr>
        <p:spPr>
          <a:xfrm>
            <a:off x="406547" y="529707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Two domains, two ladders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ec0db17601_0_451"/>
          <p:cNvSpPr/>
          <p:nvPr/>
        </p:nvSpPr>
        <p:spPr>
          <a:xfrm>
            <a:off x="487680" y="1741722"/>
            <a:ext cx="5547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rPr b="1" i="0" lang="en-ZA" sz="19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COGNITIVE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ec0db17601_0_451"/>
          <p:cNvSpPr/>
          <p:nvPr/>
        </p:nvSpPr>
        <p:spPr>
          <a:xfrm>
            <a:off x="6156960" y="1741689"/>
            <a:ext cx="5547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AFFECTIVE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ec0db17601_0_451"/>
          <p:cNvSpPr/>
          <p:nvPr/>
        </p:nvSpPr>
        <p:spPr>
          <a:xfrm>
            <a:off x="487680" y="2131833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ec0db17601_0_451"/>
          <p:cNvSpPr/>
          <p:nvPr/>
        </p:nvSpPr>
        <p:spPr>
          <a:xfrm>
            <a:off x="633984" y="2156217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g3ec0db17601_0_451"/>
          <p:cNvSpPr/>
          <p:nvPr/>
        </p:nvSpPr>
        <p:spPr>
          <a:xfrm>
            <a:off x="2255520" y="2156217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Retrieve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ec0db17601_0_451"/>
          <p:cNvSpPr/>
          <p:nvPr/>
        </p:nvSpPr>
        <p:spPr>
          <a:xfrm>
            <a:off x="487680" y="2643897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ec0db17601_0_451"/>
          <p:cNvSpPr/>
          <p:nvPr/>
        </p:nvSpPr>
        <p:spPr>
          <a:xfrm>
            <a:off x="633984" y="2668281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ec0db17601_0_451"/>
          <p:cNvSpPr/>
          <p:nvPr/>
        </p:nvSpPr>
        <p:spPr>
          <a:xfrm>
            <a:off x="2255520" y="2668281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ec0db17601_0_451"/>
          <p:cNvSpPr/>
          <p:nvPr/>
        </p:nvSpPr>
        <p:spPr>
          <a:xfrm>
            <a:off x="487680" y="3155961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ec0db17601_0_451"/>
          <p:cNvSpPr/>
          <p:nvPr/>
        </p:nvSpPr>
        <p:spPr>
          <a:xfrm>
            <a:off x="633984" y="3180345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ec0db17601_0_451"/>
          <p:cNvSpPr/>
          <p:nvPr/>
        </p:nvSpPr>
        <p:spPr>
          <a:xfrm>
            <a:off x="2255520" y="3180345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Execute a procedure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ec0db17601_0_451"/>
          <p:cNvSpPr/>
          <p:nvPr/>
        </p:nvSpPr>
        <p:spPr>
          <a:xfrm>
            <a:off x="487680" y="3668025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ec0db17601_0_451"/>
          <p:cNvSpPr/>
          <p:nvPr/>
        </p:nvSpPr>
        <p:spPr>
          <a:xfrm>
            <a:off x="633984" y="3692409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ec0db17601_0_451"/>
          <p:cNvSpPr/>
          <p:nvPr/>
        </p:nvSpPr>
        <p:spPr>
          <a:xfrm>
            <a:off x="2255520" y="3692409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Tune hyperparameters; compare training curves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ec0db17601_0_451"/>
          <p:cNvSpPr/>
          <p:nvPr/>
        </p:nvSpPr>
        <p:spPr>
          <a:xfrm>
            <a:off x="487680" y="4180089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ec0db17601_0_451"/>
          <p:cNvSpPr/>
          <p:nvPr/>
        </p:nvSpPr>
        <p:spPr>
          <a:xfrm>
            <a:off x="2255520" y="4204473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Judge competing design choices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ec0db17601_0_451"/>
          <p:cNvSpPr/>
          <p:nvPr/>
        </p:nvSpPr>
        <p:spPr>
          <a:xfrm>
            <a:off x="487680" y="4692153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ec0db17601_0_451"/>
          <p:cNvSpPr/>
          <p:nvPr/>
        </p:nvSpPr>
        <p:spPr>
          <a:xfrm>
            <a:off x="633984" y="4716537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ec0db17601_0_451"/>
          <p:cNvSpPr/>
          <p:nvPr/>
        </p:nvSpPr>
        <p:spPr>
          <a:xfrm>
            <a:off x="2255520" y="4716537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Design an MLP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ec0db17601_0_451"/>
          <p:cNvSpPr/>
          <p:nvPr/>
        </p:nvSpPr>
        <p:spPr>
          <a:xfrm>
            <a:off x="6156960" y="2131833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ec0db17601_0_451"/>
          <p:cNvSpPr/>
          <p:nvPr/>
        </p:nvSpPr>
        <p:spPr>
          <a:xfrm>
            <a:off x="6303264" y="2156217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g3ec0db17601_0_451"/>
          <p:cNvSpPr/>
          <p:nvPr/>
        </p:nvSpPr>
        <p:spPr>
          <a:xfrm>
            <a:off x="8107680" y="2156217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Listen / attend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ec0db17601_0_451"/>
          <p:cNvSpPr/>
          <p:nvPr/>
        </p:nvSpPr>
        <p:spPr>
          <a:xfrm>
            <a:off x="6156960" y="2643897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ec0db17601_0_451"/>
          <p:cNvSpPr/>
          <p:nvPr/>
        </p:nvSpPr>
        <p:spPr>
          <a:xfrm>
            <a:off x="6303264" y="2668281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ec0db17601_0_451"/>
          <p:cNvSpPr/>
          <p:nvPr/>
        </p:nvSpPr>
        <p:spPr>
          <a:xfrm>
            <a:off x="8107680" y="2668281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React / participate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ec0db17601_0_451"/>
          <p:cNvSpPr/>
          <p:nvPr/>
        </p:nvSpPr>
        <p:spPr>
          <a:xfrm>
            <a:off x="6156960" y="3155961"/>
            <a:ext cx="5547300" cy="4389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ec0db17601_0_451"/>
          <p:cNvSpPr/>
          <p:nvPr/>
        </p:nvSpPr>
        <p:spPr>
          <a:xfrm>
            <a:off x="6303264" y="3180345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ec0db17601_0_451"/>
          <p:cNvSpPr/>
          <p:nvPr/>
        </p:nvSpPr>
        <p:spPr>
          <a:xfrm>
            <a:off x="8107680" y="3180345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commitment to something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ec0db17601_0_451"/>
          <p:cNvSpPr/>
          <p:nvPr/>
        </p:nvSpPr>
        <p:spPr>
          <a:xfrm>
            <a:off x="6156960" y="3668025"/>
            <a:ext cx="5547300" cy="4389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ec0db17601_0_451"/>
          <p:cNvSpPr/>
          <p:nvPr/>
        </p:nvSpPr>
        <p:spPr>
          <a:xfrm>
            <a:off x="6303264" y="3692409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Organize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ec0db17601_0_451"/>
          <p:cNvSpPr/>
          <p:nvPr/>
        </p:nvSpPr>
        <p:spPr>
          <a:xfrm>
            <a:off x="8107680" y="3692409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ZA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different values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ec0db17601_0_451"/>
          <p:cNvSpPr/>
          <p:nvPr/>
        </p:nvSpPr>
        <p:spPr>
          <a:xfrm>
            <a:off x="6156960" y="4180089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ec0db17601_0_451"/>
          <p:cNvSpPr/>
          <p:nvPr/>
        </p:nvSpPr>
        <p:spPr>
          <a:xfrm>
            <a:off x="6303264" y="4204473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lang="en-ZA" sz="17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Internalize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ec0db17601_0_451"/>
          <p:cNvSpPr/>
          <p:nvPr/>
        </p:nvSpPr>
        <p:spPr>
          <a:xfrm>
            <a:off x="8107680" y="4204473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Integrate values into professional practice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ec0db17601_0_451"/>
          <p:cNvSpPr/>
          <p:nvPr/>
        </p:nvSpPr>
        <p:spPr>
          <a:xfrm>
            <a:off x="634004" y="4204491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ec0db17601_0_4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ec0db17601_0_492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UCL Lecturer 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Toolkit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ec0db17601_0_492"/>
          <p:cNvSpPr/>
          <p:nvPr/>
        </p:nvSpPr>
        <p:spPr>
          <a:xfrm>
            <a:off x="1860633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ec0db17601_0_492"/>
          <p:cNvSpPr/>
          <p:nvPr/>
        </p:nvSpPr>
        <p:spPr>
          <a:xfrm>
            <a:off x="2104473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01 (GCSB)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ec0db17601_0_492"/>
          <p:cNvSpPr/>
          <p:nvPr/>
        </p:nvSpPr>
        <p:spPr>
          <a:xfrm>
            <a:off x="2165433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Before class </a:t>
            </a:r>
            <a:r>
              <a:rPr b="1" lang="en-ZA" sz="2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Online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ec0db17601_0_492"/>
          <p:cNvSpPr/>
          <p:nvPr/>
        </p:nvSpPr>
        <p:spPr>
          <a:xfrm>
            <a:off x="2165433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Students complete the Spotlight activities on Google Cloud Skills Boost. Each one is tagged with a Conversational Framework verb and a Bloom level.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ec0db17601_0_492"/>
          <p:cNvSpPr/>
          <p:nvPr/>
        </p:nvSpPr>
        <p:spPr>
          <a:xfrm>
            <a:off x="6289611" y="2262644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ec0db17601_0_492"/>
          <p:cNvSpPr/>
          <p:nvPr/>
        </p:nvSpPr>
        <p:spPr>
          <a:xfrm>
            <a:off x="6533451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02 (Extend)</a:t>
            </a:r>
          </a:p>
        </p:txBody>
      </p:sp>
      <p:sp>
        <p:nvSpPr>
          <p:cNvPr id="701" name="Google Shape;701;g3ec0db17601_0_492"/>
          <p:cNvSpPr/>
          <p:nvPr/>
        </p:nvSpPr>
        <p:spPr>
          <a:xfrm>
            <a:off x="6594411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In class </a:t>
            </a:r>
            <a:r>
              <a:rPr b="1" lang="en-ZA" sz="2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Activity menu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ec0db17601_0_492"/>
          <p:cNvSpPr/>
          <p:nvPr/>
        </p:nvSpPr>
        <p:spPr>
          <a:xfrm>
            <a:off x="6594411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lecturer builds the session from the toolkit's pool of AI (cognitive) and RI (affective) activities, all on UCL Extend.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g3ec0db17601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3ec0db17601_0_506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Toolkit on UCL Extend</a:t>
            </a:r>
          </a:p>
        </p:txBody>
      </p:sp>
      <p:sp>
        <p:nvSpPr>
          <p:cNvPr id="710" name="Google Shape;710;g3ec0db17601_0_506"/>
          <p:cNvSpPr/>
          <p:nvPr/>
        </p:nvSpPr>
        <p:spPr>
          <a:xfrm>
            <a:off x="812521" y="1600200"/>
            <a:ext cx="9456300" cy="3611880"/>
          </a:xfrm>
          <a:prstGeom prst="roundRect">
            <a:avLst>
              <a:gd fmla="val 1980" name="adj"/>
            </a:avLst>
          </a:prstGeom>
          <a:solidFill>
            <a:schemeClr val="dk2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ec0db17601_0_506"/>
          <p:cNvSpPr/>
          <p:nvPr/>
        </p:nvSpPr>
        <p:spPr>
          <a:xfrm>
            <a:off x="1129588" y="1828800"/>
            <a:ext cx="88224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UCL Extend  ·  extend.ucl.ac.uk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Session 0  …  Session 9        (one course page per session)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Session guide: handbook-style wrap-around material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AI activities   ·  Short / Medium / Long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RI activities   ·  Short / Medium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Slides: ready-to-present lecturer deck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└── Notebooks: Student + Teacher (.ipynb)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5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└── Templates: reusable session-plan &amp; adaptation templates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g3ec0db17601_0_5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ec0db17601_0_514"/>
          <p:cNvSpPr/>
          <p:nvPr/>
        </p:nvSpPr>
        <p:spPr>
          <a:xfrm>
            <a:off x="413500" y="2149867"/>
            <a:ext cx="3666000" cy="3046800"/>
          </a:xfrm>
          <a:prstGeom prst="roundRect">
            <a:avLst>
              <a:gd fmla="val 3279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ec0db17601_0_514"/>
          <p:cNvSpPr/>
          <p:nvPr/>
        </p:nvSpPr>
        <p:spPr>
          <a:xfrm>
            <a:off x="743276" y="2489525"/>
            <a:ext cx="717900" cy="739500"/>
          </a:xfrm>
          <a:prstGeom prst="ellipse">
            <a:avLst/>
          </a:prstGeom>
          <a:solidFill>
            <a:srgbClr val="2E1B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0" name="Google Shape;720;g3ec0db17601_0_5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8" y="2689123"/>
            <a:ext cx="330165" cy="3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g3ec0db17601_0_514"/>
          <p:cNvSpPr/>
          <p:nvPr/>
        </p:nvSpPr>
        <p:spPr>
          <a:xfrm>
            <a:off x="743276" y="3368639"/>
            <a:ext cx="308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300"/>
              <a:buFont typeface="Cambria"/>
              <a:buNone/>
            </a:pPr>
            <a:r>
              <a:rPr b="1" i="0" lang="en-ZA" sz="23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Slides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ec0db17601_0_514"/>
          <p:cNvSpPr/>
          <p:nvPr/>
        </p:nvSpPr>
        <p:spPr>
          <a:xfrm>
            <a:off x="743276" y="3826745"/>
            <a:ext cx="308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600"/>
              <a:buFont typeface="Calibri"/>
              <a:buNone/>
            </a:pPr>
            <a:r>
              <a:rPr b="1" i="0" lang="en-ZA" sz="16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10 decks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3ec0db17601_0_514"/>
          <p:cNvSpPr/>
          <p:nvPr/>
        </p:nvSpPr>
        <p:spPr>
          <a:xfrm>
            <a:off x="743276" y="4147854"/>
            <a:ext cx="30651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One ready-to-present lecturer deck for every session, 0 through 9.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ec0db17601_0_514"/>
          <p:cNvSpPr/>
          <p:nvPr/>
        </p:nvSpPr>
        <p:spPr>
          <a:xfrm>
            <a:off x="4370817" y="2149867"/>
            <a:ext cx="3666000" cy="3046800"/>
          </a:xfrm>
          <a:prstGeom prst="roundRect">
            <a:avLst>
              <a:gd fmla="val 3279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ec0db17601_0_514"/>
          <p:cNvSpPr/>
          <p:nvPr/>
        </p:nvSpPr>
        <p:spPr>
          <a:xfrm>
            <a:off x="4700593" y="2489525"/>
            <a:ext cx="717900" cy="739500"/>
          </a:xfrm>
          <a:prstGeom prst="ellipse">
            <a:avLst/>
          </a:prstGeom>
          <a:solidFill>
            <a:srgbClr val="2E1B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6" name="Google Shape;726;g3ec0db17601_0_5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4385" y="2689123"/>
            <a:ext cx="330165" cy="3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ec0db17601_0_514"/>
          <p:cNvSpPr/>
          <p:nvPr/>
        </p:nvSpPr>
        <p:spPr>
          <a:xfrm>
            <a:off x="4700593" y="3368639"/>
            <a:ext cx="308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300"/>
              <a:buFont typeface="Cambria"/>
              <a:buNone/>
            </a:pPr>
            <a:r>
              <a:rPr b="1" i="0" lang="en-ZA" sz="23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Learning Activities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ec0db17601_0_514"/>
          <p:cNvSpPr/>
          <p:nvPr/>
        </p:nvSpPr>
        <p:spPr>
          <a:xfrm>
            <a:off x="4700593" y="3865273"/>
            <a:ext cx="308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600"/>
              <a:buFont typeface="Calibri"/>
              <a:buNone/>
            </a:pPr>
            <a:r>
              <a:rPr b="1" i="0" lang="en-ZA" sz="16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10 session pages</a:t>
            </a:r>
          </a:p>
        </p:txBody>
      </p:sp>
      <p:sp>
        <p:nvSpPr>
          <p:cNvPr id="729" name="Google Shape;729;g3ec0db17601_0_514"/>
          <p:cNvSpPr/>
          <p:nvPr/>
        </p:nvSpPr>
        <p:spPr>
          <a:xfrm>
            <a:off x="4700593" y="4147854"/>
            <a:ext cx="30651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AI and Responsible Innovation activities for each session, in Short, Medium and Long formats, wrapped in handbook-style guidance.</a:t>
            </a:r>
          </a:p>
        </p:txBody>
      </p:sp>
      <p:sp>
        <p:nvSpPr>
          <p:cNvPr id="730" name="Google Shape;730;g3ec0db17601_0_514"/>
          <p:cNvSpPr/>
          <p:nvPr/>
        </p:nvSpPr>
        <p:spPr>
          <a:xfrm>
            <a:off x="8328134" y="2149867"/>
            <a:ext cx="3666000" cy="3046800"/>
          </a:xfrm>
          <a:prstGeom prst="roundRect">
            <a:avLst>
              <a:gd fmla="val 3279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ec0db17601_0_514"/>
          <p:cNvSpPr/>
          <p:nvPr/>
        </p:nvSpPr>
        <p:spPr>
          <a:xfrm>
            <a:off x="8657910" y="2489525"/>
            <a:ext cx="717900" cy="739500"/>
          </a:xfrm>
          <a:prstGeom prst="ellipse">
            <a:avLst/>
          </a:prstGeom>
          <a:solidFill>
            <a:srgbClr val="2E1B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2" name="Google Shape;732;g3ec0db17601_0_5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1702" y="2689123"/>
            <a:ext cx="330165" cy="3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g3ec0db17601_0_514"/>
          <p:cNvSpPr/>
          <p:nvPr/>
        </p:nvSpPr>
        <p:spPr>
          <a:xfrm>
            <a:off x="8657910" y="3368639"/>
            <a:ext cx="308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300"/>
              <a:buFont typeface="Cambria"/>
              <a:buNone/>
            </a:pPr>
            <a:r>
              <a:rPr b="1" i="0" lang="en-ZA" sz="23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Notebooks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ec0db17601_0_514"/>
          <p:cNvSpPr/>
          <p:nvPr/>
        </p:nvSpPr>
        <p:spPr>
          <a:xfrm>
            <a:off x="8657910" y="3865273"/>
            <a:ext cx="308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600"/>
              <a:buFont typeface="Calibri"/>
              <a:buNone/>
            </a:pPr>
            <a:r>
              <a:rPr b="1" i="0" lang="en-ZA" sz="16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21 files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ec0db17601_0_514"/>
          <p:cNvSpPr/>
          <p:nvPr/>
        </p:nvSpPr>
        <p:spPr>
          <a:xfrm>
            <a:off x="8657910" y="4147854"/>
            <a:ext cx="30651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Jupyter labs for the AI Long activities, in Student and Teacher versions, plus real datasets.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ec0db17601_0_514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One home for everything: UCL Extend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484632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Access: extend.ucl.ac.uk. Enrolment details will be shared during the workshop.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g3ec0db17601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g3ec0db17601_0_538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Toolkit activities: AI &amp; RI</a:t>
            </a:r>
          </a:p>
        </p:txBody>
      </p:sp>
      <p:sp>
        <p:nvSpPr>
          <p:cNvPr id="744" name="Google Shape;744;g3ec0db17601_0_538"/>
          <p:cNvSpPr/>
          <p:nvPr/>
        </p:nvSpPr>
        <p:spPr>
          <a:xfrm>
            <a:off x="668233" y="2465667"/>
            <a:ext cx="5292000" cy="2781900"/>
          </a:xfrm>
          <a:prstGeom prst="roundRect">
            <a:avLst>
              <a:gd fmla="val 2985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ec0db17601_0_538"/>
          <p:cNvSpPr/>
          <p:nvPr/>
        </p:nvSpPr>
        <p:spPr>
          <a:xfrm>
            <a:off x="993900" y="2806100"/>
            <a:ext cx="705600" cy="670500"/>
          </a:xfrm>
          <a:prstGeom prst="ellipse">
            <a:avLst/>
          </a:prstGeom>
          <a:solidFill>
            <a:srgbClr val="3F6FB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6" name="Google Shape;746;g3ec0db17601_0_5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415" y="2987156"/>
            <a:ext cx="324580" cy="30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g3ec0db17601_0_538"/>
          <p:cNvSpPr/>
          <p:nvPr/>
        </p:nvSpPr>
        <p:spPr>
          <a:xfrm>
            <a:off x="1862341" y="2806104"/>
            <a:ext cx="38445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400"/>
              <a:buFont typeface="Cambria"/>
              <a:buNone/>
            </a:pPr>
            <a:r>
              <a:rPr b="1" i="0" lang="en-ZA" sz="24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AI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ec0db17601_0_538"/>
          <p:cNvSpPr/>
          <p:nvPr/>
        </p:nvSpPr>
        <p:spPr>
          <a:xfrm>
            <a:off x="1862341" y="3096826"/>
            <a:ext cx="384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1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Technical skills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ec0db17601_0_538"/>
          <p:cNvSpPr/>
          <p:nvPr/>
        </p:nvSpPr>
        <p:spPr>
          <a:xfrm>
            <a:off x="1048177" y="3561890"/>
            <a:ext cx="45504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4130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Machine-learning foundations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Embeddings and neural networks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Mini-hackathons and end-to-end labs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Formats: Short </a:t>
            </a:r>
            <a:r>
              <a:rPr lang="en-ZA" sz="17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Medium </a:t>
            </a:r>
            <a:r>
              <a:rPr lang="en-ZA" sz="17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Long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Long activities come with lab notebooks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ec0db17601_0_538"/>
          <p:cNvSpPr/>
          <p:nvPr/>
        </p:nvSpPr>
        <p:spPr>
          <a:xfrm>
            <a:off x="6168367" y="2465667"/>
            <a:ext cx="5292000" cy="2781900"/>
          </a:xfrm>
          <a:prstGeom prst="roundRect">
            <a:avLst>
              <a:gd fmla="val 2985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ec0db17601_0_538"/>
          <p:cNvSpPr/>
          <p:nvPr/>
        </p:nvSpPr>
        <p:spPr>
          <a:xfrm>
            <a:off x="6494033" y="2806101"/>
            <a:ext cx="705600" cy="670500"/>
          </a:xfrm>
          <a:prstGeom prst="ellipse">
            <a:avLst/>
          </a:prstGeom>
          <a:solidFill>
            <a:srgbClr val="B582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2" name="Google Shape;752;g3ec0db17601_0_5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4548" y="2987156"/>
            <a:ext cx="324580" cy="30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ec0db17601_0_538"/>
          <p:cNvSpPr/>
          <p:nvPr/>
        </p:nvSpPr>
        <p:spPr>
          <a:xfrm>
            <a:off x="7362474" y="2843490"/>
            <a:ext cx="38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400"/>
              <a:buFont typeface="Cambria"/>
              <a:buNone/>
            </a:pPr>
            <a:r>
              <a:rPr b="1" i="0" lang="en-ZA" sz="24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RI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3ec0db17601_0_538"/>
          <p:cNvSpPr/>
          <p:nvPr/>
        </p:nvSpPr>
        <p:spPr>
          <a:xfrm>
            <a:off x="7362474" y="3096826"/>
            <a:ext cx="384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alibri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Responsible innovation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3ec0db17601_0_538"/>
          <p:cNvSpPr/>
          <p:nvPr/>
        </p:nvSpPr>
        <p:spPr>
          <a:xfrm>
            <a:off x="6548310" y="3561890"/>
            <a:ext cx="45504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4130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Ethics and responsibility in AI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Societal impact and fairness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Reflection and structured discussion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Formats: Short - Medium</a:t>
            </a:r>
            <a:r>
              <a:rPr lang="en-ZA" sz="17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41300" marR="0" rtl="0" algn="l"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Facilitation guides</a:t>
            </a:r>
            <a:r>
              <a:rPr lang="en-ZA" sz="17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g3ec0db17601_0_5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3ec0db17601_0_556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Long labs &amp; notebooks</a:t>
            </a:r>
          </a:p>
        </p:txBody>
      </p:sp>
      <p:sp>
        <p:nvSpPr>
          <p:cNvPr id="763" name="Google Shape;763;g3ec0db17601_0_556"/>
          <p:cNvSpPr/>
          <p:nvPr/>
        </p:nvSpPr>
        <p:spPr>
          <a:xfrm>
            <a:off x="360312" y="1238300"/>
            <a:ext cx="49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1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AI Long activity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ec0db17601_0_556"/>
          <p:cNvSpPr/>
          <p:nvPr/>
        </p:nvSpPr>
        <p:spPr>
          <a:xfrm>
            <a:off x="6189863" y="1238300"/>
            <a:ext cx="511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700"/>
              <a:buFont typeface="Calibri"/>
              <a:buNone/>
            </a:pPr>
            <a:r>
              <a:rPr b="1" i="0" lang="en-ZA" sz="1700" u="none" cap="none" strike="noStrike">
                <a:solidFill>
                  <a:srgbClr val="2E1B52"/>
                </a:solidFill>
                <a:latin typeface="Calibri"/>
                <a:ea typeface="Calibri"/>
                <a:cs typeface="Calibri"/>
                <a:sym typeface="Calibri"/>
              </a:rPr>
              <a:t>Lab notebook  ·  Student + Teacher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ec0db17601_0_556"/>
          <p:cNvSpPr/>
          <p:nvPr/>
        </p:nvSpPr>
        <p:spPr>
          <a:xfrm>
            <a:off x="170733" y="1750364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ec0db17601_0_556"/>
          <p:cNvSpPr/>
          <p:nvPr/>
        </p:nvSpPr>
        <p:spPr>
          <a:xfrm>
            <a:off x="360312" y="1793036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3ec0db17601_0_556"/>
          <p:cNvSpPr/>
          <p:nvPr/>
        </p:nvSpPr>
        <p:spPr>
          <a:xfrm>
            <a:off x="360312" y="1793036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1.7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ec0db17601_0_556"/>
          <p:cNvSpPr/>
          <p:nvPr/>
        </p:nvSpPr>
        <p:spPr>
          <a:xfrm>
            <a:off x="1450391" y="1750364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Machine-learning lab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ec0db17601_0_556"/>
          <p:cNvSpPr/>
          <p:nvPr/>
        </p:nvSpPr>
        <p:spPr>
          <a:xfrm>
            <a:off x="5431548" y="1750364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ec0db17601_0_556"/>
          <p:cNvSpPr/>
          <p:nvPr/>
        </p:nvSpPr>
        <p:spPr>
          <a:xfrm>
            <a:off x="6189863" y="1750364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1.7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ec0db17601_0_556"/>
          <p:cNvSpPr/>
          <p:nvPr/>
        </p:nvSpPr>
        <p:spPr>
          <a:xfrm>
            <a:off x="360312" y="2372155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3ec0db17601_0_556"/>
          <p:cNvSpPr/>
          <p:nvPr/>
        </p:nvSpPr>
        <p:spPr>
          <a:xfrm>
            <a:off x="360312" y="2372155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2.6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ec0db17601_0_556"/>
          <p:cNvSpPr/>
          <p:nvPr/>
        </p:nvSpPr>
        <p:spPr>
          <a:xfrm>
            <a:off x="1450391" y="2329483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Mini-hackathon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ec0db17601_0_556"/>
          <p:cNvSpPr/>
          <p:nvPr/>
        </p:nvSpPr>
        <p:spPr>
          <a:xfrm>
            <a:off x="5431548" y="2329483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ec0db17601_0_556"/>
          <p:cNvSpPr/>
          <p:nvPr/>
        </p:nvSpPr>
        <p:spPr>
          <a:xfrm>
            <a:off x="6189863" y="2329483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2.6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ec0db17601_0_556"/>
          <p:cNvSpPr/>
          <p:nvPr/>
        </p:nvSpPr>
        <p:spPr>
          <a:xfrm>
            <a:off x="170733" y="2908603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ec0db17601_0_556"/>
          <p:cNvSpPr/>
          <p:nvPr/>
        </p:nvSpPr>
        <p:spPr>
          <a:xfrm>
            <a:off x="360312" y="2951275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ec0db17601_0_556"/>
          <p:cNvSpPr/>
          <p:nvPr/>
        </p:nvSpPr>
        <p:spPr>
          <a:xfrm>
            <a:off x="360312" y="2951275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2.7A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ec0db17601_0_556"/>
          <p:cNvSpPr/>
          <p:nvPr/>
        </p:nvSpPr>
        <p:spPr>
          <a:xfrm>
            <a:off x="1450391" y="2908603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Small-embeddings lab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ec0db17601_0_556"/>
          <p:cNvSpPr/>
          <p:nvPr/>
        </p:nvSpPr>
        <p:spPr>
          <a:xfrm>
            <a:off x="5431548" y="2908603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ec0db17601_0_556"/>
          <p:cNvSpPr/>
          <p:nvPr/>
        </p:nvSpPr>
        <p:spPr>
          <a:xfrm>
            <a:off x="6189863" y="2908603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2.7A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3ec0db17601_0_556"/>
          <p:cNvSpPr/>
          <p:nvPr/>
        </p:nvSpPr>
        <p:spPr>
          <a:xfrm>
            <a:off x="360312" y="3530394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3ec0db17601_0_556"/>
          <p:cNvSpPr/>
          <p:nvPr/>
        </p:nvSpPr>
        <p:spPr>
          <a:xfrm>
            <a:off x="360312" y="3530394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3.7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3ec0db17601_0_556"/>
          <p:cNvSpPr/>
          <p:nvPr/>
        </p:nvSpPr>
        <p:spPr>
          <a:xfrm>
            <a:off x="1450391" y="3487722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Neural Network Training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3ec0db17601_0_556"/>
          <p:cNvSpPr/>
          <p:nvPr/>
        </p:nvSpPr>
        <p:spPr>
          <a:xfrm>
            <a:off x="5431548" y="3487722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3ec0db17601_0_556"/>
          <p:cNvSpPr/>
          <p:nvPr/>
        </p:nvSpPr>
        <p:spPr>
          <a:xfrm>
            <a:off x="6189863" y="3487722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3.7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3ec0db17601_0_556"/>
          <p:cNvSpPr/>
          <p:nvPr/>
        </p:nvSpPr>
        <p:spPr>
          <a:xfrm>
            <a:off x="170733" y="4066842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ec0db17601_0_556"/>
          <p:cNvSpPr/>
          <p:nvPr/>
        </p:nvSpPr>
        <p:spPr>
          <a:xfrm>
            <a:off x="360312" y="4109514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3ec0db17601_0_556"/>
          <p:cNvSpPr/>
          <p:nvPr/>
        </p:nvSpPr>
        <p:spPr>
          <a:xfrm>
            <a:off x="360312" y="4109514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4.6A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ec0db17601_0_556"/>
          <p:cNvSpPr/>
          <p:nvPr/>
        </p:nvSpPr>
        <p:spPr>
          <a:xfrm>
            <a:off x="1450391" y="4066842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From-embeddings lab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ec0db17601_0_556"/>
          <p:cNvSpPr/>
          <p:nvPr/>
        </p:nvSpPr>
        <p:spPr>
          <a:xfrm>
            <a:off x="5431548" y="4066842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ec0db17601_0_556"/>
          <p:cNvSpPr/>
          <p:nvPr/>
        </p:nvSpPr>
        <p:spPr>
          <a:xfrm>
            <a:off x="6189863" y="4066842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4.6A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3ec0db17601_0_556"/>
          <p:cNvSpPr/>
          <p:nvPr/>
        </p:nvSpPr>
        <p:spPr>
          <a:xfrm>
            <a:off x="360312" y="4688633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ec0db17601_0_556"/>
          <p:cNvSpPr/>
          <p:nvPr/>
        </p:nvSpPr>
        <p:spPr>
          <a:xfrm>
            <a:off x="360312" y="4688633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5.6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ec0db17601_0_556"/>
          <p:cNvSpPr/>
          <p:nvPr/>
        </p:nvSpPr>
        <p:spPr>
          <a:xfrm>
            <a:off x="1450391" y="4645961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Session 5 lab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ec0db17601_0_556"/>
          <p:cNvSpPr/>
          <p:nvPr/>
        </p:nvSpPr>
        <p:spPr>
          <a:xfrm>
            <a:off x="5431548" y="4645961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ec0db17601_0_556"/>
          <p:cNvSpPr/>
          <p:nvPr/>
        </p:nvSpPr>
        <p:spPr>
          <a:xfrm>
            <a:off x="6189863" y="4645961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5.6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ec0db17601_0_556"/>
          <p:cNvSpPr/>
          <p:nvPr/>
        </p:nvSpPr>
        <p:spPr>
          <a:xfrm>
            <a:off x="170733" y="5225081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ec0db17601_0_556"/>
          <p:cNvSpPr/>
          <p:nvPr/>
        </p:nvSpPr>
        <p:spPr>
          <a:xfrm>
            <a:off x="360312" y="5267753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ec0db17601_0_556"/>
          <p:cNvSpPr/>
          <p:nvPr/>
        </p:nvSpPr>
        <p:spPr>
          <a:xfrm>
            <a:off x="360312" y="5267753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6.6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ec0db17601_0_556"/>
          <p:cNvSpPr/>
          <p:nvPr/>
        </p:nvSpPr>
        <p:spPr>
          <a:xfrm>
            <a:off x="1450391" y="5225081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Session 6 lab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3ec0db17601_0_556"/>
          <p:cNvSpPr/>
          <p:nvPr/>
        </p:nvSpPr>
        <p:spPr>
          <a:xfrm>
            <a:off x="5431548" y="5225081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ec0db17601_0_556"/>
          <p:cNvSpPr/>
          <p:nvPr/>
        </p:nvSpPr>
        <p:spPr>
          <a:xfrm>
            <a:off x="6189863" y="5225081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6.6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ec0db17601_0_556"/>
          <p:cNvSpPr/>
          <p:nvPr/>
        </p:nvSpPr>
        <p:spPr>
          <a:xfrm>
            <a:off x="360312" y="5846872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ec0db17601_0_556"/>
          <p:cNvSpPr/>
          <p:nvPr/>
        </p:nvSpPr>
        <p:spPr>
          <a:xfrm>
            <a:off x="360312" y="5846872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7.6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ec0db17601_0_556"/>
          <p:cNvSpPr/>
          <p:nvPr/>
        </p:nvSpPr>
        <p:spPr>
          <a:xfrm>
            <a:off x="1450391" y="5804200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Session 7 lab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ec0db17601_0_556"/>
          <p:cNvSpPr/>
          <p:nvPr/>
        </p:nvSpPr>
        <p:spPr>
          <a:xfrm>
            <a:off x="5431548" y="5804200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1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ec0db17601_0_556"/>
          <p:cNvSpPr/>
          <p:nvPr/>
        </p:nvSpPr>
        <p:spPr>
          <a:xfrm>
            <a:off x="6189863" y="5804200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6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7.6  </a:t>
            </a:r>
            <a:r>
              <a:rPr b="0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6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6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g3ec0db17601_0_6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g3ec0db17601_0_608"/>
          <p:cNvSpPr/>
          <p:nvPr/>
        </p:nvSpPr>
        <p:spPr>
          <a:xfrm>
            <a:off x="501213" y="759640"/>
            <a:ext cx="8534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Two Pillars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ec0db17601_0_608"/>
          <p:cNvSpPr/>
          <p:nvPr/>
        </p:nvSpPr>
        <p:spPr>
          <a:xfrm>
            <a:off x="487667" y="2012300"/>
            <a:ext cx="5547300" cy="25800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ec0db17601_0_608"/>
          <p:cNvSpPr/>
          <p:nvPr/>
        </p:nvSpPr>
        <p:spPr>
          <a:xfrm>
            <a:off x="792480" y="2256151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ec0db17601_0_608"/>
          <p:cNvSpPr/>
          <p:nvPr/>
        </p:nvSpPr>
        <p:spPr>
          <a:xfrm>
            <a:off x="792480" y="2865751"/>
            <a:ext cx="499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Cognitive domain  </a:t>
            </a:r>
            <a:r>
              <a:rPr b="1" lang="en-ZA" sz="1300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ZA" sz="13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  Technical  </a:t>
            </a:r>
            <a:r>
              <a:rPr b="1" lang="en-ZA" sz="1300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ZA" sz="13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  Hands-on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g3ec0db17601_0_608"/>
          <p:cNvSpPr/>
          <p:nvPr/>
        </p:nvSpPr>
        <p:spPr>
          <a:xfrm>
            <a:off x="792480" y="3292471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rPr b="0" i="1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“How does it work?”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ec0db17601_0_608"/>
          <p:cNvSpPr/>
          <p:nvPr/>
        </p:nvSpPr>
        <p:spPr>
          <a:xfrm>
            <a:off x="792480" y="3780151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Asks learners to implement, compute, train, compare, or design something technical.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3ec0db17601_0_608"/>
          <p:cNvSpPr/>
          <p:nvPr/>
        </p:nvSpPr>
        <p:spPr>
          <a:xfrm>
            <a:off x="6156967" y="2012303"/>
            <a:ext cx="5547300" cy="25800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ec0db17601_0_608"/>
          <p:cNvSpPr/>
          <p:nvPr/>
        </p:nvSpPr>
        <p:spPr>
          <a:xfrm>
            <a:off x="6461760" y="2256151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g3ec0db17601_0_608"/>
          <p:cNvSpPr/>
          <p:nvPr/>
        </p:nvSpPr>
        <p:spPr>
          <a:xfrm>
            <a:off x="6461760" y="2865751"/>
            <a:ext cx="499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Affective domain  </a:t>
            </a:r>
            <a:r>
              <a:rPr b="1" lang="en-ZA" sz="1300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ZA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  Ethical  </a:t>
            </a:r>
            <a:r>
              <a:rPr b="1" lang="en-ZA" sz="1300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ZA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  Reflective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g3ec0db17601_0_608"/>
          <p:cNvSpPr/>
          <p:nvPr/>
        </p:nvSpPr>
        <p:spPr>
          <a:xfrm>
            <a:off x="6461760" y="3292471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rPr b="0" i="1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“Who does it affect </a:t>
            </a:r>
            <a:r>
              <a:rPr i="1" lang="en-ZA" sz="2000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0" i="1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 and why does that matter?”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g3ec0db17601_0_608"/>
          <p:cNvSpPr/>
          <p:nvPr/>
        </p:nvSpPr>
        <p:spPr>
          <a:xfrm>
            <a:off x="6461760" y="3780151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Asks learners to reflect, discuss, evaluate values, map stakeholders, or surface missing voices.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oogle Shape;831;g3ec0db17601_0_6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g3ec0db17601_0_624"/>
          <p:cNvSpPr/>
          <p:nvPr/>
        </p:nvSpPr>
        <p:spPr>
          <a:xfrm>
            <a:off x="518280" y="570307"/>
            <a:ext cx="8534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1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Build Your Own SLM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3ec0db17601_0_624"/>
          <p:cNvSpPr/>
          <p:nvPr/>
        </p:nvSpPr>
        <p:spPr>
          <a:xfrm>
            <a:off x="5182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ec0db17601_0_624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ec0db17601_0_624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ec0db17601_0_624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3ec0db17601_0_624"/>
          <p:cNvSpPr/>
          <p:nvPr/>
        </p:nvSpPr>
        <p:spPr>
          <a:xfrm>
            <a:off x="761867" y="4007066"/>
            <a:ext cx="4998900" cy="12783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ec0db17601_0_624"/>
          <p:cNvSpPr/>
          <p:nvPr/>
        </p:nvSpPr>
        <p:spPr>
          <a:xfrm>
            <a:off x="975367" y="4145367"/>
            <a:ext cx="46329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Experiment with N-grams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 probabilistic next-word predictor and test its limits on a small corpus.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ec0db17601_0_624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ec0db17601_0_624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g3ec0db17601_0_624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g3ec0db17601_0_624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g3ec0db17601_0_624"/>
          <p:cNvSpPr/>
          <p:nvPr/>
        </p:nvSpPr>
        <p:spPr>
          <a:xfrm>
            <a:off x="6431167" y="4007033"/>
            <a:ext cx="4998900" cy="12783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ec0db17601_0_624"/>
          <p:cNvSpPr/>
          <p:nvPr/>
        </p:nvSpPr>
        <p:spPr>
          <a:xfrm>
            <a:off x="6644767" y="4096967"/>
            <a:ext cx="46329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Applying a local ethical lens to the trolley problem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Explore your own ethical framework: thoughts, feelings, and values.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g3ec0db17601_0_6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g3ec0db17601_0_642"/>
          <p:cNvSpPr/>
          <p:nvPr/>
        </p:nvSpPr>
        <p:spPr>
          <a:xfrm>
            <a:off x="487667" y="653033"/>
            <a:ext cx="112443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2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Represent Your Language Data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3ec0db17601_0_642"/>
          <p:cNvSpPr/>
          <p:nvPr/>
        </p:nvSpPr>
        <p:spPr>
          <a:xfrm>
            <a:off x="487680" y="2385848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ec0db17601_0_642"/>
          <p:cNvSpPr/>
          <p:nvPr/>
        </p:nvSpPr>
        <p:spPr>
          <a:xfrm>
            <a:off x="792480" y="2629688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g3ec0db17601_0_642"/>
          <p:cNvSpPr/>
          <p:nvPr/>
        </p:nvSpPr>
        <p:spPr>
          <a:xfrm>
            <a:off x="792480" y="3666008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g3ec0db17601_0_642"/>
          <p:cNvSpPr/>
          <p:nvPr/>
        </p:nvSpPr>
        <p:spPr>
          <a:xfrm>
            <a:off x="792480" y="4153688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ec0db17601_0_642"/>
          <p:cNvSpPr/>
          <p:nvPr/>
        </p:nvSpPr>
        <p:spPr>
          <a:xfrm>
            <a:off x="792467" y="4017003"/>
            <a:ext cx="4998900" cy="14316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ec0db17601_0_642"/>
          <p:cNvSpPr/>
          <p:nvPr/>
        </p:nvSpPr>
        <p:spPr>
          <a:xfrm>
            <a:off x="975367" y="3726967"/>
            <a:ext cx="46329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Implement a BPE Tokenizer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Iteratively merge subword tokens on a small corpus to see how modern </a:t>
            </a:r>
            <a:r>
              <a:rPr lang="en-ZA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tokenizers</a:t>
            </a: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learn.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ec0db17601_0_642"/>
          <p:cNvSpPr/>
          <p:nvPr/>
        </p:nvSpPr>
        <p:spPr>
          <a:xfrm>
            <a:off x="6156960" y="2385848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ec0db17601_0_642"/>
          <p:cNvSpPr/>
          <p:nvPr/>
        </p:nvSpPr>
        <p:spPr>
          <a:xfrm>
            <a:off x="6461760" y="2629688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ec0db17601_0_642"/>
          <p:cNvSpPr/>
          <p:nvPr/>
        </p:nvSpPr>
        <p:spPr>
          <a:xfrm>
            <a:off x="6461760" y="4153688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g3ec0db17601_0_642"/>
          <p:cNvSpPr/>
          <p:nvPr/>
        </p:nvSpPr>
        <p:spPr>
          <a:xfrm>
            <a:off x="6461767" y="4017200"/>
            <a:ext cx="4998900" cy="14316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ec0db17601_0_642"/>
          <p:cNvSpPr/>
          <p:nvPr/>
        </p:nvSpPr>
        <p:spPr>
          <a:xfrm>
            <a:off x="6644633" y="3928230"/>
            <a:ext cx="46329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Whose voice is missing?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Reflect on the exclusion introduced by dataset selection when training LLMs.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g3ec0db17601_0_6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823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g3ec0db17601_0_659"/>
          <p:cNvSpPr/>
          <p:nvPr/>
        </p:nvSpPr>
        <p:spPr>
          <a:xfrm>
            <a:off x="487667" y="644667"/>
            <a:ext cx="114813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3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Design &amp; Train Neural Networks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3ec0db17601_0_659"/>
          <p:cNvSpPr/>
          <p:nvPr/>
        </p:nvSpPr>
        <p:spPr>
          <a:xfrm>
            <a:off x="4876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ec0db17601_0_659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g3ec0db17601_0_659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g3ec0db17601_0_659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ec0db17601_0_659"/>
          <p:cNvSpPr/>
          <p:nvPr/>
        </p:nvSpPr>
        <p:spPr>
          <a:xfrm>
            <a:off x="792467" y="4145367"/>
            <a:ext cx="4998900" cy="15696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ec0db17601_0_659"/>
          <p:cNvSpPr/>
          <p:nvPr/>
        </p:nvSpPr>
        <p:spPr>
          <a:xfrm>
            <a:off x="975367" y="4206233"/>
            <a:ext cx="46329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Mitigate Overfitting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Apply early stopping, dropout and regularization to build models that generalise.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ec0db17601_0_659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ec0db17601_0_659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ec0db17601_0_659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ec0db17601_0_659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ec0db17601_0_659"/>
          <p:cNvSpPr/>
          <p:nvPr/>
        </p:nvSpPr>
        <p:spPr>
          <a:xfrm>
            <a:off x="6461767" y="4145367"/>
            <a:ext cx="4998900" cy="15696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ec0db17601_0_659"/>
          <p:cNvSpPr/>
          <p:nvPr/>
        </p:nvSpPr>
        <p:spPr>
          <a:xfrm>
            <a:off x="6644767" y="4267399"/>
            <a:ext cx="46329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Anticipating risks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What can be learned from the challenges identified for LLMs in the research literature?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g3ec0db17601_0_6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00" y="105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g3ec0db17601_0_677"/>
          <p:cNvSpPr/>
          <p:nvPr/>
        </p:nvSpPr>
        <p:spPr>
          <a:xfrm>
            <a:off x="302167" y="722600"/>
            <a:ext cx="122709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4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 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Discover the Transformer Architecture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ec0db17601_0_677"/>
          <p:cNvSpPr/>
          <p:nvPr/>
        </p:nvSpPr>
        <p:spPr>
          <a:xfrm>
            <a:off x="4876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ec0db17601_0_677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3ec0db17601_0_677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ec0db17601_0_677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ec0db17601_0_677"/>
          <p:cNvSpPr/>
          <p:nvPr/>
        </p:nvSpPr>
        <p:spPr>
          <a:xfrm>
            <a:off x="871300" y="4007064"/>
            <a:ext cx="4998900" cy="14451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ec0db17601_0_677"/>
          <p:cNvSpPr/>
          <p:nvPr/>
        </p:nvSpPr>
        <p:spPr>
          <a:xfrm>
            <a:off x="1105921" y="4037920"/>
            <a:ext cx="46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Implement Masked Multi-Head Attention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Extend a single attention head and investigate which dependencies different heads capture.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ec0db17601_0_677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3ec0db17601_0_677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ec0db17601_0_677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ec0db17601_0_677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ec0db17601_0_677"/>
          <p:cNvSpPr/>
          <p:nvPr/>
        </p:nvSpPr>
        <p:spPr>
          <a:xfrm>
            <a:off x="6461767" y="4007066"/>
            <a:ext cx="4998900" cy="14451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ec0db17601_0_677"/>
          <p:cNvSpPr/>
          <p:nvPr/>
        </p:nvSpPr>
        <p:spPr>
          <a:xfrm>
            <a:off x="6644633" y="3779531"/>
            <a:ext cx="4632900" cy="16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Community values and meaning in an automated world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How do human interactions create shared meaning, and what may be lost when automated?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g3ec0db17601_0_6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g3ec0db17601_0_695"/>
          <p:cNvSpPr/>
          <p:nvPr/>
        </p:nvSpPr>
        <p:spPr>
          <a:xfrm>
            <a:off x="487665" y="516133"/>
            <a:ext cx="95496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5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Fine-Tune Your Model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ec0db17601_0_695"/>
          <p:cNvSpPr/>
          <p:nvPr/>
        </p:nvSpPr>
        <p:spPr>
          <a:xfrm>
            <a:off x="4876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ec0db17601_0_695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ec0db17601_0_695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ec0db17601_0_695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ec0db17601_0_695"/>
          <p:cNvSpPr/>
          <p:nvPr/>
        </p:nvSpPr>
        <p:spPr>
          <a:xfrm>
            <a:off x="792467" y="3851508"/>
            <a:ext cx="4998900" cy="16461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ec0db17601_0_695"/>
          <p:cNvSpPr/>
          <p:nvPr/>
        </p:nvSpPr>
        <p:spPr>
          <a:xfrm>
            <a:off x="975367" y="3915206"/>
            <a:ext cx="46329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ZA" sz="1900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How will your model respond?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ZA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Work out by hand how to format prompts for different tasks.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ec0db17601_0_695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ec0db17601_0_695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ec0db17601_0_695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g3ec0db17601_0_695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ec0db17601_0_695"/>
          <p:cNvSpPr/>
          <p:nvPr/>
        </p:nvSpPr>
        <p:spPr>
          <a:xfrm>
            <a:off x="6461767" y="3816917"/>
            <a:ext cx="4998900" cy="17067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ec0db17601_0_695"/>
          <p:cNvSpPr/>
          <p:nvPr/>
        </p:nvSpPr>
        <p:spPr>
          <a:xfrm>
            <a:off x="6644633" y="3941382"/>
            <a:ext cx="46329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ZA" sz="1900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Imagining AI in cultural contexts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ZA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Write a short story exploring local values and meanings around AI in your context.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g3ec0db17601_0_7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ec0db17601_0_713"/>
          <p:cNvSpPr/>
          <p:nvPr/>
        </p:nvSpPr>
        <p:spPr>
          <a:xfrm>
            <a:off x="487667" y="387300"/>
            <a:ext cx="97335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7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 Accelerate Your Model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ec0db17601_0_713"/>
          <p:cNvSpPr/>
          <p:nvPr/>
        </p:nvSpPr>
        <p:spPr>
          <a:xfrm>
            <a:off x="487667" y="1959258"/>
            <a:ext cx="5547300" cy="40761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ec0db17601_0_713"/>
          <p:cNvSpPr/>
          <p:nvPr/>
        </p:nvSpPr>
        <p:spPr>
          <a:xfrm>
            <a:off x="792467" y="2235581"/>
            <a:ext cx="4998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ec0db17601_0_713"/>
          <p:cNvSpPr/>
          <p:nvPr/>
        </p:nvSpPr>
        <p:spPr>
          <a:xfrm>
            <a:off x="792467" y="3409952"/>
            <a:ext cx="4998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ec0db17601_0_713"/>
          <p:cNvSpPr/>
          <p:nvPr/>
        </p:nvSpPr>
        <p:spPr>
          <a:xfrm>
            <a:off x="792467" y="3962598"/>
            <a:ext cx="49989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ec0db17601_0_713"/>
          <p:cNvSpPr/>
          <p:nvPr/>
        </p:nvSpPr>
        <p:spPr>
          <a:xfrm>
            <a:off x="792467" y="3691748"/>
            <a:ext cx="4998900" cy="18075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ec0db17601_0_713"/>
          <p:cNvSpPr/>
          <p:nvPr/>
        </p:nvSpPr>
        <p:spPr>
          <a:xfrm>
            <a:off x="975333" y="3494685"/>
            <a:ext cx="46329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ZA" sz="1900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Smart numbers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ZA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Reason through how lower-precision numbers let you train bigger, more powerful models.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ec0db17601_0_713"/>
          <p:cNvSpPr/>
          <p:nvPr/>
        </p:nvSpPr>
        <p:spPr>
          <a:xfrm>
            <a:off x="6156957" y="1959258"/>
            <a:ext cx="5547300" cy="40761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ec0db17601_0_713"/>
          <p:cNvSpPr/>
          <p:nvPr/>
        </p:nvSpPr>
        <p:spPr>
          <a:xfrm>
            <a:off x="6461757" y="2235581"/>
            <a:ext cx="4998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ec0db17601_0_713"/>
          <p:cNvSpPr/>
          <p:nvPr/>
        </p:nvSpPr>
        <p:spPr>
          <a:xfrm>
            <a:off x="6461757" y="3409952"/>
            <a:ext cx="4998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ec0db17601_0_713"/>
          <p:cNvSpPr/>
          <p:nvPr/>
        </p:nvSpPr>
        <p:spPr>
          <a:xfrm>
            <a:off x="6461757" y="3962598"/>
            <a:ext cx="49989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ec0db17601_0_713"/>
          <p:cNvSpPr/>
          <p:nvPr/>
        </p:nvSpPr>
        <p:spPr>
          <a:xfrm>
            <a:off x="6461767" y="3686700"/>
            <a:ext cx="4998900" cy="18651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ec0db17601_0_713"/>
          <p:cNvSpPr/>
          <p:nvPr/>
        </p:nvSpPr>
        <p:spPr>
          <a:xfrm>
            <a:off x="6644767" y="3691737"/>
            <a:ext cx="4632900" cy="15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ZA" sz="1900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Environmental impacts of LLMs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ZA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Map how stakeholders are affected by the environmental costs of fine-tuning LLMs.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g3ec0db17601_0_7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ec0db17601_0_731"/>
          <p:cNvSpPr/>
          <p:nvPr/>
        </p:nvSpPr>
        <p:spPr>
          <a:xfrm>
            <a:off x="487680" y="1225290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Classify an Activity, AI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? RI?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Which level?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3ec0db17601_0_731"/>
          <p:cNvSpPr/>
          <p:nvPr/>
        </p:nvSpPr>
        <p:spPr>
          <a:xfrm>
            <a:off x="487680" y="2536336"/>
            <a:ext cx="5547300" cy="24993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ec0db17601_0_731"/>
          <p:cNvSpPr/>
          <p:nvPr/>
        </p:nvSpPr>
        <p:spPr>
          <a:xfrm>
            <a:off x="487680" y="2536336"/>
            <a:ext cx="5547300" cy="390000"/>
          </a:xfrm>
          <a:prstGeom prst="rect">
            <a:avLst/>
          </a:prstGeom>
          <a:solidFill>
            <a:srgbClr val="0E6E8A"/>
          </a:solidFill>
          <a:ln cap="flat" cmpd="sng" w="16925">
            <a:solidFill>
              <a:srgbClr val="0E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ec0db17601_0_731"/>
          <p:cNvSpPr/>
          <p:nvPr/>
        </p:nvSpPr>
        <p:spPr>
          <a:xfrm>
            <a:off x="670560" y="2585104"/>
            <a:ext cx="51816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ZA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g3ec0db17601_0_731"/>
          <p:cNvSpPr/>
          <p:nvPr/>
        </p:nvSpPr>
        <p:spPr>
          <a:xfrm>
            <a:off x="572534" y="3084989"/>
            <a:ext cx="534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Georgia"/>
              <a:buNone/>
            </a:pPr>
            <a:r>
              <a:rPr b="0" i="1" lang="en-ZA" sz="15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r>
              <a:rPr i="1" lang="en-ZA" sz="1500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Train a convolutional neural network to classify maize leaf images as healthy, blighted, or rust-infected using a labelled dataset of 5,000 photographs from Kenyan smallholder farms</a:t>
            </a:r>
            <a:r>
              <a:rPr b="0" i="1" lang="en-ZA" sz="15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ec0db17601_0_731"/>
          <p:cNvSpPr/>
          <p:nvPr/>
        </p:nvSpPr>
        <p:spPr>
          <a:xfrm>
            <a:off x="731520" y="4365136"/>
            <a:ext cx="914400" cy="390000"/>
          </a:xfrm>
          <a:prstGeom prst="roundRect">
            <a:avLst>
              <a:gd fmla="val 37500" name="adj"/>
            </a:avLst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ec0db17601_0_731"/>
          <p:cNvSpPr/>
          <p:nvPr/>
        </p:nvSpPr>
        <p:spPr>
          <a:xfrm>
            <a:off x="731520" y="4365136"/>
            <a:ext cx="914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ec0db17601_0_731"/>
          <p:cNvSpPr/>
          <p:nvPr/>
        </p:nvSpPr>
        <p:spPr>
          <a:xfrm>
            <a:off x="1767840" y="4365136"/>
            <a:ext cx="1463100" cy="390000"/>
          </a:xfrm>
          <a:prstGeom prst="roundRect">
            <a:avLst>
              <a:gd fmla="val 37500" name="adj"/>
            </a:avLst>
          </a:prstGeom>
          <a:solidFill>
            <a:srgbClr val="F4F2F8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ec0db17601_0_731"/>
          <p:cNvSpPr/>
          <p:nvPr/>
        </p:nvSpPr>
        <p:spPr>
          <a:xfrm>
            <a:off x="1767840" y="4365136"/>
            <a:ext cx="1463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ec0db17601_0_731"/>
          <p:cNvSpPr/>
          <p:nvPr/>
        </p:nvSpPr>
        <p:spPr>
          <a:xfrm>
            <a:off x="6156960" y="2536336"/>
            <a:ext cx="5547300" cy="24993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g3ec0db17601_0_731"/>
          <p:cNvSpPr/>
          <p:nvPr/>
        </p:nvSpPr>
        <p:spPr>
          <a:xfrm>
            <a:off x="6156960" y="2536336"/>
            <a:ext cx="5547300" cy="390000"/>
          </a:xfrm>
          <a:prstGeom prst="rect">
            <a:avLst/>
          </a:prstGeom>
          <a:solidFill>
            <a:srgbClr val="B45309"/>
          </a:solidFill>
          <a:ln cap="flat" cmpd="sng" w="169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g3ec0db17601_0_731"/>
          <p:cNvSpPr/>
          <p:nvPr/>
        </p:nvSpPr>
        <p:spPr>
          <a:xfrm>
            <a:off x="6339840" y="2585104"/>
            <a:ext cx="51816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ZA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ec0db17601_0_731"/>
          <p:cNvSpPr/>
          <p:nvPr/>
        </p:nvSpPr>
        <p:spPr>
          <a:xfrm>
            <a:off x="6400800" y="3024016"/>
            <a:ext cx="5181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Georgia"/>
              <a:buNone/>
            </a:pPr>
            <a:r>
              <a:rPr b="0" i="1" lang="en-ZA" sz="15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“If your model misdiagnoses a smallholder farmer's only crop, who bears the cost?”</a:t>
            </a:r>
            <a:r>
              <a:rPr i="1" lang="en-ZA" sz="1500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g3ec0db17601_0_731"/>
          <p:cNvSpPr/>
          <p:nvPr/>
        </p:nvSpPr>
        <p:spPr>
          <a:xfrm>
            <a:off x="6400800" y="4365136"/>
            <a:ext cx="914400" cy="390000"/>
          </a:xfrm>
          <a:prstGeom prst="roundRect">
            <a:avLst>
              <a:gd fmla="val 37500" name="adj"/>
            </a:avLst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g3ec0db17601_0_731"/>
          <p:cNvSpPr/>
          <p:nvPr/>
        </p:nvSpPr>
        <p:spPr>
          <a:xfrm>
            <a:off x="6400800" y="4365136"/>
            <a:ext cx="914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RI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g3ec0db17601_0_731"/>
          <p:cNvSpPr/>
          <p:nvPr/>
        </p:nvSpPr>
        <p:spPr>
          <a:xfrm>
            <a:off x="7437120" y="4365136"/>
            <a:ext cx="1463100" cy="390000"/>
          </a:xfrm>
          <a:prstGeom prst="roundRect">
            <a:avLst>
              <a:gd fmla="val 37500" name="adj"/>
            </a:avLst>
          </a:prstGeom>
          <a:solidFill>
            <a:srgbClr val="F4F2F8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g3ec0db17601_0_731"/>
          <p:cNvSpPr/>
          <p:nvPr/>
        </p:nvSpPr>
        <p:spPr>
          <a:xfrm>
            <a:off x="7437120" y="4365136"/>
            <a:ext cx="1463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1500"/>
              <a:buFont typeface="Calibri"/>
              <a:buNone/>
            </a:pPr>
            <a:r>
              <a:rPr lang="en-ZA" sz="1500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g3ec0db17601_0_7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ec0db17601_0_753"/>
          <p:cNvSpPr txBox="1"/>
          <p:nvPr/>
        </p:nvSpPr>
        <p:spPr>
          <a:xfrm>
            <a:off x="74400" y="229967"/>
            <a:ext cx="11693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Activity! Scan this QR code.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9" name="Google Shape;969;g3ec0db17601_0_7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0083" y="1563650"/>
            <a:ext cx="3691833" cy="37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ec0db17601_0_7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4900"/>
            </a:srgbClr>
          </a:solidFill>
          <a:ln cap="flat" cmpd="sng" w="16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ec0db17601_0_760"/>
          <p:cNvSpPr/>
          <p:nvPr/>
        </p:nvSpPr>
        <p:spPr>
          <a:xfrm>
            <a:off x="487680" y="1463040"/>
            <a:ext cx="10972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Georgia"/>
              <a:buNone/>
            </a:pPr>
            <a:r>
              <a:rPr b="1" i="0" lang="en-ZA" sz="5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lost?</a:t>
            </a:r>
            <a:endParaRPr b="0" i="0" sz="5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ec0db17601_0_760"/>
          <p:cNvSpPr/>
          <p:nvPr/>
        </p:nvSpPr>
        <p:spPr>
          <a:xfrm>
            <a:off x="487680" y="2743200"/>
            <a:ext cx="112167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0" i="1" lang="en-ZA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You are teaching Course 4. 90-minute class. You run only the attention-equation implementation and skip the community-values discussion because time is tight.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ec0db17601_0_760"/>
          <p:cNvSpPr/>
          <p:nvPr/>
        </p:nvSpPr>
        <p:spPr>
          <a:xfrm>
            <a:off x="487680" y="4572000"/>
            <a:ext cx="112167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4F5"/>
              </a:buClr>
              <a:buSzPts val="1600"/>
              <a:buFont typeface="Calibri"/>
              <a:buChar char="•"/>
            </a:pPr>
            <a:r>
              <a:rPr b="0" i="0" lang="en-ZA" sz="1600" u="none" cap="none" strike="noStrike">
                <a:solidFill>
                  <a:srgbClr val="E8E4F5"/>
                </a:solidFill>
                <a:latin typeface="Calibri"/>
                <a:ea typeface="Calibri"/>
                <a:cs typeface="Calibri"/>
                <a:sym typeface="Calibri"/>
              </a:rPr>
              <a:t>Students can build the system but have no framework for asking whether they should.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500"/>
              </a:spcBef>
              <a:spcAft>
                <a:spcPts val="0"/>
              </a:spcAft>
              <a:buClr>
                <a:srgbClr val="E8E4F5"/>
              </a:buClr>
              <a:buSzPts val="1600"/>
              <a:buFont typeface="Calibri"/>
              <a:buChar char="•"/>
            </a:pPr>
            <a:r>
              <a:rPr b="0" i="0" lang="en-ZA" sz="1600" u="none" cap="none" strike="noStrike">
                <a:solidFill>
                  <a:srgbClr val="E8E4F5"/>
                </a:solidFill>
                <a:latin typeface="Calibri"/>
                <a:ea typeface="Calibri"/>
                <a:cs typeface="Calibri"/>
                <a:sym typeface="Calibri"/>
              </a:rPr>
              <a:t>Graduates deploy AI in rural clinics, agricultural extension, local government </a:t>
            </a:r>
            <a:r>
              <a:rPr lang="en-ZA" sz="1600">
                <a:solidFill>
                  <a:srgbClr val="E8E4F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ZA" sz="1600" u="none" cap="none" strike="noStrike">
                <a:solidFill>
                  <a:srgbClr val="E8E4F5"/>
                </a:solidFill>
                <a:latin typeface="Calibri"/>
                <a:ea typeface="Calibri"/>
                <a:cs typeface="Calibri"/>
                <a:sym typeface="Calibri"/>
              </a:rPr>
              <a:t>settings with limited regulatory oversight.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1" i="0" lang="en-ZA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time is tight, shorten an activity </a:t>
            </a:r>
            <a:r>
              <a:rPr b="1" lang="en-ZA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ZA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don't cut an entire domain.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4" name="Google Shape;984;g3ec0db17601_0_7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g3ec0db17601_0_768"/>
          <p:cNvSpPr/>
          <p:nvPr/>
        </p:nvSpPr>
        <p:spPr>
          <a:xfrm>
            <a:off x="487680" y="1097273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Three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ec0db17601_0_768"/>
          <p:cNvSpPr/>
          <p:nvPr/>
        </p:nvSpPr>
        <p:spPr>
          <a:xfrm>
            <a:off x="48768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ec0db17601_0_768"/>
          <p:cNvSpPr/>
          <p:nvPr/>
        </p:nvSpPr>
        <p:spPr>
          <a:xfrm>
            <a:off x="73152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ec0db17601_0_768"/>
          <p:cNvSpPr/>
          <p:nvPr/>
        </p:nvSpPr>
        <p:spPr>
          <a:xfrm>
            <a:off x="79248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Two domains, both essential.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g3ec0db17601_0_768"/>
          <p:cNvSpPr/>
          <p:nvPr/>
        </p:nvSpPr>
        <p:spPr>
          <a:xfrm>
            <a:off x="79248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 activities build technical skill in the cognitive domain. RI activities build ethical reasoning in the affective domain.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ec0db17601_0_768"/>
          <p:cNvSpPr/>
          <p:nvPr/>
        </p:nvSpPr>
        <p:spPr>
          <a:xfrm>
            <a:off x="438912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ec0db17601_0_768"/>
          <p:cNvSpPr/>
          <p:nvPr/>
        </p:nvSpPr>
        <p:spPr>
          <a:xfrm>
            <a:off x="463296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g3ec0db17601_0_768"/>
          <p:cNvSpPr/>
          <p:nvPr/>
        </p:nvSpPr>
        <p:spPr>
          <a:xfrm>
            <a:off x="469392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Longer activities, higher levels.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g3ec0db17601_0_768"/>
          <p:cNvSpPr/>
          <p:nvPr/>
        </p:nvSpPr>
        <p:spPr>
          <a:xfrm>
            <a:off x="469392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Bloom has two relevant domains: cognitive for AI, affective for RI. Longer activities target higher levels in both.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g3ec0db17601_0_768"/>
          <p:cNvSpPr/>
          <p:nvPr/>
        </p:nvSpPr>
        <p:spPr>
          <a:xfrm>
            <a:off x="829056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ec0db17601_0_768"/>
          <p:cNvSpPr/>
          <p:nvPr/>
        </p:nvSpPr>
        <p:spPr>
          <a:xfrm>
            <a:off x="853440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ec0db17601_0_768"/>
          <p:cNvSpPr/>
          <p:nvPr/>
        </p:nvSpPr>
        <p:spPr>
          <a:xfrm>
            <a:off x="859536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Protect the pairing.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3ec0db17601_0_768"/>
          <p:cNvSpPr/>
          <p:nvPr/>
        </p:nvSpPr>
        <p:spPr>
          <a:xfrm>
            <a:off x="859536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Every toolkit session pairs AI and RI intentionally. As facilitators, protect that pairing in your own course delivery.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2026-01-26T14:16:23Z</dcterms:created>
  <dc:creator>Tom Barker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0x0101008DB099DF9359FF4192EEB5DC5AD2779B</vt:lpwstr>
  </property>
</Properties>
</file>