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8" r:id="rId6"/>
  </p:sldMasterIdLst>
  <p:notesMasterIdLst>
    <p:notesMasterId r:id="rId7"/>
  </p:notesMasterIdLst>
  <p:sldIdLst>
    <p:sldId id="256" r:id="rId8"/>
    <p:sldId id="290" r:id="rId47"/>
    <p:sldId id="271" r:id="rId23"/>
    <p:sldId id="291" r:id="rId25"/>
    <p:sldId id="292" r:id="rId24"/>
    <p:sldId id="293" r:id="rId22"/>
    <p:sldId id="294" r:id="rId21"/>
    <p:sldId id="280" r:id="rId32"/>
    <p:sldId id="275" r:id="rId27"/>
    <p:sldId id="274" r:id="rId26"/>
    <p:sldId id="289" r:id="rId41"/>
  </p:sldIdLst>
  <p:sldSz cy="6858000" cx="12192000"/>
  <p:notesSz cx="6858000" cy="9144000"/>
  <p:embeddedFontLst>
    <p:embeddedFont>
      <p:font typeface="Nuni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MWew2Y1bDiUb70Czw+OU08O0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1" Type="http://schemas.openxmlformats.org/officeDocument/2006/relationships/slide" Target="slides/slide11.xml"/><Relationship Id="rId22" Type="http://schemas.openxmlformats.org/officeDocument/2006/relationships/slide" Target="slides/slide6.xml"/><Relationship Id="rId23" Type="http://schemas.openxmlformats.org/officeDocument/2006/relationships/slide" Target="slides/slide3.xml"/><Relationship Id="rId24" Type="http://schemas.openxmlformats.org/officeDocument/2006/relationships/slide" Target="slides/slide5.xml"/><Relationship Id="rId25" Type="http://schemas.openxmlformats.org/officeDocument/2006/relationships/slide" Target="slides/slide4.xml"/><Relationship Id="rId26" Type="http://schemas.openxmlformats.org/officeDocument/2006/relationships/slide" Target="slides/slide9.xml"/><Relationship Id="rId27" Type="http://schemas.openxmlformats.org/officeDocument/2006/relationships/slide" Target="slides/slide8.xml"/><Relationship Id="rId32" Type="http://schemas.openxmlformats.org/officeDocument/2006/relationships/slide" Target="slides/slide7.xml"/><Relationship Id="rId41" Type="http://schemas.openxmlformats.org/officeDocument/2006/relationships/slide" Target="slides/slide10.xml"/><Relationship Id="rId42" Type="http://schemas.openxmlformats.org/officeDocument/2006/relationships/font" Target="fonts/Nunito-regular.fntdata"/><Relationship Id="rId43" Type="http://schemas.openxmlformats.org/officeDocument/2006/relationships/font" Target="fonts/Nunito-bold.fntdata"/><Relationship Id="rId44" Type="http://schemas.openxmlformats.org/officeDocument/2006/relationships/font" Target="fonts/Nunito-italic.fntdata"/><Relationship Id="rId45" Type="http://schemas.openxmlformats.org/officeDocument/2006/relationships/font" Target="fonts/Nunito-boldItalic.fntdata"/><Relationship Id="rId46" Type="http://customschemas.google.com/relationships/presentationmetadata" Target="metadata"/><Relationship Id="rId4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390a230c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a390a230c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Planning session: Tuesday 14:30-15:00 (both weeks). Deliveries: Thursday and Friday 16:00-17:00, three groups per day: 20 minutes per group total (~15 run + ~5 feedback). Briefing is ~10 min of the 30; the rest is group planning time. Group count (6) assumes one group per activity; adjust to cohort size. Slot math to confirm with Maharavo (tracker owner).</a:t>
            </a:r>
          </a:p>
        </p:txBody>
      </p:sp>
      <p:sp>
        <p:nvSpPr>
          <p:cNvPr id="251" name="Google Shape;251;g3ea390a230c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at this briefly, don't read it line by line: 'this is a real brief, the same four pieces we just named, marked up.' 1.2 is the Session 1 activity that sets up 1.4 (our worked example 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toolkit they'll be pulling their activity from - the point is fluency with the STRUCTURE, not memorising all ten sessions. Bridges into the next slide (the brief format itself).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fields are on every brief regardless of activity or format. Next slide shows them filled in for one real example (1.4).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Emphasise: this is facilitation practice for the material they will teach at their own institutions. Three groups deliver Thursday, three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8cad5b4db_0_1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e8cad5b4db_0_1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Keep this moving: briefing ~10 min, groups formed and activities claimed in the next ~5, leaving ~15 minutes of real planning time.</a:t>
            </a:r>
          </a:p>
        </p:txBody>
      </p:sp>
      <p:sp>
        <p:nvSpPr>
          <p:cNvPr id="610" name="Google Shape;610;g3e8cad5b4db_0_1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c0db17601_0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ec0db17601_0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Feedback frame: two things that worked, one thing to tighten. Facilitators go last so peer voices come first.</a:t>
            </a:r>
          </a:p>
        </p:txBody>
      </p:sp>
      <p:sp>
        <p:nvSpPr>
          <p:cNvPr id="691" name="Google Shape;691;g3ec0db17601_0_492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c0db17601_0_5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ec0db17601_0_5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CONFIRM BEFORE DELIVERY: this assumes Sessions 1-3 are live on UCL Extend by workshop day. As of the pedagogy-deck research, only Session 5 was uploaded (draft, key-gated) - the rest were tied to UCL's 31 Jul submission. If Sessions 1-3 aren't live yet, fall back to sharing the Drive copies directly and say so verbally, but don't put that fallback on the slide itself.</a:t>
            </a:r>
          </a:p>
        </p:txBody>
      </p:sp>
      <p:sp>
        <p:nvSpPr>
          <p:cNvPr id="706" name="Google Shape;706;g3ec0db17601_0_506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ec0db17601_0_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g3ec0db17601_0_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Facilitation skill on show: silent individual maths kept on track, then a reveal steered so the rare-class insight lands. One pre-fix in the source deck: S1 slide 24 says 'Cats only' where it means 'Leopards only'.</a:t>
            </a:r>
          </a:p>
        </p:txBody>
      </p:sp>
      <p:sp>
        <p:nvSpPr>
          <p:cNvPr id="829" name="Google Shape;829;g3ec0db17601_0_624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ec0db17601_0_7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g3ec0db17601_0_7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Close the briefing here, then release groups to plan. Remind them the folder stays open all week.</a:t>
            </a:r>
          </a:p>
        </p:txBody>
      </p:sp>
      <p:sp>
        <p:nvSpPr>
          <p:cNvPr id="982" name="Google Shape;982;g3ec0db17601_0_768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838200" y="2136807"/>
            <a:ext cx="10515600" cy="40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4075923" y="-1100915"/>
            <a:ext cx="404015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390a230c_0_1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ea390a230c_0_11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4" name="Google Shape;94;g3ea390a230c_0_11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a390a230c_0_11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ea390a230c_0_11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a390a230c_0_12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ea390a230c_0_125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g3ea390a230c_0_12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ea390a230c_0_12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ea390a230c_0_12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a390a230c_0_13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ea390a230c_0_13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6" name="Google Shape;106;g3ea390a230c_0_13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a390a230c_0_13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ea390a230c_0_13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a390a230c_0_137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ea390a230c_0_13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3ea390a230c_0_13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ea390a230c_0_13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a390a230c_0_13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ea390a230c_0_13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390a230c_0_14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ea390a230c_0_14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g3ea390a230c_0_14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g3ea390a230c_0_14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g3ea390a230c_0_14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3ea390a230c_0_14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ea390a230c_0_14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ea390a230c_0_14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a390a230c_0_15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a390a230c_0_15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a390a230c_0_15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ea390a230c_0_15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390a230c_0_15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ea390a230c_0_15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ea390a230c_0_15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a390a230c_0_16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ea390a230c_0_16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7" name="Google Shape;137;g3ea390a230c_0_16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g3ea390a230c_0_16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ea390a230c_0_16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ea390a230c_0_16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a390a230c_0_16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ea390a230c_0_16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g3ea390a230c_0_16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g3ea390a230c_0_16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a390a230c_0_16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ea390a230c_0_16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a390a230c_0_176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ea390a230c_0_176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g3ea390a230c_0_17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ea390a230c_0_17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a390a230c_0_17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a390a230c_0_18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ea390a230c_0_18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g3ea390a230c_0_18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ea390a230c_0_18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ea390a230c_0_18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ea390a230c_0_1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0db17601_0_79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0" name="Google Shape;170;g3ec0db17601_0_79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1" name="Google Shape;171;g3ec0db17601_0_79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2" name="Google Shape;172;g3ec0db17601_0_79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3" name="Google Shape;173;g3ec0db17601_0_79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0db17601_0_798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6" name="Google Shape;176;g3ec0db17601_0_798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77" name="Google Shape;177;g3ec0db17601_0_79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8" name="Google Shape;178;g3ec0db17601_0_79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9" name="Google Shape;179;g3ec0db17601_0_79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0db17601_0_80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2" name="Google Shape;182;g3ec0db17601_0_80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83" name="Google Shape;183;g3ec0db17601_0_80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4" name="Google Shape;184;g3ec0db17601_0_80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5" name="Google Shape;185;g3ec0db17601_0_80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c0db17601_0_810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8" name="Google Shape;188;g3ec0db17601_0_81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89" name="Google Shape;189;g3ec0db17601_0_81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0" name="Google Shape;190;g3ec0db17601_0_81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g3ec0db17601_0_81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2" name="Google Shape;192;g3ec0db17601_0_81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0db17601_0_81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5" name="Google Shape;195;g3ec0db17601_0_81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g3ec0db17601_0_81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7" name="Google Shape;197;g3ec0db17601_0_81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g3ec0db17601_0_81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9" name="Google Shape;199;g3ec0db17601_0_81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0" name="Google Shape;200;g3ec0db17601_0_81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1" name="Google Shape;201;g3ec0db17601_0_81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c0db17601_0_826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" name="Google Shape;204;g3ec0db17601_0_82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5" name="Google Shape;205;g3ec0db17601_0_82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6" name="Google Shape;206;g3ec0db17601_0_82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c0db17601_0_83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9" name="Google Shape;209;g3ec0db17601_0_83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0" name="Google Shape;210;g3ec0db17601_0_83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0db17601_0_835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3" name="Google Shape;213;g3ec0db17601_0_835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4" name="Google Shape;214;g3ec0db17601_0_835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15" name="Google Shape;215;g3ec0db17601_0_83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6" name="Google Shape;216;g3ec0db17601_0_83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7" name="Google Shape;217;g3ec0db17601_0_83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c0db17601_0_842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0" name="Google Shape;220;g3ec0db17601_0_842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g3ec0db17601_0_84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22" name="Google Shape;222;g3ec0db17601_0_84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3" name="Google Shape;223;g3ec0db17601_0_84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g3ec0db17601_0_84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c0db17601_0_849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7" name="Google Shape;227;g3ec0db17601_0_849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8" name="Google Shape;228;g3ec0db17601_0_84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9" name="Google Shape;229;g3ec0db17601_0_84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0" name="Google Shape;230;g3ec0db17601_0_84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c0db17601_0_85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3" name="Google Shape;233;g3ec0db17601_0_85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4" name="Google Shape;234;g3ec0db17601_0_85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5" name="Google Shape;235;g3ec0db17601_0_85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6" name="Google Shape;236;g3ec0db17601_0_85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ec0db17601_0_8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c0db17601_0_86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●"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4" name="Google Shape;244;g3ec0db17601_0_86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5" name="Google Shape;245;g3ec0db17601_0_86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6" name="Google Shape;246;g3ec0db17601_0_86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7" name="Google Shape;247;g3ec0db17601_0_86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1500"/>
            </a:lvl1pPr>
            <a:lvl2pPr indent="0" lvl="1" marL="0" algn="r">
              <a:spcBef>
                <a:spcPts val="0"/>
              </a:spcBef>
              <a:buNone/>
              <a:defRPr sz="1500"/>
            </a:lvl2pPr>
            <a:lvl3pPr indent="0" lvl="2" marL="0" algn="r">
              <a:spcBef>
                <a:spcPts val="0"/>
              </a:spcBef>
              <a:buNone/>
              <a:defRPr sz="1500"/>
            </a:lvl3pPr>
            <a:lvl4pPr indent="0" lvl="3" marL="0" algn="r">
              <a:spcBef>
                <a:spcPts val="0"/>
              </a:spcBef>
              <a:buNone/>
              <a:defRPr sz="1500"/>
            </a:lvl4pPr>
            <a:lvl5pPr indent="0" lvl="4" marL="0" algn="r">
              <a:spcBef>
                <a:spcPts val="0"/>
              </a:spcBef>
              <a:buNone/>
              <a:defRPr sz="1500"/>
            </a:lvl5pPr>
            <a:lvl6pPr indent="0" lvl="5" marL="0" algn="r">
              <a:spcBef>
                <a:spcPts val="0"/>
              </a:spcBef>
              <a:buNone/>
              <a:defRPr sz="1500"/>
            </a:lvl6pPr>
            <a:lvl7pPr indent="0" lvl="6" marL="0" algn="r">
              <a:spcBef>
                <a:spcPts val="0"/>
              </a:spcBef>
              <a:buNone/>
              <a:defRPr sz="1500"/>
            </a:lvl7pPr>
            <a:lvl8pPr indent="0" lvl="7" marL="0" algn="r">
              <a:spcBef>
                <a:spcPts val="0"/>
              </a:spcBef>
              <a:buNone/>
              <a:defRPr sz="1500"/>
            </a:lvl8pPr>
            <a:lvl9pPr indent="0" lvl="8" marL="0" algn="r">
              <a:spcBef>
                <a:spcPts val="0"/>
              </a:spcBef>
              <a:buNone/>
              <a:defRPr sz="15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theme" Target="../theme/theme5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2136807"/>
            <a:ext cx="10515600" cy="40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a390a230c_0_11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g3ea390a230c_0_113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ea390a230c_0_11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ea390a230c_0_11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ea390a230c_0_11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c0db17601_0_786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64" name="Google Shape;164;g3ec0db17601_0_786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g3ec0db17601_0_78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ec0db17601_0_78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ec0db17601_0_78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ea390a230c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ea390a230c_0_95"/>
          <p:cNvSpPr txBox="1"/>
          <p:nvPr/>
        </p:nvSpPr>
        <p:spPr>
          <a:xfrm>
            <a:off x="753525" y="2999025"/>
            <a:ext cx="107691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lang="en-ZA" sz="5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LECTURE IT BACK</a:t>
            </a:r>
          </a:p>
        </p:txBody>
      </p:sp>
      <p:pic>
        <p:nvPicPr>
          <p:cNvPr id="255" name="Google Shape;255;g3ea390a230c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141" y="383197"/>
            <a:ext cx="2033076" cy="83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ea390a230c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8440" y="535714"/>
            <a:ext cx="2613661" cy="5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ea390a230c_0_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9010" y="5669280"/>
            <a:ext cx="188383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g3ea390a230c_0_95"/>
          <p:cNvGrpSpPr/>
          <p:nvPr/>
        </p:nvGrpSpPr>
        <p:grpSpPr>
          <a:xfrm>
            <a:off x="763050" y="5899750"/>
            <a:ext cx="6501258" cy="410463"/>
            <a:chOff x="763050" y="5899750"/>
            <a:chExt cx="6501258" cy="410463"/>
          </a:xfrm>
        </p:grpSpPr>
        <p:sp>
          <p:nvSpPr>
            <p:cNvPr id="259" name="Google Shape;259;g3ea390a230c_0_95"/>
            <p:cNvSpPr/>
            <p:nvPr/>
          </p:nvSpPr>
          <p:spPr>
            <a:xfrm>
              <a:off x="763050" y="5899750"/>
              <a:ext cx="29553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ea390a230c_0_95"/>
            <p:cNvSpPr txBox="1"/>
            <p:nvPr/>
          </p:nvSpPr>
          <p:spPr>
            <a:xfrm>
              <a:off x="902397" y="5959075"/>
              <a:ext cx="26766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ZA" sz="1750">
                  <a:solidFill>
                    <a:schemeClr val="dk2"/>
                  </a:solidFill>
                </a:rPr>
                <a:t>Nigeria · Aug 2026</a:t>
              </a:r>
              <a:endParaRPr/>
            </a:p>
          </p:txBody>
        </p:sp>
        <p:sp>
          <p:nvSpPr>
            <p:cNvPr id="261" name="Google Shape;261;g3ea390a230c_0_95"/>
            <p:cNvSpPr/>
            <p:nvPr/>
          </p:nvSpPr>
          <p:spPr>
            <a:xfrm>
              <a:off x="3928308" y="5906113"/>
              <a:ext cx="33360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ea390a230c_0_95"/>
            <p:cNvSpPr txBox="1"/>
            <p:nvPr/>
          </p:nvSpPr>
          <p:spPr>
            <a:xfrm>
              <a:off x="3974350" y="5975050"/>
              <a:ext cx="3243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ZA" sz="1750">
                  <a:solidFill>
                    <a:schemeClr val="dk2"/>
                  </a:solidFill>
                </a:rPr>
                <a:t>AI Research Foundations</a:t>
              </a:r>
              <a:endParaRPr/>
            </a:p>
          </p:txBody>
        </p:sp>
      </p:grpSp>
      <p:pic>
        <p:nvPicPr>
          <p:cNvPr id="263" name="Google Shape;263;g3ea390a230c_0_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4851" y="505175"/>
            <a:ext cx="1168078" cy="5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93" name="Google Shape;693;g3ec0db17601_0_4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ec0db17601_0_492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</a:p>
        </p:txBody>
      </p:sp>
      <p:sp>
        <p:nvSpPr>
          <p:cNvPr id="695" name="Google Shape;695;g3ec0db17601_0_492"/>
          <p:cNvSpPr/>
          <p:nvPr/>
        </p:nvSpPr>
        <p:spPr>
          <a:xfrm>
            <a:off x="1860633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ec0db17601_0_492"/>
          <p:cNvSpPr/>
          <p:nvPr/>
        </p:nvSpPr>
        <p:spPr>
          <a:xfrm>
            <a:off x="2104473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7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Plan</a:t>
            </a:r>
          </a:p>
        </p:txBody>
      </p:sp>
      <p:sp>
        <p:nvSpPr>
          <p:cNvPr id="697" name="Google Shape;697;g3ec0db17601_0_492"/>
          <p:cNvSpPr/>
          <p:nvPr/>
        </p:nvSpPr>
        <p:spPr>
          <a:xfrm>
            <a:off x="2165433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Today · 30 minutes</a:t>
            </a:r>
          </a:p>
        </p:txBody>
      </p:sp>
      <p:sp>
        <p:nvSpPr>
          <p:cNvPr id="698" name="Google Shape;698;g3ec0db17601_0_492"/>
          <p:cNvSpPr/>
          <p:nvPr/>
        </p:nvSpPr>
        <p:spPr>
          <a:xfrm>
            <a:off x="2165433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Form six groups, claim one activity from the Lecture it Back folder, read the pack, and plan how you'll run it.</a:t>
            </a:r>
          </a:p>
        </p:txBody>
      </p:sp>
      <p:sp>
        <p:nvSpPr>
          <p:cNvPr id="699" name="Google Shape;699;g3ec0db17601_0_492"/>
          <p:cNvSpPr/>
          <p:nvPr/>
        </p:nvSpPr>
        <p:spPr>
          <a:xfrm>
            <a:off x="6289611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ec0db17601_0_492"/>
          <p:cNvSpPr/>
          <p:nvPr/>
        </p:nvSpPr>
        <p:spPr>
          <a:xfrm>
            <a:off x="6533451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52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Deliver</a:t>
            </a:r>
          </a:p>
        </p:txBody>
      </p:sp>
      <p:sp>
        <p:nvSpPr>
          <p:cNvPr id="701" name="Google Shape;701;g3ec0db17601_0_492"/>
          <p:cNvSpPr/>
          <p:nvPr/>
        </p:nvSpPr>
        <p:spPr>
          <a:xfrm>
            <a:off x="6594411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Thursday &amp; Friday · 16:00</a:t>
            </a:r>
          </a:p>
        </p:txBody>
      </p:sp>
      <p:sp>
        <p:nvSpPr>
          <p:cNvPr id="702" name="Google Shape;702;g3ec0db17601_0_492"/>
          <p:cNvSpPr/>
          <p:nvPr/>
        </p:nvSpPr>
        <p:spPr>
          <a:xfrm>
            <a:off x="6594411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Your group runs its activity for the room; we are your students. About 15 minutes to run it, then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g3e8cad5b4db_0_1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e8cad5b4db_0_11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Today's 30 minutes</a:t>
            </a:r>
          </a:p>
        </p:txBody>
      </p:sp>
      <p:sp>
        <p:nvSpPr>
          <p:cNvPr id="614" name="Google Shape;614;g3e8cad5b4db_0_1170"/>
          <p:cNvSpPr/>
          <p:nvPr/>
        </p:nvSpPr>
        <p:spPr>
          <a:xfrm>
            <a:off x="609600" y="136550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e8cad5b4db_0_1170"/>
          <p:cNvSpPr/>
          <p:nvPr/>
        </p:nvSpPr>
        <p:spPr>
          <a:xfrm>
            <a:off x="609600" y="1365504"/>
            <a:ext cx="73200" cy="11217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e8cad5b4db_0_1170"/>
          <p:cNvSpPr/>
          <p:nvPr/>
        </p:nvSpPr>
        <p:spPr>
          <a:xfrm>
            <a:off x="877824" y="148742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Form groups</a:t>
            </a:r>
          </a:p>
        </p:txBody>
      </p:sp>
      <p:sp>
        <p:nvSpPr>
          <p:cNvPr id="617" name="Google Shape;617;g3e8cad5b4db_0_1170"/>
          <p:cNvSpPr/>
          <p:nvPr/>
        </p:nvSpPr>
        <p:spPr>
          <a:xfrm>
            <a:off x="877824" y="180441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groups, one activity per group: mix institutions so feedback crosses campuses.</a:t>
            </a:r>
          </a:p>
        </p:txBody>
      </p:sp>
      <p:sp>
        <p:nvSpPr>
          <p:cNvPr id="618" name="Google Shape;618;g3e8cad5b4db_0_1170"/>
          <p:cNvSpPr/>
          <p:nvPr/>
        </p:nvSpPr>
        <p:spPr>
          <a:xfrm>
            <a:off x="609600" y="264566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8B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8cad5b4db_0_1170"/>
          <p:cNvSpPr/>
          <p:nvPr/>
        </p:nvSpPr>
        <p:spPr>
          <a:xfrm>
            <a:off x="609600" y="2645664"/>
            <a:ext cx="73200" cy="11217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e8cad5b4db_0_1170"/>
          <p:cNvSpPr/>
          <p:nvPr/>
        </p:nvSpPr>
        <p:spPr>
          <a:xfrm>
            <a:off x="877824" y="276758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35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8B2035"/>
                </a:solidFill>
                <a:latin typeface="Calibri"/>
                <a:ea typeface="Calibri"/>
                <a:cs typeface="Calibri"/>
                <a:sym typeface="Calibri"/>
              </a:rPr>
              <a:t>Claim an activity</a:t>
            </a:r>
          </a:p>
        </p:txBody>
      </p:sp>
      <p:sp>
        <p:nvSpPr>
          <p:cNvPr id="621" name="Google Shape;621;g3e8cad5b4db_0_1170"/>
          <p:cNvSpPr/>
          <p:nvPr/>
        </p:nvSpPr>
        <p:spPr>
          <a:xfrm>
            <a:off x="877824" y="308457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AI and three RI activities are in the folder: first come, first served, and every activity must be taken.</a:t>
            </a:r>
          </a:p>
        </p:txBody>
      </p:sp>
      <p:sp>
        <p:nvSpPr>
          <p:cNvPr id="622" name="Google Shape;622;g3e8cad5b4db_0_1170"/>
          <p:cNvSpPr/>
          <p:nvPr/>
        </p:nvSpPr>
        <p:spPr>
          <a:xfrm>
            <a:off x="609600" y="392582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2D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e8cad5b4db_0_1170"/>
          <p:cNvSpPr/>
          <p:nvPr/>
        </p:nvSpPr>
        <p:spPr>
          <a:xfrm>
            <a:off x="609600" y="3925824"/>
            <a:ext cx="73200" cy="11217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e8cad5b4db_0_1170"/>
          <p:cNvSpPr/>
          <p:nvPr/>
        </p:nvSpPr>
        <p:spPr>
          <a:xfrm>
            <a:off x="877824" y="404774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5C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2D6A5C"/>
                </a:solidFill>
                <a:latin typeface="Calibri"/>
                <a:ea typeface="Calibri"/>
                <a:cs typeface="Calibri"/>
                <a:sym typeface="Calibri"/>
              </a:rPr>
              <a:t>Read the pack</a:t>
            </a:r>
          </a:p>
        </p:txBody>
      </p:sp>
      <p:sp>
        <p:nvSpPr>
          <p:cNvPr id="625" name="Google Shape;625;g3e8cad5b4db_0_1170"/>
          <p:cNvSpPr/>
          <p:nvPr/>
        </p:nvSpPr>
        <p:spPr>
          <a:xfrm>
            <a:off x="877824" y="436473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pack is the UCL activity brief: overview, learning objectives, timings, the task, and teacher notes (3.4 also ships a worksheet).</a:t>
            </a:r>
          </a:p>
        </p:txBody>
      </p:sp>
      <p:sp>
        <p:nvSpPr>
          <p:cNvPr id="626" name="Google Shape;626;g3e8cad5b4db_0_1170"/>
          <p:cNvSpPr/>
          <p:nvPr/>
        </p:nvSpPr>
        <p:spPr>
          <a:xfrm>
            <a:off x="609600" y="520598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7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8cad5b4db_0_1170"/>
          <p:cNvSpPr/>
          <p:nvPr/>
        </p:nvSpPr>
        <p:spPr>
          <a:xfrm>
            <a:off x="609600" y="5205984"/>
            <a:ext cx="73200" cy="1121700"/>
          </a:xfrm>
          <a:prstGeom prst="rect">
            <a:avLst/>
          </a:prstGeom>
          <a:solidFill>
            <a:srgbClr val="7A5A9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8cad5b4db_0_1170"/>
          <p:cNvSpPr/>
          <p:nvPr/>
        </p:nvSpPr>
        <p:spPr>
          <a:xfrm>
            <a:off x="877824" y="532790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A9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7A5A9A"/>
                </a:solidFill>
                <a:latin typeface="Calibri"/>
                <a:ea typeface="Calibri"/>
                <a:cs typeface="Calibri"/>
                <a:sym typeface="Calibri"/>
              </a:rPr>
              <a:t>Plan the delivery</a:t>
            </a:r>
          </a:p>
        </p:txBody>
      </p:sp>
      <p:sp>
        <p:nvSpPr>
          <p:cNvPr id="629" name="Google Shape;629;g3e8cad5b4db_0_1170"/>
          <p:cNvSpPr/>
          <p:nvPr/>
        </p:nvSpPr>
        <p:spPr>
          <a:xfrm>
            <a:off x="877825" y="5644900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roles (who opens, who runs the task, who debriefs) and trim the activity to fit your slot.</a:t>
            </a:r>
          </a:p>
        </p:txBody>
      </p:sp>
      <p:sp>
        <p:nvSpPr>
          <p:cNvPr id="630" name="Oval 629"/>
          <p:cNvSpPr/>
          <p:nvPr/>
        </p:nvSpPr>
        <p:spPr>
          <a:xfrm>
            <a:off x="137160" y="1734330"/>
            <a:ext cx="384048" cy="384048"/>
          </a:xfrm>
          <a:prstGeom prst="ellipse">
            <a:avLst/>
          </a:prstGeom>
          <a:solidFill>
            <a:srgbClr val="C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1</a:t>
            </a:r>
          </a:p>
        </p:txBody>
      </p:sp>
      <p:sp>
        <p:nvSpPr>
          <p:cNvPr id="631" name="Oval 630"/>
          <p:cNvSpPr/>
          <p:nvPr/>
        </p:nvSpPr>
        <p:spPr>
          <a:xfrm>
            <a:off x="137160" y="3014490"/>
            <a:ext cx="384048" cy="384048"/>
          </a:xfrm>
          <a:prstGeom prst="ellipse">
            <a:avLst/>
          </a:prstGeom>
          <a:solidFill>
            <a:srgbClr val="8B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2</a:t>
            </a:r>
          </a:p>
        </p:txBody>
      </p:sp>
      <p:sp>
        <p:nvSpPr>
          <p:cNvPr id="632" name="Oval 631"/>
          <p:cNvSpPr/>
          <p:nvPr/>
        </p:nvSpPr>
        <p:spPr>
          <a:xfrm>
            <a:off x="137160" y="4294650"/>
            <a:ext cx="384048" cy="384048"/>
          </a:xfrm>
          <a:prstGeom prst="ellipse">
            <a:avLst/>
          </a:prstGeom>
          <a:solidFill>
            <a:srgbClr val="2D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3</a:t>
            </a:r>
          </a:p>
        </p:txBody>
      </p:sp>
      <p:sp>
        <p:nvSpPr>
          <p:cNvPr id="633" name="Oval 632"/>
          <p:cNvSpPr/>
          <p:nvPr/>
        </p:nvSpPr>
        <p:spPr>
          <a:xfrm>
            <a:off x="137160" y="5574810"/>
            <a:ext cx="384048" cy="384048"/>
          </a:xfrm>
          <a:prstGeom prst="ellipse">
            <a:avLst/>
          </a:prstGeom>
          <a:solidFill>
            <a:srgbClr val="7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12" name="Google Shape;612;g3e8cad5b4db_0_1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e8cad5b4db_0_11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Lecturer Toolkit: how it's built</a:t>
            </a:r>
          </a:p>
        </p:txBody>
      </p:sp>
      <p:sp>
        <p:nvSpPr>
          <p:cNvPr id="614" name="Google Shape;614;g3e8cad5b4db_0_1170"/>
          <p:cNvSpPr/>
          <p:nvPr/>
        </p:nvSpPr>
        <p:spPr>
          <a:xfrm>
            <a:off x="609600" y="136550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e8cad5b4db_0_1170"/>
          <p:cNvSpPr/>
          <p:nvPr/>
        </p:nvSpPr>
        <p:spPr>
          <a:xfrm>
            <a:off x="609600" y="1365504"/>
            <a:ext cx="73200" cy="11217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e8cad5b4db_0_1170"/>
          <p:cNvSpPr/>
          <p:nvPr/>
        </p:nvSpPr>
        <p:spPr>
          <a:xfrm>
            <a:off x="877824" y="148742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One home, ten sessions</a:t>
            </a:r>
          </a:p>
        </p:txBody>
      </p:sp>
      <p:sp>
        <p:nvSpPr>
          <p:cNvPr id="617" name="Google Shape;617;g3e8cad5b4db_0_1170"/>
          <p:cNvSpPr/>
          <p:nvPr/>
        </p:nvSpPr>
        <p:spPr>
          <a:xfrm>
            <a:off x="877824" y="180441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0 through 9, each a self-contained page on UCL Extend, hosted in one place.</a:t>
            </a:r>
          </a:p>
        </p:txBody>
      </p:sp>
      <p:sp>
        <p:nvSpPr>
          <p:cNvPr id="618" name="Google Shape;618;g3e8cad5b4db_0_1170"/>
          <p:cNvSpPr/>
          <p:nvPr/>
        </p:nvSpPr>
        <p:spPr>
          <a:xfrm>
            <a:off x="609600" y="264566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8B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8cad5b4db_0_1170"/>
          <p:cNvSpPr/>
          <p:nvPr/>
        </p:nvSpPr>
        <p:spPr>
          <a:xfrm>
            <a:off x="609600" y="2645664"/>
            <a:ext cx="73200" cy="11217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e8cad5b4db_0_1170"/>
          <p:cNvSpPr/>
          <p:nvPr/>
        </p:nvSpPr>
        <p:spPr>
          <a:xfrm>
            <a:off x="877824" y="276758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35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8B2035"/>
                </a:solidFill>
                <a:latin typeface="Calibri"/>
                <a:ea typeface="Calibri"/>
                <a:cs typeface="Calibri"/>
                <a:sym typeface="Calibri"/>
              </a:rPr>
              <a:t>Two activity types per session</a:t>
            </a:r>
          </a:p>
        </p:txBody>
      </p:sp>
      <p:sp>
        <p:nvSpPr>
          <p:cNvPr id="621" name="Google Shape;621;g3e8cad5b4db_0_1170"/>
          <p:cNvSpPr/>
          <p:nvPr/>
        </p:nvSpPr>
        <p:spPr>
          <a:xfrm>
            <a:off x="877824" y="308457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activities (cognitive, technical) and RI activities (affective, reflective), each in Short, Medium or Long formats.</a:t>
            </a:r>
          </a:p>
        </p:txBody>
      </p:sp>
      <p:sp>
        <p:nvSpPr>
          <p:cNvPr id="622" name="Google Shape;622;g3e8cad5b4db_0_1170"/>
          <p:cNvSpPr/>
          <p:nvPr/>
        </p:nvSpPr>
        <p:spPr>
          <a:xfrm>
            <a:off x="609600" y="392582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2D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e8cad5b4db_0_1170"/>
          <p:cNvSpPr/>
          <p:nvPr/>
        </p:nvSpPr>
        <p:spPr>
          <a:xfrm>
            <a:off x="609600" y="3925824"/>
            <a:ext cx="73200" cy="11217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e8cad5b4db_0_1170"/>
          <p:cNvSpPr/>
          <p:nvPr/>
        </p:nvSpPr>
        <p:spPr>
          <a:xfrm>
            <a:off x="877824" y="404774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5C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2D6A5C"/>
                </a:solidFill>
                <a:latin typeface="Calibri"/>
                <a:ea typeface="Calibri"/>
                <a:cs typeface="Calibri"/>
                <a:sym typeface="Calibri"/>
              </a:rPr>
              <a:t>Everything ships ready to run</a:t>
            </a:r>
          </a:p>
        </p:txBody>
      </p:sp>
      <p:sp>
        <p:nvSpPr>
          <p:cNvPr id="625" name="Google Shape;625;g3e8cad5b4db_0_1170"/>
          <p:cNvSpPr/>
          <p:nvPr/>
        </p:nvSpPr>
        <p:spPr>
          <a:xfrm>
            <a:off x="877824" y="436473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slide deck for every session; AI Long activities also come with Student and Teacher notebooks.</a:t>
            </a:r>
          </a:p>
        </p:txBody>
      </p:sp>
      <p:sp>
        <p:nvSpPr>
          <p:cNvPr id="626" name="Google Shape;626;g3e8cad5b4db_0_1170"/>
          <p:cNvSpPr/>
          <p:nvPr/>
        </p:nvSpPr>
        <p:spPr>
          <a:xfrm>
            <a:off x="609600" y="520598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7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8cad5b4db_0_1170"/>
          <p:cNvSpPr/>
          <p:nvPr/>
        </p:nvSpPr>
        <p:spPr>
          <a:xfrm>
            <a:off x="609600" y="5205984"/>
            <a:ext cx="73200" cy="1121700"/>
          </a:xfrm>
          <a:prstGeom prst="rect">
            <a:avLst/>
          </a:prstGeom>
          <a:solidFill>
            <a:srgbClr val="7A5A9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8cad5b4db_0_1170"/>
          <p:cNvSpPr/>
          <p:nvPr/>
        </p:nvSpPr>
        <p:spPr>
          <a:xfrm>
            <a:off x="877824" y="532790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A9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7A5A9A"/>
                </a:solidFill>
                <a:latin typeface="Calibri"/>
                <a:ea typeface="Calibri"/>
                <a:cs typeface="Calibri"/>
                <a:sym typeface="Calibri"/>
              </a:rPr>
              <a:t>Built from a standard brief</a:t>
            </a:r>
          </a:p>
        </p:txBody>
      </p:sp>
      <p:sp>
        <p:nvSpPr>
          <p:cNvPr id="629" name="Google Shape;629;g3e8cad5b4db_0_1170"/>
          <p:cNvSpPr/>
          <p:nvPr/>
        </p:nvSpPr>
        <p:spPr>
          <a:xfrm>
            <a:off x="877825" y="5644900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activity, AI or RI, follows the same brief format, so once you can read one, you can read them all.</a:t>
            </a:r>
          </a:p>
        </p:txBody>
      </p:sp>
      <p:sp>
        <p:nvSpPr>
          <p:cNvPr id="630" name="Oval 629"/>
          <p:cNvSpPr/>
          <p:nvPr/>
        </p:nvSpPr>
        <p:spPr>
          <a:xfrm>
            <a:off x="137160" y="1734330"/>
            <a:ext cx="384048" cy="384048"/>
          </a:xfrm>
          <a:prstGeom prst="ellipse">
            <a:avLst/>
          </a:prstGeom>
          <a:solidFill>
            <a:srgbClr val="C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1</a:t>
            </a:r>
          </a:p>
        </p:txBody>
      </p:sp>
      <p:sp>
        <p:nvSpPr>
          <p:cNvPr id="631" name="Oval 630"/>
          <p:cNvSpPr/>
          <p:nvPr/>
        </p:nvSpPr>
        <p:spPr>
          <a:xfrm>
            <a:off x="137160" y="3014490"/>
            <a:ext cx="384048" cy="384048"/>
          </a:xfrm>
          <a:prstGeom prst="ellipse">
            <a:avLst/>
          </a:prstGeom>
          <a:solidFill>
            <a:srgbClr val="8B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2</a:t>
            </a:r>
          </a:p>
        </p:txBody>
      </p:sp>
      <p:sp>
        <p:nvSpPr>
          <p:cNvPr id="632" name="Oval 631"/>
          <p:cNvSpPr/>
          <p:nvPr/>
        </p:nvSpPr>
        <p:spPr>
          <a:xfrm>
            <a:off x="137160" y="4294650"/>
            <a:ext cx="384048" cy="384048"/>
          </a:xfrm>
          <a:prstGeom prst="ellipse">
            <a:avLst/>
          </a:prstGeom>
          <a:solidFill>
            <a:srgbClr val="2D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3</a:t>
            </a:r>
          </a:p>
        </p:txBody>
      </p:sp>
      <p:sp>
        <p:nvSpPr>
          <p:cNvPr id="633" name="Oval 632"/>
          <p:cNvSpPr/>
          <p:nvPr/>
        </p:nvSpPr>
        <p:spPr>
          <a:xfrm>
            <a:off x="137160" y="5574810"/>
            <a:ext cx="384048" cy="384048"/>
          </a:xfrm>
          <a:prstGeom prst="ellipse">
            <a:avLst/>
          </a:prstGeom>
          <a:solidFill>
            <a:srgbClr val="7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12" name="Google Shape;612;g3e8cad5b4db_0_1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e8cad5b4db_0_11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Anatomy of an activity brief</a:t>
            </a:r>
          </a:p>
        </p:txBody>
      </p:sp>
      <p:sp>
        <p:nvSpPr>
          <p:cNvPr id="614" name="Google Shape;614;g3e8cad5b4db_0_1170"/>
          <p:cNvSpPr/>
          <p:nvPr/>
        </p:nvSpPr>
        <p:spPr>
          <a:xfrm>
            <a:off x="609600" y="136550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e8cad5b4db_0_1170"/>
          <p:cNvSpPr/>
          <p:nvPr/>
        </p:nvSpPr>
        <p:spPr>
          <a:xfrm>
            <a:off x="609600" y="1365504"/>
            <a:ext cx="73200" cy="11217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e8cad5b4db_0_1170"/>
          <p:cNvSpPr/>
          <p:nvPr/>
        </p:nvSpPr>
        <p:spPr>
          <a:xfrm>
            <a:off x="877824" y="148742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The header</a:t>
            </a:r>
          </a:p>
        </p:txBody>
      </p:sp>
      <p:sp>
        <p:nvSpPr>
          <p:cNvPr id="617" name="Google Shape;617;g3e8cad5b4db_0_1170"/>
          <p:cNvSpPr/>
          <p:nvPr/>
        </p:nvSpPr>
        <p:spPr>
          <a:xfrm>
            <a:off x="877824" y="180441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Length, mode, activity type, and Bloom level: a 10-second scan of what it is and how long it runs.</a:t>
            </a:r>
          </a:p>
        </p:txBody>
      </p:sp>
      <p:sp>
        <p:nvSpPr>
          <p:cNvPr id="618" name="Google Shape;618;g3e8cad5b4db_0_1170"/>
          <p:cNvSpPr/>
          <p:nvPr/>
        </p:nvSpPr>
        <p:spPr>
          <a:xfrm>
            <a:off x="609600" y="264566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8B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8cad5b4db_0_1170"/>
          <p:cNvSpPr/>
          <p:nvPr/>
        </p:nvSpPr>
        <p:spPr>
          <a:xfrm>
            <a:off x="609600" y="2645664"/>
            <a:ext cx="73200" cy="11217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e8cad5b4db_0_1170"/>
          <p:cNvSpPr/>
          <p:nvPr/>
        </p:nvSpPr>
        <p:spPr>
          <a:xfrm>
            <a:off x="877824" y="276758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35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8B2035"/>
                </a:solidFill>
                <a:latin typeface="Calibri"/>
                <a:ea typeface="Calibri"/>
                <a:cs typeface="Calibri"/>
                <a:sym typeface="Calibri"/>
              </a:rPr>
              <a:t>Overview and learning objective</a:t>
            </a:r>
          </a:p>
        </p:txBody>
      </p:sp>
      <p:sp>
        <p:nvSpPr>
          <p:cNvPr id="621" name="Google Shape;621;g3e8cad5b4db_0_1170"/>
          <p:cNvSpPr/>
          <p:nvPr/>
        </p:nvSpPr>
        <p:spPr>
          <a:xfrm>
            <a:off x="877824" y="308457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this activity exists, and what it maps back to in the online course.</a:t>
            </a:r>
          </a:p>
        </p:txBody>
      </p:sp>
      <p:sp>
        <p:nvSpPr>
          <p:cNvPr id="622" name="Google Shape;622;g3e8cad5b4db_0_1170"/>
          <p:cNvSpPr/>
          <p:nvPr/>
        </p:nvSpPr>
        <p:spPr>
          <a:xfrm>
            <a:off x="609600" y="392582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2D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e8cad5b4db_0_1170"/>
          <p:cNvSpPr/>
          <p:nvPr/>
        </p:nvSpPr>
        <p:spPr>
          <a:xfrm>
            <a:off x="609600" y="3925824"/>
            <a:ext cx="73200" cy="11217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e8cad5b4db_0_1170"/>
          <p:cNvSpPr/>
          <p:nvPr/>
        </p:nvSpPr>
        <p:spPr>
          <a:xfrm>
            <a:off x="877824" y="404774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5C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2D6A5C"/>
                </a:solidFill>
                <a:latin typeface="Calibri"/>
                <a:ea typeface="Calibri"/>
                <a:cs typeface="Calibri"/>
                <a:sym typeface="Calibri"/>
              </a:rPr>
              <a:t>The task</a:t>
            </a:r>
          </a:p>
        </p:txBody>
      </p:sp>
      <p:sp>
        <p:nvSpPr>
          <p:cNvPr id="625" name="Google Shape;625;g3e8cad5b4db_0_1170"/>
          <p:cNvSpPr/>
          <p:nvPr/>
        </p:nvSpPr>
        <p:spPr>
          <a:xfrm>
            <a:off x="877824" y="436473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actual script: what you say, what the room does, step by step.</a:t>
            </a:r>
          </a:p>
        </p:txBody>
      </p:sp>
      <p:sp>
        <p:nvSpPr>
          <p:cNvPr id="626" name="Google Shape;626;g3e8cad5b4db_0_1170"/>
          <p:cNvSpPr/>
          <p:nvPr/>
        </p:nvSpPr>
        <p:spPr>
          <a:xfrm>
            <a:off x="609600" y="520598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7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8cad5b4db_0_1170"/>
          <p:cNvSpPr/>
          <p:nvPr/>
        </p:nvSpPr>
        <p:spPr>
          <a:xfrm>
            <a:off x="609600" y="5205984"/>
            <a:ext cx="73200" cy="1121700"/>
          </a:xfrm>
          <a:prstGeom prst="rect">
            <a:avLst/>
          </a:prstGeom>
          <a:solidFill>
            <a:srgbClr val="7A5A9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8cad5b4db_0_1170"/>
          <p:cNvSpPr/>
          <p:nvPr/>
        </p:nvSpPr>
        <p:spPr>
          <a:xfrm>
            <a:off x="877824" y="532790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A9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7A5A9A"/>
                </a:solidFill>
                <a:latin typeface="Calibri"/>
                <a:ea typeface="Calibri"/>
                <a:cs typeface="Calibri"/>
                <a:sym typeface="Calibri"/>
              </a:rPr>
              <a:t>Teacher notes</a:t>
            </a:r>
          </a:p>
        </p:txBody>
      </p:sp>
      <p:sp>
        <p:nvSpPr>
          <p:cNvPr id="629" name="Google Shape;629;g3e8cad5b4db_0_1170"/>
          <p:cNvSpPr/>
          <p:nvPr/>
        </p:nvSpPr>
        <p:spPr>
          <a:xfrm>
            <a:off x="877825" y="5644900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learning points, a closing message, and facilitation prompts for when discussion needs steering.</a:t>
            </a:r>
          </a:p>
        </p:txBody>
      </p:sp>
      <p:sp>
        <p:nvSpPr>
          <p:cNvPr id="630" name="Oval 629"/>
          <p:cNvSpPr/>
          <p:nvPr/>
        </p:nvSpPr>
        <p:spPr>
          <a:xfrm>
            <a:off x="137160" y="1734330"/>
            <a:ext cx="384048" cy="384048"/>
          </a:xfrm>
          <a:prstGeom prst="ellipse">
            <a:avLst/>
          </a:prstGeom>
          <a:solidFill>
            <a:srgbClr val="C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1</a:t>
            </a:r>
          </a:p>
        </p:txBody>
      </p:sp>
      <p:sp>
        <p:nvSpPr>
          <p:cNvPr id="631" name="Oval 630"/>
          <p:cNvSpPr/>
          <p:nvPr/>
        </p:nvSpPr>
        <p:spPr>
          <a:xfrm>
            <a:off x="137160" y="3014490"/>
            <a:ext cx="384048" cy="384048"/>
          </a:xfrm>
          <a:prstGeom prst="ellipse">
            <a:avLst/>
          </a:prstGeom>
          <a:solidFill>
            <a:srgbClr val="8B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2</a:t>
            </a:r>
          </a:p>
        </p:txBody>
      </p:sp>
      <p:sp>
        <p:nvSpPr>
          <p:cNvPr id="632" name="Oval 631"/>
          <p:cNvSpPr/>
          <p:nvPr/>
        </p:nvSpPr>
        <p:spPr>
          <a:xfrm>
            <a:off x="137160" y="4294650"/>
            <a:ext cx="384048" cy="384048"/>
          </a:xfrm>
          <a:prstGeom prst="ellipse">
            <a:avLst/>
          </a:prstGeom>
          <a:solidFill>
            <a:srgbClr val="2D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3</a:t>
            </a:r>
          </a:p>
        </p:txBody>
      </p:sp>
      <p:sp>
        <p:nvSpPr>
          <p:cNvPr id="633" name="Oval 632"/>
          <p:cNvSpPr/>
          <p:nvPr/>
        </p:nvSpPr>
        <p:spPr>
          <a:xfrm>
            <a:off x="137160" y="5574810"/>
            <a:ext cx="384048" cy="384048"/>
          </a:xfrm>
          <a:prstGeom prst="ellipse">
            <a:avLst/>
          </a:prstGeom>
          <a:solidFill>
            <a:srgbClr val="7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rriweather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12" name="Google Shape;612;g3e8cad5b4db_0_1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e8cad5b4db_0_11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same four pieces, on a real brief</a:t>
            </a:r>
          </a:p>
        </p:txBody>
      </p:sp>
      <p:pic>
        <p:nvPicPr>
          <p:cNvPr id="614" name="Picture 613" descr="anatomy-piece-1-hea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987" y="2390122"/>
            <a:ext cx="5532120" cy="3220755"/>
          </a:xfrm>
          <a:prstGeom prst="rect">
            <a:avLst/>
          </a:prstGeom>
        </p:spPr>
      </p:pic>
      <p:pic>
        <p:nvPicPr>
          <p:cNvPr id="615" name="Picture 614" descr="anatomy-piece-2-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1587" y="2390122"/>
            <a:ext cx="5532120" cy="3220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oogle Shape;831;g3ec0db17601_0_6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g3ec0db17601_0_624"/>
          <p:cNvSpPr/>
          <p:nvPr/>
        </p:nvSpPr>
        <p:spPr>
          <a:xfrm>
            <a:off x="518280" y="570307"/>
            <a:ext cx="8534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1.4 · Loss matrix on a small dataset</a:t>
            </a:r>
          </a:p>
        </p:txBody>
      </p:sp>
      <p:sp>
        <p:nvSpPr>
          <p:cNvPr id="833" name="Google Shape;833;g3ec0db17601_0_624"/>
          <p:cNvSpPr/>
          <p:nvPr/>
        </p:nvSpPr>
        <p:spPr>
          <a:xfrm>
            <a:off x="5182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ec0db17601_0_624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What you'll run</a:t>
            </a:r>
          </a:p>
        </p:txBody>
      </p:sp>
      <p:sp>
        <p:nvSpPr>
          <p:cNvPr id="837" name="Google Shape;837;g3ec0db17601_0_624"/>
          <p:cNvSpPr/>
          <p:nvPr/>
        </p:nvSpPr>
        <p:spPr>
          <a:xfrm>
            <a:off x="792600" y="3474720"/>
            <a:ext cx="4998660" cy="242322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ec0db17601_0_624"/>
          <p:cNvSpPr/>
          <p:nvPr/>
        </p:nvSpPr>
        <p:spPr>
          <a:xfrm>
            <a:off x="975480" y="3566160"/>
            <a:ext cx="4632900" cy="2240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Score a 20-row animal dataset (leopard / lion / cheetah) against a predictor's outputs: compute overall and per-class error, build the 3×3 confusion matrix, and surface why a model can look accurate overall yet fail the rare class.</a:t>
            </a:r>
          </a:p>
        </p:txBody>
      </p:sp>
      <p:sp>
        <p:nvSpPr>
          <p:cNvPr id="839" name="Google Shape;839;g3ec0db17601_0_624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ec0db17601_0_624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Where it's from</a:t>
            </a:r>
          </a:p>
        </p:txBody>
      </p:sp>
      <p:sp>
        <p:nvSpPr>
          <p:cNvPr id="843" name="Google Shape;843;g3ec0db17601_0_624"/>
          <p:cNvSpPr/>
          <p:nvPr/>
        </p:nvSpPr>
        <p:spPr>
          <a:xfrm>
            <a:off x="6431280" y="3474720"/>
            <a:ext cx="4998660" cy="242322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ec0db17601_0_624"/>
          <p:cNvSpPr/>
          <p:nvPr/>
        </p:nvSpPr>
        <p:spPr>
          <a:xfrm>
            <a:off x="6614160" y="3566160"/>
            <a:ext cx="4632900" cy="2240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0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Session 1 · UCL Lecturer Toolkit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0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Course 1 · Build Your Own Small Language Model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0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AI Medium · ~20 min · Bloom: Apply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0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Materials: dataset worksheet (print it) + board</a:t>
            </a:r>
          </a:p>
        </p:txBody>
      </p:sp>
      <p:sp>
        <p:nvSpPr>
          <p:cNvPr id="845" name="Rounded Rectangle 844"/>
          <p:cNvSpPr/>
          <p:nvPr/>
        </p:nvSpPr>
        <p:spPr>
          <a:xfrm>
            <a:off x="2209920" y="1675011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2C1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Merriweather"/>
              </a:rPr>
              <a:t>WORKED EXAMPLE</a:t>
            </a:r>
          </a:p>
        </p:txBody>
      </p:sp>
      <p:sp>
        <p:nvSpPr>
          <p:cNvPr id="845" name="Rounded Rectangle 844"/>
          <p:cNvSpPr/>
          <p:nvPr/>
        </p:nvSpPr>
        <p:spPr>
          <a:xfrm>
            <a:off x="518280" y="1675011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3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Merriweather"/>
              </a:rPr>
              <a:t>AI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g3ec0db17601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3ec0db17601_0_506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Where the material lives</a:t>
            </a:r>
          </a:p>
        </p:txBody>
      </p:sp>
      <p:sp>
        <p:nvSpPr>
          <p:cNvPr id="710" name="Google Shape;710;g3ec0db17601_0_506"/>
          <p:cNvSpPr/>
          <p:nvPr/>
        </p:nvSpPr>
        <p:spPr>
          <a:xfrm>
            <a:off x="812521" y="2011680"/>
            <a:ext cx="9456300" cy="3200400"/>
          </a:xfrm>
          <a:prstGeom prst="roundRect">
            <a:avLst>
              <a:gd fmla="val 1980" name="adj"/>
            </a:avLst>
          </a:prstGeom>
          <a:solidFill>
            <a:schemeClr val="dk2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ec0db17601_0_506"/>
          <p:cNvSpPr/>
          <p:nvPr/>
        </p:nvSpPr>
        <p:spPr>
          <a:xfrm>
            <a:off x="1129588" y="2240280"/>
            <a:ext cx="88224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extend.ucl.ac.uk  →  Session  →  Activities  →  AI/RI  →  Format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Session 1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AI · Medium   →   1.4   Loss matrix on a small 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Session 2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AI · Medium   →   2.4   Why tokenization matters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RI · Short    →   2.9   What is “data coloniality”?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RI · Medium   →   2.11  Data ownership debate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Session 3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AI · Medium   →   3.4   Where did the model go wrong? (+ worksheet)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3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RI · Short    →   3.8   Risk resulting from AI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813816" y="5760720"/>
            <a:ext cx="9454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A488C"/>
                </a:solidFill>
              </a:rPr>
              <a:t>Your group's activity is one of these six: the walkthrough you just saw uses 1.4 as the model.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813816" y="1042415"/>
            <a:ext cx="9454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C1458"/>
                </a:solidFill>
                <a:latin typeface="Merriweather"/>
              </a:rPr>
              <a:t>UCL Extend hosts ten sessions; today's six activities come from Sessions 1, 2 and 3.</a:t>
            </a:r>
          </a:p>
        </p:txBody>
      </p:sp>
      <p:sp>
        <p:nvSpPr>
          <p:cNvPr id="714" name="Oval 713"/>
          <p:cNvSpPr/>
          <p:nvPr/>
        </p:nvSpPr>
        <p:spPr>
          <a:xfrm>
            <a:off x="1035100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0</a:t>
            </a:r>
          </a:p>
        </p:txBody>
      </p:sp>
      <p:sp>
        <p:nvSpPr>
          <p:cNvPr id="715" name="Oval 714"/>
          <p:cNvSpPr/>
          <p:nvPr/>
        </p:nvSpPr>
        <p:spPr>
          <a:xfrm>
            <a:off x="1980590" y="1417320"/>
            <a:ext cx="502920" cy="502920"/>
          </a:xfrm>
          <a:prstGeom prst="ellipse">
            <a:avLst/>
          </a:prstGeom>
          <a:solidFill>
            <a:srgbClr val="C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erriweather"/>
              </a:rPr>
              <a:t>1</a:t>
            </a:r>
          </a:p>
        </p:txBody>
      </p:sp>
      <p:sp>
        <p:nvSpPr>
          <p:cNvPr id="716" name="Oval 715"/>
          <p:cNvSpPr/>
          <p:nvPr/>
        </p:nvSpPr>
        <p:spPr>
          <a:xfrm>
            <a:off x="2926080" y="1417320"/>
            <a:ext cx="502920" cy="502920"/>
          </a:xfrm>
          <a:prstGeom prst="ellipse">
            <a:avLst/>
          </a:prstGeom>
          <a:solidFill>
            <a:srgbClr val="C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erriweather"/>
              </a:rPr>
              <a:t>2</a:t>
            </a:r>
          </a:p>
        </p:txBody>
      </p:sp>
      <p:sp>
        <p:nvSpPr>
          <p:cNvPr id="717" name="Oval 716"/>
          <p:cNvSpPr/>
          <p:nvPr/>
        </p:nvSpPr>
        <p:spPr>
          <a:xfrm>
            <a:off x="3871569" y="1417320"/>
            <a:ext cx="502920" cy="502920"/>
          </a:xfrm>
          <a:prstGeom prst="ellipse">
            <a:avLst/>
          </a:prstGeom>
          <a:solidFill>
            <a:srgbClr val="C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erriweather"/>
              </a:rPr>
              <a:t>3</a:t>
            </a:r>
          </a:p>
        </p:txBody>
      </p:sp>
      <p:sp>
        <p:nvSpPr>
          <p:cNvPr id="718" name="Oval 717"/>
          <p:cNvSpPr/>
          <p:nvPr/>
        </p:nvSpPr>
        <p:spPr>
          <a:xfrm>
            <a:off x="4817059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4</a:t>
            </a:r>
          </a:p>
        </p:txBody>
      </p:sp>
      <p:sp>
        <p:nvSpPr>
          <p:cNvPr id="719" name="Oval 718"/>
          <p:cNvSpPr/>
          <p:nvPr/>
        </p:nvSpPr>
        <p:spPr>
          <a:xfrm>
            <a:off x="5762548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5</a:t>
            </a:r>
          </a:p>
        </p:txBody>
      </p:sp>
      <p:sp>
        <p:nvSpPr>
          <p:cNvPr id="720" name="Oval 719"/>
          <p:cNvSpPr/>
          <p:nvPr/>
        </p:nvSpPr>
        <p:spPr>
          <a:xfrm>
            <a:off x="6708038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6</a:t>
            </a:r>
          </a:p>
        </p:txBody>
      </p:sp>
      <p:sp>
        <p:nvSpPr>
          <p:cNvPr id="721" name="Oval 720"/>
          <p:cNvSpPr/>
          <p:nvPr/>
        </p:nvSpPr>
        <p:spPr>
          <a:xfrm>
            <a:off x="7653528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7</a:t>
            </a:r>
          </a:p>
        </p:txBody>
      </p:sp>
      <p:sp>
        <p:nvSpPr>
          <p:cNvPr id="722" name="Oval 721"/>
          <p:cNvSpPr/>
          <p:nvPr/>
        </p:nvSpPr>
        <p:spPr>
          <a:xfrm>
            <a:off x="8599017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8</a:t>
            </a:r>
          </a:p>
        </p:txBody>
      </p:sp>
      <p:sp>
        <p:nvSpPr>
          <p:cNvPr id="723" name="Oval 722"/>
          <p:cNvSpPr/>
          <p:nvPr/>
        </p:nvSpPr>
        <p:spPr>
          <a:xfrm>
            <a:off x="9544507" y="1417320"/>
            <a:ext cx="502920" cy="502920"/>
          </a:xfrm>
          <a:prstGeom prst="ellipse">
            <a:avLst/>
          </a:prstGeom>
          <a:solidFill>
            <a:srgbClr val="E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8C84A8"/>
                </a:solidFill>
                <a:latin typeface="Merriweather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ec0db17601_0_4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ec0db17601_0_492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In your delivery slot</a:t>
            </a:r>
          </a:p>
        </p:txBody>
      </p:sp>
      <p:sp>
        <p:nvSpPr>
          <p:cNvPr id="695" name="Google Shape;695;g3ec0db17601_0_492"/>
          <p:cNvSpPr/>
          <p:nvPr/>
        </p:nvSpPr>
        <p:spPr>
          <a:xfrm>
            <a:off x="1860633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ec0db17601_0_492"/>
          <p:cNvSpPr/>
          <p:nvPr/>
        </p:nvSpPr>
        <p:spPr>
          <a:xfrm>
            <a:off x="2104473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Run</a:t>
            </a:r>
          </a:p>
        </p:txBody>
      </p:sp>
      <p:sp>
        <p:nvSpPr>
          <p:cNvPr id="697" name="Google Shape;697;g3ec0db17601_0_492"/>
          <p:cNvSpPr/>
          <p:nvPr/>
        </p:nvSpPr>
        <p:spPr>
          <a:xfrm>
            <a:off x="2165433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≈ 15 minutes</a:t>
            </a:r>
          </a:p>
        </p:txBody>
      </p:sp>
      <p:sp>
        <p:nvSpPr>
          <p:cNvPr id="698" name="Google Shape;698;g3ec0db17601_0_492"/>
          <p:cNvSpPr/>
          <p:nvPr/>
        </p:nvSpPr>
        <p:spPr>
          <a:xfrm>
            <a:off x="2165433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Deliver it as you would to your class: open the idea, run the task, manage the time, debrief the answers.</a:t>
            </a:r>
          </a:p>
        </p:txBody>
      </p:sp>
      <p:sp>
        <p:nvSpPr>
          <p:cNvPr id="699" name="Google Shape;699;g3ec0db17601_0_492"/>
          <p:cNvSpPr/>
          <p:nvPr/>
        </p:nvSpPr>
        <p:spPr>
          <a:xfrm>
            <a:off x="6289611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ec0db17601_0_492"/>
          <p:cNvSpPr/>
          <p:nvPr/>
        </p:nvSpPr>
        <p:spPr>
          <a:xfrm>
            <a:off x="6533451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Feedback</a:t>
            </a:r>
          </a:p>
        </p:txBody>
      </p:sp>
      <p:sp>
        <p:nvSpPr>
          <p:cNvPr id="701" name="Google Shape;701;g3ec0db17601_0_492"/>
          <p:cNvSpPr/>
          <p:nvPr/>
        </p:nvSpPr>
        <p:spPr>
          <a:xfrm>
            <a:off x="6594411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≈ 5 minutes</a:t>
            </a:r>
          </a:p>
        </p:txBody>
      </p:sp>
      <p:sp>
        <p:nvSpPr>
          <p:cNvPr id="702" name="Google Shape;702;g3ec0db17601_0_492"/>
          <p:cNvSpPr/>
          <p:nvPr/>
        </p:nvSpPr>
        <p:spPr>
          <a:xfrm>
            <a:off x="6594411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Peers and facilitators respond: what landed, what to tighten (timing, clarity, participation, debrief).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4" name="Google Shape;984;g3ec0db17601_0_7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g3ec0db17601_0_768"/>
          <p:cNvSpPr/>
          <p:nvPr/>
        </p:nvSpPr>
        <p:spPr>
          <a:xfrm>
            <a:off x="487680" y="1097273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Three rules</a:t>
            </a:r>
          </a:p>
        </p:txBody>
      </p:sp>
      <p:sp>
        <p:nvSpPr>
          <p:cNvPr id="986" name="Google Shape;986;g3ec0db17601_0_768"/>
          <p:cNvSpPr/>
          <p:nvPr/>
        </p:nvSpPr>
        <p:spPr>
          <a:xfrm>
            <a:off x="48768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ec0db17601_0_768"/>
          <p:cNvSpPr/>
          <p:nvPr/>
        </p:nvSpPr>
        <p:spPr>
          <a:xfrm>
            <a:off x="73152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ec0db17601_0_768"/>
          <p:cNvSpPr/>
          <p:nvPr/>
        </p:nvSpPr>
        <p:spPr>
          <a:xfrm>
            <a:off x="79248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Run it, don't read it.</a:t>
            </a:r>
          </a:p>
        </p:txBody>
      </p:sp>
      <p:sp>
        <p:nvSpPr>
          <p:cNvPr id="989" name="Google Shape;989;g3ec0db17601_0_768"/>
          <p:cNvSpPr/>
          <p:nvPr/>
        </p:nvSpPr>
        <p:spPr>
          <a:xfrm>
            <a:off x="79248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You are facilitating an activity, not presenting slides. Get the room doing the task quickly.</a:t>
            </a:r>
          </a:p>
        </p:txBody>
      </p:sp>
      <p:sp>
        <p:nvSpPr>
          <p:cNvPr id="990" name="Google Shape;990;g3ec0db17601_0_768"/>
          <p:cNvSpPr/>
          <p:nvPr/>
        </p:nvSpPr>
        <p:spPr>
          <a:xfrm>
            <a:off x="438912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ec0db17601_0_768"/>
          <p:cNvSpPr/>
          <p:nvPr/>
        </p:nvSpPr>
        <p:spPr>
          <a:xfrm>
            <a:off x="463296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g3ec0db17601_0_768"/>
          <p:cNvSpPr/>
          <p:nvPr/>
        </p:nvSpPr>
        <p:spPr>
          <a:xfrm>
            <a:off x="469392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Timebox like a pro.</a:t>
            </a:r>
          </a:p>
        </p:txBody>
      </p:sp>
      <p:sp>
        <p:nvSpPr>
          <p:cNvPr id="993" name="Google Shape;993;g3ec0db17601_0_768"/>
          <p:cNvSpPr/>
          <p:nvPr/>
        </p:nvSpPr>
        <p:spPr>
          <a:xfrm>
            <a:off x="469392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Announce timings, cut group work on time, and keep a protected buffer for the share-out.</a:t>
            </a:r>
          </a:p>
        </p:txBody>
      </p:sp>
      <p:sp>
        <p:nvSpPr>
          <p:cNvPr id="994" name="Google Shape;994;g3ec0db17601_0_768"/>
          <p:cNvSpPr/>
          <p:nvPr/>
        </p:nvSpPr>
        <p:spPr>
          <a:xfrm>
            <a:off x="829056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ec0db17601_0_768"/>
          <p:cNvSpPr/>
          <p:nvPr/>
        </p:nvSpPr>
        <p:spPr>
          <a:xfrm>
            <a:off x="853440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ec0db17601_0_768"/>
          <p:cNvSpPr/>
          <p:nvPr/>
        </p:nvSpPr>
        <p:spPr>
          <a:xfrm>
            <a:off x="859536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Debrief is the lesson.</a:t>
            </a:r>
          </a:p>
        </p:txBody>
      </p:sp>
      <p:sp>
        <p:nvSpPr>
          <p:cNvPr id="997" name="Google Shape;997;g3ec0db17601_0_768"/>
          <p:cNvSpPr/>
          <p:nvPr/>
        </p:nvSpPr>
        <p:spPr>
          <a:xfrm>
            <a:off x="859536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Collect answers, name the misconception, and connect back to the course concept before you close.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12" name="Google Shape;612;g3e8cad5b4db_0_1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e8cad5b4db_0_11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same four pieces, on a real brief</a:t>
            </a:r>
          </a:p>
        </p:txBody>
      </p:sp>
      <p:pic>
        <p:nvPicPr>
          <p:cNvPr id="614" name="Picture 613" descr="anatomy-piece-3-t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87" y="2631679"/>
            <a:ext cx="5532120" cy="2737642"/>
          </a:xfrm>
          <a:prstGeom prst="rect">
            <a:avLst/>
          </a:prstGeom>
        </p:spPr>
      </p:pic>
      <p:pic>
        <p:nvPicPr>
          <p:cNvPr id="615" name="Picture 614" descr="anatomy-piece-4-not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1587" y="2589051"/>
            <a:ext cx="5532120" cy="282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2026-01-26T14:16:23Z</dcterms:created>
  <dc:creator>Tom Barker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0x0101008DB099DF9359FF4192EEB5DC5AD2779B</vt:lpwstr>
  </property>
</Properties>
</file>