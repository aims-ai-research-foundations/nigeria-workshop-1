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 id="2147483662" r:id="rId4"/>
  </p:sldMasterIdLst>
  <p:notesMasterIdLst>
    <p:notesMasterId r:id="rId5"/>
  </p:notesMasterIdLst>
  <p:sldIdLst>
    <p:sldId id="256" r:id="rId6"/>
    <p:sldId id="292" r:id="rId47"/>
    <p:sldId id="257" r:id="rId7"/>
    <p:sldId id="258" r:id="rId8"/>
    <p:sldId id="293" r:id="rId48"/>
    <p:sldId id="259" r:id="rId9"/>
    <p:sldId id="260" r:id="rId10"/>
    <p:sldId id="261" r:id="rId11"/>
    <p:sldId id="262" r:id="rId12"/>
    <p:sldId id="263" r:id="rId13"/>
    <p:sldId id="264" r:id="rId14"/>
    <p:sldId id="265" r:id="rId15"/>
    <p:sldId id="266" r:id="rId16"/>
    <p:sldId id="294" r:id="rId49"/>
    <p:sldId id="295" r:id="rId50"/>
    <p:sldId id="267" r:id="rId17"/>
    <p:sldId id="268" r:id="rId18"/>
    <p:sldId id="269" r:id="rId19"/>
    <p:sldId id="270" r:id="rId20"/>
    <p:sldId id="271" r:id="rId21"/>
    <p:sldId id="272" r:id="rId22"/>
    <p:sldId id="273" r:id="rId23"/>
    <p:sldId id="296" r:id="rId51"/>
    <p:sldId id="274" r:id="rId24"/>
    <p:sldId id="275" r:id="rId25"/>
    <p:sldId id="297" r:id="rId52"/>
    <p:sldId id="298" r:id="rId53"/>
    <p:sldId id="276" r:id="rId26"/>
    <p:sldId id="277" r:id="rId27"/>
    <p:sldId id="278" r:id="rId28"/>
    <p:sldId id="279" r:id="rId29"/>
    <p:sldId id="280" r:id="rId30"/>
    <p:sldId id="299" r:id="rId54"/>
    <p:sldId id="281" r:id="rId31"/>
    <p:sldId id="282" r:id="rId32"/>
    <p:sldId id="283" r:id="rId33"/>
    <p:sldId id="300" r:id="rId55"/>
    <p:sldId id="284" r:id="rId34"/>
    <p:sldId id="285" r:id="rId35"/>
    <p:sldId id="301" r:id="rId56"/>
    <p:sldId id="302" r:id="rId57"/>
    <p:sldId id="286" r:id="rId36"/>
    <p:sldId id="303" r:id="rId58"/>
    <p:sldId id="287" r:id="rId37"/>
    <p:sldId id="288" r:id="rId38"/>
    <p:sldId id="289" r:id="rId39"/>
    <p:sldId id="290" r:id="rId40"/>
    <p:sldId id="291" r:id="rId41"/>
  </p:sldIdLst>
  <p:sldSz cy="6858000" cx="12192000"/>
  <p:notesSz cx="6858000" cy="12192000"/>
  <p:embeddedFontLst>
    <p:embeddedFont>
      <p:font typeface="Archivo Black"/>
      <p:regular r:id="rId42"/>
    </p:embeddedFont>
    <p:embeddedFont>
      <p:font typeface="Merriweather"/>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font" Target="fonts/ArchivoBlack-regular.fntdata"/><Relationship Id="rId43" Type="http://schemas.openxmlformats.org/officeDocument/2006/relationships/font" Target="fonts/Merriweather-regular.fntdata"/><Relationship Id="rId44" Type="http://schemas.openxmlformats.org/officeDocument/2006/relationships/font" Target="fonts/Merriweather-bold.fntdata"/><Relationship Id="rId45" Type="http://schemas.openxmlformats.org/officeDocument/2006/relationships/font" Target="fonts/Merriweather-italic.fntdata"/><Relationship Id="rId46" Type="http://schemas.openxmlformats.org/officeDocument/2006/relationships/font" Target="fonts/Merriweather-boldItalic.fntdata"/><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a38379d3f_0_101:notes"/>
          <p:cNvSpPr/>
          <p:nvPr>
            <p:ph idx="2" type="sldImg"/>
          </p:nvPr>
        </p:nvSpPr>
        <p:spPr>
          <a:xfrm>
            <a:off x="685800" y="1524000"/>
            <a:ext cx="54864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ea38379d3f_0_101:notes"/>
          <p:cNvSpPr txBox="1"/>
          <p:nvPr>
            <p:ph idx="1" type="body"/>
          </p:nvPr>
        </p:nvSpPr>
        <p:spPr>
          <a:xfrm>
            <a:off x="685800" y="5867400"/>
            <a:ext cx="5486400" cy="480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Feedback</a:t>
            </a:r>
            <a:br>
              <a:rPr lang="en-US"/>
            </a:br>
            <a:br>
              <a:rPr lang="en-US"/>
            </a:br>
            <a:r>
              <a:rPr lang="en-US"/>
              <a:t>- Change the title of the session from slide creation &amp; presentation to something else</a:t>
            </a:r>
            <a:br>
              <a:rPr lang="en-US"/>
            </a:br>
            <a:r>
              <a:rPr lang="en-US"/>
              <a:t>- Live demo for the Mentimeter knowledge check creation (to tell them how easy it is)</a:t>
            </a:r>
            <a:endParaRPr/>
          </a:p>
          <a:p>
            <a:pPr indent="0" lvl="0" marL="0" rtl="0" algn="l">
              <a:spcBef>
                <a:spcPts val="0"/>
              </a:spcBef>
              <a:spcAft>
                <a:spcPts val="0"/>
              </a:spcAft>
              <a:buNone/>
            </a:pPr>
            <a:r>
              <a:rPr lang="en-US"/>
              <a:t>- How to make good visuals or animations? (using AI tools, show a demo)</a:t>
            </a:r>
            <a:endParaRPr/>
          </a:p>
          <a:p>
            <a:pPr indent="0" lvl="0" marL="0" rtl="0" algn="l">
              <a:spcBef>
                <a:spcPts val="0"/>
              </a:spcBef>
              <a:spcAft>
                <a:spcPts val="0"/>
              </a:spcAft>
              <a:buNone/>
            </a:pPr>
            <a:r>
              <a:rPr lang="en-US"/>
              <a:t>- Slide creation task can be a homework + a 45-minute session for refinement</a:t>
            </a:r>
            <a:endParaRPr/>
          </a:p>
          <a:p>
            <a:pPr indent="0" lvl="0" marL="0" rtl="0" algn="l">
              <a:spcBef>
                <a:spcPts val="0"/>
              </a:spcBef>
              <a:spcAft>
                <a:spcPts val="0"/>
              </a:spcAft>
              <a:buNone/>
            </a:pPr>
            <a:r>
              <a:rPr lang="en-US"/>
              <a:t>- Knowledge checks (without internet) =&gt; asking questions to the class</a:t>
            </a:r>
            <a:endParaRPr/>
          </a:p>
          <a:p>
            <a:pPr indent="0" lvl="0" marL="0" rtl="0" algn="l">
              <a:spcBef>
                <a:spcPts val="0"/>
              </a:spcBef>
              <a:spcAft>
                <a:spcPts val="0"/>
              </a:spcAft>
              <a:buNone/>
            </a:pPr>
            <a:r>
              <a:rPr lang="en-US"/>
              <a:t>- Closing should also include Q/A</a:t>
            </a:r>
            <a:endParaRPr/>
          </a:p>
          <a:p>
            <a:pPr indent="0" lvl="0" marL="0" rtl="0" algn="l">
              <a:spcBef>
                <a:spcPts val="0"/>
              </a:spcBef>
              <a:spcAft>
                <a:spcPts val="0"/>
              </a:spcAft>
              <a:buNone/>
            </a:pPr>
            <a:r>
              <a:rPr lang="en-US"/>
              <a:t>- </a:t>
            </a:r>
            <a:endParaRPr/>
          </a:p>
        </p:txBody>
      </p:sp>
      <p:sp>
        <p:nvSpPr>
          <p:cNvPr id="91" name="Google Shape;91;g3ea38379d3f_0_101:notes"/>
          <p:cNvSpPr txBox="1"/>
          <p:nvPr>
            <p:ph idx="12" type="sldNum"/>
          </p:nvPr>
        </p:nvSpPr>
        <p:spPr>
          <a:xfrm>
            <a:off x="3884613" y="11580284"/>
            <a:ext cx="2971800" cy="611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Section budget ~12 min incl. KC1. If the day is running long, the deep-learning-revolution slide can be 30 seconds — the cards read themselves.</a:t>
            </a:r>
          </a:p>
        </p:txBody>
      </p:sp>
      <p:sp>
        <p:nvSpPr>
          <p:cNvPr id="166" name="Google Shape;1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Reveal pattern: show the data first, ask 'which curve would YOU draw?' before showing the three fits. The overfit panel is the star — it returns on the dartboard, regularisation and early-stopping slides.</a:t>
            </a:r>
          </a:p>
        </p:txBody>
      </p:sp>
      <p:sp>
        <p:nvSpPr>
          <p:cNvPr id="219" name="Google Shape;2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c2e4f627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ec2e4f627f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KC1 — questions + scripted why-wrong debriefs live in the facilitator quiz bank (Course_03_Knowledge_Checks_FACILITATOR.docx). Say 'answers are anonymous' out loud. Time-box: launch, 60s per question, close, debrief every option. Paper backup exists if connectivity fails.  ⚠ The QR code on this slide is the PILOT session's Mentimeter — replace it with the Nigeria session's QR before delivery.</a:t>
            </a:r>
          </a:p>
        </p:txBody>
      </p:sp>
      <p:sp>
        <p:nvSpPr>
          <p:cNvPr id="303" name="Google Shape;303;g3ec2e4f627f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c2e4f627f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c2e4f627f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KC2 — questions + scripted why-wrong debriefs live in the facilitator quiz bank (Course_03_Knowledge_Checks_FACILITATOR.docx). Say 'answers are anonymous' out loud. Time-box: launch, 60s per question, close, debrief every option. Paper backup exists if connectivity fails.</a:t>
            </a:r>
          </a:p>
        </p:txBody>
      </p:sp>
      <p:sp>
        <p:nvSpPr>
          <p:cNvPr id="401" name="Google Shape;401;g3ec2e4f627f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Pilot: 'integration of the Python slides was not clear' — the footer now maps every symbol to its Keras argument. Read the mapping out loud, then point forward to the afternoon lab slot (17:00).</a:t>
            </a:r>
          </a:p>
        </p:txBody>
      </p:sp>
      <p:sp>
        <p:nvSpPr>
          <p:cNvPr id="697" name="Google Shape;69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ec2e4f627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g3ec2e4f627f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KC3 — questions + scripted why-wrong debriefs live in the facilitator quiz bank (Course_03_Knowledge_Checks_FACILITATOR.docx). Say 'answers are anonymous' out loud. Time-box: launch, 60s per question, close, debrief every option. Paper backup exists if connectivity fails.</a:t>
            </a:r>
          </a:p>
        </p:txBody>
      </p:sp>
      <p:sp>
        <p:nvSpPr>
          <p:cNvPr id="716" name="Google Shape;716;g3ec2e4f627f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ec2e4f627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ec2e4f627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KC4 — questions + scripted why-wrong debriefs live in the facilitator quiz bank (Course_03_Knowledge_Checks_FACILITATOR.docx). Say 'answers are anonymous' out loud. Time-box: launch, 60s per question, close, debrief every option. Paper backup exists if connectivity fails.</a:t>
            </a:r>
          </a:p>
        </p:txBody>
      </p:sp>
      <p:sp>
        <p:nvSpPr>
          <p:cNvPr id="811" name="Google Shape;811;g3ec2e4f627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Final content section, ~20 min incl. KC5 — protected time. The pilot found this half rushed; the new order is: 1-D gradient → landscape → update rule → GD by hand → credit assignment → chain rule → backprop by hand → optimisers → training loop.</a:t>
            </a:r>
          </a:p>
        </p:txBody>
      </p:sp>
      <p:sp>
        <p:nvSpPr>
          <p:cNvPr id="817" name="Google Shape;81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Walk arrows one at a time. Each backward arrow carries ONE local derivative — nothing global. The by-hand slide that follows instantiates every factor with the numbers from section 03.</a:t>
            </a:r>
          </a:p>
        </p:txBody>
      </p:sp>
      <p:sp>
        <p:nvSpPr>
          <p:cNvPr id="882" name="Google Shape;88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ec2e4f627f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g3ec2e4f627f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KC5 — questions + scripted why-wrong debriefs live in the facilitator quiz bank (Course_03_Knowledge_Checks_FACILITATOR.docx). Say 'answers are anonymous' out loud. Time-box: launch, 60s per question, close, debrief every option. Paper backup exists if connectivity fails.</a:t>
            </a:r>
          </a:p>
        </p:txBody>
      </p:sp>
      <p:sp>
        <p:nvSpPr>
          <p:cNvPr id="997" name="Google Shape;997;g3ec2e4f627f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Close the loop: recap the six takeaways in one breath, remind them slides + quiz are shared, bridge to the afternoon lab. Take questions as they come — do not batch them here.</a:t>
            </a:r>
          </a:p>
        </p:txBody>
      </p:sp>
      <p:sp>
        <p:nvSpPr>
          <p:cNvPr id="1003" name="Google Shape;100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Pilot feedback baked into the format: (1) densest lecture got 90 min, not 60; (2) say out loud that Menti is anonymous — the pilot cohort held back when unsure; (3) invite interruptions: 'ask when confusion appears, not at the end — confusion compounds'; (4) tell them slides will be shared so nobody transcribes. ~2 min on this slide.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Recap-at-start was explicitly praised in pilot feedback (Course 5 lecture). One minute. If either of the first two cards is fuzzy for many, flag that the first two sections revisit both in practice. Cards 1–2 = where we come from; card 3 = today's promise.</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Board derivation (2 min if requested):</a:t>
            </a:r>
          </a:p>
          <a:p>
            <a:r>
              <a:t>E[(ŷ−y)²] = E[(ŷ − E[ŷ] + E[ŷ] − y)²]</a:t>
            </a:r>
          </a:p>
          <a:p>
            <a:r>
              <a:t>  = E[(ŷ−E[ŷ])²] + 2(E[ŷ]−y)·E[ŷ−E[ŷ]] + (E[ŷ]−y)²</a:t>
            </a:r>
          </a:p>
          <a:p>
            <a:r>
              <a:t>Middle term: E[ŷ−E[ŷ]] = E[ŷ]−E[ŷ] = 0, so it dies.</a:t>
            </a:r>
          </a:p>
          <a:p>
            <a:r>
              <a:t>  = Variance + Bias².  (Noisy labels add irreducible σ² the same way.)</a:t>
            </a:r>
          </a:p>
          <a:p>
            <a:r>
              <a:t>Key sentence: 'bias is a distance, variance is already a squared quantity — squaring the bias puts both in the same currency so the trade-off is honest.'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60–90 seconds. Point at panels in order: 1 (green) is the goal; 2 (orange) is underfitting — tight but centred in the wrong place: wrong assumptions; 3 (magenta) is overfitting — centred on truth ON AVERAGE but each retrain lands somewhere new; 4 is both diseases at once. Ask: 'which panel was the wiggly curve from the three-fits slide?' (3).</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3–4 min, the MLP payoff. Draw the 4 XOR points on the board, then the OR line and the AND line live; shade the strip between them. Punchline: the hidden layer doesn't bend the line — it MOVES THE POINTS so a straight line works again. This directly answers the pilot's 'why do we need hidden layers / non-linearity' question in geometric form.</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 Walk the algebra slowly, left to right — it is one distribution step. Ask the room: 'so when IS a deep network more powerful than a shallow one?' Answer: only with a non-linearity between layers. Connect back to XOR-by-hand (h₁, h₂ needed the step function) and forward to the activation-function menu.</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Have the room verify h₂ out loud (0.5 + 2 = 2.5). Point at h₁: 'the ReLU is OFF — remember that, it matters in section 05.' The pilot asked for worked numeric examples and for a note that numbers are illustrative — both live on this slide. This exact network returns on the backprop-by-hand slide.</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2–3 min. The pilot flagged regularisation as hard to follow — the fix here is the footer arithmetic: two models, identical data fit, and the penalty alone decides. Σw² for (10,−9) = 100+81 = 181; ×0.01 = 1.81. For (1.2,0.8) = 1.44+0.64 = 2.08; ×0.01 ≈ 0.02. Link forward: 'the wiggly overfit curve from three-fits NEEDS extreme weights — the penalty starves it.'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2 min, BEFORE the loss-landscape slide (big picture first, per pilot feedback: gradient descent needed more time and more examples). Trace the curve with a finger: 'you cannot see the whole valley — you only feel the slope under your feet.' Then the landscape slide generalises to many dimensions, and the by-hand slide makes it arithmetic.</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Do w₁ live: gradient at 0 is 2(0−3) = −6; step = −0.25·(−6) = +1.5. Room choruses w₂. Emphasise the SIGN mechanics — subtracting a negative moves right (this is KC5 Q1's classic mistake). η=1 oscillates 0↔6 forever; η=1.1 diverges (gap ×1.2 each step) — say it, don't compute it.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90 seconds, BEFORE the chain-rule diagram (big picture first — the pilot found backprop rushed and asked for the 'why' before the mechanics). Name it: the credit assignment problem. The next slide is the mechanism; the slide after runs it by hand on our tiny network.</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4–5 min — the pilot's #1 rushed topic, now a standalone worked example. Write the three local factors on the board one at a time; each is LOCAL (a weight, an input, a derivative of the loss) — that locality is the whole trick. Multiply: (−4)·(0.4)·(1) = −1.6. Negative gradient ⇒ increasing w₃ decreases loss ⇒ the update RAISES w₃ to 0.66. Then the footer: dead ReLU ⇒ zero gradient upstream (w₅ too: its gradient is ∂L/∂ŷ·h₁ = −4·0 = 0). If time is short, cut the η=1.1 aside on the GD-by-hand slide, never this one.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6"/>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7"/>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7"/>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8"/>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8"/>
          <p:cNvSpPr txBox="1"/>
          <p:nvPr>
            <p:ph idx="1" type="body"/>
          </p:nvPr>
        </p:nvSpPr>
        <p:spPr>
          <a:xfrm>
            <a:off x="839788" y="1681163"/>
            <a:ext cx="51579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8"/>
          <p:cNvSpPr txBox="1"/>
          <p:nvPr>
            <p:ph idx="2" type="body"/>
          </p:nvPr>
        </p:nvSpPr>
        <p:spPr>
          <a:xfrm>
            <a:off x="839788" y="2505075"/>
            <a:ext cx="51579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
          <p:cNvSpPr txBox="1"/>
          <p:nvPr>
            <p:ph idx="3" type="body"/>
          </p:nvPr>
        </p:nvSpPr>
        <p:spPr>
          <a:xfrm>
            <a:off x="6172200" y="1681163"/>
            <a:ext cx="51831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8"/>
          <p:cNvSpPr txBox="1"/>
          <p:nvPr>
            <p:ph idx="4" type="body"/>
          </p:nvPr>
        </p:nvSpPr>
        <p:spPr>
          <a:xfrm>
            <a:off x="6172200" y="2505075"/>
            <a:ext cx="51831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1"/>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5183188" y="987425"/>
            <a:ext cx="61722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11"/>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1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2"/>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
          <p:cNvSpPr/>
          <p:nvPr>
            <p:ph idx="2" type="pic"/>
          </p:nvPr>
        </p:nvSpPr>
        <p:spPr>
          <a:xfrm>
            <a:off x="5183188" y="987425"/>
            <a:ext cx="6172200" cy="4873500"/>
          </a:xfrm>
          <a:prstGeom prst="rect">
            <a:avLst/>
          </a:prstGeom>
          <a:noFill/>
          <a:ln>
            <a:noFill/>
          </a:ln>
        </p:spPr>
      </p:sp>
      <p:sp>
        <p:nvSpPr>
          <p:cNvPr id="70" name="Google Shape;70;p12"/>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4"/>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4"/>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86" name="Shape 86"/>
        <p:cNvGrpSpPr/>
        <p:nvPr/>
      </p:nvGrpSpPr>
      <p:grpSpPr>
        <a:xfrm>
          <a:off x="0" y="0"/>
          <a:ext cx="0" cy="0"/>
          <a:chOff x="0" y="0"/>
          <a:chExt cx="0" cy="0"/>
        </a:xfrm>
      </p:grpSpPr>
      <p:pic>
        <p:nvPicPr>
          <p:cNvPr id="87" name="Google Shape;87;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200" u="none" cap="none" strike="noStrike">
                <a:solidFill>
                  <a:srgbClr val="757575"/>
                </a:solidFill>
                <a:latin typeface="Arial"/>
                <a:ea typeface="Arial"/>
                <a:cs typeface="Arial"/>
                <a:sym typeface="Arial"/>
              </a:defRPr>
            </a:lvl1pPr>
            <a:lvl2pPr indent="0" lvl="1" marL="0" marR="0" algn="r">
              <a:spcBef>
                <a:spcPts val="0"/>
              </a:spcBef>
              <a:buNone/>
              <a:defRPr b="0" i="0" sz="1200" u="none" cap="none" strike="noStrike">
                <a:solidFill>
                  <a:srgbClr val="757575"/>
                </a:solidFill>
                <a:latin typeface="Arial"/>
                <a:ea typeface="Arial"/>
                <a:cs typeface="Arial"/>
                <a:sym typeface="Arial"/>
              </a:defRPr>
            </a:lvl2pPr>
            <a:lvl3pPr indent="0" lvl="2" marL="0" marR="0" algn="r">
              <a:spcBef>
                <a:spcPts val="0"/>
              </a:spcBef>
              <a:buNone/>
              <a:defRPr b="0" i="0" sz="1200" u="none" cap="none" strike="noStrike">
                <a:solidFill>
                  <a:srgbClr val="757575"/>
                </a:solidFill>
                <a:latin typeface="Arial"/>
                <a:ea typeface="Arial"/>
                <a:cs typeface="Arial"/>
                <a:sym typeface="Arial"/>
              </a:defRPr>
            </a:lvl3pPr>
            <a:lvl4pPr indent="0" lvl="3" marL="0" marR="0" algn="r">
              <a:spcBef>
                <a:spcPts val="0"/>
              </a:spcBef>
              <a:buNone/>
              <a:defRPr b="0" i="0" sz="1200" u="none" cap="none" strike="noStrike">
                <a:solidFill>
                  <a:srgbClr val="757575"/>
                </a:solidFill>
                <a:latin typeface="Arial"/>
                <a:ea typeface="Arial"/>
                <a:cs typeface="Arial"/>
                <a:sym typeface="Arial"/>
              </a:defRPr>
            </a:lvl4pPr>
            <a:lvl5pPr indent="0" lvl="4" marL="0" marR="0" algn="r">
              <a:spcBef>
                <a:spcPts val="0"/>
              </a:spcBef>
              <a:buNone/>
              <a:defRPr b="0" i="0" sz="1200" u="none" cap="none" strike="noStrike">
                <a:solidFill>
                  <a:srgbClr val="757575"/>
                </a:solidFill>
                <a:latin typeface="Arial"/>
                <a:ea typeface="Arial"/>
                <a:cs typeface="Arial"/>
                <a:sym typeface="Arial"/>
              </a:defRPr>
            </a:lvl5pPr>
            <a:lvl6pPr indent="0" lvl="5" marL="0" marR="0" algn="r">
              <a:spcBef>
                <a:spcPts val="0"/>
              </a:spcBef>
              <a:buNone/>
              <a:defRPr b="0" i="0" sz="1200" u="none" cap="none" strike="noStrike">
                <a:solidFill>
                  <a:srgbClr val="757575"/>
                </a:solidFill>
                <a:latin typeface="Arial"/>
                <a:ea typeface="Arial"/>
                <a:cs typeface="Arial"/>
                <a:sym typeface="Arial"/>
              </a:defRPr>
            </a:lvl6pPr>
            <a:lvl7pPr indent="0" lvl="6" marL="0" marR="0" algn="r">
              <a:spcBef>
                <a:spcPts val="0"/>
              </a:spcBef>
              <a:buNone/>
              <a:defRPr b="0" i="0" sz="1200" u="none" cap="none" strike="noStrike">
                <a:solidFill>
                  <a:srgbClr val="757575"/>
                </a:solidFill>
                <a:latin typeface="Arial"/>
                <a:ea typeface="Arial"/>
                <a:cs typeface="Arial"/>
                <a:sym typeface="Arial"/>
              </a:defRPr>
            </a:lvl7pPr>
            <a:lvl8pPr indent="0" lvl="7" marL="0" marR="0" algn="r">
              <a:spcBef>
                <a:spcPts val="0"/>
              </a:spcBef>
              <a:buNone/>
              <a:defRPr b="0" i="0" sz="1200" u="none" cap="none" strike="noStrike">
                <a:solidFill>
                  <a:srgbClr val="757575"/>
                </a:solidFill>
                <a:latin typeface="Arial"/>
                <a:ea typeface="Arial"/>
                <a:cs typeface="Arial"/>
                <a:sym typeface="Arial"/>
              </a:defRPr>
            </a:lvl8pPr>
            <a:lvl9pPr indent="0" lvl="8" marL="0" marR="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36.png"/><Relationship Id="rId7"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6"/>
          <p:cNvSpPr txBox="1"/>
          <p:nvPr/>
        </p:nvSpPr>
        <p:spPr>
          <a:xfrm>
            <a:off x="753526" y="2999025"/>
            <a:ext cx="8785800" cy="222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6000"/>
              <a:buFont typeface="Archivo Black"/>
              <a:buNone/>
            </a:pPr>
            <a:r>
              <a:rPr b="1" lang="en-US" sz="6000">
                <a:solidFill>
                  <a:schemeClr val="dk2"/>
                </a:solidFill>
                <a:latin typeface="Archivo Black"/>
                <a:ea typeface="Archivo Black"/>
                <a:cs typeface="Archivo Black"/>
                <a:sym typeface="Archivo Black"/>
              </a:rPr>
              <a:t>Design and Train</a:t>
            </a:r>
            <a:endParaRPr sz="60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6000"/>
              <a:buFont typeface="Archivo Black"/>
              <a:buNone/>
            </a:pPr>
            <a:r>
              <a:rPr b="1" lang="en-US" sz="6000">
                <a:solidFill>
                  <a:schemeClr val="dk2"/>
                </a:solidFill>
                <a:latin typeface="Archivo Black"/>
                <a:ea typeface="Archivo Black"/>
                <a:cs typeface="Archivo Black"/>
                <a:sym typeface="Archivo Black"/>
              </a:rPr>
              <a:t>Neural Networks</a:t>
            </a:r>
            <a:endParaRPr b="1" sz="6000">
              <a:solidFill>
                <a:schemeClr val="dk2"/>
              </a:solidFill>
            </a:endParaRPr>
          </a:p>
        </p:txBody>
      </p:sp>
      <p:pic>
        <p:nvPicPr>
          <p:cNvPr id="95" name="Google Shape;95;p16"/>
          <p:cNvPicPr preferRelativeResize="0"/>
          <p:nvPr/>
        </p:nvPicPr>
        <p:blipFill rotWithShape="1">
          <a:blip r:embed="rId4">
            <a:alphaModFix/>
          </a:blip>
          <a:srcRect b="0" l="0" r="0" t="0"/>
          <a:stretch/>
        </p:blipFill>
        <p:spPr>
          <a:xfrm>
            <a:off x="6984141" y="383197"/>
            <a:ext cx="2033076" cy="837149"/>
          </a:xfrm>
          <a:prstGeom prst="rect">
            <a:avLst/>
          </a:prstGeom>
          <a:noFill/>
          <a:ln>
            <a:noFill/>
          </a:ln>
        </p:spPr>
      </p:pic>
      <p:pic>
        <p:nvPicPr>
          <p:cNvPr id="96" name="Google Shape;96;p16"/>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97" name="Google Shape;97;p16"/>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98" name="Google Shape;98;p16"/>
          <p:cNvGrpSpPr/>
          <p:nvPr/>
        </p:nvGrpSpPr>
        <p:grpSpPr>
          <a:xfrm>
            <a:off x="763050" y="5899750"/>
            <a:ext cx="6501258" cy="410463"/>
            <a:chOff x="763050" y="5899750"/>
            <a:chExt cx="6501258" cy="410463"/>
          </a:xfrm>
        </p:grpSpPr>
        <p:sp>
          <p:nvSpPr>
            <p:cNvPr id="99" name="Google Shape;99;p16"/>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6"/>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750">
                  <a:solidFill>
                    <a:schemeClr val="dk2"/>
                  </a:solidFill>
                </a:rPr>
                <a:t>Nigeria · August 2026</a:t>
              </a:r>
              <a:endParaRPr/>
            </a:p>
          </p:txBody>
        </p:sp>
        <p:sp>
          <p:nvSpPr>
            <p:cNvPr id="101" name="Google Shape;101;p16"/>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2" name="Google Shape;102;p16"/>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750">
                  <a:solidFill>
                    <a:schemeClr val="dk2"/>
                  </a:solidFill>
                </a:rPr>
                <a:t>AI Research Foundations</a:t>
              </a:r>
              <a:endParaRPr/>
            </a:p>
          </p:txBody>
        </p:sp>
      </p:grpSp>
      <p:pic>
        <p:nvPicPr>
          <p:cNvPr id="103" name="Google Shape;103;p16"/>
          <p:cNvPicPr preferRelativeResize="0"/>
          <p:nvPr/>
        </p:nvPicPr>
        <p:blipFill>
          <a:blip r:embed="rId7">
            <a:alphaModFix/>
          </a:blip>
          <a:stretch>
            <a:fillRect/>
          </a:stretch>
        </p:blipFill>
        <p:spPr>
          <a:xfrm>
            <a:off x="5724851" y="505175"/>
            <a:ext cx="1168078" cy="593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1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Why train neural networks?</a:t>
            </a:r>
            <a:endParaRPr b="0" i="0" sz="2600" u="none" cap="none" strike="noStrike">
              <a:solidFill>
                <a:schemeClr val="dk1"/>
              </a:solidFill>
              <a:latin typeface="Calibri"/>
              <a:ea typeface="Calibri"/>
              <a:cs typeface="Calibri"/>
              <a:sym typeface="Calibri"/>
            </a:endParaRPr>
          </a:p>
        </p:txBody>
      </p:sp>
      <p:sp>
        <p:nvSpPr>
          <p:cNvPr id="110" name="Google Shape;110;p1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500" u="none" cap="none" strike="noStrike">
                <a:solidFill>
                  <a:srgbClr val="555555"/>
                </a:solidFill>
                <a:latin typeface="Merriweather"/>
                <a:ea typeface="Merriweather"/>
                <a:cs typeface="Merriweather"/>
                <a:sym typeface="Merriweather"/>
              </a:rPr>
              <a:t>A trained network is what stands between random outputs and a useful model.</a:t>
            </a:r>
            <a:endParaRPr b="0" i="0" sz="1500" u="none" cap="none" strike="noStrike">
              <a:solidFill>
                <a:schemeClr val="dk1"/>
              </a:solidFill>
              <a:latin typeface="Calibri"/>
              <a:ea typeface="Calibri"/>
              <a:cs typeface="Calibri"/>
              <a:sym typeface="Calibri"/>
            </a:endParaRPr>
          </a:p>
        </p:txBody>
      </p:sp>
      <p:sp>
        <p:nvSpPr>
          <p:cNvPr id="111" name="Google Shape;111;p17"/>
          <p:cNvSpPr/>
          <p:nvPr/>
        </p:nvSpPr>
        <p:spPr>
          <a:xfrm>
            <a:off x="361188"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361188" y="1691640"/>
            <a:ext cx="109728" cy="42062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681228"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800"/>
              <a:buFont typeface="Archivo Black"/>
              <a:buNone/>
            </a:pPr>
            <a:r>
              <a:rPr b="1" i="0" lang="en-US" sz="2800" u="none" cap="none" strike="noStrike">
                <a:solidFill>
                  <a:srgbClr val="E97132"/>
                </a:solidFill>
                <a:latin typeface="Archivo Black"/>
                <a:ea typeface="Archivo Black"/>
                <a:cs typeface="Archivo Black"/>
                <a:sym typeface="Archivo Black"/>
              </a:rPr>
              <a:t>01</a:t>
            </a:r>
            <a:endParaRPr b="0" i="0" sz="2800" u="none" cap="none" strike="noStrike">
              <a:solidFill>
                <a:schemeClr val="dk1"/>
              </a:solidFill>
              <a:latin typeface="Calibri"/>
              <a:ea typeface="Calibri"/>
              <a:cs typeface="Calibri"/>
              <a:sym typeface="Calibri"/>
            </a:endParaRPr>
          </a:p>
        </p:txBody>
      </p:sp>
      <p:sp>
        <p:nvSpPr>
          <p:cNvPr id="114" name="Google Shape;114;p17"/>
          <p:cNvSpPr/>
          <p:nvPr/>
        </p:nvSpPr>
        <p:spPr>
          <a:xfrm>
            <a:off x="681228"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Data alone is silent.</a:t>
            </a:r>
            <a:endParaRPr b="0" i="0" sz="1600" u="none" cap="none" strike="noStrike">
              <a:solidFill>
                <a:schemeClr val="dk1"/>
              </a:solidFill>
              <a:latin typeface="Calibri"/>
              <a:ea typeface="Calibri"/>
              <a:cs typeface="Calibri"/>
              <a:sym typeface="Calibri"/>
            </a:endParaRPr>
          </a:p>
        </p:txBody>
      </p:sp>
      <p:sp>
        <p:nvSpPr>
          <p:cNvPr id="115" name="Google Shape;115;p17"/>
          <p:cNvSpPr/>
          <p:nvPr/>
        </p:nvSpPr>
        <p:spPr>
          <a:xfrm>
            <a:off x="681228"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2150" u="none" cap="none" strike="noStrike">
                <a:solidFill>
                  <a:srgbClr val="333333"/>
                </a:solidFill>
                <a:latin typeface="Merriweather"/>
                <a:ea typeface="Merriweather"/>
                <a:cs typeface="Merriweather"/>
                <a:sym typeface="Merriweather"/>
              </a:rPr>
              <a:t>Raw text, images and signals carry patterns, but they cannot speak. A network only finds those patterns through training.</a:t>
            </a:r>
            <a:endParaRPr b="0" i="0" sz="2150" u="none" cap="none" strike="noStrike">
              <a:solidFill>
                <a:schemeClr val="dk1"/>
              </a:solidFill>
              <a:latin typeface="Calibri"/>
              <a:ea typeface="Calibri"/>
              <a:cs typeface="Calibri"/>
              <a:sym typeface="Calibri"/>
            </a:endParaRPr>
          </a:p>
        </p:txBody>
      </p:sp>
      <p:sp>
        <p:nvSpPr>
          <p:cNvPr id="116" name="Google Shape;116;p17"/>
          <p:cNvSpPr/>
          <p:nvPr/>
        </p:nvSpPr>
        <p:spPr>
          <a:xfrm>
            <a:off x="4265676"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4265676" y="1691640"/>
            <a:ext cx="109728" cy="42062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4585716"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800"/>
              <a:buFont typeface="Archivo Black"/>
              <a:buNone/>
            </a:pPr>
            <a:r>
              <a:rPr b="1" i="0" lang="en-US" sz="2800" u="none" cap="none" strike="noStrike">
                <a:solidFill>
                  <a:srgbClr val="A02B93"/>
                </a:solidFill>
                <a:latin typeface="Archivo Black"/>
                <a:ea typeface="Archivo Black"/>
                <a:cs typeface="Archivo Black"/>
                <a:sym typeface="Archivo Black"/>
              </a:rPr>
              <a:t>02</a:t>
            </a:r>
            <a:endParaRPr b="0" i="0" sz="2800" u="none" cap="none" strike="noStrike">
              <a:solidFill>
                <a:schemeClr val="dk1"/>
              </a:solidFill>
              <a:latin typeface="Calibri"/>
              <a:ea typeface="Calibri"/>
              <a:cs typeface="Calibri"/>
              <a:sym typeface="Calibri"/>
            </a:endParaRPr>
          </a:p>
        </p:txBody>
      </p:sp>
      <p:sp>
        <p:nvSpPr>
          <p:cNvPr id="119" name="Google Shape;119;p17"/>
          <p:cNvSpPr/>
          <p:nvPr/>
        </p:nvSpPr>
        <p:spPr>
          <a:xfrm>
            <a:off x="4585716"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Training is where intelligence comes from.</a:t>
            </a:r>
            <a:endParaRPr b="0" i="0" sz="1600" u="none" cap="none" strike="noStrike">
              <a:solidFill>
                <a:schemeClr val="dk1"/>
              </a:solidFill>
              <a:latin typeface="Calibri"/>
              <a:ea typeface="Calibri"/>
              <a:cs typeface="Calibri"/>
              <a:sym typeface="Calibri"/>
            </a:endParaRPr>
          </a:p>
        </p:txBody>
      </p:sp>
      <p:sp>
        <p:nvSpPr>
          <p:cNvPr id="120" name="Google Shape;120;p17"/>
          <p:cNvSpPr/>
          <p:nvPr/>
        </p:nvSpPr>
        <p:spPr>
          <a:xfrm>
            <a:off x="4585716"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2050" u="none" cap="none" strike="noStrike">
                <a:solidFill>
                  <a:srgbClr val="333333"/>
                </a:solidFill>
                <a:latin typeface="Merriweather"/>
                <a:ea typeface="Merriweather"/>
                <a:cs typeface="Merriweather"/>
                <a:sym typeface="Merriweather"/>
              </a:rPr>
              <a:t>Every billion-parameter model </a:t>
            </a:r>
            <a:r>
              <a:rPr lang="en-US" sz="2050">
                <a:solidFill>
                  <a:srgbClr val="333333"/>
                </a:solidFill>
                <a:latin typeface="Merriweather"/>
                <a:ea typeface="Merriweather"/>
                <a:cs typeface="Merriweather"/>
                <a:sym typeface="Merriweather"/>
              </a:rPr>
              <a:t>: </a:t>
            </a:r>
            <a:r>
              <a:rPr b="0" i="0" lang="en-US" sz="2050" u="none" cap="none" strike="noStrike">
                <a:solidFill>
                  <a:srgbClr val="333333"/>
                </a:solidFill>
                <a:latin typeface="Merriweather"/>
                <a:ea typeface="Merriweather"/>
                <a:cs typeface="Merriweather"/>
                <a:sym typeface="Merriweather"/>
              </a:rPr>
              <a:t>Gemma, Llama, GPT  got its behaviour from the same loop: predict, compare, adjust.</a:t>
            </a:r>
            <a:endParaRPr b="0" i="0" sz="2050" u="none" cap="none" strike="noStrike">
              <a:solidFill>
                <a:schemeClr val="dk1"/>
              </a:solidFill>
              <a:latin typeface="Calibri"/>
              <a:ea typeface="Calibri"/>
              <a:cs typeface="Calibri"/>
              <a:sym typeface="Calibri"/>
            </a:endParaRPr>
          </a:p>
        </p:txBody>
      </p:sp>
      <p:sp>
        <p:nvSpPr>
          <p:cNvPr id="121" name="Google Shape;121;p17"/>
          <p:cNvSpPr/>
          <p:nvPr/>
        </p:nvSpPr>
        <p:spPr>
          <a:xfrm>
            <a:off x="8170164"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8170164" y="1691640"/>
            <a:ext cx="109728" cy="42062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8490204"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800"/>
              <a:buFont typeface="Archivo Black"/>
              <a:buNone/>
            </a:pPr>
            <a:r>
              <a:rPr b="1" i="0" lang="en-US" sz="2800" u="none" cap="none" strike="noStrike">
                <a:solidFill>
                  <a:srgbClr val="4EA72E"/>
                </a:solidFill>
                <a:latin typeface="Archivo Black"/>
                <a:ea typeface="Archivo Black"/>
                <a:cs typeface="Archivo Black"/>
                <a:sym typeface="Archivo Black"/>
              </a:rPr>
              <a:t>03</a:t>
            </a:r>
            <a:endParaRPr b="0" i="0" sz="2800" u="none" cap="none" strike="noStrike">
              <a:solidFill>
                <a:schemeClr val="dk1"/>
              </a:solidFill>
              <a:latin typeface="Calibri"/>
              <a:ea typeface="Calibri"/>
              <a:cs typeface="Calibri"/>
              <a:sym typeface="Calibri"/>
            </a:endParaRPr>
          </a:p>
        </p:txBody>
      </p:sp>
      <p:sp>
        <p:nvSpPr>
          <p:cNvPr id="124" name="Google Shape;124;p17"/>
          <p:cNvSpPr/>
          <p:nvPr/>
        </p:nvSpPr>
        <p:spPr>
          <a:xfrm>
            <a:off x="8490204"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Done wrong, the model memorises.</a:t>
            </a:r>
            <a:endParaRPr b="0" i="0" sz="1600" u="none" cap="none" strike="noStrike">
              <a:solidFill>
                <a:schemeClr val="dk1"/>
              </a:solidFill>
              <a:latin typeface="Calibri"/>
              <a:ea typeface="Calibri"/>
              <a:cs typeface="Calibri"/>
              <a:sym typeface="Calibri"/>
            </a:endParaRPr>
          </a:p>
        </p:txBody>
      </p:sp>
      <p:sp>
        <p:nvSpPr>
          <p:cNvPr id="125" name="Google Shape;125;p17"/>
          <p:cNvSpPr/>
          <p:nvPr/>
        </p:nvSpPr>
        <p:spPr>
          <a:xfrm>
            <a:off x="8490204"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850" u="none" cap="none" strike="noStrike">
                <a:solidFill>
                  <a:srgbClr val="333333"/>
                </a:solidFill>
                <a:latin typeface="Merriweather"/>
                <a:ea typeface="Merriweather"/>
                <a:cs typeface="Merriweather"/>
                <a:sym typeface="Merriweather"/>
              </a:rPr>
              <a:t>A neural network can memorise noise as easily as signal. Good training is the difference between a tool and a parrot.</a:t>
            </a:r>
            <a:endParaRPr b="0" i="0" sz="1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18"/>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Where we're going</a:t>
            </a:r>
            <a:endParaRPr b="0" i="0" sz="2600" u="none" cap="none" strike="noStrike">
              <a:solidFill>
                <a:schemeClr val="dk1"/>
              </a:solidFill>
              <a:latin typeface="Calibri"/>
              <a:ea typeface="Calibri"/>
              <a:cs typeface="Calibri"/>
              <a:sym typeface="Calibri"/>
            </a:endParaRPr>
          </a:p>
        </p:txBody>
      </p:sp>
      <p:sp>
        <p:nvSpPr>
          <p:cNvPr id="132" name="Google Shape;132;p18"/>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Six ideas that together let you train a neural network from scratch.</a:t>
            </a:r>
            <a:endParaRPr b="0" i="0" sz="1300" u="none" cap="none" strike="noStrike">
              <a:solidFill>
                <a:schemeClr val="dk1"/>
              </a:solidFill>
              <a:latin typeface="Calibri"/>
              <a:ea typeface="Calibri"/>
              <a:cs typeface="Calibri"/>
              <a:sym typeface="Calibri"/>
            </a:endParaRPr>
          </a:p>
        </p:txBody>
      </p:sp>
      <p:sp>
        <p:nvSpPr>
          <p:cNvPr id="133" name="Google Shape;133;p18"/>
          <p:cNvSpPr/>
          <p:nvPr/>
        </p:nvSpPr>
        <p:spPr>
          <a:xfrm>
            <a:off x="516636" y="169164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p:nvPr/>
        </p:nvSpPr>
        <p:spPr>
          <a:xfrm>
            <a:off x="516636" y="1691640"/>
            <a:ext cx="3566160" cy="7315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745236" y="187452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200"/>
              <a:buFont typeface="Archivo Black"/>
              <a:buNone/>
            </a:pPr>
            <a:r>
              <a:rPr b="1" i="0" lang="en-US" sz="2200" u="none" cap="none" strike="noStrike">
                <a:solidFill>
                  <a:srgbClr val="E97132"/>
                </a:solidFill>
                <a:latin typeface="Archivo Black"/>
                <a:ea typeface="Archivo Black"/>
                <a:cs typeface="Archivo Black"/>
                <a:sym typeface="Archivo Black"/>
              </a:rPr>
              <a:t>01</a:t>
            </a:r>
            <a:endParaRPr b="0" i="0" sz="2200" u="none" cap="none" strike="noStrike">
              <a:solidFill>
                <a:schemeClr val="dk1"/>
              </a:solidFill>
              <a:latin typeface="Calibri"/>
              <a:ea typeface="Calibri"/>
              <a:cs typeface="Calibri"/>
              <a:sym typeface="Calibri"/>
            </a:endParaRPr>
          </a:p>
        </p:txBody>
      </p:sp>
      <p:sp>
        <p:nvSpPr>
          <p:cNvPr id="136" name="Google Shape;136;p18"/>
          <p:cNvSpPr/>
          <p:nvPr/>
        </p:nvSpPr>
        <p:spPr>
          <a:xfrm>
            <a:off x="745236" y="23774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Signal &amp; noise</a:t>
            </a:r>
            <a:endParaRPr b="0" i="0" sz="1600" u="none" cap="none" strike="noStrike">
              <a:solidFill>
                <a:schemeClr val="dk1"/>
              </a:solidFill>
              <a:latin typeface="Calibri"/>
              <a:ea typeface="Calibri"/>
              <a:cs typeface="Calibri"/>
              <a:sym typeface="Calibri"/>
            </a:endParaRPr>
          </a:p>
        </p:txBody>
      </p:sp>
      <p:sp>
        <p:nvSpPr>
          <p:cNvPr id="137" name="Google Shape;137;p18"/>
          <p:cNvSpPr/>
          <p:nvPr/>
        </p:nvSpPr>
        <p:spPr>
          <a:xfrm>
            <a:off x="745236" y="278892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What models should learn  and what they shouldn't. · ~12 min</a:t>
            </a:r>
          </a:p>
        </p:txBody>
      </p:sp>
      <p:sp>
        <p:nvSpPr>
          <p:cNvPr id="138" name="Google Shape;138;p18"/>
          <p:cNvSpPr/>
          <p:nvPr/>
        </p:nvSpPr>
        <p:spPr>
          <a:xfrm>
            <a:off x="4311396" y="169164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4311396" y="1691640"/>
            <a:ext cx="3566160" cy="73152"/>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a:off x="4539996" y="187452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200"/>
              <a:buFont typeface="Archivo Black"/>
              <a:buNone/>
            </a:pPr>
            <a:r>
              <a:rPr b="1" i="0" lang="en-US" sz="2200" u="none" cap="none" strike="noStrike">
                <a:solidFill>
                  <a:srgbClr val="4EA72E"/>
                </a:solidFill>
                <a:latin typeface="Archivo Black"/>
                <a:ea typeface="Archivo Black"/>
                <a:cs typeface="Archivo Black"/>
                <a:sym typeface="Archivo Black"/>
              </a:rPr>
              <a:t>02</a:t>
            </a:r>
            <a:endParaRPr b="0" i="0" sz="2200" u="none" cap="none" strike="noStrike">
              <a:solidFill>
                <a:schemeClr val="dk1"/>
              </a:solidFill>
              <a:latin typeface="Calibri"/>
              <a:ea typeface="Calibri"/>
              <a:cs typeface="Calibri"/>
              <a:sym typeface="Calibri"/>
            </a:endParaRPr>
          </a:p>
        </p:txBody>
      </p:sp>
      <p:sp>
        <p:nvSpPr>
          <p:cNvPr id="141" name="Google Shape;141;p18"/>
          <p:cNvSpPr/>
          <p:nvPr/>
        </p:nvSpPr>
        <p:spPr>
          <a:xfrm>
            <a:off x="4539996" y="23774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Generalisation</a:t>
            </a:r>
            <a:endParaRPr b="0" i="0" sz="1600" u="none" cap="none" strike="noStrike">
              <a:solidFill>
                <a:schemeClr val="dk1"/>
              </a:solidFill>
              <a:latin typeface="Calibri"/>
              <a:ea typeface="Calibri"/>
              <a:cs typeface="Calibri"/>
              <a:sym typeface="Calibri"/>
            </a:endParaRPr>
          </a:p>
        </p:txBody>
      </p:sp>
      <p:sp>
        <p:nvSpPr>
          <p:cNvPr id="142" name="Google Shape;142;p18"/>
          <p:cNvSpPr/>
          <p:nvPr/>
        </p:nvSpPr>
        <p:spPr>
          <a:xfrm>
            <a:off x="4539996" y="278892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Bias, variance, and the train/test split. · ~17 min</a:t>
            </a:r>
          </a:p>
        </p:txBody>
      </p:sp>
      <p:sp>
        <p:nvSpPr>
          <p:cNvPr id="143" name="Google Shape;143;p18"/>
          <p:cNvSpPr/>
          <p:nvPr/>
        </p:nvSpPr>
        <p:spPr>
          <a:xfrm>
            <a:off x="8106156" y="169164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a:off x="8106156" y="1691640"/>
            <a:ext cx="3566160" cy="73152"/>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8334756" y="187452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200"/>
              <a:buFont typeface="Archivo Black"/>
              <a:buNone/>
            </a:pPr>
            <a:r>
              <a:rPr b="1" i="0" lang="en-US" sz="2200" u="none" cap="none" strike="noStrike">
                <a:solidFill>
                  <a:srgbClr val="A02B93"/>
                </a:solidFill>
                <a:latin typeface="Archivo Black"/>
                <a:ea typeface="Archivo Black"/>
                <a:cs typeface="Archivo Black"/>
                <a:sym typeface="Archivo Black"/>
              </a:rPr>
              <a:t>03</a:t>
            </a:r>
            <a:endParaRPr b="0" i="0" sz="2200" u="none" cap="none" strike="noStrike">
              <a:solidFill>
                <a:schemeClr val="dk1"/>
              </a:solidFill>
              <a:latin typeface="Calibri"/>
              <a:ea typeface="Calibri"/>
              <a:cs typeface="Calibri"/>
              <a:sym typeface="Calibri"/>
            </a:endParaRPr>
          </a:p>
        </p:txBody>
      </p:sp>
      <p:sp>
        <p:nvSpPr>
          <p:cNvPr id="146" name="Google Shape;146;p18"/>
          <p:cNvSpPr/>
          <p:nvPr/>
        </p:nvSpPr>
        <p:spPr>
          <a:xfrm>
            <a:off x="8334756" y="23774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The multilayer perceptron</a:t>
            </a:r>
            <a:endParaRPr b="0" i="0" sz="1600" u="none" cap="none" strike="noStrike">
              <a:solidFill>
                <a:schemeClr val="dk1"/>
              </a:solidFill>
              <a:latin typeface="Calibri"/>
              <a:ea typeface="Calibri"/>
              <a:cs typeface="Calibri"/>
              <a:sym typeface="Calibri"/>
            </a:endParaRPr>
          </a:p>
        </p:txBody>
      </p:sp>
      <p:sp>
        <p:nvSpPr>
          <p:cNvPr id="147" name="Google Shape;147;p18"/>
          <p:cNvSpPr/>
          <p:nvPr/>
        </p:nvSpPr>
        <p:spPr>
          <a:xfrm>
            <a:off x="8334756" y="278892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From one neuron to a network that bends decision boundaries. · ~18 min</a:t>
            </a:r>
          </a:p>
        </p:txBody>
      </p:sp>
      <p:sp>
        <p:nvSpPr>
          <p:cNvPr id="148" name="Google Shape;148;p18"/>
          <p:cNvSpPr/>
          <p:nvPr/>
        </p:nvSpPr>
        <p:spPr>
          <a:xfrm>
            <a:off x="516636" y="361188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516636" y="3611880"/>
            <a:ext cx="3566160" cy="73152"/>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745236" y="37947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200"/>
              <a:buFont typeface="Archivo Black"/>
              <a:buNone/>
            </a:pPr>
            <a:r>
              <a:rPr b="1" i="0" lang="en-US" sz="2200" u="none" cap="none" strike="noStrike">
                <a:solidFill>
                  <a:srgbClr val="361A54"/>
                </a:solidFill>
                <a:latin typeface="Archivo Black"/>
                <a:ea typeface="Archivo Black"/>
                <a:cs typeface="Archivo Black"/>
                <a:sym typeface="Archivo Black"/>
              </a:rPr>
              <a:t>04</a:t>
            </a:r>
            <a:endParaRPr b="0" i="0" sz="2200" u="none" cap="none" strike="noStrike">
              <a:solidFill>
                <a:schemeClr val="dk1"/>
              </a:solidFill>
              <a:latin typeface="Calibri"/>
              <a:ea typeface="Calibri"/>
              <a:cs typeface="Calibri"/>
              <a:sym typeface="Calibri"/>
            </a:endParaRPr>
          </a:p>
        </p:txBody>
      </p:sp>
      <p:sp>
        <p:nvSpPr>
          <p:cNvPr id="151" name="Google Shape;151;p18"/>
          <p:cNvSpPr/>
          <p:nvPr/>
        </p:nvSpPr>
        <p:spPr>
          <a:xfrm>
            <a:off x="745236" y="429768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Preventing overfitting</a:t>
            </a:r>
            <a:endParaRPr b="0" i="0" sz="1600" u="none" cap="none" strike="noStrike">
              <a:solidFill>
                <a:schemeClr val="dk1"/>
              </a:solidFill>
              <a:latin typeface="Calibri"/>
              <a:ea typeface="Calibri"/>
              <a:cs typeface="Calibri"/>
              <a:sym typeface="Calibri"/>
            </a:endParaRPr>
          </a:p>
        </p:txBody>
      </p:sp>
      <p:sp>
        <p:nvSpPr>
          <p:cNvPr id="152" name="Google Shape;152;p18"/>
          <p:cNvSpPr/>
          <p:nvPr/>
        </p:nvSpPr>
        <p:spPr>
          <a:xfrm>
            <a:off x="745236" y="470916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Early stopping, dropout, regularisation, validation. · ~12 min</a:t>
            </a:r>
          </a:p>
        </p:txBody>
      </p:sp>
      <p:sp>
        <p:nvSpPr>
          <p:cNvPr id="153" name="Google Shape;153;p18"/>
          <p:cNvSpPr/>
          <p:nvPr/>
        </p:nvSpPr>
        <p:spPr>
          <a:xfrm>
            <a:off x="4311396" y="361188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4311396" y="3611880"/>
            <a:ext cx="3566160" cy="73152"/>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4539996" y="37947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82FF"/>
              </a:buClr>
              <a:buSzPts val="2200"/>
              <a:buFont typeface="Archivo Black"/>
              <a:buNone/>
            </a:pPr>
            <a:r>
              <a:rPr b="1" i="0" lang="en-US" sz="2200" u="none" cap="none" strike="noStrike">
                <a:solidFill>
                  <a:srgbClr val="BA82FF"/>
                </a:solidFill>
                <a:latin typeface="Archivo Black"/>
                <a:ea typeface="Archivo Black"/>
                <a:cs typeface="Archivo Black"/>
                <a:sym typeface="Archivo Black"/>
              </a:rPr>
              <a:t>05</a:t>
            </a:r>
            <a:endParaRPr b="0" i="0" sz="2200" u="none" cap="none" strike="noStrike">
              <a:solidFill>
                <a:schemeClr val="dk1"/>
              </a:solidFill>
              <a:latin typeface="Calibri"/>
              <a:ea typeface="Calibri"/>
              <a:cs typeface="Calibri"/>
              <a:sym typeface="Calibri"/>
            </a:endParaRPr>
          </a:p>
        </p:txBody>
      </p:sp>
      <p:sp>
        <p:nvSpPr>
          <p:cNvPr id="156" name="Google Shape;156;p18"/>
          <p:cNvSpPr/>
          <p:nvPr/>
        </p:nvSpPr>
        <p:spPr>
          <a:xfrm>
            <a:off x="4539996" y="429768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Gradients</a:t>
            </a:r>
            <a:endParaRPr b="0" i="0" sz="1600" u="none" cap="none" strike="noStrike">
              <a:solidFill>
                <a:schemeClr val="dk1"/>
              </a:solidFill>
              <a:latin typeface="Calibri"/>
              <a:ea typeface="Calibri"/>
              <a:cs typeface="Calibri"/>
              <a:sym typeface="Calibri"/>
            </a:endParaRPr>
          </a:p>
        </p:txBody>
      </p:sp>
      <p:sp>
        <p:nvSpPr>
          <p:cNvPr id="157" name="Google Shape;157;p18"/>
          <p:cNvSpPr/>
          <p:nvPr/>
        </p:nvSpPr>
        <p:spPr>
          <a:xfrm>
            <a:off x="4539996" y="470916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How a model knows which way to move. · ~8 min</a:t>
            </a:r>
          </a:p>
        </p:txBody>
      </p:sp>
      <p:sp>
        <p:nvSpPr>
          <p:cNvPr id="158" name="Google Shape;158;p18"/>
          <p:cNvSpPr/>
          <p:nvPr/>
        </p:nvSpPr>
        <p:spPr>
          <a:xfrm>
            <a:off x="8106156" y="3611880"/>
            <a:ext cx="3566160" cy="16916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8106156" y="3611880"/>
            <a:ext cx="3566160" cy="7315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p:nvPr/>
        </p:nvSpPr>
        <p:spPr>
          <a:xfrm>
            <a:off x="8334756" y="3794760"/>
            <a:ext cx="914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200"/>
              <a:buFont typeface="Archivo Black"/>
              <a:buNone/>
            </a:pPr>
            <a:r>
              <a:rPr b="1" i="0" lang="en-US" sz="2200" u="none" cap="none" strike="noStrike">
                <a:solidFill>
                  <a:srgbClr val="E97132"/>
                </a:solidFill>
                <a:latin typeface="Archivo Black"/>
                <a:ea typeface="Archivo Black"/>
                <a:cs typeface="Archivo Black"/>
                <a:sym typeface="Archivo Black"/>
              </a:rPr>
              <a:t>06</a:t>
            </a:r>
            <a:endParaRPr b="0" i="0" sz="2200" u="none" cap="none" strike="noStrike">
              <a:solidFill>
                <a:schemeClr val="dk1"/>
              </a:solidFill>
              <a:latin typeface="Calibri"/>
              <a:ea typeface="Calibri"/>
              <a:cs typeface="Calibri"/>
              <a:sym typeface="Calibri"/>
            </a:endParaRPr>
          </a:p>
        </p:txBody>
      </p:sp>
      <p:sp>
        <p:nvSpPr>
          <p:cNvPr id="161" name="Google Shape;161;p18"/>
          <p:cNvSpPr/>
          <p:nvPr/>
        </p:nvSpPr>
        <p:spPr>
          <a:xfrm>
            <a:off x="8334756" y="429768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Backpropagation &amp; SGD</a:t>
            </a:r>
            <a:endParaRPr b="0" i="0" sz="1600" u="none" cap="none" strike="noStrike">
              <a:solidFill>
                <a:schemeClr val="dk1"/>
              </a:solidFill>
              <a:latin typeface="Calibri"/>
              <a:ea typeface="Calibri"/>
              <a:cs typeface="Calibri"/>
              <a:sym typeface="Calibri"/>
            </a:endParaRPr>
          </a:p>
        </p:txBody>
      </p:sp>
      <p:sp>
        <p:nvSpPr>
          <p:cNvPr id="162" name="Google Shape;162;p18"/>
          <p:cNvSpPr/>
          <p:nvPr/>
        </p:nvSpPr>
        <p:spPr>
          <a:xfrm>
            <a:off x="8334756" y="4709160"/>
            <a:ext cx="3108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200" u="none" cap="none" strike="noStrike">
                <a:solidFill>
                  <a:srgbClr val="333333"/>
                </a:solidFill>
                <a:latin typeface="Merriweather"/>
                <a:ea typeface="Merriweather"/>
                <a:cs typeface="Merriweather"/>
                <a:sym typeface="Merriweather"/>
              </a:rPr>
              <a:t>The algorithm that updates every weight, every step. · ~12 min</a:t>
            </a:r>
          </a:p>
        </p:txBody>
      </p:sp>
      <p:sp>
        <p:nvSpPr>
          <p:cNvPr id="163" name="TextBox 162"/>
          <p:cNvSpPr txBox="1"/>
          <p:nvPr/>
        </p:nvSpPr>
        <p:spPr>
          <a:xfrm>
            <a:off x="548640" y="6172200"/>
            <a:ext cx="11091672" cy="548640"/>
          </a:xfrm>
          <a:prstGeom prst="rect">
            <a:avLst/>
          </a:prstGeom>
          <a:noFill/>
        </p:spPr>
        <p:txBody>
          <a:bodyPr wrap="square">
            <a:spAutoFit/>
          </a:bodyPr>
          <a:lstStyle/>
          <a:p>
            <a:pPr algn="l"/>
            <a:r>
              <a:rPr sz="1300" b="0">
                <a:solidFill>
                  <a:srgbClr val="555555"/>
                </a:solidFill>
                <a:latin typeface="Merriweather"/>
              </a:rPr>
              <a:t>90 minutes total · five anonymous knowledge checks · slides shared afterwards — think, don't transcribe.</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19"/>
          <p:cNvSpPr/>
          <p:nvPr/>
        </p:nvSpPr>
        <p:spPr>
          <a:xfrm>
            <a:off x="640080" y="1828800"/>
            <a:ext cx="2743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Archivo Black"/>
              <a:buNone/>
            </a:pPr>
            <a:r>
              <a:rPr b="1" i="0" lang="en-US" sz="6000" u="none" cap="none" strike="noStrike">
                <a:solidFill>
                  <a:srgbClr val="FFFFFF"/>
                </a:solidFill>
                <a:latin typeface="Archivo Black"/>
                <a:ea typeface="Archivo Black"/>
                <a:cs typeface="Archivo Black"/>
                <a:sym typeface="Archivo Black"/>
              </a:rPr>
              <a:t>01</a:t>
            </a:r>
            <a:endParaRPr b="0" i="0" sz="6000" u="none" cap="none" strike="noStrike">
              <a:solidFill>
                <a:schemeClr val="dk1"/>
              </a:solidFill>
              <a:latin typeface="Calibri"/>
              <a:ea typeface="Calibri"/>
              <a:cs typeface="Calibri"/>
              <a:sym typeface="Calibri"/>
            </a:endParaRPr>
          </a:p>
        </p:txBody>
      </p:sp>
      <p:sp>
        <p:nvSpPr>
          <p:cNvPr id="169" name="Google Shape;169;p19"/>
          <p:cNvSpPr/>
          <p:nvPr/>
        </p:nvSpPr>
        <p:spPr>
          <a:xfrm>
            <a:off x="640080" y="2926080"/>
            <a:ext cx="100584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Signal and noise.</a:t>
            </a:r>
            <a:endParaRPr b="0" i="0" sz="5000" u="none" cap="none" strike="noStrike">
              <a:solidFill>
                <a:schemeClr val="dk1"/>
              </a:solidFill>
              <a:latin typeface="Calibri"/>
              <a:ea typeface="Calibri"/>
              <a:cs typeface="Calibri"/>
              <a:sym typeface="Calibri"/>
            </a:endParaRPr>
          </a:p>
        </p:txBody>
      </p:sp>
      <p:sp>
        <p:nvSpPr>
          <p:cNvPr id="170" name="Google Shape;170;p19"/>
          <p:cNvSpPr/>
          <p:nvPr/>
        </p:nvSpPr>
        <p:spPr>
          <a:xfrm>
            <a:off x="640080" y="4023360"/>
            <a:ext cx="10058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2000"/>
              <a:buFont typeface="Merriweather"/>
              <a:buNone/>
            </a:pPr>
            <a:r>
              <a:rPr b="0" i="1" lang="en-US" sz="2000" u="none" cap="none" strike="noStrike">
                <a:solidFill>
                  <a:srgbClr val="361A54"/>
                </a:solidFill>
                <a:latin typeface="Merriweather"/>
                <a:ea typeface="Merriweather"/>
                <a:cs typeface="Merriweather"/>
                <a:sym typeface="Merriweather"/>
              </a:rPr>
              <a:t>What the model should learn — and what it must learn to ignore.  ·  ~12 min incl. knowledge check</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0"/>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deep learning revolution</a:t>
            </a:r>
            <a:endParaRPr b="0" i="0" sz="2600" u="none" cap="none" strike="noStrike">
              <a:solidFill>
                <a:schemeClr val="dk1"/>
              </a:solidFill>
              <a:latin typeface="Calibri"/>
              <a:ea typeface="Calibri"/>
              <a:cs typeface="Calibri"/>
              <a:sym typeface="Calibri"/>
            </a:endParaRPr>
          </a:p>
        </p:txBody>
      </p:sp>
      <p:sp>
        <p:nvSpPr>
          <p:cNvPr id="177" name="Google Shape;177;p20"/>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500" u="none" cap="none" strike="noStrike">
                <a:solidFill>
                  <a:srgbClr val="555555"/>
                </a:solidFill>
                <a:latin typeface="Merriweather"/>
                <a:ea typeface="Merriweather"/>
                <a:cs typeface="Merriweather"/>
                <a:sym typeface="Merriweather"/>
              </a:rPr>
              <a:t>The same training recipe powers wildly different applications.</a:t>
            </a:r>
            <a:endParaRPr b="0" i="0" sz="1500" u="none" cap="none" strike="noStrike">
              <a:solidFill>
                <a:schemeClr val="dk1"/>
              </a:solidFill>
              <a:latin typeface="Calibri"/>
              <a:ea typeface="Calibri"/>
              <a:cs typeface="Calibri"/>
              <a:sym typeface="Calibri"/>
            </a:endParaRPr>
          </a:p>
        </p:txBody>
      </p:sp>
      <p:sp>
        <p:nvSpPr>
          <p:cNvPr id="178" name="Google Shape;178;p20"/>
          <p:cNvSpPr/>
          <p:nvPr/>
        </p:nvSpPr>
        <p:spPr>
          <a:xfrm>
            <a:off x="608076" y="1920240"/>
            <a:ext cx="411480" cy="4114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1202436" y="18745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Self-driving</a:t>
            </a:r>
            <a:endParaRPr b="0" i="0" sz="1600" u="none" cap="none" strike="noStrike">
              <a:solidFill>
                <a:schemeClr val="dk1"/>
              </a:solidFill>
              <a:latin typeface="Calibri"/>
              <a:ea typeface="Calibri"/>
              <a:cs typeface="Calibri"/>
              <a:sym typeface="Calibri"/>
            </a:endParaRPr>
          </a:p>
        </p:txBody>
      </p:sp>
      <p:sp>
        <p:nvSpPr>
          <p:cNvPr id="180" name="Google Shape;180;p20"/>
          <p:cNvSpPr/>
          <p:nvPr/>
        </p:nvSpPr>
        <p:spPr>
          <a:xfrm>
            <a:off x="1202436" y="237744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Networks trained on millions of road frames learn lane lines, pedestrians, traffic.</a:t>
            </a:r>
            <a:endParaRPr b="0" i="0" sz="1350" u="none" cap="none" strike="noStrike">
              <a:solidFill>
                <a:schemeClr val="dk1"/>
              </a:solidFill>
              <a:latin typeface="Calibri"/>
              <a:ea typeface="Calibri"/>
              <a:cs typeface="Calibri"/>
              <a:sym typeface="Calibri"/>
            </a:endParaRPr>
          </a:p>
        </p:txBody>
      </p:sp>
      <p:sp>
        <p:nvSpPr>
          <p:cNvPr id="181" name="Google Shape;181;p20"/>
          <p:cNvSpPr/>
          <p:nvPr/>
        </p:nvSpPr>
        <p:spPr>
          <a:xfrm>
            <a:off x="4448556" y="1920240"/>
            <a:ext cx="411480" cy="4114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5042916" y="18745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Voice assistants</a:t>
            </a:r>
            <a:endParaRPr b="0" i="0" sz="1600" u="none" cap="none" strike="noStrike">
              <a:solidFill>
                <a:schemeClr val="dk1"/>
              </a:solidFill>
              <a:latin typeface="Calibri"/>
              <a:ea typeface="Calibri"/>
              <a:cs typeface="Calibri"/>
              <a:sym typeface="Calibri"/>
            </a:endParaRPr>
          </a:p>
        </p:txBody>
      </p:sp>
      <p:sp>
        <p:nvSpPr>
          <p:cNvPr id="183" name="Google Shape;183;p20"/>
          <p:cNvSpPr/>
          <p:nvPr/>
        </p:nvSpPr>
        <p:spPr>
          <a:xfrm>
            <a:off x="5042916" y="237744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End-to-end models trained on audio + text produce smart replies and translations.</a:t>
            </a:r>
            <a:endParaRPr b="0" i="0" sz="1350" u="none" cap="none" strike="noStrike">
              <a:solidFill>
                <a:schemeClr val="dk1"/>
              </a:solidFill>
              <a:latin typeface="Calibri"/>
              <a:ea typeface="Calibri"/>
              <a:cs typeface="Calibri"/>
              <a:sym typeface="Calibri"/>
            </a:endParaRPr>
          </a:p>
        </p:txBody>
      </p:sp>
      <p:sp>
        <p:nvSpPr>
          <p:cNvPr id="184" name="Google Shape;184;p20"/>
          <p:cNvSpPr/>
          <p:nvPr/>
        </p:nvSpPr>
        <p:spPr>
          <a:xfrm>
            <a:off x="8289036" y="1920240"/>
            <a:ext cx="411480" cy="4114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8883396" y="18745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Medical imaging</a:t>
            </a:r>
            <a:endParaRPr b="0" i="0" sz="1600" u="none" cap="none" strike="noStrike">
              <a:solidFill>
                <a:schemeClr val="dk1"/>
              </a:solidFill>
              <a:latin typeface="Calibri"/>
              <a:ea typeface="Calibri"/>
              <a:cs typeface="Calibri"/>
              <a:sym typeface="Calibri"/>
            </a:endParaRPr>
          </a:p>
        </p:txBody>
      </p:sp>
      <p:sp>
        <p:nvSpPr>
          <p:cNvPr id="186" name="Google Shape;186;p20"/>
          <p:cNvSpPr/>
          <p:nvPr/>
        </p:nvSpPr>
        <p:spPr>
          <a:xfrm>
            <a:off x="8883396" y="237744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Deep models trained on labelled scans rival radiologists on specific tasks.</a:t>
            </a:r>
            <a:endParaRPr b="0" i="0" sz="1350" u="none" cap="none" strike="noStrike">
              <a:solidFill>
                <a:schemeClr val="dk1"/>
              </a:solidFill>
              <a:latin typeface="Calibri"/>
              <a:ea typeface="Calibri"/>
              <a:cs typeface="Calibri"/>
              <a:sym typeface="Calibri"/>
            </a:endParaRPr>
          </a:p>
        </p:txBody>
      </p:sp>
      <p:sp>
        <p:nvSpPr>
          <p:cNvPr id="187" name="Google Shape;187;p20"/>
          <p:cNvSpPr/>
          <p:nvPr/>
        </p:nvSpPr>
        <p:spPr>
          <a:xfrm>
            <a:off x="608076" y="3566160"/>
            <a:ext cx="411480" cy="411480"/>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
          <p:cNvSpPr/>
          <p:nvPr/>
        </p:nvSpPr>
        <p:spPr>
          <a:xfrm>
            <a:off x="1202436" y="352044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Language models</a:t>
            </a:r>
            <a:endParaRPr b="0" i="0" sz="1600" u="none" cap="none" strike="noStrike">
              <a:solidFill>
                <a:schemeClr val="dk1"/>
              </a:solidFill>
              <a:latin typeface="Calibri"/>
              <a:ea typeface="Calibri"/>
              <a:cs typeface="Calibri"/>
              <a:sym typeface="Calibri"/>
            </a:endParaRPr>
          </a:p>
        </p:txBody>
      </p:sp>
      <p:sp>
        <p:nvSpPr>
          <p:cNvPr id="189" name="Google Shape;189;p20"/>
          <p:cNvSpPr/>
          <p:nvPr/>
        </p:nvSpPr>
        <p:spPr>
          <a:xfrm>
            <a:off x="1202436" y="402336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Transformers trained on trillions of tokens same loss, same gradient descent.</a:t>
            </a:r>
            <a:endParaRPr b="0" i="0" sz="1350" u="none" cap="none" strike="noStrike">
              <a:solidFill>
                <a:schemeClr val="dk1"/>
              </a:solidFill>
              <a:latin typeface="Calibri"/>
              <a:ea typeface="Calibri"/>
              <a:cs typeface="Calibri"/>
              <a:sym typeface="Calibri"/>
            </a:endParaRPr>
          </a:p>
        </p:txBody>
      </p:sp>
      <p:sp>
        <p:nvSpPr>
          <p:cNvPr id="190" name="Google Shape;190;p20"/>
          <p:cNvSpPr/>
          <p:nvPr/>
        </p:nvSpPr>
        <p:spPr>
          <a:xfrm>
            <a:off x="4448556" y="3566160"/>
            <a:ext cx="411480" cy="411480"/>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p:nvPr/>
        </p:nvSpPr>
        <p:spPr>
          <a:xfrm>
            <a:off x="5042916" y="352044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Weather &amp; climate</a:t>
            </a:r>
            <a:endParaRPr b="0" i="0" sz="1600" u="none" cap="none" strike="noStrike">
              <a:solidFill>
                <a:schemeClr val="dk1"/>
              </a:solidFill>
              <a:latin typeface="Calibri"/>
              <a:ea typeface="Calibri"/>
              <a:cs typeface="Calibri"/>
              <a:sym typeface="Calibri"/>
            </a:endParaRPr>
          </a:p>
        </p:txBody>
      </p:sp>
      <p:sp>
        <p:nvSpPr>
          <p:cNvPr id="192" name="Google Shape;192;p20"/>
          <p:cNvSpPr/>
          <p:nvPr/>
        </p:nvSpPr>
        <p:spPr>
          <a:xfrm>
            <a:off x="5042916" y="402336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Models trained on decades of ERA5 data forecast cyclones faster than physics solvers.</a:t>
            </a:r>
            <a:endParaRPr b="0" i="0" sz="1350" u="none" cap="none" strike="noStrike">
              <a:solidFill>
                <a:schemeClr val="dk1"/>
              </a:solidFill>
              <a:latin typeface="Calibri"/>
              <a:ea typeface="Calibri"/>
              <a:cs typeface="Calibri"/>
              <a:sym typeface="Calibri"/>
            </a:endParaRPr>
          </a:p>
        </p:txBody>
      </p:sp>
      <p:sp>
        <p:nvSpPr>
          <p:cNvPr id="193" name="Google Shape;193;p20"/>
          <p:cNvSpPr/>
          <p:nvPr/>
        </p:nvSpPr>
        <p:spPr>
          <a:xfrm>
            <a:off x="8289036" y="3566160"/>
            <a:ext cx="411480" cy="4114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
          <p:cNvSpPr/>
          <p:nvPr/>
        </p:nvSpPr>
        <p:spPr>
          <a:xfrm>
            <a:off x="8883396" y="352044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Protein folding</a:t>
            </a:r>
            <a:endParaRPr b="0" i="0" sz="1600" u="none" cap="none" strike="noStrike">
              <a:solidFill>
                <a:schemeClr val="dk1"/>
              </a:solidFill>
              <a:latin typeface="Calibri"/>
              <a:ea typeface="Calibri"/>
              <a:cs typeface="Calibri"/>
              <a:sym typeface="Calibri"/>
            </a:endParaRPr>
          </a:p>
        </p:txBody>
      </p:sp>
      <p:sp>
        <p:nvSpPr>
          <p:cNvPr id="195" name="Google Shape;195;p20"/>
          <p:cNvSpPr/>
          <p:nvPr/>
        </p:nvSpPr>
        <p:spPr>
          <a:xfrm>
            <a:off x="8883396" y="402336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350" u="none" cap="none" strike="noStrike">
                <a:solidFill>
                  <a:srgbClr val="333333"/>
                </a:solidFill>
                <a:latin typeface="Merriweather"/>
                <a:ea typeface="Merriweather"/>
                <a:cs typeface="Merriweather"/>
                <a:sym typeface="Merriweather"/>
              </a:rPr>
              <a:t>AlphaFold learned </a:t>
            </a:r>
            <a:r>
              <a:rPr lang="en-US" sz="1350">
                <a:solidFill>
                  <a:srgbClr val="333333"/>
                </a:solidFill>
                <a:latin typeface="Merriweather"/>
                <a:ea typeface="Merriweather"/>
                <a:cs typeface="Merriweather"/>
                <a:sym typeface="Merriweather"/>
              </a:rPr>
              <a:t>3D</a:t>
            </a:r>
            <a:r>
              <a:rPr b="0" i="0" lang="en-US" sz="1350" u="none" cap="none" strike="noStrike">
                <a:solidFill>
                  <a:srgbClr val="333333"/>
                </a:solidFill>
                <a:latin typeface="Merriweather"/>
                <a:ea typeface="Merriweather"/>
                <a:cs typeface="Merriweather"/>
                <a:sym typeface="Merriweather"/>
              </a:rPr>
              <a:t> structure from sequence  entirely through gradient training.</a:t>
            </a:r>
            <a:endParaRPr b="0" i="0" sz="1350" u="none" cap="none" strike="noStrike">
              <a:solidFill>
                <a:schemeClr val="dk1"/>
              </a:solidFill>
              <a:latin typeface="Calibri"/>
              <a:ea typeface="Calibri"/>
              <a:cs typeface="Calibri"/>
              <a:sym typeface="Calibri"/>
            </a:endParaRPr>
          </a:p>
        </p:txBody>
      </p:sp>
      <p:sp>
        <p:nvSpPr>
          <p:cNvPr id="196" name="Google Shape;196;p20"/>
          <p:cNvSpPr/>
          <p:nvPr/>
        </p:nvSpPr>
        <p:spPr>
          <a:xfrm>
            <a:off x="548640" y="5852160"/>
            <a:ext cx="11091672" cy="5486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
          <p:cNvSpPr/>
          <p:nvPr/>
        </p:nvSpPr>
        <p:spPr>
          <a:xfrm>
            <a:off x="731520" y="5870448"/>
            <a:ext cx="106984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633"/>
              </a:buClr>
              <a:buSzPts val="1400"/>
              <a:buFont typeface="Archivo Black"/>
              <a:buNone/>
            </a:pPr>
            <a:r>
              <a:rPr b="1" i="0" lang="en-US" sz="1400" u="none" cap="none" strike="noStrike">
                <a:solidFill>
                  <a:srgbClr val="FDD633"/>
                </a:solidFill>
                <a:latin typeface="Archivo Black"/>
                <a:ea typeface="Archivo Black"/>
                <a:cs typeface="Archivo Black"/>
                <a:sym typeface="Archivo Black"/>
              </a:rPr>
              <a:t>One algorithm </a:t>
            </a:r>
            <a:r>
              <a:rPr b="1" lang="en-US">
                <a:solidFill>
                  <a:srgbClr val="FDD633"/>
                </a:solidFill>
                <a:latin typeface="Archivo Black"/>
                <a:ea typeface="Archivo Black"/>
                <a:cs typeface="Archivo Black"/>
                <a:sym typeface="Archivo Black"/>
              </a:rPr>
              <a:t>-</a:t>
            </a:r>
            <a:r>
              <a:rPr b="1" i="0" lang="en-US" sz="1400" u="none" cap="none" strike="noStrike">
                <a:solidFill>
                  <a:srgbClr val="FDD633"/>
                </a:solidFill>
                <a:latin typeface="Archivo Black"/>
                <a:ea typeface="Archivo Black"/>
                <a:cs typeface="Archivo Black"/>
                <a:sym typeface="Archivo Black"/>
              </a:rPr>
              <a:t> gradient descent on a loss - </a:t>
            </a:r>
            <a:r>
              <a:rPr b="1" lang="en-US">
                <a:solidFill>
                  <a:srgbClr val="FDD633"/>
                </a:solidFill>
                <a:latin typeface="Archivo Black"/>
                <a:ea typeface="Archivo Black"/>
                <a:cs typeface="Archivo Black"/>
                <a:sym typeface="Archivo Black"/>
              </a:rPr>
              <a:t>u</a:t>
            </a:r>
            <a:r>
              <a:rPr b="1" i="0" lang="en-US" sz="1400" u="none" cap="none" strike="noStrike">
                <a:solidFill>
                  <a:srgbClr val="FDD633"/>
                </a:solidFill>
                <a:latin typeface="Archivo Black"/>
                <a:ea typeface="Archivo Black"/>
                <a:cs typeface="Archivo Black"/>
                <a:sym typeface="Archivo Black"/>
              </a:rPr>
              <a:t>nderpins all of it.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21"/>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What do we mean by signal and noise?</a:t>
            </a:r>
            <a:endParaRPr b="0" i="0" sz="2600" u="none" cap="none" strike="noStrike">
              <a:solidFill>
                <a:schemeClr val="dk1"/>
              </a:solidFill>
              <a:latin typeface="Calibri"/>
              <a:ea typeface="Calibri"/>
              <a:cs typeface="Calibri"/>
              <a:sym typeface="Calibri"/>
            </a:endParaRPr>
          </a:p>
        </p:txBody>
      </p:sp>
      <p:sp>
        <p:nvSpPr>
          <p:cNvPr id="204" name="Google Shape;204;p21"/>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The pattern you want the model to learn </a:t>
            </a:r>
            <a:r>
              <a:rPr i="1" lang="en-US" sz="1600">
                <a:solidFill>
                  <a:srgbClr val="555555"/>
                </a:solidFill>
                <a:latin typeface="Merriweather"/>
                <a:ea typeface="Merriweather"/>
                <a:cs typeface="Merriweather"/>
                <a:sym typeface="Merriweather"/>
              </a:rPr>
              <a:t>compared to </a:t>
            </a:r>
            <a:r>
              <a:rPr b="0" i="1" lang="en-US" sz="1600" u="none" cap="none" strike="noStrike">
                <a:solidFill>
                  <a:srgbClr val="555555"/>
                </a:solidFill>
                <a:latin typeface="Merriweather"/>
                <a:ea typeface="Merriweather"/>
                <a:cs typeface="Merriweather"/>
                <a:sym typeface="Merriweather"/>
              </a:rPr>
              <a:t>everything else in the data.</a:t>
            </a:r>
            <a:endParaRPr b="0" i="0" sz="1600" u="none" cap="none" strike="noStrike">
              <a:solidFill>
                <a:schemeClr val="dk1"/>
              </a:solidFill>
              <a:latin typeface="Calibri"/>
              <a:ea typeface="Calibri"/>
              <a:cs typeface="Calibri"/>
              <a:sym typeface="Calibri"/>
            </a:endParaRPr>
          </a:p>
        </p:txBody>
      </p:sp>
      <p:sp>
        <p:nvSpPr>
          <p:cNvPr id="205" name="Google Shape;205;p21"/>
          <p:cNvSpPr/>
          <p:nvPr/>
        </p:nvSpPr>
        <p:spPr>
          <a:xfrm>
            <a:off x="548640" y="1691640"/>
            <a:ext cx="5285232"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548640" y="1691640"/>
            <a:ext cx="5285232"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
          <p:cNvSpPr/>
          <p:nvPr/>
        </p:nvSpPr>
        <p:spPr>
          <a:xfrm>
            <a:off x="822960" y="1746504"/>
            <a:ext cx="4828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SIGNAL</a:t>
            </a:r>
            <a:endParaRPr b="0" i="0" sz="1600" u="none" cap="none" strike="noStrike">
              <a:solidFill>
                <a:schemeClr val="dk1"/>
              </a:solidFill>
              <a:latin typeface="Calibri"/>
              <a:ea typeface="Calibri"/>
              <a:cs typeface="Calibri"/>
              <a:sym typeface="Calibri"/>
            </a:endParaRPr>
          </a:p>
        </p:txBody>
      </p:sp>
      <p:sp>
        <p:nvSpPr>
          <p:cNvPr id="208" name="Google Shape;208;p21"/>
          <p:cNvSpPr/>
          <p:nvPr/>
        </p:nvSpPr>
        <p:spPr>
          <a:xfrm>
            <a:off x="822960" y="2331720"/>
            <a:ext cx="48280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The pattern the model should learn.</a:t>
            </a:r>
            <a:endParaRPr b="0" i="0" sz="1600" u="none" cap="none" strike="noStrike">
              <a:solidFill>
                <a:schemeClr val="dk1"/>
              </a:solidFill>
              <a:latin typeface="Calibri"/>
              <a:ea typeface="Calibri"/>
              <a:cs typeface="Calibri"/>
              <a:sym typeface="Calibri"/>
            </a:endParaRPr>
          </a:p>
        </p:txBody>
      </p:sp>
      <p:sp>
        <p:nvSpPr>
          <p:cNvPr id="209" name="Google Shape;209;p21"/>
          <p:cNvSpPr/>
          <p:nvPr/>
        </p:nvSpPr>
        <p:spPr>
          <a:xfrm>
            <a:off x="822960" y="2880360"/>
            <a:ext cx="4828032" cy="2743200"/>
          </a:xfrm>
          <a:prstGeom prst="rect">
            <a:avLst/>
          </a:prstGeom>
          <a:noFill/>
          <a:ln>
            <a:noFill/>
          </a:ln>
        </p:spPr>
        <p:txBody>
          <a:bodyPr anchorCtr="0" anchor="ctr" bIns="45700" lIns="91425" spcFirstLastPara="1" rIns="91425" wrap="square" tIns="45700">
            <a:noAutofit/>
          </a:bodyPr>
          <a:lstStyle/>
          <a:p>
            <a:pPr indent="-381000" lvl="0" marL="342900" marR="0" rtl="0" algn="l">
              <a:spcBef>
                <a:spcPts val="0"/>
              </a:spcBef>
              <a:spcAft>
                <a:spcPts val="0"/>
              </a:spcAft>
              <a:buClr>
                <a:srgbClr val="333333"/>
              </a:buClr>
              <a:buSzPts val="1900"/>
              <a:buFont typeface="Merriweather"/>
              <a:buChar char="•"/>
            </a:pPr>
            <a:r>
              <a:rPr b="0" i="0" lang="en-US" sz="1900" u="none" cap="none" strike="noStrike">
                <a:solidFill>
                  <a:srgbClr val="333333"/>
                </a:solidFill>
                <a:latin typeface="Merriweather"/>
                <a:ea typeface="Merriweather"/>
                <a:cs typeface="Merriweather"/>
                <a:sym typeface="Merriweather"/>
              </a:rPr>
              <a:t>Real, generalisable structure in the data.</a:t>
            </a:r>
            <a:endParaRPr b="0" i="0" sz="1900" u="none" cap="none" strike="noStrike">
              <a:solidFill>
                <a:schemeClr val="dk1"/>
              </a:solidFill>
              <a:latin typeface="Calibri"/>
              <a:ea typeface="Calibri"/>
              <a:cs typeface="Calibri"/>
              <a:sym typeface="Calibri"/>
            </a:endParaRPr>
          </a:p>
          <a:p>
            <a:pPr indent="-381000" lvl="0" marL="342900" marR="0" rtl="0" algn="l">
              <a:spcBef>
                <a:spcPts val="600"/>
              </a:spcBef>
              <a:spcAft>
                <a:spcPts val="0"/>
              </a:spcAft>
              <a:buClr>
                <a:srgbClr val="333333"/>
              </a:buClr>
              <a:buSzPts val="1900"/>
              <a:buFont typeface="Merriweather"/>
              <a:buChar char="•"/>
            </a:pPr>
            <a:r>
              <a:rPr b="0" i="0" lang="en-US" sz="1900" u="none" cap="none" strike="noStrike">
                <a:solidFill>
                  <a:srgbClr val="333333"/>
                </a:solidFill>
                <a:latin typeface="Merriweather"/>
                <a:ea typeface="Merriweather"/>
                <a:cs typeface="Merriweather"/>
                <a:sym typeface="Merriweather"/>
              </a:rPr>
              <a:t>Repeats across new, unseen examples.</a:t>
            </a:r>
            <a:endParaRPr b="0" i="0" sz="1900" u="none" cap="none" strike="noStrike">
              <a:solidFill>
                <a:schemeClr val="dk1"/>
              </a:solidFill>
              <a:latin typeface="Calibri"/>
              <a:ea typeface="Calibri"/>
              <a:cs typeface="Calibri"/>
              <a:sym typeface="Calibri"/>
            </a:endParaRPr>
          </a:p>
          <a:p>
            <a:pPr indent="-381000" lvl="0" marL="342900" marR="0" rtl="0" algn="l">
              <a:spcBef>
                <a:spcPts val="600"/>
              </a:spcBef>
              <a:spcAft>
                <a:spcPts val="0"/>
              </a:spcAft>
              <a:buClr>
                <a:srgbClr val="333333"/>
              </a:buClr>
              <a:buSzPts val="1900"/>
              <a:buFont typeface="Merriweather"/>
              <a:buChar char="•"/>
            </a:pPr>
            <a:r>
              <a:rPr lang="en-US" sz="1900">
                <a:solidFill>
                  <a:srgbClr val="333333"/>
                </a:solidFill>
                <a:latin typeface="Merriweather"/>
                <a:ea typeface="Merriweather"/>
                <a:cs typeface="Merriweather"/>
                <a:sym typeface="Merriweather"/>
              </a:rPr>
              <a:t>Example: A dog's shape and features in a photo. </a:t>
            </a:r>
            <a:endParaRPr b="0" i="0" sz="1900" u="none" cap="none" strike="noStrike">
              <a:solidFill>
                <a:schemeClr val="dk1"/>
              </a:solidFill>
              <a:latin typeface="Calibri"/>
              <a:ea typeface="Calibri"/>
              <a:cs typeface="Calibri"/>
              <a:sym typeface="Calibri"/>
            </a:endParaRPr>
          </a:p>
          <a:p>
            <a:pPr indent="-381000" lvl="0" marL="342900" marR="0" rtl="0" algn="l">
              <a:spcBef>
                <a:spcPts val="600"/>
              </a:spcBef>
              <a:spcAft>
                <a:spcPts val="0"/>
              </a:spcAft>
              <a:buClr>
                <a:srgbClr val="333333"/>
              </a:buClr>
              <a:buSzPts val="1900"/>
              <a:buFont typeface="Merriweather"/>
              <a:buChar char="•"/>
            </a:pPr>
            <a:r>
              <a:rPr b="0" i="0" lang="en-US" sz="1900" u="none" cap="none" strike="noStrike">
                <a:solidFill>
                  <a:srgbClr val="333333"/>
                </a:solidFill>
                <a:latin typeface="Merriweather"/>
                <a:ea typeface="Merriweather"/>
                <a:cs typeface="Merriweather"/>
                <a:sym typeface="Merriweather"/>
              </a:rPr>
              <a:t>Example: </a:t>
            </a:r>
            <a:r>
              <a:rPr lang="en-US" sz="1900">
                <a:solidFill>
                  <a:srgbClr val="333333"/>
                </a:solidFill>
                <a:latin typeface="Merriweather"/>
                <a:ea typeface="Merriweather"/>
                <a:cs typeface="Merriweather"/>
                <a:sym typeface="Merriweather"/>
              </a:rPr>
              <a:t>The size and location of a house when predicting its price. </a:t>
            </a:r>
            <a:endParaRPr b="0" i="0" sz="1900" u="none" cap="none" strike="noStrike">
              <a:solidFill>
                <a:schemeClr val="dk1"/>
              </a:solidFill>
              <a:latin typeface="Calibri"/>
              <a:ea typeface="Calibri"/>
              <a:cs typeface="Calibri"/>
              <a:sym typeface="Calibri"/>
            </a:endParaRPr>
          </a:p>
        </p:txBody>
      </p:sp>
      <p:sp>
        <p:nvSpPr>
          <p:cNvPr id="210" name="Google Shape;210;p21"/>
          <p:cNvSpPr/>
          <p:nvPr/>
        </p:nvSpPr>
        <p:spPr>
          <a:xfrm>
            <a:off x="6355080" y="1691640"/>
            <a:ext cx="5285232"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
          <p:cNvSpPr/>
          <p:nvPr/>
        </p:nvSpPr>
        <p:spPr>
          <a:xfrm>
            <a:off x="6355080" y="1691640"/>
            <a:ext cx="5285232"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1"/>
          <p:cNvSpPr/>
          <p:nvPr/>
        </p:nvSpPr>
        <p:spPr>
          <a:xfrm>
            <a:off x="6629400" y="1746504"/>
            <a:ext cx="4828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NOISE</a:t>
            </a:r>
            <a:endParaRPr b="0" i="0" sz="1600" u="none" cap="none" strike="noStrike">
              <a:solidFill>
                <a:schemeClr val="dk1"/>
              </a:solidFill>
              <a:latin typeface="Calibri"/>
              <a:ea typeface="Calibri"/>
              <a:cs typeface="Calibri"/>
              <a:sym typeface="Calibri"/>
            </a:endParaRPr>
          </a:p>
        </p:txBody>
      </p:sp>
      <p:sp>
        <p:nvSpPr>
          <p:cNvPr id="213" name="Google Shape;213;p21"/>
          <p:cNvSpPr/>
          <p:nvPr/>
        </p:nvSpPr>
        <p:spPr>
          <a:xfrm>
            <a:off x="6629400" y="2331720"/>
            <a:ext cx="48280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Everything else in the data.</a:t>
            </a:r>
            <a:endParaRPr b="0" i="0" sz="1600" u="none" cap="none" strike="noStrike">
              <a:solidFill>
                <a:schemeClr val="dk1"/>
              </a:solidFill>
              <a:latin typeface="Calibri"/>
              <a:ea typeface="Calibri"/>
              <a:cs typeface="Calibri"/>
              <a:sym typeface="Calibri"/>
            </a:endParaRPr>
          </a:p>
        </p:txBody>
      </p:sp>
      <p:sp>
        <p:nvSpPr>
          <p:cNvPr id="214" name="Google Shape;214;p21"/>
          <p:cNvSpPr/>
          <p:nvPr/>
        </p:nvSpPr>
        <p:spPr>
          <a:xfrm>
            <a:off x="6629400" y="2880360"/>
            <a:ext cx="4828032" cy="2743200"/>
          </a:xfrm>
          <a:prstGeom prst="rect">
            <a:avLst/>
          </a:prstGeom>
          <a:noFill/>
          <a:ln>
            <a:noFill/>
          </a:ln>
        </p:spPr>
        <p:txBody>
          <a:bodyPr anchorCtr="0" anchor="ctr" bIns="45700" lIns="91425" spcFirstLastPara="1" rIns="91425" wrap="square" tIns="45700">
            <a:noAutofit/>
          </a:bodyPr>
          <a:lstStyle/>
          <a:p>
            <a:pPr indent="-387350" lvl="0" marL="342900" marR="0" rtl="0" algn="l">
              <a:spcBef>
                <a:spcPts val="0"/>
              </a:spcBef>
              <a:spcAft>
                <a:spcPts val="0"/>
              </a:spcAft>
              <a:buClr>
                <a:srgbClr val="333333"/>
              </a:buClr>
              <a:buSzPts val="2000"/>
              <a:buFont typeface="Merriweather"/>
              <a:buChar char="•"/>
            </a:pPr>
            <a:r>
              <a:rPr b="0" i="0" lang="en-US" sz="2000" u="none" cap="none" strike="noStrike">
                <a:solidFill>
                  <a:srgbClr val="333333"/>
                </a:solidFill>
                <a:latin typeface="Merriweather"/>
                <a:ea typeface="Merriweather"/>
                <a:cs typeface="Merriweather"/>
                <a:sym typeface="Merriweather"/>
              </a:rPr>
              <a:t>Random or sample-specific quirks.</a:t>
            </a:r>
            <a:endParaRPr b="0" i="0" sz="2000" u="none" cap="none" strike="noStrike">
              <a:solidFill>
                <a:schemeClr val="dk1"/>
              </a:solidFill>
              <a:latin typeface="Calibri"/>
              <a:ea typeface="Calibri"/>
              <a:cs typeface="Calibri"/>
              <a:sym typeface="Calibri"/>
            </a:endParaRPr>
          </a:p>
          <a:p>
            <a:pPr indent="-387350" lvl="0" marL="342900" marR="0" rtl="0" algn="l">
              <a:spcBef>
                <a:spcPts val="600"/>
              </a:spcBef>
              <a:spcAft>
                <a:spcPts val="0"/>
              </a:spcAft>
              <a:buClr>
                <a:srgbClr val="333333"/>
              </a:buClr>
              <a:buSzPts val="2000"/>
              <a:buFont typeface="Merriweather"/>
              <a:buChar char="•"/>
            </a:pPr>
            <a:r>
              <a:rPr b="0" i="0" lang="en-US" sz="2000" u="none" cap="none" strike="noStrike">
                <a:solidFill>
                  <a:srgbClr val="333333"/>
                </a:solidFill>
                <a:latin typeface="Merriweather"/>
                <a:ea typeface="Merriweather"/>
                <a:cs typeface="Merriweather"/>
                <a:sym typeface="Merriweather"/>
              </a:rPr>
              <a:t>Does not generalise different in each new example.</a:t>
            </a:r>
            <a:endParaRPr b="0" i="0" sz="2000" u="none" cap="none" strike="noStrike">
              <a:solidFill>
                <a:schemeClr val="dk1"/>
              </a:solidFill>
              <a:latin typeface="Calibri"/>
              <a:ea typeface="Calibri"/>
              <a:cs typeface="Calibri"/>
              <a:sym typeface="Calibri"/>
            </a:endParaRPr>
          </a:p>
          <a:p>
            <a:pPr indent="-387350" lvl="0" marL="342900" marR="0" rtl="0" algn="l">
              <a:spcBef>
                <a:spcPts val="600"/>
              </a:spcBef>
              <a:spcAft>
                <a:spcPts val="0"/>
              </a:spcAft>
              <a:buClr>
                <a:srgbClr val="333333"/>
              </a:buClr>
              <a:buSzPts val="2000"/>
              <a:buFont typeface="Merriweather"/>
              <a:buChar char="•"/>
            </a:pPr>
            <a:r>
              <a:rPr lang="en-US" sz="2000">
                <a:solidFill>
                  <a:srgbClr val="333333"/>
                </a:solidFill>
                <a:latin typeface="Merriweather"/>
                <a:ea typeface="Merriweather"/>
                <a:cs typeface="Merriweather"/>
                <a:sym typeface="Merriweather"/>
              </a:rPr>
              <a:t>Example: A photo of a dog happens to have a red ball in the background. </a:t>
            </a:r>
            <a:endParaRPr b="0" i="0" sz="2000" u="none" cap="none" strike="noStrike">
              <a:solidFill>
                <a:schemeClr val="dk1"/>
              </a:solidFill>
              <a:latin typeface="Calibri"/>
              <a:ea typeface="Calibri"/>
              <a:cs typeface="Calibri"/>
              <a:sym typeface="Calibri"/>
            </a:endParaRPr>
          </a:p>
          <a:p>
            <a:pPr indent="-387350" lvl="0" marL="342900" marR="0" rtl="0" algn="l">
              <a:spcBef>
                <a:spcPts val="600"/>
              </a:spcBef>
              <a:spcAft>
                <a:spcPts val="0"/>
              </a:spcAft>
              <a:buClr>
                <a:srgbClr val="333333"/>
              </a:buClr>
              <a:buSzPts val="2000"/>
              <a:buFont typeface="Merriweather"/>
              <a:buChar char="•"/>
            </a:pPr>
            <a:r>
              <a:rPr lang="en-US" sz="2000">
                <a:solidFill>
                  <a:srgbClr val="333333"/>
                </a:solidFill>
                <a:latin typeface="Merriweather"/>
                <a:ea typeface="Merriweather"/>
                <a:cs typeface="Merriweather"/>
                <a:sym typeface="Merriweather"/>
              </a:rPr>
              <a:t>Example: A cat photo happens to be blurry. </a:t>
            </a:r>
            <a:endParaRPr b="0" i="0" sz="2000" u="none" cap="none" strike="noStrike">
              <a:solidFill>
                <a:schemeClr val="dk1"/>
              </a:solidFill>
              <a:latin typeface="Calibri"/>
              <a:ea typeface="Calibri"/>
              <a:cs typeface="Calibri"/>
              <a:sym typeface="Calibri"/>
            </a:endParaRPr>
          </a:p>
        </p:txBody>
      </p:sp>
      <p:sp>
        <p:nvSpPr>
          <p:cNvPr id="215" name="Google Shape;215;p21"/>
          <p:cNvSpPr/>
          <p:nvPr/>
        </p:nvSpPr>
        <p:spPr>
          <a:xfrm>
            <a:off x="548640" y="608076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A model that memorises noise looks brilliant on its training data and useless on the next batch.</a:t>
            </a:r>
            <a:endParaRPr b="0" i="0" sz="13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sp>
        <p:nvSpPr>
          <p:cNvPr id="221" name="Google Shape;221;p22"/>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Three fits, three stories.</a:t>
            </a:r>
            <a:endParaRPr b="0" i="0" sz="2600" u="none" cap="none" strike="noStrike">
              <a:solidFill>
                <a:schemeClr val="dk1"/>
              </a:solidFill>
              <a:latin typeface="Calibri"/>
              <a:ea typeface="Calibri"/>
              <a:cs typeface="Calibri"/>
              <a:sym typeface="Calibri"/>
            </a:endParaRPr>
          </a:p>
        </p:txBody>
      </p:sp>
      <p:sp>
        <p:nvSpPr>
          <p:cNvPr id="222" name="Google Shape;222;p22"/>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800" u="none" cap="none" strike="noStrike">
                <a:solidFill>
                  <a:srgbClr val="555555"/>
                </a:solidFill>
                <a:latin typeface="Merriweather"/>
                <a:ea typeface="Merriweather"/>
                <a:cs typeface="Merriweather"/>
                <a:sym typeface="Merriweather"/>
              </a:rPr>
              <a:t>Underfit, just right, overfit </a:t>
            </a:r>
            <a:r>
              <a:rPr i="1" lang="en-US" sz="1800">
                <a:solidFill>
                  <a:srgbClr val="555555"/>
                </a:solidFill>
                <a:latin typeface="Merriweather"/>
                <a:ea typeface="Merriweather"/>
                <a:cs typeface="Merriweather"/>
                <a:sym typeface="Merriweather"/>
              </a:rPr>
              <a:t>: </a:t>
            </a:r>
            <a:r>
              <a:rPr b="0" i="1" lang="en-US" sz="1800" u="none" cap="none" strike="noStrike">
                <a:solidFill>
                  <a:srgbClr val="555555"/>
                </a:solidFill>
                <a:latin typeface="Merriweather"/>
                <a:ea typeface="Merriweather"/>
                <a:cs typeface="Merriweather"/>
                <a:sym typeface="Merriweather"/>
              </a:rPr>
              <a:t>same data, very different curves.</a:t>
            </a:r>
            <a:endParaRPr b="0" i="0" sz="1800" u="none" cap="none" strike="noStrike">
              <a:solidFill>
                <a:schemeClr val="dk1"/>
              </a:solidFill>
              <a:latin typeface="Calibri"/>
              <a:ea typeface="Calibri"/>
              <a:cs typeface="Calibri"/>
              <a:sym typeface="Calibri"/>
            </a:endParaRPr>
          </a:p>
        </p:txBody>
      </p:sp>
      <p:sp>
        <p:nvSpPr>
          <p:cNvPr id="223" name="Google Shape;223;p22"/>
          <p:cNvSpPr/>
          <p:nvPr/>
        </p:nvSpPr>
        <p:spPr>
          <a:xfrm>
            <a:off x="406908" y="1650478"/>
            <a:ext cx="3657600" cy="425190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
          <p:cNvSpPr/>
          <p:nvPr/>
        </p:nvSpPr>
        <p:spPr>
          <a:xfrm>
            <a:off x="406908" y="169164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
          <p:cNvSpPr/>
          <p:nvPr/>
        </p:nvSpPr>
        <p:spPr>
          <a:xfrm>
            <a:off x="635508" y="17373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UNDERFIT</a:t>
            </a:r>
            <a:endParaRPr b="0" i="0" sz="1500" u="none" cap="none" strike="noStrike">
              <a:solidFill>
                <a:schemeClr val="dk1"/>
              </a:solidFill>
              <a:latin typeface="Calibri"/>
              <a:ea typeface="Calibri"/>
              <a:cs typeface="Calibri"/>
              <a:sym typeface="Calibri"/>
            </a:endParaRPr>
          </a:p>
        </p:txBody>
      </p:sp>
      <p:sp>
        <p:nvSpPr>
          <p:cNvPr id="226" name="Google Shape;226;p22"/>
          <p:cNvSpPr/>
          <p:nvPr/>
        </p:nvSpPr>
        <p:spPr>
          <a:xfrm>
            <a:off x="635508" y="233172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Merriweather"/>
              <a:buNone/>
            </a:pPr>
            <a:r>
              <a:rPr b="0" i="1" lang="en-US" sz="1700" u="none" cap="none" strike="noStrike">
                <a:solidFill>
                  <a:srgbClr val="555555"/>
                </a:solidFill>
                <a:latin typeface="Merriweather"/>
                <a:ea typeface="Merriweather"/>
                <a:cs typeface="Merriweather"/>
                <a:sym typeface="Merriweather"/>
              </a:rPr>
              <a:t>High bias</a:t>
            </a:r>
            <a:endParaRPr b="0" i="0" sz="1700" u="none" cap="none" strike="noStrike">
              <a:solidFill>
                <a:schemeClr val="dk1"/>
              </a:solidFill>
              <a:latin typeface="Calibri"/>
              <a:ea typeface="Calibri"/>
              <a:cs typeface="Calibri"/>
              <a:sym typeface="Calibri"/>
            </a:endParaRPr>
          </a:p>
        </p:txBody>
      </p:sp>
      <p:sp>
        <p:nvSpPr>
          <p:cNvPr id="227" name="Google Shape;227;p22"/>
          <p:cNvSpPr/>
          <p:nvPr/>
        </p:nvSpPr>
        <p:spPr>
          <a:xfrm>
            <a:off x="772668" y="2880360"/>
            <a:ext cx="2926080" cy="2240280"/>
          </a:xfrm>
          <a:prstGeom prst="rect">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8" name="Google Shape;228;p22"/>
          <p:cNvCxnSpPr/>
          <p:nvPr/>
        </p:nvCxnSpPr>
        <p:spPr>
          <a:xfrm>
            <a:off x="772668" y="5120640"/>
            <a:ext cx="2926080" cy="0"/>
          </a:xfrm>
          <a:prstGeom prst="straightConnector1">
            <a:avLst/>
          </a:prstGeom>
          <a:noFill/>
          <a:ln cap="flat" cmpd="sng" w="12700">
            <a:solidFill>
              <a:srgbClr val="555555"/>
            </a:solidFill>
            <a:prstDash val="solid"/>
            <a:round/>
            <a:headEnd len="sm" w="sm" type="none"/>
            <a:tailEnd len="sm" w="sm" type="none"/>
          </a:ln>
        </p:spPr>
      </p:cxnSp>
      <p:cxnSp>
        <p:nvCxnSpPr>
          <p:cNvPr id="229" name="Google Shape;229;p22"/>
          <p:cNvCxnSpPr/>
          <p:nvPr/>
        </p:nvCxnSpPr>
        <p:spPr>
          <a:xfrm>
            <a:off x="772668" y="2880360"/>
            <a:ext cx="0" cy="2240280"/>
          </a:xfrm>
          <a:prstGeom prst="straightConnector1">
            <a:avLst/>
          </a:prstGeom>
          <a:noFill/>
          <a:ln cap="flat" cmpd="sng" w="12700">
            <a:solidFill>
              <a:srgbClr val="555555"/>
            </a:solidFill>
            <a:prstDash val="solid"/>
            <a:round/>
            <a:headEnd len="sm" w="sm" type="none"/>
            <a:tailEnd len="sm" w="sm" type="none"/>
          </a:ln>
        </p:spPr>
      </p:cxnSp>
      <p:sp>
        <p:nvSpPr>
          <p:cNvPr id="230" name="Google Shape;230;p22"/>
          <p:cNvSpPr/>
          <p:nvPr/>
        </p:nvSpPr>
        <p:spPr>
          <a:xfrm>
            <a:off x="1010412" y="457291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1361542" y="405765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1624889" y="421447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1946758" y="374401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
          <p:cNvSpPr/>
          <p:nvPr/>
        </p:nvSpPr>
        <p:spPr>
          <a:xfrm>
            <a:off x="2327148" y="394563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2561234" y="354238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2912364" y="372160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3234233" y="331835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3439058" y="345277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
          <p:cNvSpPr/>
          <p:nvPr/>
        </p:nvSpPr>
        <p:spPr>
          <a:xfrm>
            <a:off x="1156716" y="430408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
          <p:cNvSpPr/>
          <p:nvPr/>
        </p:nvSpPr>
        <p:spPr>
          <a:xfrm>
            <a:off x="2180844" y="3631997"/>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2766060" y="3833622"/>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 name="Google Shape;242;p22"/>
          <p:cNvCxnSpPr/>
          <p:nvPr/>
        </p:nvCxnSpPr>
        <p:spPr>
          <a:xfrm flipH="1" rot="10800000">
            <a:off x="918972" y="3888486"/>
            <a:ext cx="2779776" cy="224028"/>
          </a:xfrm>
          <a:prstGeom prst="straightConnector1">
            <a:avLst/>
          </a:prstGeom>
          <a:noFill/>
          <a:ln cap="flat" cmpd="sng" w="31750">
            <a:solidFill>
              <a:srgbClr val="E97132"/>
            </a:solidFill>
            <a:prstDash val="solid"/>
            <a:round/>
            <a:headEnd len="sm" w="sm" type="none"/>
            <a:tailEnd len="sm" w="sm" type="none"/>
          </a:ln>
        </p:spPr>
      </p:cxnSp>
      <p:sp>
        <p:nvSpPr>
          <p:cNvPr id="243" name="Google Shape;243;p22"/>
          <p:cNvSpPr/>
          <p:nvPr/>
        </p:nvSpPr>
        <p:spPr>
          <a:xfrm>
            <a:off x="635508" y="5257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Model is too simple. Misses real structure.</a:t>
            </a:r>
            <a:endParaRPr b="0" i="0" sz="1550" u="none" cap="none" strike="noStrike">
              <a:solidFill>
                <a:schemeClr val="dk1"/>
              </a:solidFill>
              <a:latin typeface="Calibri"/>
              <a:ea typeface="Calibri"/>
              <a:cs typeface="Calibri"/>
              <a:sym typeface="Calibri"/>
            </a:endParaRPr>
          </a:p>
        </p:txBody>
      </p:sp>
      <p:sp>
        <p:nvSpPr>
          <p:cNvPr id="244" name="Google Shape;244;p22"/>
          <p:cNvSpPr/>
          <p:nvPr/>
        </p:nvSpPr>
        <p:spPr>
          <a:xfrm>
            <a:off x="4265676" y="1691640"/>
            <a:ext cx="3657600" cy="425196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a:off x="4265676" y="169164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a:off x="4494276" y="17373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JUST RIGHT</a:t>
            </a:r>
            <a:endParaRPr b="0" i="0" sz="1500" u="none" cap="none" strike="noStrike">
              <a:solidFill>
                <a:schemeClr val="dk1"/>
              </a:solidFill>
              <a:latin typeface="Calibri"/>
              <a:ea typeface="Calibri"/>
              <a:cs typeface="Calibri"/>
              <a:sym typeface="Calibri"/>
            </a:endParaRPr>
          </a:p>
        </p:txBody>
      </p:sp>
      <p:sp>
        <p:nvSpPr>
          <p:cNvPr id="247" name="Google Shape;247;p22"/>
          <p:cNvSpPr/>
          <p:nvPr/>
        </p:nvSpPr>
        <p:spPr>
          <a:xfrm>
            <a:off x="4494276" y="233172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Merriweather"/>
              <a:buNone/>
            </a:pPr>
            <a:r>
              <a:rPr b="0" i="1" lang="en-US" sz="1700" u="none" cap="none" strike="noStrike">
                <a:solidFill>
                  <a:srgbClr val="555555"/>
                </a:solidFill>
                <a:latin typeface="Merriweather"/>
                <a:ea typeface="Merriweather"/>
                <a:cs typeface="Merriweather"/>
                <a:sym typeface="Merriweather"/>
              </a:rPr>
              <a:t>Good fit</a:t>
            </a:r>
            <a:endParaRPr b="0" i="0" sz="1700" u="none" cap="none" strike="noStrike">
              <a:solidFill>
                <a:schemeClr val="dk1"/>
              </a:solidFill>
              <a:latin typeface="Calibri"/>
              <a:ea typeface="Calibri"/>
              <a:cs typeface="Calibri"/>
              <a:sym typeface="Calibri"/>
            </a:endParaRPr>
          </a:p>
        </p:txBody>
      </p:sp>
      <p:sp>
        <p:nvSpPr>
          <p:cNvPr id="248" name="Google Shape;248;p22"/>
          <p:cNvSpPr/>
          <p:nvPr/>
        </p:nvSpPr>
        <p:spPr>
          <a:xfrm>
            <a:off x="4631436" y="2880360"/>
            <a:ext cx="2926080" cy="2240280"/>
          </a:xfrm>
          <a:prstGeom prst="rect">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22"/>
          <p:cNvCxnSpPr/>
          <p:nvPr/>
        </p:nvCxnSpPr>
        <p:spPr>
          <a:xfrm>
            <a:off x="4631436" y="5120640"/>
            <a:ext cx="2926080" cy="0"/>
          </a:xfrm>
          <a:prstGeom prst="straightConnector1">
            <a:avLst/>
          </a:prstGeom>
          <a:noFill/>
          <a:ln cap="flat" cmpd="sng" w="12700">
            <a:solidFill>
              <a:srgbClr val="555555"/>
            </a:solidFill>
            <a:prstDash val="solid"/>
            <a:round/>
            <a:headEnd len="sm" w="sm" type="none"/>
            <a:tailEnd len="sm" w="sm" type="none"/>
          </a:ln>
        </p:spPr>
      </p:cxnSp>
      <p:cxnSp>
        <p:nvCxnSpPr>
          <p:cNvPr id="250" name="Google Shape;250;p22"/>
          <p:cNvCxnSpPr/>
          <p:nvPr/>
        </p:nvCxnSpPr>
        <p:spPr>
          <a:xfrm>
            <a:off x="4631436" y="2880360"/>
            <a:ext cx="0" cy="2240280"/>
          </a:xfrm>
          <a:prstGeom prst="straightConnector1">
            <a:avLst/>
          </a:prstGeom>
          <a:noFill/>
          <a:ln cap="flat" cmpd="sng" w="12700">
            <a:solidFill>
              <a:srgbClr val="555555"/>
            </a:solidFill>
            <a:prstDash val="solid"/>
            <a:round/>
            <a:headEnd len="sm" w="sm" type="none"/>
            <a:tailEnd len="sm" w="sm" type="none"/>
          </a:ln>
        </p:spPr>
      </p:cxnSp>
      <p:sp>
        <p:nvSpPr>
          <p:cNvPr id="251" name="Google Shape;251;p22"/>
          <p:cNvSpPr/>
          <p:nvPr/>
        </p:nvSpPr>
        <p:spPr>
          <a:xfrm>
            <a:off x="4869180" y="457291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5220310" y="405765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2"/>
          <p:cNvSpPr/>
          <p:nvPr/>
        </p:nvSpPr>
        <p:spPr>
          <a:xfrm>
            <a:off x="5483657" y="421447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2"/>
          <p:cNvSpPr/>
          <p:nvPr/>
        </p:nvSpPr>
        <p:spPr>
          <a:xfrm>
            <a:off x="5805526" y="374401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2"/>
          <p:cNvSpPr/>
          <p:nvPr/>
        </p:nvSpPr>
        <p:spPr>
          <a:xfrm>
            <a:off x="6185916" y="394563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6420002" y="354238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2"/>
          <p:cNvSpPr/>
          <p:nvPr/>
        </p:nvSpPr>
        <p:spPr>
          <a:xfrm>
            <a:off x="6771132" y="372160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2"/>
          <p:cNvSpPr/>
          <p:nvPr/>
        </p:nvSpPr>
        <p:spPr>
          <a:xfrm>
            <a:off x="7093001" y="331835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
          <p:cNvSpPr/>
          <p:nvPr/>
        </p:nvSpPr>
        <p:spPr>
          <a:xfrm>
            <a:off x="7297826" y="345277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p:nvPr/>
        </p:nvSpPr>
        <p:spPr>
          <a:xfrm>
            <a:off x="5015484" y="430408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2"/>
          <p:cNvSpPr/>
          <p:nvPr/>
        </p:nvSpPr>
        <p:spPr>
          <a:xfrm>
            <a:off x="6039612" y="3631997"/>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6624828" y="3833622"/>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22"/>
          <p:cNvCxnSpPr/>
          <p:nvPr/>
        </p:nvCxnSpPr>
        <p:spPr>
          <a:xfrm flipH="1" rot="10800000">
            <a:off x="4777740" y="4179723"/>
            <a:ext cx="585216" cy="313639"/>
          </a:xfrm>
          <a:prstGeom prst="straightConnector1">
            <a:avLst/>
          </a:prstGeom>
          <a:noFill/>
          <a:ln cap="flat" cmpd="sng" w="31750">
            <a:solidFill>
              <a:srgbClr val="4EA72E"/>
            </a:solidFill>
            <a:prstDash val="solid"/>
            <a:round/>
            <a:headEnd len="sm" w="sm" type="none"/>
            <a:tailEnd len="sm" w="sm" type="none"/>
          </a:ln>
        </p:spPr>
      </p:cxnSp>
      <p:cxnSp>
        <p:nvCxnSpPr>
          <p:cNvPr id="264" name="Google Shape;264;p22"/>
          <p:cNvCxnSpPr/>
          <p:nvPr/>
        </p:nvCxnSpPr>
        <p:spPr>
          <a:xfrm flipH="1" rot="10800000">
            <a:off x="5362956" y="3933291"/>
            <a:ext cx="585216" cy="246431"/>
          </a:xfrm>
          <a:prstGeom prst="straightConnector1">
            <a:avLst/>
          </a:prstGeom>
          <a:noFill/>
          <a:ln cap="flat" cmpd="sng" w="31750">
            <a:solidFill>
              <a:srgbClr val="4EA72E"/>
            </a:solidFill>
            <a:prstDash val="solid"/>
            <a:round/>
            <a:headEnd len="sm" w="sm" type="none"/>
            <a:tailEnd len="sm" w="sm" type="none"/>
          </a:ln>
        </p:spPr>
      </p:cxnSp>
      <p:cxnSp>
        <p:nvCxnSpPr>
          <p:cNvPr id="265" name="Google Shape;265;p22"/>
          <p:cNvCxnSpPr/>
          <p:nvPr/>
        </p:nvCxnSpPr>
        <p:spPr>
          <a:xfrm flipH="1" rot="10800000">
            <a:off x="5948172" y="3731667"/>
            <a:ext cx="585216" cy="201625"/>
          </a:xfrm>
          <a:prstGeom prst="straightConnector1">
            <a:avLst/>
          </a:prstGeom>
          <a:noFill/>
          <a:ln cap="flat" cmpd="sng" w="31750">
            <a:solidFill>
              <a:srgbClr val="4EA72E"/>
            </a:solidFill>
            <a:prstDash val="solid"/>
            <a:round/>
            <a:headEnd len="sm" w="sm" type="none"/>
            <a:tailEnd len="sm" w="sm" type="none"/>
          </a:ln>
        </p:spPr>
      </p:cxnSp>
      <p:cxnSp>
        <p:nvCxnSpPr>
          <p:cNvPr id="266" name="Google Shape;266;p22"/>
          <p:cNvCxnSpPr/>
          <p:nvPr/>
        </p:nvCxnSpPr>
        <p:spPr>
          <a:xfrm flipH="1" rot="10800000">
            <a:off x="6533388" y="3597249"/>
            <a:ext cx="585216" cy="134417"/>
          </a:xfrm>
          <a:prstGeom prst="straightConnector1">
            <a:avLst/>
          </a:prstGeom>
          <a:noFill/>
          <a:ln cap="flat" cmpd="sng" w="31750">
            <a:solidFill>
              <a:srgbClr val="4EA72E"/>
            </a:solidFill>
            <a:prstDash val="solid"/>
            <a:round/>
            <a:headEnd len="sm" w="sm" type="none"/>
            <a:tailEnd len="sm" w="sm" type="none"/>
          </a:ln>
        </p:spPr>
      </p:cxnSp>
      <p:cxnSp>
        <p:nvCxnSpPr>
          <p:cNvPr id="267" name="Google Shape;267;p22"/>
          <p:cNvCxnSpPr/>
          <p:nvPr/>
        </p:nvCxnSpPr>
        <p:spPr>
          <a:xfrm flipH="1" rot="10800000">
            <a:off x="7118604" y="3552444"/>
            <a:ext cx="438912" cy="44806"/>
          </a:xfrm>
          <a:prstGeom prst="straightConnector1">
            <a:avLst/>
          </a:prstGeom>
          <a:noFill/>
          <a:ln cap="flat" cmpd="sng" w="31750">
            <a:solidFill>
              <a:srgbClr val="4EA72E"/>
            </a:solidFill>
            <a:prstDash val="solid"/>
            <a:round/>
            <a:headEnd len="sm" w="sm" type="none"/>
            <a:tailEnd len="sm" w="sm" type="none"/>
          </a:ln>
        </p:spPr>
      </p:cxnSp>
      <p:sp>
        <p:nvSpPr>
          <p:cNvPr id="268" name="Google Shape;268;p22"/>
          <p:cNvSpPr/>
          <p:nvPr/>
        </p:nvSpPr>
        <p:spPr>
          <a:xfrm>
            <a:off x="4494276" y="5257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Captures the signal. Ignores the noise.</a:t>
            </a:r>
            <a:endParaRPr b="0" i="0" sz="1550" u="none" cap="none" strike="noStrike">
              <a:solidFill>
                <a:schemeClr val="dk1"/>
              </a:solidFill>
              <a:latin typeface="Calibri"/>
              <a:ea typeface="Calibri"/>
              <a:cs typeface="Calibri"/>
              <a:sym typeface="Calibri"/>
            </a:endParaRPr>
          </a:p>
        </p:txBody>
      </p:sp>
      <p:sp>
        <p:nvSpPr>
          <p:cNvPr id="269" name="Google Shape;269;p22"/>
          <p:cNvSpPr/>
          <p:nvPr/>
        </p:nvSpPr>
        <p:spPr>
          <a:xfrm>
            <a:off x="8124444" y="1691640"/>
            <a:ext cx="3657600" cy="425196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2"/>
          <p:cNvSpPr/>
          <p:nvPr/>
        </p:nvSpPr>
        <p:spPr>
          <a:xfrm>
            <a:off x="8124444" y="169164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8353044" y="17373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OVERFIT</a:t>
            </a:r>
            <a:endParaRPr b="0" i="0" sz="1500" u="none" cap="none" strike="noStrike">
              <a:solidFill>
                <a:schemeClr val="dk1"/>
              </a:solidFill>
              <a:latin typeface="Calibri"/>
              <a:ea typeface="Calibri"/>
              <a:cs typeface="Calibri"/>
              <a:sym typeface="Calibri"/>
            </a:endParaRPr>
          </a:p>
        </p:txBody>
      </p:sp>
      <p:sp>
        <p:nvSpPr>
          <p:cNvPr id="272" name="Google Shape;272;p22"/>
          <p:cNvSpPr/>
          <p:nvPr/>
        </p:nvSpPr>
        <p:spPr>
          <a:xfrm>
            <a:off x="8353044" y="233172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Merriweather"/>
              <a:buNone/>
            </a:pPr>
            <a:r>
              <a:rPr b="0" i="1" lang="en-US" sz="1700" u="none" cap="none" strike="noStrike">
                <a:solidFill>
                  <a:srgbClr val="555555"/>
                </a:solidFill>
                <a:latin typeface="Merriweather"/>
                <a:ea typeface="Merriweather"/>
                <a:cs typeface="Merriweather"/>
                <a:sym typeface="Merriweather"/>
              </a:rPr>
              <a:t>High variance</a:t>
            </a:r>
            <a:endParaRPr b="0" i="0" sz="1700" u="none" cap="none" strike="noStrike">
              <a:solidFill>
                <a:schemeClr val="dk1"/>
              </a:solidFill>
              <a:latin typeface="Calibri"/>
              <a:ea typeface="Calibri"/>
              <a:cs typeface="Calibri"/>
              <a:sym typeface="Calibri"/>
            </a:endParaRPr>
          </a:p>
        </p:txBody>
      </p:sp>
      <p:sp>
        <p:nvSpPr>
          <p:cNvPr id="273" name="Google Shape;273;p22"/>
          <p:cNvSpPr/>
          <p:nvPr/>
        </p:nvSpPr>
        <p:spPr>
          <a:xfrm>
            <a:off x="8490204" y="2880360"/>
            <a:ext cx="2926080" cy="2240280"/>
          </a:xfrm>
          <a:prstGeom prst="rect">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4" name="Google Shape;274;p22"/>
          <p:cNvCxnSpPr/>
          <p:nvPr/>
        </p:nvCxnSpPr>
        <p:spPr>
          <a:xfrm>
            <a:off x="8490204" y="5120640"/>
            <a:ext cx="2926080" cy="0"/>
          </a:xfrm>
          <a:prstGeom prst="straightConnector1">
            <a:avLst/>
          </a:prstGeom>
          <a:noFill/>
          <a:ln cap="flat" cmpd="sng" w="12700">
            <a:solidFill>
              <a:srgbClr val="555555"/>
            </a:solidFill>
            <a:prstDash val="solid"/>
            <a:round/>
            <a:headEnd len="sm" w="sm" type="none"/>
            <a:tailEnd len="sm" w="sm" type="none"/>
          </a:ln>
        </p:spPr>
      </p:cxnSp>
      <p:cxnSp>
        <p:nvCxnSpPr>
          <p:cNvPr id="275" name="Google Shape;275;p22"/>
          <p:cNvCxnSpPr/>
          <p:nvPr/>
        </p:nvCxnSpPr>
        <p:spPr>
          <a:xfrm>
            <a:off x="8490204" y="2880360"/>
            <a:ext cx="0" cy="2240280"/>
          </a:xfrm>
          <a:prstGeom prst="straightConnector1">
            <a:avLst/>
          </a:prstGeom>
          <a:noFill/>
          <a:ln cap="flat" cmpd="sng" w="12700">
            <a:solidFill>
              <a:srgbClr val="555555"/>
            </a:solidFill>
            <a:prstDash val="solid"/>
            <a:round/>
            <a:headEnd len="sm" w="sm" type="none"/>
            <a:tailEnd len="sm" w="sm" type="none"/>
          </a:ln>
        </p:spPr>
      </p:cxnSp>
      <p:sp>
        <p:nvSpPr>
          <p:cNvPr id="276" name="Google Shape;276;p22"/>
          <p:cNvSpPr/>
          <p:nvPr/>
        </p:nvSpPr>
        <p:spPr>
          <a:xfrm>
            <a:off x="8727948" y="457291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2"/>
          <p:cNvSpPr/>
          <p:nvPr/>
        </p:nvSpPr>
        <p:spPr>
          <a:xfrm>
            <a:off x="9079078" y="405765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
          <p:cNvSpPr/>
          <p:nvPr/>
        </p:nvSpPr>
        <p:spPr>
          <a:xfrm>
            <a:off x="9342425" y="4214470"/>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
          <p:cNvSpPr/>
          <p:nvPr/>
        </p:nvSpPr>
        <p:spPr>
          <a:xfrm>
            <a:off x="9664294" y="374401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2"/>
          <p:cNvSpPr/>
          <p:nvPr/>
        </p:nvSpPr>
        <p:spPr>
          <a:xfrm>
            <a:off x="10044684" y="394563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2"/>
          <p:cNvSpPr/>
          <p:nvPr/>
        </p:nvSpPr>
        <p:spPr>
          <a:xfrm>
            <a:off x="10278770" y="3542386"/>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2"/>
          <p:cNvSpPr/>
          <p:nvPr/>
        </p:nvSpPr>
        <p:spPr>
          <a:xfrm>
            <a:off x="10629900" y="372160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2"/>
          <p:cNvSpPr/>
          <p:nvPr/>
        </p:nvSpPr>
        <p:spPr>
          <a:xfrm>
            <a:off x="10951769" y="3318358"/>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2"/>
          <p:cNvSpPr/>
          <p:nvPr/>
        </p:nvSpPr>
        <p:spPr>
          <a:xfrm>
            <a:off x="11156594" y="3452774"/>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2"/>
          <p:cNvSpPr/>
          <p:nvPr/>
        </p:nvSpPr>
        <p:spPr>
          <a:xfrm>
            <a:off x="8874252" y="4304081"/>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
          <p:cNvSpPr/>
          <p:nvPr/>
        </p:nvSpPr>
        <p:spPr>
          <a:xfrm>
            <a:off x="9898380" y="3631997"/>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a:off x="10483596" y="3833622"/>
            <a:ext cx="109728" cy="10972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8" name="Google Shape;288;p22"/>
          <p:cNvCxnSpPr/>
          <p:nvPr/>
        </p:nvCxnSpPr>
        <p:spPr>
          <a:xfrm flipH="1" rot="10800000">
            <a:off x="8636508" y="4269333"/>
            <a:ext cx="292608" cy="358445"/>
          </a:xfrm>
          <a:prstGeom prst="straightConnector1">
            <a:avLst/>
          </a:prstGeom>
          <a:noFill/>
          <a:ln cap="flat" cmpd="sng" w="31750">
            <a:solidFill>
              <a:srgbClr val="A02B93"/>
            </a:solidFill>
            <a:prstDash val="solid"/>
            <a:round/>
            <a:headEnd len="sm" w="sm" type="none"/>
            <a:tailEnd len="sm" w="sm" type="none"/>
          </a:ln>
        </p:spPr>
      </p:cxnSp>
      <p:cxnSp>
        <p:nvCxnSpPr>
          <p:cNvPr id="289" name="Google Shape;289;p22"/>
          <p:cNvCxnSpPr/>
          <p:nvPr/>
        </p:nvCxnSpPr>
        <p:spPr>
          <a:xfrm flipH="1" rot="10800000">
            <a:off x="8929116" y="4112514"/>
            <a:ext cx="204826" cy="156820"/>
          </a:xfrm>
          <a:prstGeom prst="straightConnector1">
            <a:avLst/>
          </a:prstGeom>
          <a:noFill/>
          <a:ln cap="flat" cmpd="sng" w="31750">
            <a:solidFill>
              <a:srgbClr val="A02B93"/>
            </a:solidFill>
            <a:prstDash val="solid"/>
            <a:round/>
            <a:headEnd len="sm" w="sm" type="none"/>
            <a:tailEnd len="sm" w="sm" type="none"/>
          </a:ln>
        </p:spPr>
      </p:cxnSp>
      <p:cxnSp>
        <p:nvCxnSpPr>
          <p:cNvPr id="290" name="Google Shape;290;p22"/>
          <p:cNvCxnSpPr/>
          <p:nvPr/>
        </p:nvCxnSpPr>
        <p:spPr>
          <a:xfrm>
            <a:off x="9133942" y="4112514"/>
            <a:ext cx="263347" cy="246431"/>
          </a:xfrm>
          <a:prstGeom prst="straightConnector1">
            <a:avLst/>
          </a:prstGeom>
          <a:noFill/>
          <a:ln cap="flat" cmpd="sng" w="31750">
            <a:solidFill>
              <a:srgbClr val="A02B93"/>
            </a:solidFill>
            <a:prstDash val="solid"/>
            <a:round/>
            <a:headEnd len="sm" w="sm" type="none"/>
            <a:tailEnd len="sm" w="sm" type="none"/>
          </a:ln>
        </p:spPr>
      </p:cxnSp>
      <p:cxnSp>
        <p:nvCxnSpPr>
          <p:cNvPr id="291" name="Google Shape;291;p22"/>
          <p:cNvCxnSpPr/>
          <p:nvPr/>
        </p:nvCxnSpPr>
        <p:spPr>
          <a:xfrm flipH="1" rot="10800000">
            <a:off x="9397289" y="3776472"/>
            <a:ext cx="321869" cy="582473"/>
          </a:xfrm>
          <a:prstGeom prst="straightConnector1">
            <a:avLst/>
          </a:prstGeom>
          <a:noFill/>
          <a:ln cap="flat" cmpd="sng" w="31750">
            <a:solidFill>
              <a:srgbClr val="A02B93"/>
            </a:solidFill>
            <a:prstDash val="solid"/>
            <a:round/>
            <a:headEnd len="sm" w="sm" type="none"/>
            <a:tailEnd len="sm" w="sm" type="none"/>
          </a:ln>
        </p:spPr>
      </p:cxnSp>
      <p:cxnSp>
        <p:nvCxnSpPr>
          <p:cNvPr id="292" name="Google Shape;292;p22"/>
          <p:cNvCxnSpPr/>
          <p:nvPr/>
        </p:nvCxnSpPr>
        <p:spPr>
          <a:xfrm>
            <a:off x="9719158" y="3776472"/>
            <a:ext cx="380390" cy="268834"/>
          </a:xfrm>
          <a:prstGeom prst="straightConnector1">
            <a:avLst/>
          </a:prstGeom>
          <a:noFill/>
          <a:ln cap="flat" cmpd="sng" w="31750">
            <a:solidFill>
              <a:srgbClr val="A02B93"/>
            </a:solidFill>
            <a:prstDash val="solid"/>
            <a:round/>
            <a:headEnd len="sm" w="sm" type="none"/>
            <a:tailEnd len="sm" w="sm" type="none"/>
          </a:ln>
        </p:spPr>
      </p:cxnSp>
      <p:cxnSp>
        <p:nvCxnSpPr>
          <p:cNvPr id="293" name="Google Shape;293;p22"/>
          <p:cNvCxnSpPr/>
          <p:nvPr/>
        </p:nvCxnSpPr>
        <p:spPr>
          <a:xfrm flipH="1" rot="10800000">
            <a:off x="10099548" y="3574847"/>
            <a:ext cx="234086" cy="470459"/>
          </a:xfrm>
          <a:prstGeom prst="straightConnector1">
            <a:avLst/>
          </a:prstGeom>
          <a:noFill/>
          <a:ln cap="flat" cmpd="sng" w="31750">
            <a:solidFill>
              <a:srgbClr val="A02B93"/>
            </a:solidFill>
            <a:prstDash val="solid"/>
            <a:round/>
            <a:headEnd len="sm" w="sm" type="none"/>
            <a:tailEnd len="sm" w="sm" type="none"/>
          </a:ln>
        </p:spPr>
      </p:cxnSp>
      <p:cxnSp>
        <p:nvCxnSpPr>
          <p:cNvPr id="294" name="Google Shape;294;p22"/>
          <p:cNvCxnSpPr/>
          <p:nvPr/>
        </p:nvCxnSpPr>
        <p:spPr>
          <a:xfrm>
            <a:off x="10333634" y="3574847"/>
            <a:ext cx="351130" cy="246431"/>
          </a:xfrm>
          <a:prstGeom prst="straightConnector1">
            <a:avLst/>
          </a:prstGeom>
          <a:noFill/>
          <a:ln cap="flat" cmpd="sng" w="31750">
            <a:solidFill>
              <a:srgbClr val="A02B93"/>
            </a:solidFill>
            <a:prstDash val="solid"/>
            <a:round/>
            <a:headEnd len="sm" w="sm" type="none"/>
            <a:tailEnd len="sm" w="sm" type="none"/>
          </a:ln>
        </p:spPr>
      </p:cxnSp>
      <p:cxnSp>
        <p:nvCxnSpPr>
          <p:cNvPr id="295" name="Google Shape;295;p22"/>
          <p:cNvCxnSpPr/>
          <p:nvPr/>
        </p:nvCxnSpPr>
        <p:spPr>
          <a:xfrm flipH="1" rot="10800000">
            <a:off x="10684764" y="3350819"/>
            <a:ext cx="321869" cy="470459"/>
          </a:xfrm>
          <a:prstGeom prst="straightConnector1">
            <a:avLst/>
          </a:prstGeom>
          <a:noFill/>
          <a:ln cap="flat" cmpd="sng" w="31750">
            <a:solidFill>
              <a:srgbClr val="A02B93"/>
            </a:solidFill>
            <a:prstDash val="solid"/>
            <a:round/>
            <a:headEnd len="sm" w="sm" type="none"/>
            <a:tailEnd len="sm" w="sm" type="none"/>
          </a:ln>
        </p:spPr>
      </p:cxnSp>
      <p:cxnSp>
        <p:nvCxnSpPr>
          <p:cNvPr id="296" name="Google Shape;296;p22"/>
          <p:cNvCxnSpPr/>
          <p:nvPr/>
        </p:nvCxnSpPr>
        <p:spPr>
          <a:xfrm>
            <a:off x="11006633" y="3350819"/>
            <a:ext cx="204826" cy="201625"/>
          </a:xfrm>
          <a:prstGeom prst="straightConnector1">
            <a:avLst/>
          </a:prstGeom>
          <a:noFill/>
          <a:ln cap="flat" cmpd="sng" w="31750">
            <a:solidFill>
              <a:srgbClr val="A02B93"/>
            </a:solidFill>
            <a:prstDash val="solid"/>
            <a:round/>
            <a:headEnd len="sm" w="sm" type="none"/>
            <a:tailEnd len="sm" w="sm" type="none"/>
          </a:ln>
        </p:spPr>
      </p:cxnSp>
      <p:cxnSp>
        <p:nvCxnSpPr>
          <p:cNvPr id="297" name="Google Shape;297;p22"/>
          <p:cNvCxnSpPr/>
          <p:nvPr/>
        </p:nvCxnSpPr>
        <p:spPr>
          <a:xfrm flipH="1" rot="10800000">
            <a:off x="11211458" y="3418027"/>
            <a:ext cx="204826" cy="134417"/>
          </a:xfrm>
          <a:prstGeom prst="straightConnector1">
            <a:avLst/>
          </a:prstGeom>
          <a:noFill/>
          <a:ln cap="flat" cmpd="sng" w="31750">
            <a:solidFill>
              <a:srgbClr val="A02B93"/>
            </a:solidFill>
            <a:prstDash val="solid"/>
            <a:round/>
            <a:headEnd len="sm" w="sm" type="none"/>
            <a:tailEnd len="sm" w="sm" type="none"/>
          </a:ln>
        </p:spPr>
      </p:cxnSp>
      <p:sp>
        <p:nvSpPr>
          <p:cNvPr id="298" name="Google Shape;298;p22"/>
          <p:cNvSpPr/>
          <p:nvPr/>
        </p:nvSpPr>
        <p:spPr>
          <a:xfrm>
            <a:off x="8353044" y="5257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baseline="30000" i="0" lang="en-US" sz="2250" u="none" cap="none" strike="noStrike">
                <a:solidFill>
                  <a:srgbClr val="333333"/>
                </a:solidFill>
                <a:latin typeface="Merriweather"/>
                <a:ea typeface="Merriweather"/>
                <a:cs typeface="Merriweather"/>
                <a:sym typeface="Merriweather"/>
              </a:rPr>
              <a:t>Curves to every point. Memorises noise.</a:t>
            </a:r>
            <a:endParaRPr b="0" baseline="30000" i="0" sz="2250" u="none" cap="none" strike="noStrike">
              <a:solidFill>
                <a:schemeClr val="dk1"/>
              </a:solidFill>
              <a:latin typeface="Calibri"/>
              <a:ea typeface="Calibri"/>
              <a:cs typeface="Calibri"/>
              <a:sym typeface="Calibri"/>
            </a:endParaRPr>
          </a:p>
        </p:txBody>
      </p:sp>
      <p:sp>
        <p:nvSpPr>
          <p:cNvPr id="299" name="Google Shape;299;p22"/>
          <p:cNvSpPr/>
          <p:nvPr/>
        </p:nvSpPr>
        <p:spPr>
          <a:xfrm>
            <a:off x="548640" y="608076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300"/>
              <a:buFont typeface="Merriweather"/>
              <a:buNone/>
            </a:pPr>
            <a:r>
              <a:rPr b="0" i="1" lang="en-US" sz="1900" u="none" cap="none" strike="noStrike">
                <a:solidFill>
                  <a:srgbClr val="555555"/>
                </a:solidFill>
                <a:latin typeface="Merriweather"/>
                <a:ea typeface="Merriweather"/>
                <a:cs typeface="Merriweather"/>
                <a:sym typeface="Merriweather"/>
              </a:rPr>
              <a:t>Training error keeps falling. Test error tells the real story.</a:t>
            </a:r>
            <a:endParaRPr b="0" i="0" sz="19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23"/>
          <p:cNvSpPr txBox="1"/>
          <p:nvPr/>
        </p:nvSpPr>
        <p:spPr>
          <a:xfrm>
            <a:off x="2842550" y="517975"/>
            <a:ext cx="61644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351C75"/>
                </a:solidFill>
              </a:rPr>
              <a:t>Knowledge check 1</a:t>
            </a:r>
          </a:p>
        </p:txBody>
      </p:sp>
      <p:pic>
        <p:nvPicPr>
          <p:cNvPr id="306" name="Google Shape;306;p23"/>
          <p:cNvPicPr preferRelativeResize="0"/>
          <p:nvPr/>
        </p:nvPicPr>
        <p:blipFill>
          <a:blip r:embed="rId4">
            <a:alphaModFix/>
          </a:blip>
          <a:stretch>
            <a:fillRect/>
          </a:stretch>
        </p:blipFill>
        <p:spPr>
          <a:xfrm>
            <a:off x="4647350" y="1797925"/>
            <a:ext cx="2676525" cy="2628900"/>
          </a:xfrm>
          <a:prstGeom prst="rect">
            <a:avLst/>
          </a:prstGeom>
          <a:noFill/>
          <a:ln>
            <a:noFill/>
          </a:ln>
        </p:spPr>
      </p:pic>
      <p:sp>
        <p:nvSpPr>
          <p:cNvPr id="307" name="TextBox 306"/>
          <p:cNvSpPr txBox="1"/>
          <p:nvPr/>
        </p:nvSpPr>
        <p:spPr>
          <a:xfrm>
            <a:off x="1069848" y="4754880"/>
            <a:ext cx="10058400" cy="457200"/>
          </a:xfrm>
          <a:prstGeom prst="rect">
            <a:avLst/>
          </a:prstGeom>
          <a:noFill/>
        </p:spPr>
        <p:txBody>
          <a:bodyPr wrap="square">
            <a:spAutoFit/>
          </a:bodyPr>
          <a:lstStyle/>
          <a:p>
            <a:pPr algn="ctr"/>
            <a:r>
              <a:rPr sz="1400" b="0">
                <a:solidFill>
                  <a:srgbClr val="555555"/>
                </a:solidFill>
                <a:latin typeface="Merriweather"/>
              </a:rPr>
              <a:t>Section 01 — signal &amp; noise  ·  Mentimeter (menti.com) · anonymous · ~3 min</a:t>
            </a:r>
          </a:p>
        </p:txBody>
      </p:sp>
      <p:sp>
        <p:nvSpPr>
          <p:cNvPr id="308" name="TextBox 307"/>
          <p:cNvSpPr txBox="1"/>
          <p:nvPr/>
        </p:nvSpPr>
        <p:spPr>
          <a:xfrm>
            <a:off x="1069848" y="5212080"/>
            <a:ext cx="10058400" cy="365760"/>
          </a:xfrm>
          <a:prstGeom prst="rect">
            <a:avLst/>
          </a:prstGeom>
          <a:noFill/>
        </p:spPr>
        <p:txBody>
          <a:bodyPr wrap="square">
            <a:spAutoFit/>
          </a:bodyPr>
          <a:lstStyle/>
          <a:p>
            <a:pPr algn="ctr"/>
            <a:r>
              <a:rPr sz="1200" b="0">
                <a:solidFill>
                  <a:srgbClr val="555555"/>
                </a:solidFill>
                <a:latin typeface="Merriweather"/>
              </a:rPr>
              <a:t>after the poll: why the right answer is right — and why each wrong option is wrong</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sp>
        <p:nvSpPr>
          <p:cNvPr id="312" name="Google Shape;312;p24"/>
          <p:cNvSpPr/>
          <p:nvPr/>
        </p:nvSpPr>
        <p:spPr>
          <a:xfrm>
            <a:off x="640080" y="1828800"/>
            <a:ext cx="2743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Archivo Black"/>
              <a:buNone/>
            </a:pPr>
            <a:r>
              <a:rPr b="1" i="0" lang="en-US" sz="6000" u="none" cap="none" strike="noStrike">
                <a:solidFill>
                  <a:srgbClr val="FFFFFF"/>
                </a:solidFill>
                <a:latin typeface="Archivo Black"/>
                <a:ea typeface="Archivo Black"/>
                <a:cs typeface="Archivo Black"/>
                <a:sym typeface="Archivo Black"/>
              </a:rPr>
              <a:t>02</a:t>
            </a:r>
            <a:endParaRPr b="0" i="0" sz="6000" u="none" cap="none" strike="noStrike">
              <a:solidFill>
                <a:schemeClr val="dk1"/>
              </a:solidFill>
              <a:latin typeface="Calibri"/>
              <a:ea typeface="Calibri"/>
              <a:cs typeface="Calibri"/>
              <a:sym typeface="Calibri"/>
            </a:endParaRPr>
          </a:p>
        </p:txBody>
      </p:sp>
      <p:sp>
        <p:nvSpPr>
          <p:cNvPr id="313" name="Google Shape;313;p24"/>
          <p:cNvSpPr/>
          <p:nvPr/>
        </p:nvSpPr>
        <p:spPr>
          <a:xfrm>
            <a:off x="640080" y="2926080"/>
            <a:ext cx="100584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Generalisation.</a:t>
            </a:r>
            <a:endParaRPr b="0" i="0" sz="5000" u="none" cap="none" strike="noStrike">
              <a:solidFill>
                <a:schemeClr val="dk1"/>
              </a:solidFill>
              <a:latin typeface="Calibri"/>
              <a:ea typeface="Calibri"/>
              <a:cs typeface="Calibri"/>
              <a:sym typeface="Calibri"/>
            </a:endParaRPr>
          </a:p>
        </p:txBody>
      </p:sp>
      <p:sp>
        <p:nvSpPr>
          <p:cNvPr id="314" name="Google Shape;314;p24"/>
          <p:cNvSpPr/>
          <p:nvPr/>
        </p:nvSpPr>
        <p:spPr>
          <a:xfrm>
            <a:off x="640080" y="402336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2000"/>
              <a:buFont typeface="Merriweather"/>
              <a:buNone/>
            </a:pPr>
            <a:r>
              <a:rPr b="0" i="1" lang="en-US" sz="2000" u="none" cap="none" strike="noStrike">
                <a:solidFill>
                  <a:srgbClr val="361A54"/>
                </a:solidFill>
                <a:latin typeface="Merriweather"/>
                <a:ea typeface="Merriweather"/>
                <a:cs typeface="Merriweather"/>
                <a:sym typeface="Merriweather"/>
              </a:rPr>
              <a:t>The only model worth shipping is one that works on data it has never seen.  ·  ~17 min incl. knowledge check</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25"/>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Generalisation, in one sentence.</a:t>
            </a:r>
            <a:endParaRPr b="0" i="0" sz="2600" u="none" cap="none" strike="noStrike">
              <a:solidFill>
                <a:schemeClr val="dk1"/>
              </a:solidFill>
              <a:latin typeface="Calibri"/>
              <a:ea typeface="Calibri"/>
              <a:cs typeface="Calibri"/>
              <a:sym typeface="Calibri"/>
            </a:endParaRPr>
          </a:p>
        </p:txBody>
      </p:sp>
      <p:sp>
        <p:nvSpPr>
          <p:cNvPr id="321" name="Google Shape;321;p25"/>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2000" u="none" cap="none" strike="noStrike">
                <a:solidFill>
                  <a:srgbClr val="555555"/>
                </a:solidFill>
                <a:latin typeface="Merriweather"/>
                <a:ea typeface="Merriweather"/>
                <a:cs typeface="Merriweather"/>
                <a:sym typeface="Merriweather"/>
              </a:rPr>
              <a:t>Performance on data the model did not see during training.</a:t>
            </a:r>
            <a:endParaRPr b="0" i="0" sz="2000" u="none" cap="none" strike="noStrike">
              <a:solidFill>
                <a:schemeClr val="dk1"/>
              </a:solidFill>
              <a:latin typeface="Calibri"/>
              <a:ea typeface="Calibri"/>
              <a:cs typeface="Calibri"/>
              <a:sym typeface="Calibri"/>
            </a:endParaRPr>
          </a:p>
        </p:txBody>
      </p:sp>
      <p:sp>
        <p:nvSpPr>
          <p:cNvPr id="322" name="Google Shape;322;p25"/>
          <p:cNvSpPr/>
          <p:nvPr/>
        </p:nvSpPr>
        <p:spPr>
          <a:xfrm>
            <a:off x="1371600" y="2103120"/>
            <a:ext cx="9418320" cy="12801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5"/>
          <p:cNvSpPr/>
          <p:nvPr/>
        </p:nvSpPr>
        <p:spPr>
          <a:xfrm>
            <a:off x="1371600" y="2103120"/>
            <a:ext cx="109728" cy="128016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
          <p:cNvSpPr/>
          <p:nvPr/>
        </p:nvSpPr>
        <p:spPr>
          <a:xfrm>
            <a:off x="1691640" y="2429412"/>
            <a:ext cx="8961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200"/>
              <a:buFont typeface="Consolas"/>
              <a:buNone/>
            </a:pPr>
            <a:r>
              <a:rPr b="1" i="0" lang="en-US" sz="2400" u="none" cap="none" strike="noStrike">
                <a:solidFill>
                  <a:srgbClr val="361A54"/>
                </a:solidFill>
                <a:latin typeface="Consolas"/>
                <a:ea typeface="Consolas"/>
                <a:cs typeface="Consolas"/>
                <a:sym typeface="Consolas"/>
              </a:rPr>
              <a:t>Generalisation error  =  E[ loss(model, new sample) ]</a:t>
            </a:r>
            <a:endParaRPr b="0" i="0" sz="2400" u="none" cap="none" strike="noStrike">
              <a:solidFill>
                <a:schemeClr val="dk1"/>
              </a:solidFill>
              <a:latin typeface="Calibri"/>
              <a:ea typeface="Calibri"/>
              <a:cs typeface="Calibri"/>
              <a:sym typeface="Calibri"/>
            </a:endParaRPr>
          </a:p>
        </p:txBody>
      </p:sp>
      <p:sp>
        <p:nvSpPr>
          <p:cNvPr id="325" name="Google Shape;325;p25"/>
          <p:cNvSpPr/>
          <p:nvPr/>
        </p:nvSpPr>
        <p:spPr>
          <a:xfrm>
            <a:off x="1371600" y="3749040"/>
            <a:ext cx="5029200" cy="182880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1371600" y="3749040"/>
            <a:ext cx="5029200" cy="45720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1554480" y="3803904"/>
            <a:ext cx="4663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chivo Black"/>
              <a:buNone/>
            </a:pPr>
            <a:r>
              <a:rPr b="1" i="0" lang="en-US" sz="1400" u="none" cap="none" strike="noStrike">
                <a:solidFill>
                  <a:srgbClr val="FFFFFF"/>
                </a:solidFill>
                <a:latin typeface="Archivo Black"/>
                <a:ea typeface="Archivo Black"/>
                <a:cs typeface="Archivo Black"/>
                <a:sym typeface="Archivo Black"/>
              </a:rPr>
              <a:t>WHAT IT MEANS IN PRACTICE</a:t>
            </a:r>
            <a:endParaRPr b="0" i="0" sz="1400" u="none" cap="none" strike="noStrike">
              <a:solidFill>
                <a:schemeClr val="dk1"/>
              </a:solidFill>
              <a:latin typeface="Calibri"/>
              <a:ea typeface="Calibri"/>
              <a:cs typeface="Calibri"/>
              <a:sym typeface="Calibri"/>
            </a:endParaRPr>
          </a:p>
        </p:txBody>
      </p:sp>
      <p:sp>
        <p:nvSpPr>
          <p:cNvPr id="328" name="Google Shape;328;p25"/>
          <p:cNvSpPr/>
          <p:nvPr/>
        </p:nvSpPr>
        <p:spPr>
          <a:xfrm>
            <a:off x="1554450" y="4297738"/>
            <a:ext cx="4663500" cy="1188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333333"/>
              </a:buClr>
              <a:buSzPts val="1250"/>
              <a:buFont typeface="Merriweather"/>
              <a:buNone/>
            </a:pPr>
            <a:r>
              <a:rPr b="0" baseline="30000" i="0" lang="en-US" sz="2150" u="none" cap="none" strike="noStrike">
                <a:solidFill>
                  <a:srgbClr val="333333"/>
                </a:solidFill>
                <a:latin typeface="Merriweather"/>
                <a:ea typeface="Merriweather"/>
                <a:cs typeface="Merriweather"/>
                <a:sym typeface="Merriweather"/>
              </a:rPr>
              <a:t>If your translation model performs well on the training corpus but poorly on a new dialect, it has not generalised. You have a beautiful overfitter, not a translator.</a:t>
            </a:r>
            <a:endParaRPr b="0" baseline="30000" i="0" sz="2150" u="none" cap="none" strike="noStrike">
              <a:solidFill>
                <a:schemeClr val="dk1"/>
              </a:solidFill>
              <a:latin typeface="Calibri"/>
              <a:ea typeface="Calibri"/>
              <a:cs typeface="Calibri"/>
              <a:sym typeface="Calibri"/>
            </a:endParaRPr>
          </a:p>
        </p:txBody>
      </p:sp>
      <p:sp>
        <p:nvSpPr>
          <p:cNvPr id="329" name="Google Shape;329;p25"/>
          <p:cNvSpPr/>
          <p:nvPr/>
        </p:nvSpPr>
        <p:spPr>
          <a:xfrm>
            <a:off x="6675120" y="3749040"/>
            <a:ext cx="5029200" cy="182880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p:nvPr/>
        </p:nvSpPr>
        <p:spPr>
          <a:xfrm>
            <a:off x="6675120" y="3749040"/>
            <a:ext cx="5029200" cy="45720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5"/>
          <p:cNvSpPr/>
          <p:nvPr/>
        </p:nvSpPr>
        <p:spPr>
          <a:xfrm>
            <a:off x="6858000" y="3803904"/>
            <a:ext cx="4663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chivo Black"/>
              <a:buNone/>
            </a:pPr>
            <a:r>
              <a:rPr b="1" i="0" lang="en-US" sz="1400" u="none" cap="none" strike="noStrike">
                <a:solidFill>
                  <a:srgbClr val="FFFFFF"/>
                </a:solidFill>
                <a:latin typeface="Archivo Black"/>
                <a:ea typeface="Archivo Black"/>
                <a:cs typeface="Archivo Black"/>
                <a:sym typeface="Archivo Black"/>
              </a:rPr>
              <a:t>WHY IT'S HARD TO MEASURE</a:t>
            </a:r>
            <a:endParaRPr b="0" i="0" sz="1400" u="none" cap="none" strike="noStrike">
              <a:solidFill>
                <a:schemeClr val="dk1"/>
              </a:solidFill>
              <a:latin typeface="Calibri"/>
              <a:ea typeface="Calibri"/>
              <a:cs typeface="Calibri"/>
              <a:sym typeface="Calibri"/>
            </a:endParaRPr>
          </a:p>
        </p:txBody>
      </p:sp>
      <p:sp>
        <p:nvSpPr>
          <p:cNvPr id="332" name="Google Shape;332;p25"/>
          <p:cNvSpPr/>
          <p:nvPr/>
        </p:nvSpPr>
        <p:spPr>
          <a:xfrm>
            <a:off x="6858000" y="4297680"/>
            <a:ext cx="4663440" cy="118872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333333"/>
              </a:buClr>
              <a:buSzPts val="1250"/>
              <a:buFont typeface="Merriweather"/>
              <a:buNone/>
            </a:pPr>
            <a:r>
              <a:rPr b="0" i="0" lang="en-US" sz="1250" u="none" cap="none" strike="noStrike">
                <a:solidFill>
                  <a:srgbClr val="333333"/>
                </a:solidFill>
                <a:latin typeface="Merriweather"/>
                <a:ea typeface="Merriweather"/>
                <a:cs typeface="Merriweather"/>
                <a:sym typeface="Merriweather"/>
              </a:rPr>
              <a:t>True generalisation error is over the full distribution which you never see. We approximate it with a held-out test set. That test set is your only proxy for reality.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7" name="Shape 337"/>
        <p:cNvGrpSpPr/>
        <p:nvPr/>
      </p:nvGrpSpPr>
      <p:grpSpPr>
        <a:xfrm>
          <a:off x="0" y="0"/>
          <a:ext cx="0" cy="0"/>
          <a:chOff x="0" y="0"/>
          <a:chExt cx="0" cy="0"/>
        </a:xfrm>
      </p:grpSpPr>
      <p:sp>
        <p:nvSpPr>
          <p:cNvPr id="338" name="Google Shape;338;p26"/>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bias–variance trade-off</a:t>
            </a:r>
            <a:endParaRPr b="0" i="0" sz="2600" u="none" cap="none" strike="noStrike">
              <a:solidFill>
                <a:schemeClr val="dk1"/>
              </a:solidFill>
              <a:latin typeface="Calibri"/>
              <a:ea typeface="Calibri"/>
              <a:cs typeface="Calibri"/>
              <a:sym typeface="Calibri"/>
            </a:endParaRPr>
          </a:p>
        </p:txBody>
      </p:sp>
      <p:sp>
        <p:nvSpPr>
          <p:cNvPr id="339" name="Google Shape;339;p26"/>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Total error decomposes into two competing forces. Tuning one trades against the other.</a:t>
            </a:r>
            <a:endParaRPr b="0" i="0" sz="1600" u="none" cap="none" strike="noStrike">
              <a:solidFill>
                <a:schemeClr val="dk1"/>
              </a:solidFill>
              <a:latin typeface="Calibri"/>
              <a:ea typeface="Calibri"/>
              <a:cs typeface="Calibri"/>
              <a:sym typeface="Calibri"/>
            </a:endParaRPr>
          </a:p>
        </p:txBody>
      </p:sp>
      <p:sp>
        <p:nvSpPr>
          <p:cNvPr id="340" name="Google Shape;340;p26"/>
          <p:cNvSpPr/>
          <p:nvPr/>
        </p:nvSpPr>
        <p:spPr>
          <a:xfrm>
            <a:off x="1371600" y="1783080"/>
            <a:ext cx="9418320" cy="7772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p:nvPr/>
        </p:nvSpPr>
        <p:spPr>
          <a:xfrm>
            <a:off x="1371600" y="1783080"/>
            <a:ext cx="941832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2200"/>
              <a:buFont typeface="Consolas"/>
              <a:buNone/>
            </a:pPr>
            <a:r>
              <a:rPr b="1" i="0" lang="en-US" sz="2200" u="none" cap="none" strike="noStrike">
                <a:solidFill>
                  <a:srgbClr val="FDD633"/>
                </a:solidFill>
                <a:latin typeface="Consolas"/>
                <a:ea typeface="Consolas"/>
                <a:cs typeface="Consolas"/>
                <a:sym typeface="Consolas"/>
              </a:rPr>
              <a:t>Error  =  Bias²  +  Variance  +  Irreducible noise</a:t>
            </a:r>
            <a:endParaRPr b="0" i="0" sz="2200" u="none" cap="none" strike="noStrike">
              <a:solidFill>
                <a:schemeClr val="dk1"/>
              </a:solidFill>
              <a:latin typeface="Calibri"/>
              <a:ea typeface="Calibri"/>
              <a:cs typeface="Calibri"/>
              <a:sym typeface="Calibri"/>
            </a:endParaRPr>
          </a:p>
        </p:txBody>
      </p:sp>
      <p:sp>
        <p:nvSpPr>
          <p:cNvPr id="342" name="Google Shape;342;p26"/>
          <p:cNvSpPr/>
          <p:nvPr/>
        </p:nvSpPr>
        <p:spPr>
          <a:xfrm>
            <a:off x="406908"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406908" y="292608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6"/>
          <p:cNvSpPr/>
          <p:nvPr/>
        </p:nvSpPr>
        <p:spPr>
          <a:xfrm>
            <a:off x="635508"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BIAS</a:t>
            </a:r>
            <a:endParaRPr b="0" i="0" sz="1500" u="none" cap="none" strike="noStrike">
              <a:solidFill>
                <a:schemeClr val="dk1"/>
              </a:solidFill>
              <a:latin typeface="Calibri"/>
              <a:ea typeface="Calibri"/>
              <a:cs typeface="Calibri"/>
              <a:sym typeface="Calibri"/>
            </a:endParaRPr>
          </a:p>
        </p:txBody>
      </p:sp>
      <p:sp>
        <p:nvSpPr>
          <p:cNvPr id="345" name="Google Shape;345;p26"/>
          <p:cNvSpPr/>
          <p:nvPr/>
        </p:nvSpPr>
        <p:spPr>
          <a:xfrm>
            <a:off x="635508"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Wrong assumptions.</a:t>
            </a:r>
            <a:endParaRPr b="0" i="0" sz="1400" u="none" cap="none" strike="noStrike">
              <a:solidFill>
                <a:schemeClr val="dk1"/>
              </a:solidFill>
              <a:latin typeface="Calibri"/>
              <a:ea typeface="Calibri"/>
              <a:cs typeface="Calibri"/>
              <a:sym typeface="Calibri"/>
            </a:endParaRPr>
          </a:p>
        </p:txBody>
      </p:sp>
      <p:sp>
        <p:nvSpPr>
          <p:cNvPr id="346" name="Google Shape;346;p26"/>
          <p:cNvSpPr/>
          <p:nvPr/>
        </p:nvSpPr>
        <p:spPr>
          <a:xfrm>
            <a:off x="635508"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850" u="none" cap="none" strike="noStrike">
                <a:solidFill>
                  <a:srgbClr val="333333"/>
                </a:solidFill>
                <a:latin typeface="Merriweather"/>
                <a:ea typeface="Merriweather"/>
                <a:cs typeface="Merriweather"/>
                <a:sym typeface="Merriweather"/>
              </a:rPr>
              <a:t>How far the model is from the true pattern, on average. High bias = underfitting. A linear model on curved data is high-bias.</a:t>
            </a:r>
            <a:endParaRPr b="0" i="0" sz="1850" u="none" cap="none" strike="noStrike">
              <a:solidFill>
                <a:schemeClr val="dk1"/>
              </a:solidFill>
              <a:latin typeface="Calibri"/>
              <a:ea typeface="Calibri"/>
              <a:cs typeface="Calibri"/>
              <a:sym typeface="Calibri"/>
            </a:endParaRPr>
          </a:p>
        </p:txBody>
      </p:sp>
      <p:sp>
        <p:nvSpPr>
          <p:cNvPr id="347" name="Google Shape;347;p26"/>
          <p:cNvSpPr/>
          <p:nvPr/>
        </p:nvSpPr>
        <p:spPr>
          <a:xfrm>
            <a:off x="4265676"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
          <p:cNvSpPr/>
          <p:nvPr/>
        </p:nvSpPr>
        <p:spPr>
          <a:xfrm>
            <a:off x="4265676" y="292608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6"/>
          <p:cNvSpPr/>
          <p:nvPr/>
        </p:nvSpPr>
        <p:spPr>
          <a:xfrm>
            <a:off x="4494276"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VARIANCE</a:t>
            </a:r>
            <a:endParaRPr b="0" i="0" sz="1500" u="none" cap="none" strike="noStrike">
              <a:solidFill>
                <a:schemeClr val="dk1"/>
              </a:solidFill>
              <a:latin typeface="Calibri"/>
              <a:ea typeface="Calibri"/>
              <a:cs typeface="Calibri"/>
              <a:sym typeface="Calibri"/>
            </a:endParaRPr>
          </a:p>
        </p:txBody>
      </p:sp>
      <p:sp>
        <p:nvSpPr>
          <p:cNvPr id="350" name="Google Shape;350;p26"/>
          <p:cNvSpPr/>
          <p:nvPr/>
        </p:nvSpPr>
        <p:spPr>
          <a:xfrm>
            <a:off x="4494276"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Too sensitive to data.</a:t>
            </a:r>
            <a:endParaRPr b="0" i="0" sz="1400" u="none" cap="none" strike="noStrike">
              <a:solidFill>
                <a:schemeClr val="dk1"/>
              </a:solidFill>
              <a:latin typeface="Calibri"/>
              <a:ea typeface="Calibri"/>
              <a:cs typeface="Calibri"/>
              <a:sym typeface="Calibri"/>
            </a:endParaRPr>
          </a:p>
        </p:txBody>
      </p:sp>
      <p:sp>
        <p:nvSpPr>
          <p:cNvPr id="351" name="Google Shape;351;p26"/>
          <p:cNvSpPr/>
          <p:nvPr/>
        </p:nvSpPr>
        <p:spPr>
          <a:xfrm>
            <a:off x="4494276"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750" u="none" cap="none" strike="noStrike">
                <a:solidFill>
                  <a:srgbClr val="333333"/>
                </a:solidFill>
                <a:latin typeface="Merriweather"/>
                <a:ea typeface="Merriweather"/>
                <a:cs typeface="Merriweather"/>
                <a:sym typeface="Merriweather"/>
              </a:rPr>
              <a:t>How much the model changes when you swap the training set. High variance = overfitting. A deep tree perfectly fit to noise is high-variance.</a:t>
            </a:r>
            <a:endParaRPr b="0" i="0" sz="1750" u="none" cap="none" strike="noStrike">
              <a:solidFill>
                <a:schemeClr val="dk1"/>
              </a:solidFill>
              <a:latin typeface="Calibri"/>
              <a:ea typeface="Calibri"/>
              <a:cs typeface="Calibri"/>
              <a:sym typeface="Calibri"/>
            </a:endParaRPr>
          </a:p>
        </p:txBody>
      </p:sp>
      <p:sp>
        <p:nvSpPr>
          <p:cNvPr id="352" name="Google Shape;352;p26"/>
          <p:cNvSpPr/>
          <p:nvPr/>
        </p:nvSpPr>
        <p:spPr>
          <a:xfrm>
            <a:off x="8124444"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8124444" y="292608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6"/>
          <p:cNvSpPr/>
          <p:nvPr/>
        </p:nvSpPr>
        <p:spPr>
          <a:xfrm>
            <a:off x="8353044"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NOISE</a:t>
            </a:r>
            <a:endParaRPr b="0" i="0" sz="1500" u="none" cap="none" strike="noStrike">
              <a:solidFill>
                <a:schemeClr val="dk1"/>
              </a:solidFill>
              <a:latin typeface="Calibri"/>
              <a:ea typeface="Calibri"/>
              <a:cs typeface="Calibri"/>
              <a:sym typeface="Calibri"/>
            </a:endParaRPr>
          </a:p>
        </p:txBody>
      </p:sp>
      <p:sp>
        <p:nvSpPr>
          <p:cNvPr id="355" name="Google Shape;355;p26"/>
          <p:cNvSpPr/>
          <p:nvPr/>
        </p:nvSpPr>
        <p:spPr>
          <a:xfrm>
            <a:off x="8353044"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Irreducible.</a:t>
            </a:r>
            <a:endParaRPr b="0" i="0" sz="1400" u="none" cap="none" strike="noStrike">
              <a:solidFill>
                <a:schemeClr val="dk1"/>
              </a:solidFill>
              <a:latin typeface="Calibri"/>
              <a:ea typeface="Calibri"/>
              <a:cs typeface="Calibri"/>
              <a:sym typeface="Calibri"/>
            </a:endParaRPr>
          </a:p>
        </p:txBody>
      </p:sp>
      <p:sp>
        <p:nvSpPr>
          <p:cNvPr id="356" name="Google Shape;356;p26"/>
          <p:cNvSpPr/>
          <p:nvPr/>
        </p:nvSpPr>
        <p:spPr>
          <a:xfrm>
            <a:off x="8353044"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850" u="none" cap="none" strike="noStrike">
                <a:solidFill>
                  <a:srgbClr val="333333"/>
                </a:solidFill>
                <a:latin typeface="Merriweather"/>
                <a:ea typeface="Merriweather"/>
                <a:cs typeface="Merriweather"/>
                <a:sym typeface="Merriweather"/>
              </a:rPr>
              <a:t>The randomness inherent in the problem itself. No model can fix it</a:t>
            </a:r>
            <a:r>
              <a:rPr lang="en-US" sz="1850">
                <a:solidFill>
                  <a:srgbClr val="333333"/>
                </a:solidFill>
                <a:latin typeface="Merriweather"/>
                <a:ea typeface="Merriweather"/>
                <a:cs typeface="Merriweather"/>
                <a:sym typeface="Merriweather"/>
              </a:rPr>
              <a:t>, </a:t>
            </a:r>
            <a:r>
              <a:rPr b="0" i="0" lang="en-US" sz="1850" u="none" cap="none" strike="noStrike">
                <a:solidFill>
                  <a:srgbClr val="333333"/>
                </a:solidFill>
                <a:latin typeface="Merriweather"/>
                <a:ea typeface="Merriweather"/>
                <a:cs typeface="Merriweather"/>
                <a:sym typeface="Merriweather"/>
              </a:rPr>
              <a:t> sometimes the label genuinely is ambiguous.</a:t>
            </a:r>
            <a:endParaRPr b="0" i="0" sz="18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1" name="Shape 361"/>
        <p:cNvGrpSpPr/>
        <p:nvPr/>
      </p:nvGrpSpPr>
      <p:grpSpPr>
        <a:xfrm>
          <a:off x="0" y="0"/>
          <a:ext cx="0" cy="0"/>
          <a:chOff x="0" y="0"/>
          <a:chExt cx="0" cy="0"/>
        </a:xfrm>
      </p:grpSpPr>
      <p:sp>
        <p:nvSpPr>
          <p:cNvPr id="362" name="Google Shape;362;p2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Training and test splits.</a:t>
            </a:r>
            <a:endParaRPr b="0" i="0" sz="2600" u="none" cap="none" strike="noStrike">
              <a:solidFill>
                <a:schemeClr val="dk1"/>
              </a:solidFill>
              <a:latin typeface="Calibri"/>
              <a:ea typeface="Calibri"/>
              <a:cs typeface="Calibri"/>
              <a:sym typeface="Calibri"/>
            </a:endParaRPr>
          </a:p>
        </p:txBody>
      </p:sp>
      <p:sp>
        <p:nvSpPr>
          <p:cNvPr id="363" name="Google Shape;363;p2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700" u="none" cap="none" strike="noStrike">
                <a:solidFill>
                  <a:srgbClr val="555555"/>
                </a:solidFill>
                <a:latin typeface="Merriweather"/>
                <a:ea typeface="Merriweather"/>
                <a:cs typeface="Merriweather"/>
                <a:sym typeface="Merriweather"/>
              </a:rPr>
              <a:t>Without a split, every model looks perfect. With one, the truth shows up.</a:t>
            </a:r>
            <a:endParaRPr b="0" i="0" sz="1700" u="none" cap="none" strike="noStrike">
              <a:solidFill>
                <a:schemeClr val="dk1"/>
              </a:solidFill>
              <a:latin typeface="Calibri"/>
              <a:ea typeface="Calibri"/>
              <a:cs typeface="Calibri"/>
              <a:sym typeface="Calibri"/>
            </a:endParaRPr>
          </a:p>
        </p:txBody>
      </p:sp>
      <p:sp>
        <p:nvSpPr>
          <p:cNvPr id="364" name="Google Shape;364;p27"/>
          <p:cNvSpPr/>
          <p:nvPr/>
        </p:nvSpPr>
        <p:spPr>
          <a:xfrm>
            <a:off x="548640" y="1828800"/>
            <a:ext cx="110916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Merriweather"/>
              <a:buNone/>
            </a:pPr>
            <a:r>
              <a:rPr b="1" i="0" lang="en-US" sz="1100" u="none" cap="none" strike="noStrike">
                <a:solidFill>
                  <a:srgbClr val="555555"/>
                </a:solidFill>
                <a:latin typeface="Merriweather"/>
                <a:ea typeface="Merriweather"/>
                <a:cs typeface="Merriweather"/>
                <a:sym typeface="Merriweather"/>
              </a:rPr>
              <a:t>YOUR FULL DATASET</a:t>
            </a:r>
            <a:endParaRPr b="0" i="0" sz="1100" u="none" cap="none" strike="noStrike">
              <a:solidFill>
                <a:schemeClr val="dk1"/>
              </a:solidFill>
              <a:latin typeface="Calibri"/>
              <a:ea typeface="Calibri"/>
              <a:cs typeface="Calibri"/>
              <a:sym typeface="Calibri"/>
            </a:endParaRPr>
          </a:p>
        </p:txBody>
      </p:sp>
      <p:sp>
        <p:nvSpPr>
          <p:cNvPr id="365" name="Google Shape;365;p27"/>
          <p:cNvSpPr/>
          <p:nvPr/>
        </p:nvSpPr>
        <p:spPr>
          <a:xfrm>
            <a:off x="548640" y="2240280"/>
            <a:ext cx="8873338" cy="64008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9421978" y="2240280"/>
            <a:ext cx="2218334" cy="64008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548640" y="2240280"/>
            <a:ext cx="8873338"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chivo Black"/>
              <a:buNone/>
            </a:pPr>
            <a:r>
              <a:rPr b="1" i="0" lang="en-US" sz="1800" u="none" cap="none" strike="noStrike">
                <a:solidFill>
                  <a:srgbClr val="FFFFFF"/>
                </a:solidFill>
                <a:latin typeface="Archivo Black"/>
                <a:ea typeface="Archivo Black"/>
                <a:cs typeface="Archivo Black"/>
                <a:sym typeface="Archivo Black"/>
              </a:rPr>
              <a:t>TRAIN  ·  ~80%</a:t>
            </a:r>
            <a:endParaRPr b="0" i="0" sz="1800" u="none" cap="none" strike="noStrike">
              <a:solidFill>
                <a:schemeClr val="dk1"/>
              </a:solidFill>
              <a:latin typeface="Calibri"/>
              <a:ea typeface="Calibri"/>
              <a:cs typeface="Calibri"/>
              <a:sym typeface="Calibri"/>
            </a:endParaRPr>
          </a:p>
        </p:txBody>
      </p:sp>
      <p:sp>
        <p:nvSpPr>
          <p:cNvPr id="368" name="Google Shape;368;p27"/>
          <p:cNvSpPr/>
          <p:nvPr/>
        </p:nvSpPr>
        <p:spPr>
          <a:xfrm>
            <a:off x="9421978" y="2240280"/>
            <a:ext cx="221833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chivo Black"/>
              <a:buNone/>
            </a:pPr>
            <a:r>
              <a:rPr b="1" i="0" lang="en-US" sz="1400" u="none" cap="none" strike="noStrike">
                <a:solidFill>
                  <a:srgbClr val="FFFFFF"/>
                </a:solidFill>
                <a:latin typeface="Archivo Black"/>
                <a:ea typeface="Archivo Black"/>
                <a:cs typeface="Archivo Black"/>
                <a:sym typeface="Archivo Black"/>
              </a:rPr>
              <a:t>TEST  ·  ~20%</a:t>
            </a:r>
            <a:endParaRPr b="0" i="0" sz="1400" u="none" cap="none" strike="noStrike">
              <a:solidFill>
                <a:schemeClr val="dk1"/>
              </a:solidFill>
              <a:latin typeface="Calibri"/>
              <a:ea typeface="Calibri"/>
              <a:cs typeface="Calibri"/>
              <a:sym typeface="Calibri"/>
            </a:endParaRPr>
          </a:p>
        </p:txBody>
      </p:sp>
      <p:sp>
        <p:nvSpPr>
          <p:cNvPr id="369" name="Google Shape;369;p27"/>
          <p:cNvSpPr/>
          <p:nvPr/>
        </p:nvSpPr>
        <p:spPr>
          <a:xfrm>
            <a:off x="548640" y="3291840"/>
            <a:ext cx="5422392" cy="246888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548640" y="3291840"/>
            <a:ext cx="109728" cy="246888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822960" y="342900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1600"/>
              <a:buFont typeface="Archivo Black"/>
              <a:buNone/>
            </a:pPr>
            <a:r>
              <a:rPr b="1" i="0" lang="en-US" sz="1600" u="none" cap="none" strike="noStrike">
                <a:solidFill>
                  <a:srgbClr val="4EA72E"/>
                </a:solidFill>
                <a:latin typeface="Archivo Black"/>
                <a:ea typeface="Archivo Black"/>
                <a:cs typeface="Archivo Black"/>
                <a:sym typeface="Archivo Black"/>
              </a:rPr>
              <a:t>Train</a:t>
            </a:r>
            <a:endParaRPr b="0" i="0" sz="1600" u="none" cap="none" strike="noStrike">
              <a:solidFill>
                <a:schemeClr val="dk1"/>
              </a:solidFill>
              <a:latin typeface="Calibri"/>
              <a:ea typeface="Calibri"/>
              <a:cs typeface="Calibri"/>
              <a:sym typeface="Calibri"/>
            </a:endParaRPr>
          </a:p>
        </p:txBody>
      </p:sp>
      <p:sp>
        <p:nvSpPr>
          <p:cNvPr id="372" name="Google Shape;372;p27"/>
          <p:cNvSpPr/>
          <p:nvPr/>
        </p:nvSpPr>
        <p:spPr>
          <a:xfrm>
            <a:off x="822960" y="3886200"/>
            <a:ext cx="493776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2050" u="none" cap="none" strike="noStrike">
                <a:solidFill>
                  <a:srgbClr val="333333"/>
                </a:solidFill>
                <a:latin typeface="Merriweather"/>
                <a:ea typeface="Merriweather"/>
                <a:cs typeface="Merriweather"/>
                <a:sym typeface="Merriweather"/>
              </a:rPr>
              <a:t>What the model is allowed to see. Weights are adjusted to fit this data. Performance here keeps improving with training  that's not the question.</a:t>
            </a:r>
            <a:endParaRPr b="0" i="0" sz="2050" u="none" cap="none" strike="noStrike">
              <a:solidFill>
                <a:schemeClr val="dk1"/>
              </a:solidFill>
              <a:latin typeface="Calibri"/>
              <a:ea typeface="Calibri"/>
              <a:cs typeface="Calibri"/>
              <a:sym typeface="Calibri"/>
            </a:endParaRPr>
          </a:p>
        </p:txBody>
      </p:sp>
      <p:sp>
        <p:nvSpPr>
          <p:cNvPr id="373" name="Google Shape;373;p27"/>
          <p:cNvSpPr/>
          <p:nvPr/>
        </p:nvSpPr>
        <p:spPr>
          <a:xfrm>
            <a:off x="6217920" y="3291840"/>
            <a:ext cx="5422392" cy="246888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6217920" y="3291840"/>
            <a:ext cx="109728" cy="246888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6492240" y="342900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600"/>
              <a:buFont typeface="Archivo Black"/>
              <a:buNone/>
            </a:pPr>
            <a:r>
              <a:rPr b="1" i="0" lang="en-US" sz="1600" u="none" cap="none" strike="noStrike">
                <a:solidFill>
                  <a:srgbClr val="E97132"/>
                </a:solidFill>
                <a:latin typeface="Archivo Black"/>
                <a:ea typeface="Archivo Black"/>
                <a:cs typeface="Archivo Black"/>
                <a:sym typeface="Archivo Black"/>
              </a:rPr>
              <a:t>Test</a:t>
            </a:r>
            <a:endParaRPr b="0" i="0" sz="1600" u="none" cap="none" strike="noStrike">
              <a:solidFill>
                <a:schemeClr val="dk1"/>
              </a:solidFill>
              <a:latin typeface="Calibri"/>
              <a:ea typeface="Calibri"/>
              <a:cs typeface="Calibri"/>
              <a:sym typeface="Calibri"/>
            </a:endParaRPr>
          </a:p>
        </p:txBody>
      </p:sp>
      <p:sp>
        <p:nvSpPr>
          <p:cNvPr id="376" name="Google Shape;376;p27"/>
          <p:cNvSpPr/>
          <p:nvPr/>
        </p:nvSpPr>
        <p:spPr>
          <a:xfrm>
            <a:off x="6492240" y="3886200"/>
            <a:ext cx="493770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850" u="none" cap="none" strike="noStrike">
                <a:solidFill>
                  <a:srgbClr val="333333"/>
                </a:solidFill>
                <a:latin typeface="Merriweather"/>
                <a:ea typeface="Merriweather"/>
                <a:cs typeface="Merriweather"/>
                <a:sym typeface="Merriweather"/>
              </a:rPr>
              <a:t>Locked away until the very end. The model is evaluated once. If test accuracy ≈ train accuracy, you generalised. If test ≪ train, you overfit.</a:t>
            </a:r>
            <a:endParaRPr b="0" i="0" sz="18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p28"/>
          <p:cNvSpPr/>
          <p:nvPr/>
        </p:nvSpPr>
        <p:spPr>
          <a:xfrm>
            <a:off x="548640" y="411480"/>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Merriweather"/>
              <a:buNone/>
            </a:pPr>
            <a:r>
              <a:rPr b="1" i="0" lang="en-US" sz="1300" u="none" cap="none" strike="noStrike">
                <a:solidFill>
                  <a:srgbClr val="555555"/>
                </a:solidFill>
                <a:latin typeface="Merriweather"/>
                <a:ea typeface="Merriweather"/>
                <a:cs typeface="Merriweather"/>
                <a:sym typeface="Merriweather"/>
              </a:rPr>
              <a:t>GENERALISATION IN THE WILD</a:t>
            </a:r>
            <a:endParaRPr b="0" i="0" sz="1300" u="none" cap="none" strike="noStrike">
              <a:solidFill>
                <a:schemeClr val="dk1"/>
              </a:solidFill>
              <a:latin typeface="Calibri"/>
              <a:ea typeface="Calibri"/>
              <a:cs typeface="Calibri"/>
              <a:sym typeface="Calibri"/>
            </a:endParaRPr>
          </a:p>
        </p:txBody>
      </p:sp>
      <p:sp>
        <p:nvSpPr>
          <p:cNvPr id="383" name="Google Shape;383;p28"/>
          <p:cNvSpPr/>
          <p:nvPr/>
        </p:nvSpPr>
        <p:spPr>
          <a:xfrm>
            <a:off x="548640" y="704088"/>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Predicting cyclones with AI weather models.</a:t>
            </a:r>
            <a:endParaRPr b="0" i="0" sz="2600" u="none" cap="none" strike="noStrike">
              <a:solidFill>
                <a:schemeClr val="dk1"/>
              </a:solidFill>
              <a:latin typeface="Calibri"/>
              <a:ea typeface="Calibri"/>
              <a:cs typeface="Calibri"/>
              <a:sym typeface="Calibri"/>
            </a:endParaRPr>
          </a:p>
        </p:txBody>
      </p:sp>
      <p:sp>
        <p:nvSpPr>
          <p:cNvPr id="384" name="Google Shape;384;p28"/>
          <p:cNvSpPr/>
          <p:nvPr/>
        </p:nvSpPr>
        <p:spPr>
          <a:xfrm>
            <a:off x="548640" y="1271016"/>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Generalising from decades of past weather to storms that haven't formed yet.</a:t>
            </a:r>
            <a:endParaRPr b="0" i="0" sz="1600" u="none" cap="none" strike="noStrike">
              <a:solidFill>
                <a:schemeClr val="dk1"/>
              </a:solidFill>
              <a:latin typeface="Calibri"/>
              <a:ea typeface="Calibri"/>
              <a:cs typeface="Calibri"/>
              <a:sym typeface="Calibri"/>
            </a:endParaRPr>
          </a:p>
        </p:txBody>
      </p:sp>
      <p:sp>
        <p:nvSpPr>
          <p:cNvPr id="385" name="Google Shape;385;p28"/>
          <p:cNvSpPr/>
          <p:nvPr/>
        </p:nvSpPr>
        <p:spPr>
          <a:xfrm>
            <a:off x="548640" y="1828800"/>
            <a:ext cx="5029200" cy="411480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p:nvPr/>
        </p:nvSpPr>
        <p:spPr>
          <a:xfrm>
            <a:off x="548640" y="2194560"/>
            <a:ext cx="50292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8000"/>
              <a:buFont typeface="Archivo Black"/>
              <a:buNone/>
            </a:pPr>
            <a:r>
              <a:rPr b="1" i="0" lang="en-US" sz="8000" u="none" cap="none" strike="noStrike">
                <a:solidFill>
                  <a:srgbClr val="FDD633"/>
                </a:solidFill>
                <a:latin typeface="Archivo Black"/>
                <a:ea typeface="Archivo Black"/>
                <a:cs typeface="Archivo Black"/>
                <a:sym typeface="Archivo Black"/>
              </a:rPr>
              <a:t>10 days</a:t>
            </a:r>
            <a:endParaRPr b="0" i="0" sz="8000" u="none" cap="none" strike="noStrike">
              <a:solidFill>
                <a:schemeClr val="dk1"/>
              </a:solidFill>
              <a:latin typeface="Calibri"/>
              <a:ea typeface="Calibri"/>
              <a:cs typeface="Calibri"/>
              <a:sym typeface="Calibri"/>
            </a:endParaRPr>
          </a:p>
        </p:txBody>
      </p:sp>
      <p:sp>
        <p:nvSpPr>
          <p:cNvPr id="387" name="Google Shape;387;p28"/>
          <p:cNvSpPr/>
          <p:nvPr/>
        </p:nvSpPr>
        <p:spPr>
          <a:xfrm>
            <a:off x="548640" y="3657600"/>
            <a:ext cx="5029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of cyclone forecast</a:t>
            </a:r>
            <a:endParaRPr b="0" i="0" sz="2000" u="none" cap="none" strike="noStrike">
              <a:solidFill>
                <a:schemeClr val="dk1"/>
              </a:solidFill>
              <a:latin typeface="Calibri"/>
              <a:ea typeface="Calibri"/>
              <a:cs typeface="Calibri"/>
              <a:sym typeface="Calibri"/>
            </a:endParaRPr>
          </a:p>
        </p:txBody>
      </p:sp>
      <p:sp>
        <p:nvSpPr>
          <p:cNvPr id="388" name="Google Shape;388;p28"/>
          <p:cNvSpPr/>
          <p:nvPr/>
        </p:nvSpPr>
        <p:spPr>
          <a:xfrm>
            <a:off x="731520" y="4297680"/>
            <a:ext cx="4663440"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F6E9"/>
              </a:buClr>
              <a:buSzPts val="1300"/>
              <a:buFont typeface="Merriweather"/>
              <a:buNone/>
            </a:pPr>
            <a:r>
              <a:rPr b="0" i="1" lang="en-US" sz="2100" u="none" cap="none" strike="noStrike">
                <a:solidFill>
                  <a:srgbClr val="FBF6E9"/>
                </a:solidFill>
                <a:latin typeface="Merriweather"/>
                <a:ea typeface="Merriweather"/>
                <a:cs typeface="Merriweather"/>
                <a:sym typeface="Merriweather"/>
              </a:rPr>
              <a:t>computed in under a minute on one GPU — using a model trained on the ERA5 reanalysis archive.</a:t>
            </a:r>
            <a:endParaRPr b="0" i="0" sz="2100" u="none" cap="none" strike="noStrike">
              <a:solidFill>
                <a:schemeClr val="dk1"/>
              </a:solidFill>
              <a:latin typeface="Calibri"/>
              <a:ea typeface="Calibri"/>
              <a:cs typeface="Calibri"/>
              <a:sym typeface="Calibri"/>
            </a:endParaRPr>
          </a:p>
        </p:txBody>
      </p:sp>
      <p:sp>
        <p:nvSpPr>
          <p:cNvPr id="389" name="Google Shape;389;p28"/>
          <p:cNvSpPr/>
          <p:nvPr/>
        </p:nvSpPr>
        <p:spPr>
          <a:xfrm>
            <a:off x="5852160" y="1874520"/>
            <a:ext cx="365760" cy="36576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8"/>
          <p:cNvSpPr/>
          <p:nvPr/>
        </p:nvSpPr>
        <p:spPr>
          <a:xfrm>
            <a:off x="6355080" y="182880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Trained on the past</a:t>
            </a:r>
            <a:endParaRPr b="0" i="0" sz="1600" u="none" cap="none" strike="noStrike">
              <a:solidFill>
                <a:schemeClr val="dk1"/>
              </a:solidFill>
              <a:latin typeface="Calibri"/>
              <a:ea typeface="Calibri"/>
              <a:cs typeface="Calibri"/>
              <a:sym typeface="Calibri"/>
            </a:endParaRPr>
          </a:p>
        </p:txBody>
      </p:sp>
      <p:sp>
        <p:nvSpPr>
          <p:cNvPr id="391" name="Google Shape;391;p28"/>
          <p:cNvSpPr/>
          <p:nvPr/>
        </p:nvSpPr>
        <p:spPr>
          <a:xfrm>
            <a:off x="6355080" y="2286000"/>
            <a:ext cx="5486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600" u="none" cap="none" strike="noStrike">
                <a:solidFill>
                  <a:srgbClr val="333333"/>
                </a:solidFill>
                <a:latin typeface="Merriweather"/>
                <a:ea typeface="Merriweather"/>
                <a:cs typeface="Merriweather"/>
                <a:sym typeface="Merriweather"/>
              </a:rPr>
              <a:t>ERA5: 40+ years of global weather, every 6 hours. The model learns the dynamics of cyclones from data, not from solving physics.</a:t>
            </a:r>
            <a:endParaRPr b="0" i="0" sz="1600" u="none" cap="none" strike="noStrike">
              <a:solidFill>
                <a:schemeClr val="dk1"/>
              </a:solidFill>
              <a:latin typeface="Calibri"/>
              <a:ea typeface="Calibri"/>
              <a:cs typeface="Calibri"/>
              <a:sym typeface="Calibri"/>
            </a:endParaRPr>
          </a:p>
        </p:txBody>
      </p:sp>
      <p:sp>
        <p:nvSpPr>
          <p:cNvPr id="392" name="Google Shape;392;p28"/>
          <p:cNvSpPr/>
          <p:nvPr/>
        </p:nvSpPr>
        <p:spPr>
          <a:xfrm>
            <a:off x="5852160" y="3291840"/>
            <a:ext cx="365760" cy="36576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a:off x="6355080" y="324612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Tested on held-out years</a:t>
            </a:r>
            <a:endParaRPr b="0" i="0" sz="1600" u="none" cap="none" strike="noStrike">
              <a:solidFill>
                <a:schemeClr val="dk1"/>
              </a:solidFill>
              <a:latin typeface="Calibri"/>
              <a:ea typeface="Calibri"/>
              <a:cs typeface="Calibri"/>
              <a:sym typeface="Calibri"/>
            </a:endParaRPr>
          </a:p>
        </p:txBody>
      </p:sp>
      <p:sp>
        <p:nvSpPr>
          <p:cNvPr id="394" name="Google Shape;394;p28"/>
          <p:cNvSpPr/>
          <p:nvPr/>
        </p:nvSpPr>
        <p:spPr>
          <a:xfrm>
            <a:off x="6355080" y="3703320"/>
            <a:ext cx="5486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600" u="none" cap="none" strike="noStrike">
                <a:solidFill>
                  <a:srgbClr val="333333"/>
                </a:solidFill>
                <a:latin typeface="Merriweather"/>
                <a:ea typeface="Merriweather"/>
                <a:cs typeface="Merriweather"/>
                <a:sym typeface="Merriweather"/>
              </a:rPr>
              <a:t>Train on 1979–2017, evaluate on 2018–2022. The model has to forecast storms it has literally never seen.</a:t>
            </a:r>
            <a:endParaRPr b="0" i="0" sz="1600" u="none" cap="none" strike="noStrike">
              <a:solidFill>
                <a:schemeClr val="dk1"/>
              </a:solidFill>
              <a:latin typeface="Calibri"/>
              <a:ea typeface="Calibri"/>
              <a:cs typeface="Calibri"/>
              <a:sym typeface="Calibri"/>
            </a:endParaRPr>
          </a:p>
        </p:txBody>
      </p:sp>
      <p:sp>
        <p:nvSpPr>
          <p:cNvPr id="395" name="Google Shape;395;p28"/>
          <p:cNvSpPr/>
          <p:nvPr/>
        </p:nvSpPr>
        <p:spPr>
          <a:xfrm>
            <a:off x="5852160" y="4709160"/>
            <a:ext cx="365760" cy="36576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a:off x="6355080" y="466344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Community resilience</a:t>
            </a:r>
            <a:endParaRPr b="0" i="0" sz="1600" u="none" cap="none" strike="noStrike">
              <a:solidFill>
                <a:schemeClr val="dk1"/>
              </a:solidFill>
              <a:latin typeface="Calibri"/>
              <a:ea typeface="Calibri"/>
              <a:cs typeface="Calibri"/>
              <a:sym typeface="Calibri"/>
            </a:endParaRPr>
          </a:p>
        </p:txBody>
      </p:sp>
      <p:sp>
        <p:nvSpPr>
          <p:cNvPr id="397" name="Google Shape;397;p28"/>
          <p:cNvSpPr/>
          <p:nvPr/>
        </p:nvSpPr>
        <p:spPr>
          <a:xfrm>
            <a:off x="6355080" y="5120640"/>
            <a:ext cx="5486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600" u="none" cap="none" strike="noStrike">
                <a:solidFill>
                  <a:srgbClr val="333333"/>
                </a:solidFill>
                <a:latin typeface="Merriweather"/>
                <a:ea typeface="Merriweather"/>
                <a:cs typeface="Merriweather"/>
                <a:sym typeface="Merriweather"/>
              </a:rPr>
              <a:t>Cheaper, faster forecasts → earlier warnings → more lives saved in vulnerable coastal regions, including across Africa.</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29"/>
          <p:cNvSpPr txBox="1"/>
          <p:nvPr/>
        </p:nvSpPr>
        <p:spPr>
          <a:xfrm>
            <a:off x="2853250" y="2637025"/>
            <a:ext cx="61644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351C75"/>
                </a:solidFill>
              </a:rPr>
              <a:t>Knowledge check 2</a:t>
            </a:r>
          </a:p>
        </p:txBody>
      </p:sp>
      <p:sp>
        <p:nvSpPr>
          <p:cNvPr id="404" name="TextBox 403"/>
          <p:cNvSpPr txBox="1"/>
          <p:nvPr/>
        </p:nvSpPr>
        <p:spPr>
          <a:xfrm>
            <a:off x="1069848" y="3871465"/>
            <a:ext cx="10058400" cy="457200"/>
          </a:xfrm>
          <a:prstGeom prst="rect">
            <a:avLst/>
          </a:prstGeom>
          <a:noFill/>
        </p:spPr>
        <p:txBody>
          <a:bodyPr wrap="square">
            <a:spAutoFit/>
          </a:bodyPr>
          <a:lstStyle/>
          <a:p>
            <a:pPr algn="ctr"/>
            <a:r>
              <a:rPr sz="1400" b="0">
                <a:solidFill>
                  <a:srgbClr val="555555"/>
                </a:solidFill>
                <a:latin typeface="Merriweather"/>
              </a:rPr>
              <a:t>Section 02 — generalisation &amp; bias–variance  ·  Mentimeter (menti.com) · anonymous · ~3 min</a:t>
            </a:r>
          </a:p>
        </p:txBody>
      </p:sp>
      <p:sp>
        <p:nvSpPr>
          <p:cNvPr id="405" name="TextBox 404"/>
          <p:cNvSpPr txBox="1"/>
          <p:nvPr/>
        </p:nvSpPr>
        <p:spPr>
          <a:xfrm>
            <a:off x="1069848" y="4328665"/>
            <a:ext cx="10058400" cy="365760"/>
          </a:xfrm>
          <a:prstGeom prst="rect">
            <a:avLst/>
          </a:prstGeom>
          <a:noFill/>
        </p:spPr>
        <p:txBody>
          <a:bodyPr wrap="square">
            <a:spAutoFit/>
          </a:bodyPr>
          <a:lstStyle/>
          <a:p>
            <a:pPr algn="ctr"/>
            <a:r>
              <a:rPr sz="1200" b="0">
                <a:solidFill>
                  <a:srgbClr val="555555"/>
                </a:solidFill>
                <a:latin typeface="Merriweather"/>
              </a:rPr>
              <a:t>after the poll: why the right answer is right — and why each wrong option is wrong</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sp>
        <p:nvSpPr>
          <p:cNvPr id="409" name="Google Shape;409;p30"/>
          <p:cNvSpPr/>
          <p:nvPr/>
        </p:nvSpPr>
        <p:spPr>
          <a:xfrm>
            <a:off x="640080" y="1828800"/>
            <a:ext cx="2743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Archivo Black"/>
              <a:buNone/>
            </a:pPr>
            <a:r>
              <a:rPr b="1" i="0" lang="en-US" sz="6000" u="none" cap="none" strike="noStrike">
                <a:solidFill>
                  <a:srgbClr val="FFFFFF"/>
                </a:solidFill>
                <a:latin typeface="Archivo Black"/>
                <a:ea typeface="Archivo Black"/>
                <a:cs typeface="Archivo Black"/>
                <a:sym typeface="Archivo Black"/>
              </a:rPr>
              <a:t>03</a:t>
            </a:r>
            <a:endParaRPr b="0" i="0" sz="6000" u="none" cap="none" strike="noStrike">
              <a:solidFill>
                <a:schemeClr val="dk1"/>
              </a:solidFill>
              <a:latin typeface="Calibri"/>
              <a:ea typeface="Calibri"/>
              <a:cs typeface="Calibri"/>
              <a:sym typeface="Calibri"/>
            </a:endParaRPr>
          </a:p>
        </p:txBody>
      </p:sp>
      <p:sp>
        <p:nvSpPr>
          <p:cNvPr id="410" name="Google Shape;410;p30"/>
          <p:cNvSpPr/>
          <p:nvPr/>
        </p:nvSpPr>
        <p:spPr>
          <a:xfrm>
            <a:off x="640080" y="2743200"/>
            <a:ext cx="100584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The multilayer</a:t>
            </a:r>
            <a:endParaRPr b="0" i="0" sz="5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perceptron.</a:t>
            </a:r>
            <a:endParaRPr b="0" i="0" sz="5000" u="none" cap="none" strike="noStrike">
              <a:solidFill>
                <a:schemeClr val="dk1"/>
              </a:solidFill>
              <a:latin typeface="Calibri"/>
              <a:ea typeface="Calibri"/>
              <a:cs typeface="Calibri"/>
              <a:sym typeface="Calibri"/>
            </a:endParaRPr>
          </a:p>
        </p:txBody>
      </p:sp>
      <p:sp>
        <p:nvSpPr>
          <p:cNvPr id="411" name="Google Shape;411;p30"/>
          <p:cNvSpPr/>
          <p:nvPr/>
        </p:nvSpPr>
        <p:spPr>
          <a:xfrm>
            <a:off x="640080" y="475488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2000"/>
              <a:buFont typeface="Merriweather"/>
              <a:buNone/>
            </a:pPr>
            <a:r>
              <a:rPr b="0" i="1" lang="en-US" sz="2000" u="none" cap="none" strike="noStrike">
                <a:solidFill>
                  <a:srgbClr val="361A54"/>
                </a:solidFill>
                <a:latin typeface="Merriweather"/>
                <a:ea typeface="Merriweather"/>
                <a:cs typeface="Merriweather"/>
                <a:sym typeface="Merriweather"/>
              </a:rPr>
              <a:t>Stack neurons. Bend the decision boundary. Solve problems a single line can't.  ·  ~18 min incl. knowledge check</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6" name="Shape 416"/>
        <p:cNvGrpSpPr/>
        <p:nvPr/>
      </p:nvGrpSpPr>
      <p:grpSpPr>
        <a:xfrm>
          <a:off x="0" y="0"/>
          <a:ext cx="0" cy="0"/>
          <a:chOff x="0" y="0"/>
          <a:chExt cx="0" cy="0"/>
        </a:xfrm>
      </p:grpSpPr>
      <p:sp>
        <p:nvSpPr>
          <p:cNvPr id="417" name="Google Shape;417;p31"/>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Start with one neuron.</a:t>
            </a:r>
            <a:endParaRPr b="0" i="0" sz="2600" u="none" cap="none" strike="noStrike">
              <a:solidFill>
                <a:schemeClr val="dk1"/>
              </a:solidFill>
              <a:latin typeface="Calibri"/>
              <a:ea typeface="Calibri"/>
              <a:cs typeface="Calibri"/>
              <a:sym typeface="Calibri"/>
            </a:endParaRPr>
          </a:p>
        </p:txBody>
      </p:sp>
      <p:sp>
        <p:nvSpPr>
          <p:cNvPr id="418" name="Google Shape;418;p31"/>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800" u="none" cap="none" strike="noStrike">
                <a:solidFill>
                  <a:srgbClr val="555555"/>
                </a:solidFill>
                <a:latin typeface="Merriweather"/>
                <a:ea typeface="Merriweather"/>
                <a:cs typeface="Merriweather"/>
                <a:sym typeface="Merriweather"/>
              </a:rPr>
              <a:t>Weighted sum, plus a non-linearity. That's the whole unit.</a:t>
            </a:r>
            <a:endParaRPr b="0" i="0" sz="1800" u="none" cap="none" strike="noStrike">
              <a:solidFill>
                <a:schemeClr val="dk1"/>
              </a:solidFill>
              <a:latin typeface="Calibri"/>
              <a:ea typeface="Calibri"/>
              <a:cs typeface="Calibri"/>
              <a:sym typeface="Calibri"/>
            </a:endParaRPr>
          </a:p>
        </p:txBody>
      </p:sp>
      <p:sp>
        <p:nvSpPr>
          <p:cNvPr id="419" name="Google Shape;419;p31"/>
          <p:cNvSpPr/>
          <p:nvPr/>
        </p:nvSpPr>
        <p:spPr>
          <a:xfrm>
            <a:off x="914400" y="2011680"/>
            <a:ext cx="640080" cy="640080"/>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1"/>
          <p:cNvSpPr/>
          <p:nvPr/>
        </p:nvSpPr>
        <p:spPr>
          <a:xfrm>
            <a:off x="914400" y="20116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chivo Black"/>
              <a:buNone/>
            </a:pPr>
            <a:r>
              <a:rPr b="1" i="0" lang="en-US" sz="1800" u="none" cap="none" strike="noStrike">
                <a:solidFill>
                  <a:srgbClr val="FFFFFF"/>
                </a:solidFill>
                <a:latin typeface="Archivo Black"/>
                <a:ea typeface="Archivo Black"/>
                <a:cs typeface="Archivo Black"/>
                <a:sym typeface="Archivo Black"/>
              </a:rPr>
              <a:t>x₁</a:t>
            </a:r>
            <a:endParaRPr b="0" i="0" sz="1800" u="none" cap="none" strike="noStrike">
              <a:solidFill>
                <a:schemeClr val="dk1"/>
              </a:solidFill>
              <a:latin typeface="Calibri"/>
              <a:ea typeface="Calibri"/>
              <a:cs typeface="Calibri"/>
              <a:sym typeface="Calibri"/>
            </a:endParaRPr>
          </a:p>
        </p:txBody>
      </p:sp>
      <p:cxnSp>
        <p:nvCxnSpPr>
          <p:cNvPr id="421" name="Google Shape;421;p31"/>
          <p:cNvCxnSpPr/>
          <p:nvPr/>
        </p:nvCxnSpPr>
        <p:spPr>
          <a:xfrm>
            <a:off x="1554480" y="2331720"/>
            <a:ext cx="3200400" cy="1234440"/>
          </a:xfrm>
          <a:prstGeom prst="straightConnector1">
            <a:avLst/>
          </a:prstGeom>
          <a:noFill/>
          <a:ln cap="flat" cmpd="sng" w="19050">
            <a:solidFill>
              <a:srgbClr val="361A54"/>
            </a:solidFill>
            <a:prstDash val="solid"/>
            <a:round/>
            <a:headEnd len="sm" w="sm" type="none"/>
            <a:tailEnd len="sm" w="sm" type="none"/>
          </a:ln>
        </p:spPr>
      </p:cxnSp>
      <p:sp>
        <p:nvSpPr>
          <p:cNvPr id="422" name="Google Shape;422;p31"/>
          <p:cNvSpPr/>
          <p:nvPr/>
        </p:nvSpPr>
        <p:spPr>
          <a:xfrm>
            <a:off x="2926080" y="2994660"/>
            <a:ext cx="548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200"/>
              <a:buFont typeface="Consolas"/>
              <a:buNone/>
            </a:pPr>
            <a:r>
              <a:rPr b="1" i="1" lang="en-US" sz="1200" u="none" cap="none" strike="noStrike">
                <a:solidFill>
                  <a:srgbClr val="A02B93"/>
                </a:solidFill>
                <a:latin typeface="Consolas"/>
                <a:ea typeface="Consolas"/>
                <a:cs typeface="Consolas"/>
                <a:sym typeface="Consolas"/>
              </a:rPr>
              <a:t>w1</a:t>
            </a:r>
            <a:endParaRPr b="0" i="0" sz="1200" u="none" cap="none" strike="noStrike">
              <a:solidFill>
                <a:schemeClr val="dk1"/>
              </a:solidFill>
              <a:latin typeface="Calibri"/>
              <a:ea typeface="Calibri"/>
              <a:cs typeface="Calibri"/>
              <a:sym typeface="Calibri"/>
            </a:endParaRPr>
          </a:p>
        </p:txBody>
      </p:sp>
      <p:sp>
        <p:nvSpPr>
          <p:cNvPr id="423" name="Google Shape;423;p31"/>
          <p:cNvSpPr/>
          <p:nvPr/>
        </p:nvSpPr>
        <p:spPr>
          <a:xfrm>
            <a:off x="914400" y="3017520"/>
            <a:ext cx="640080" cy="640080"/>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1"/>
          <p:cNvSpPr/>
          <p:nvPr/>
        </p:nvSpPr>
        <p:spPr>
          <a:xfrm>
            <a:off x="914400" y="301752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chivo Black"/>
              <a:buNone/>
            </a:pPr>
            <a:r>
              <a:rPr b="1" i="0" lang="en-US" sz="1800" u="none" cap="none" strike="noStrike">
                <a:solidFill>
                  <a:srgbClr val="FFFFFF"/>
                </a:solidFill>
                <a:latin typeface="Archivo Black"/>
                <a:ea typeface="Archivo Black"/>
                <a:cs typeface="Archivo Black"/>
                <a:sym typeface="Archivo Black"/>
              </a:rPr>
              <a:t>x₂</a:t>
            </a:r>
            <a:endParaRPr b="0" i="0" sz="1800" u="none" cap="none" strike="noStrike">
              <a:solidFill>
                <a:schemeClr val="dk1"/>
              </a:solidFill>
              <a:latin typeface="Calibri"/>
              <a:ea typeface="Calibri"/>
              <a:cs typeface="Calibri"/>
              <a:sym typeface="Calibri"/>
            </a:endParaRPr>
          </a:p>
        </p:txBody>
      </p:sp>
      <p:cxnSp>
        <p:nvCxnSpPr>
          <p:cNvPr id="425" name="Google Shape;425;p31"/>
          <p:cNvCxnSpPr/>
          <p:nvPr/>
        </p:nvCxnSpPr>
        <p:spPr>
          <a:xfrm>
            <a:off x="1554480" y="3337560"/>
            <a:ext cx="3200400" cy="228600"/>
          </a:xfrm>
          <a:prstGeom prst="straightConnector1">
            <a:avLst/>
          </a:prstGeom>
          <a:noFill/>
          <a:ln cap="flat" cmpd="sng" w="19050">
            <a:solidFill>
              <a:srgbClr val="361A54"/>
            </a:solidFill>
            <a:prstDash val="solid"/>
            <a:round/>
            <a:headEnd len="sm" w="sm" type="none"/>
            <a:tailEnd len="sm" w="sm" type="none"/>
          </a:ln>
        </p:spPr>
      </p:cxnSp>
      <p:sp>
        <p:nvSpPr>
          <p:cNvPr id="426" name="Google Shape;426;p31"/>
          <p:cNvSpPr/>
          <p:nvPr/>
        </p:nvSpPr>
        <p:spPr>
          <a:xfrm>
            <a:off x="2926080" y="3497580"/>
            <a:ext cx="548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200"/>
              <a:buFont typeface="Consolas"/>
              <a:buNone/>
            </a:pPr>
            <a:r>
              <a:rPr b="1" i="1" lang="en-US" sz="1200" u="none" cap="none" strike="noStrike">
                <a:solidFill>
                  <a:srgbClr val="A02B93"/>
                </a:solidFill>
                <a:latin typeface="Consolas"/>
                <a:ea typeface="Consolas"/>
                <a:cs typeface="Consolas"/>
                <a:sym typeface="Consolas"/>
              </a:rPr>
              <a:t>w2</a:t>
            </a:r>
            <a:endParaRPr b="0" i="0" sz="1200" u="none" cap="none" strike="noStrike">
              <a:solidFill>
                <a:schemeClr val="dk1"/>
              </a:solidFill>
              <a:latin typeface="Calibri"/>
              <a:ea typeface="Calibri"/>
              <a:cs typeface="Calibri"/>
              <a:sym typeface="Calibri"/>
            </a:endParaRPr>
          </a:p>
        </p:txBody>
      </p:sp>
      <p:sp>
        <p:nvSpPr>
          <p:cNvPr id="427" name="Google Shape;427;p31"/>
          <p:cNvSpPr/>
          <p:nvPr/>
        </p:nvSpPr>
        <p:spPr>
          <a:xfrm>
            <a:off x="914400" y="4023360"/>
            <a:ext cx="640080" cy="640080"/>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1"/>
          <p:cNvSpPr/>
          <p:nvPr/>
        </p:nvSpPr>
        <p:spPr>
          <a:xfrm>
            <a:off x="914400" y="40233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chivo Black"/>
              <a:buNone/>
            </a:pPr>
            <a:r>
              <a:rPr b="1" i="0" lang="en-US" sz="1800" u="none" cap="none" strike="noStrike">
                <a:solidFill>
                  <a:srgbClr val="FFFFFF"/>
                </a:solidFill>
                <a:latin typeface="Archivo Black"/>
                <a:ea typeface="Archivo Black"/>
                <a:cs typeface="Archivo Black"/>
                <a:sym typeface="Archivo Black"/>
              </a:rPr>
              <a:t>x₃</a:t>
            </a:r>
            <a:endParaRPr b="0" i="0" sz="1800" u="none" cap="none" strike="noStrike">
              <a:solidFill>
                <a:schemeClr val="dk1"/>
              </a:solidFill>
              <a:latin typeface="Calibri"/>
              <a:ea typeface="Calibri"/>
              <a:cs typeface="Calibri"/>
              <a:sym typeface="Calibri"/>
            </a:endParaRPr>
          </a:p>
        </p:txBody>
      </p:sp>
      <p:cxnSp>
        <p:nvCxnSpPr>
          <p:cNvPr id="429" name="Google Shape;429;p31"/>
          <p:cNvCxnSpPr/>
          <p:nvPr/>
        </p:nvCxnSpPr>
        <p:spPr>
          <a:xfrm flipH="1" rot="10800000">
            <a:off x="1554480" y="3566160"/>
            <a:ext cx="3200400" cy="777240"/>
          </a:xfrm>
          <a:prstGeom prst="straightConnector1">
            <a:avLst/>
          </a:prstGeom>
          <a:noFill/>
          <a:ln cap="flat" cmpd="sng" w="19050">
            <a:solidFill>
              <a:srgbClr val="361A54"/>
            </a:solidFill>
            <a:prstDash val="solid"/>
            <a:round/>
            <a:headEnd len="sm" w="sm" type="none"/>
            <a:tailEnd len="sm" w="sm" type="none"/>
          </a:ln>
        </p:spPr>
      </p:cxnSp>
      <p:sp>
        <p:nvSpPr>
          <p:cNvPr id="430" name="Google Shape;430;p31"/>
          <p:cNvSpPr/>
          <p:nvPr/>
        </p:nvSpPr>
        <p:spPr>
          <a:xfrm>
            <a:off x="2926080" y="4000500"/>
            <a:ext cx="548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200"/>
              <a:buFont typeface="Consolas"/>
              <a:buNone/>
            </a:pPr>
            <a:r>
              <a:rPr b="1" i="1" lang="en-US" sz="1200" u="none" cap="none" strike="noStrike">
                <a:solidFill>
                  <a:srgbClr val="A02B93"/>
                </a:solidFill>
                <a:latin typeface="Consolas"/>
                <a:ea typeface="Consolas"/>
                <a:cs typeface="Consolas"/>
                <a:sym typeface="Consolas"/>
              </a:rPr>
              <a:t>w3</a:t>
            </a:r>
            <a:endParaRPr b="0" i="0" sz="1200" u="none" cap="none" strike="noStrike">
              <a:solidFill>
                <a:schemeClr val="dk1"/>
              </a:solidFill>
              <a:latin typeface="Calibri"/>
              <a:ea typeface="Calibri"/>
              <a:cs typeface="Calibri"/>
              <a:sym typeface="Calibri"/>
            </a:endParaRPr>
          </a:p>
        </p:txBody>
      </p:sp>
      <p:sp>
        <p:nvSpPr>
          <p:cNvPr id="431" name="Google Shape;431;p31"/>
          <p:cNvSpPr/>
          <p:nvPr/>
        </p:nvSpPr>
        <p:spPr>
          <a:xfrm>
            <a:off x="4754880" y="3154680"/>
            <a:ext cx="822960" cy="82296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1"/>
          <p:cNvSpPr/>
          <p:nvPr/>
        </p:nvSpPr>
        <p:spPr>
          <a:xfrm>
            <a:off x="4754880" y="31546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Archivo Black"/>
              <a:buNone/>
            </a:pPr>
            <a:r>
              <a:rPr b="1" i="0" lang="en-US" sz="3000" u="none" cap="none" strike="noStrike">
                <a:solidFill>
                  <a:srgbClr val="FFFFFF"/>
                </a:solidFill>
                <a:latin typeface="Archivo Black"/>
                <a:ea typeface="Archivo Black"/>
                <a:cs typeface="Archivo Black"/>
                <a:sym typeface="Archivo Black"/>
              </a:rPr>
              <a:t>Σ</a:t>
            </a:r>
            <a:endParaRPr b="0" i="0" sz="3000" u="none" cap="none" strike="noStrike">
              <a:solidFill>
                <a:schemeClr val="dk1"/>
              </a:solidFill>
              <a:latin typeface="Calibri"/>
              <a:ea typeface="Calibri"/>
              <a:cs typeface="Calibri"/>
              <a:sym typeface="Calibri"/>
            </a:endParaRPr>
          </a:p>
        </p:txBody>
      </p:sp>
      <p:cxnSp>
        <p:nvCxnSpPr>
          <p:cNvPr id="433" name="Google Shape;433;p31"/>
          <p:cNvCxnSpPr/>
          <p:nvPr/>
        </p:nvCxnSpPr>
        <p:spPr>
          <a:xfrm>
            <a:off x="5577840" y="3566160"/>
            <a:ext cx="1371600" cy="0"/>
          </a:xfrm>
          <a:prstGeom prst="straightConnector1">
            <a:avLst/>
          </a:prstGeom>
          <a:noFill/>
          <a:ln cap="flat" cmpd="sng" w="19050">
            <a:solidFill>
              <a:srgbClr val="361A54"/>
            </a:solidFill>
            <a:prstDash val="solid"/>
            <a:round/>
            <a:headEnd len="sm" w="sm" type="none"/>
            <a:tailEnd len="sm" w="sm" type="none"/>
          </a:ln>
        </p:spPr>
      </p:cxnSp>
      <p:sp>
        <p:nvSpPr>
          <p:cNvPr id="434" name="Google Shape;434;p31"/>
          <p:cNvSpPr/>
          <p:nvPr/>
        </p:nvSpPr>
        <p:spPr>
          <a:xfrm>
            <a:off x="6949440" y="3154680"/>
            <a:ext cx="822960" cy="82296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1"/>
          <p:cNvSpPr/>
          <p:nvPr/>
        </p:nvSpPr>
        <p:spPr>
          <a:xfrm>
            <a:off x="6949440" y="31546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Archivo Black"/>
              <a:buNone/>
            </a:pPr>
            <a:r>
              <a:rPr b="1" i="0" lang="en-US" sz="3000" u="none" cap="none" strike="noStrike">
                <a:solidFill>
                  <a:srgbClr val="FFFFFF"/>
                </a:solidFill>
                <a:latin typeface="Archivo Black"/>
                <a:ea typeface="Archivo Black"/>
                <a:cs typeface="Archivo Black"/>
                <a:sym typeface="Archivo Black"/>
              </a:rPr>
              <a:t>σ</a:t>
            </a:r>
            <a:endParaRPr b="0" i="0" sz="3000" u="none" cap="none" strike="noStrike">
              <a:solidFill>
                <a:schemeClr val="dk1"/>
              </a:solidFill>
              <a:latin typeface="Calibri"/>
              <a:ea typeface="Calibri"/>
              <a:cs typeface="Calibri"/>
              <a:sym typeface="Calibri"/>
            </a:endParaRPr>
          </a:p>
        </p:txBody>
      </p:sp>
      <p:cxnSp>
        <p:nvCxnSpPr>
          <p:cNvPr id="436" name="Google Shape;436;p31"/>
          <p:cNvCxnSpPr/>
          <p:nvPr/>
        </p:nvCxnSpPr>
        <p:spPr>
          <a:xfrm>
            <a:off x="7772400" y="3566160"/>
            <a:ext cx="1371600" cy="0"/>
          </a:xfrm>
          <a:prstGeom prst="straightConnector1">
            <a:avLst/>
          </a:prstGeom>
          <a:noFill/>
          <a:ln cap="flat" cmpd="sng" w="19050">
            <a:solidFill>
              <a:srgbClr val="361A54"/>
            </a:solidFill>
            <a:prstDash val="solid"/>
            <a:round/>
            <a:headEnd len="sm" w="sm" type="none"/>
            <a:tailEnd len="sm" w="sm" type="none"/>
          </a:ln>
        </p:spPr>
      </p:cxnSp>
      <p:sp>
        <p:nvSpPr>
          <p:cNvPr id="437" name="Google Shape;437;p31"/>
          <p:cNvSpPr/>
          <p:nvPr/>
        </p:nvSpPr>
        <p:spPr>
          <a:xfrm>
            <a:off x="9235440" y="3246120"/>
            <a:ext cx="457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1" lang="en-US" sz="2600" u="none" cap="none" strike="noStrike">
                <a:solidFill>
                  <a:srgbClr val="361A54"/>
                </a:solidFill>
                <a:latin typeface="Archivo Black"/>
                <a:ea typeface="Archivo Black"/>
                <a:cs typeface="Archivo Black"/>
                <a:sym typeface="Archivo Black"/>
              </a:rPr>
              <a:t>y</a:t>
            </a:r>
            <a:endParaRPr b="0" i="0" sz="2600" u="none" cap="none" strike="noStrike">
              <a:solidFill>
                <a:schemeClr val="dk1"/>
              </a:solidFill>
              <a:latin typeface="Calibri"/>
              <a:ea typeface="Calibri"/>
              <a:cs typeface="Calibri"/>
              <a:sym typeface="Calibri"/>
            </a:endParaRPr>
          </a:p>
        </p:txBody>
      </p:sp>
      <p:sp>
        <p:nvSpPr>
          <p:cNvPr id="438" name="Google Shape;438;p31"/>
          <p:cNvSpPr/>
          <p:nvPr/>
        </p:nvSpPr>
        <p:spPr>
          <a:xfrm>
            <a:off x="914400" y="4983480"/>
            <a:ext cx="640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600" u="none" cap="none" strike="noStrike">
                <a:solidFill>
                  <a:srgbClr val="555555"/>
                </a:solidFill>
                <a:latin typeface="Merriweather"/>
                <a:ea typeface="Merriweather"/>
                <a:cs typeface="Merriweather"/>
                <a:sym typeface="Merriweather"/>
              </a:rPr>
              <a:t>inputs</a:t>
            </a:r>
            <a:endParaRPr b="0" i="0" sz="1600" u="none" cap="none" strike="noStrike">
              <a:solidFill>
                <a:schemeClr val="dk1"/>
              </a:solidFill>
              <a:latin typeface="Calibri"/>
              <a:ea typeface="Calibri"/>
              <a:cs typeface="Calibri"/>
              <a:sym typeface="Calibri"/>
            </a:endParaRPr>
          </a:p>
        </p:txBody>
      </p:sp>
      <p:sp>
        <p:nvSpPr>
          <p:cNvPr id="439" name="Google Shape;439;p31"/>
          <p:cNvSpPr/>
          <p:nvPr/>
        </p:nvSpPr>
        <p:spPr>
          <a:xfrm>
            <a:off x="4389126" y="4983475"/>
            <a:ext cx="1371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500" u="none" cap="none" strike="noStrike">
                <a:solidFill>
                  <a:srgbClr val="555555"/>
                </a:solidFill>
                <a:latin typeface="Merriweather"/>
                <a:ea typeface="Merriweather"/>
                <a:cs typeface="Merriweather"/>
                <a:sym typeface="Merriweather"/>
              </a:rPr>
              <a:t>weighted sum</a:t>
            </a:r>
            <a:endParaRPr b="0" i="0" sz="1500" u="none" cap="none" strike="noStrike">
              <a:solidFill>
                <a:schemeClr val="dk1"/>
              </a:solidFill>
              <a:latin typeface="Calibri"/>
              <a:ea typeface="Calibri"/>
              <a:cs typeface="Calibri"/>
              <a:sym typeface="Calibri"/>
            </a:endParaRPr>
          </a:p>
        </p:txBody>
      </p:sp>
      <p:sp>
        <p:nvSpPr>
          <p:cNvPr id="440" name="Google Shape;440;p31"/>
          <p:cNvSpPr/>
          <p:nvPr/>
        </p:nvSpPr>
        <p:spPr>
          <a:xfrm>
            <a:off x="6766560" y="4983480"/>
            <a:ext cx="11887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500" u="none" cap="none" strike="noStrike">
                <a:solidFill>
                  <a:srgbClr val="555555"/>
                </a:solidFill>
                <a:latin typeface="Merriweather"/>
                <a:ea typeface="Merriweather"/>
                <a:cs typeface="Merriweather"/>
                <a:sym typeface="Merriweather"/>
              </a:rPr>
              <a:t>activation</a:t>
            </a:r>
            <a:endParaRPr b="0" i="0" sz="1500" u="none" cap="none" strike="noStrike">
              <a:solidFill>
                <a:schemeClr val="dk1"/>
              </a:solidFill>
              <a:latin typeface="Calibri"/>
              <a:ea typeface="Calibri"/>
              <a:cs typeface="Calibri"/>
              <a:sym typeface="Calibri"/>
            </a:endParaRPr>
          </a:p>
        </p:txBody>
      </p:sp>
      <p:sp>
        <p:nvSpPr>
          <p:cNvPr id="441" name="Google Shape;441;p31"/>
          <p:cNvSpPr/>
          <p:nvPr/>
        </p:nvSpPr>
        <p:spPr>
          <a:xfrm>
            <a:off x="8961120" y="4983480"/>
            <a:ext cx="10058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500" u="none" cap="none" strike="noStrike">
                <a:solidFill>
                  <a:srgbClr val="555555"/>
                </a:solidFill>
                <a:latin typeface="Merriweather"/>
                <a:ea typeface="Merriweather"/>
                <a:cs typeface="Merriweather"/>
                <a:sym typeface="Merriweather"/>
              </a:rPr>
              <a:t>prediction</a:t>
            </a:r>
            <a:endParaRPr b="0" i="0" sz="1500" u="none" cap="none" strike="noStrike">
              <a:solidFill>
                <a:schemeClr val="dk1"/>
              </a:solidFill>
              <a:latin typeface="Calibri"/>
              <a:ea typeface="Calibri"/>
              <a:cs typeface="Calibri"/>
              <a:sym typeface="Calibri"/>
            </a:endParaRPr>
          </a:p>
        </p:txBody>
      </p:sp>
      <p:sp>
        <p:nvSpPr>
          <p:cNvPr id="442" name="Google Shape;442;p31"/>
          <p:cNvSpPr/>
          <p:nvPr/>
        </p:nvSpPr>
        <p:spPr>
          <a:xfrm>
            <a:off x="548640" y="5532120"/>
            <a:ext cx="11091672" cy="86868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1"/>
          <p:cNvSpPr/>
          <p:nvPr/>
        </p:nvSpPr>
        <p:spPr>
          <a:xfrm>
            <a:off x="548640" y="5532120"/>
            <a:ext cx="11091672"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2200"/>
              <a:buFont typeface="Consolas"/>
              <a:buNone/>
            </a:pPr>
            <a:r>
              <a:rPr b="1" i="0" lang="en-US" sz="2200" u="none" cap="none" strike="noStrike">
                <a:solidFill>
                  <a:srgbClr val="FDD633"/>
                </a:solidFill>
                <a:latin typeface="Consolas"/>
                <a:ea typeface="Consolas"/>
                <a:cs typeface="Consolas"/>
                <a:sym typeface="Consolas"/>
              </a:rPr>
              <a:t>y  =  σ ( w₁·x₁  +  w₂·x₂  +  w₃·x₃  +  b )</a:t>
            </a:r>
            <a:endParaRPr b="0" i="0" sz="2200" u="none" cap="none" strike="noStrike">
              <a:solidFill>
                <a:schemeClr val="dk1"/>
              </a:solidFill>
              <a:latin typeface="Calibri"/>
              <a:ea typeface="Calibri"/>
              <a:cs typeface="Calibri"/>
              <a:sym typeface="Calibri"/>
            </a:endParaRPr>
          </a:p>
        </p:txBody>
      </p:sp>
      <p:sp>
        <p:nvSpPr>
          <p:cNvPr id="444" name="Google Shape;444;p31"/>
          <p:cNvSpPr/>
          <p:nvPr/>
        </p:nvSpPr>
        <p:spPr>
          <a:xfrm>
            <a:off x="548640" y="5989320"/>
            <a:ext cx="110916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F6E9"/>
              </a:buClr>
              <a:buSzPts val="1200"/>
              <a:buFont typeface="Merriweather"/>
              <a:buNone/>
            </a:pPr>
            <a:r>
              <a:rPr b="0" i="1" lang="en-US" sz="1600" u="none" cap="none" strike="noStrike">
                <a:solidFill>
                  <a:srgbClr val="FBF6E9"/>
                </a:solidFill>
                <a:latin typeface="Merriweather"/>
                <a:ea typeface="Merriweather"/>
                <a:cs typeface="Merriweather"/>
                <a:sym typeface="Merriweather"/>
              </a:rPr>
              <a:t>Three numbers in, one number out. Everything else in this lecture is just stacking these.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9" name="Shape 449"/>
        <p:cNvGrpSpPr/>
        <p:nvPr/>
      </p:nvGrpSpPr>
      <p:grpSpPr>
        <a:xfrm>
          <a:off x="0" y="0"/>
          <a:ext cx="0" cy="0"/>
          <a:chOff x="0" y="0"/>
          <a:chExt cx="0" cy="0"/>
        </a:xfrm>
      </p:grpSpPr>
      <p:sp>
        <p:nvSpPr>
          <p:cNvPr id="450" name="Google Shape;450;p32"/>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When one line is enough.</a:t>
            </a:r>
            <a:endParaRPr b="0" i="0" sz="2600" u="none" cap="none" strike="noStrike">
              <a:solidFill>
                <a:schemeClr val="dk1"/>
              </a:solidFill>
              <a:latin typeface="Calibri"/>
              <a:ea typeface="Calibri"/>
              <a:cs typeface="Calibri"/>
              <a:sym typeface="Calibri"/>
            </a:endParaRPr>
          </a:p>
        </p:txBody>
      </p:sp>
      <p:sp>
        <p:nvSpPr>
          <p:cNvPr id="451" name="Google Shape;451;p32"/>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700" u="none" cap="none" strike="noStrike">
                <a:solidFill>
                  <a:srgbClr val="555555"/>
                </a:solidFill>
                <a:latin typeface="Merriweather"/>
                <a:ea typeface="Merriweather"/>
                <a:cs typeface="Merriweather"/>
                <a:sym typeface="Merriweather"/>
              </a:rPr>
              <a:t>If two classes sit in different parts of vector space, a single neuron draws the line.</a:t>
            </a:r>
            <a:endParaRPr b="0" i="0" sz="1700" u="none" cap="none" strike="noStrike">
              <a:solidFill>
                <a:schemeClr val="dk1"/>
              </a:solidFill>
              <a:latin typeface="Calibri"/>
              <a:ea typeface="Calibri"/>
              <a:cs typeface="Calibri"/>
              <a:sym typeface="Calibri"/>
            </a:endParaRPr>
          </a:p>
        </p:txBody>
      </p:sp>
      <p:sp>
        <p:nvSpPr>
          <p:cNvPr id="452" name="Google Shape;452;p32"/>
          <p:cNvSpPr/>
          <p:nvPr/>
        </p:nvSpPr>
        <p:spPr>
          <a:xfrm>
            <a:off x="914400" y="1828800"/>
            <a:ext cx="5029200" cy="39319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2"/>
          <p:cNvSpPr/>
          <p:nvPr/>
        </p:nvSpPr>
        <p:spPr>
          <a:xfrm>
            <a:off x="1728216" y="2523744"/>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2"/>
          <p:cNvSpPr/>
          <p:nvPr/>
        </p:nvSpPr>
        <p:spPr>
          <a:xfrm>
            <a:off x="2231136" y="2916936"/>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2"/>
          <p:cNvSpPr/>
          <p:nvPr/>
        </p:nvSpPr>
        <p:spPr>
          <a:xfrm>
            <a:off x="1828800" y="3310128"/>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2"/>
          <p:cNvSpPr/>
          <p:nvPr/>
        </p:nvSpPr>
        <p:spPr>
          <a:xfrm>
            <a:off x="2432304" y="2445106"/>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2"/>
          <p:cNvSpPr/>
          <p:nvPr/>
        </p:nvSpPr>
        <p:spPr>
          <a:xfrm>
            <a:off x="2834640" y="3113532"/>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2"/>
          <p:cNvSpPr/>
          <p:nvPr/>
        </p:nvSpPr>
        <p:spPr>
          <a:xfrm>
            <a:off x="1577340" y="2916936"/>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2"/>
          <p:cNvSpPr/>
          <p:nvPr/>
        </p:nvSpPr>
        <p:spPr>
          <a:xfrm>
            <a:off x="2633472" y="2759659"/>
            <a:ext cx="182880" cy="18288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2"/>
          <p:cNvSpPr/>
          <p:nvPr/>
        </p:nvSpPr>
        <p:spPr>
          <a:xfrm>
            <a:off x="3840480" y="4293108"/>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2"/>
          <p:cNvSpPr/>
          <p:nvPr/>
        </p:nvSpPr>
        <p:spPr>
          <a:xfrm>
            <a:off x="4343400" y="4686300"/>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2"/>
          <p:cNvSpPr/>
          <p:nvPr/>
        </p:nvSpPr>
        <p:spPr>
          <a:xfrm>
            <a:off x="4091940" y="5079492"/>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2"/>
          <p:cNvSpPr/>
          <p:nvPr/>
        </p:nvSpPr>
        <p:spPr>
          <a:xfrm>
            <a:off x="4745736" y="4096512"/>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2"/>
          <p:cNvSpPr/>
          <p:nvPr/>
        </p:nvSpPr>
        <p:spPr>
          <a:xfrm>
            <a:off x="5097780" y="4882896"/>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2"/>
          <p:cNvSpPr/>
          <p:nvPr/>
        </p:nvSpPr>
        <p:spPr>
          <a:xfrm>
            <a:off x="4443984" y="4411066"/>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2"/>
          <p:cNvSpPr/>
          <p:nvPr/>
        </p:nvSpPr>
        <p:spPr>
          <a:xfrm>
            <a:off x="3589020" y="4686300"/>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 name="Google Shape;467;p32"/>
          <p:cNvCxnSpPr/>
          <p:nvPr/>
        </p:nvCxnSpPr>
        <p:spPr>
          <a:xfrm>
            <a:off x="1165860" y="2811780"/>
            <a:ext cx="4777740" cy="2555748"/>
          </a:xfrm>
          <a:prstGeom prst="straightConnector1">
            <a:avLst/>
          </a:prstGeom>
          <a:noFill/>
          <a:ln cap="flat" cmpd="sng" w="38100">
            <a:solidFill>
              <a:srgbClr val="361A54"/>
            </a:solidFill>
            <a:prstDash val="dash"/>
            <a:round/>
            <a:headEnd len="sm" w="sm" type="none"/>
            <a:tailEnd len="sm" w="sm" type="none"/>
          </a:ln>
        </p:spPr>
      </p:cxnSp>
      <p:sp>
        <p:nvSpPr>
          <p:cNvPr id="468" name="Google Shape;468;p32"/>
          <p:cNvSpPr/>
          <p:nvPr/>
        </p:nvSpPr>
        <p:spPr>
          <a:xfrm>
            <a:off x="1005840" y="2331720"/>
            <a:ext cx="1097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600"/>
              <a:buFont typeface="Archivo Black"/>
              <a:buNone/>
            </a:pPr>
            <a:r>
              <a:rPr b="1" i="0" lang="en-US" sz="1600" u="none" cap="none" strike="noStrike">
                <a:solidFill>
                  <a:srgbClr val="E97132"/>
                </a:solidFill>
                <a:latin typeface="Archivo Black"/>
                <a:ea typeface="Archivo Black"/>
                <a:cs typeface="Archivo Black"/>
                <a:sym typeface="Archivo Black"/>
              </a:rPr>
              <a:t>"food"</a:t>
            </a:r>
            <a:endParaRPr b="0" i="0" sz="1600" u="none" cap="none" strike="noStrike">
              <a:solidFill>
                <a:schemeClr val="dk1"/>
              </a:solidFill>
              <a:latin typeface="Calibri"/>
              <a:ea typeface="Calibri"/>
              <a:cs typeface="Calibri"/>
              <a:sym typeface="Calibri"/>
            </a:endParaRPr>
          </a:p>
        </p:txBody>
      </p:sp>
      <p:sp>
        <p:nvSpPr>
          <p:cNvPr id="469" name="Google Shape;469;p32"/>
          <p:cNvSpPr/>
          <p:nvPr/>
        </p:nvSpPr>
        <p:spPr>
          <a:xfrm>
            <a:off x="3680460" y="2221992"/>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1600"/>
              <a:buFont typeface="Archivo Black"/>
              <a:buNone/>
            </a:pPr>
            <a:r>
              <a:rPr b="1" i="0" lang="en-US" sz="1600" u="none" cap="none" strike="noStrike">
                <a:solidFill>
                  <a:srgbClr val="4EA72E"/>
                </a:solidFill>
                <a:latin typeface="Archivo Black"/>
                <a:ea typeface="Archivo Black"/>
                <a:cs typeface="Archivo Black"/>
                <a:sym typeface="Archivo Black"/>
              </a:rPr>
              <a:t>"water"</a:t>
            </a:r>
            <a:endParaRPr b="0" i="0" sz="1600" u="none" cap="none" strike="noStrike">
              <a:solidFill>
                <a:schemeClr val="dk1"/>
              </a:solidFill>
              <a:latin typeface="Calibri"/>
              <a:ea typeface="Calibri"/>
              <a:cs typeface="Calibri"/>
              <a:sym typeface="Calibri"/>
            </a:endParaRPr>
          </a:p>
        </p:txBody>
      </p:sp>
      <p:sp>
        <p:nvSpPr>
          <p:cNvPr id="470" name="Google Shape;470;p32"/>
          <p:cNvSpPr/>
          <p:nvPr/>
        </p:nvSpPr>
        <p:spPr>
          <a:xfrm>
            <a:off x="6400800" y="1828800"/>
            <a:ext cx="5303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Same idea as the transformer lab.</a:t>
            </a:r>
            <a:endParaRPr b="0" i="0" sz="1800" u="none" cap="none" strike="noStrike">
              <a:solidFill>
                <a:schemeClr val="dk1"/>
              </a:solidFill>
              <a:latin typeface="Calibri"/>
              <a:ea typeface="Calibri"/>
              <a:cs typeface="Calibri"/>
              <a:sym typeface="Calibri"/>
            </a:endParaRPr>
          </a:p>
        </p:txBody>
      </p:sp>
      <p:sp>
        <p:nvSpPr>
          <p:cNvPr id="471" name="Google Shape;471;p32"/>
          <p:cNvSpPr/>
          <p:nvPr/>
        </p:nvSpPr>
        <p:spPr>
          <a:xfrm>
            <a:off x="6400800" y="2286000"/>
            <a:ext cx="5303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Merriweather"/>
              <a:buNone/>
            </a:pPr>
            <a:r>
              <a:rPr b="0" i="0" lang="en-US" sz="1600" u="none" cap="none" strike="noStrike">
                <a:solidFill>
                  <a:srgbClr val="333333"/>
                </a:solidFill>
                <a:latin typeface="Merriweather"/>
                <a:ea typeface="Merriweather"/>
                <a:cs typeface="Merriweather"/>
                <a:sym typeface="Merriweather"/>
              </a:rPr>
              <a:t>Each dot is the embedding of a prompt. The label is the next token the model should predict  "food" or "water".</a:t>
            </a:r>
            <a:endParaRPr b="0" i="0" sz="1600" u="none" cap="none" strike="noStrike">
              <a:solidFill>
                <a:schemeClr val="dk1"/>
              </a:solidFill>
              <a:latin typeface="Calibri"/>
              <a:ea typeface="Calibri"/>
              <a:cs typeface="Calibri"/>
              <a:sym typeface="Calibri"/>
            </a:endParaRPr>
          </a:p>
        </p:txBody>
      </p:sp>
      <p:sp>
        <p:nvSpPr>
          <p:cNvPr id="472" name="Google Shape;472;p32"/>
          <p:cNvSpPr/>
          <p:nvPr/>
        </p:nvSpPr>
        <p:spPr>
          <a:xfrm>
            <a:off x="6400800" y="3200400"/>
            <a:ext cx="292608" cy="292608"/>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2"/>
          <p:cNvSpPr/>
          <p:nvPr/>
        </p:nvSpPr>
        <p:spPr>
          <a:xfrm>
            <a:off x="6812280" y="315468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A single neuron is a line.</a:t>
            </a:r>
            <a:endParaRPr b="0" i="0" sz="1300" u="none" cap="none" strike="noStrike">
              <a:solidFill>
                <a:schemeClr val="dk1"/>
              </a:solidFill>
              <a:latin typeface="Calibri"/>
              <a:ea typeface="Calibri"/>
              <a:cs typeface="Calibri"/>
              <a:sym typeface="Calibri"/>
            </a:endParaRPr>
          </a:p>
        </p:txBody>
      </p:sp>
      <p:sp>
        <p:nvSpPr>
          <p:cNvPr id="474" name="Google Shape;474;p32"/>
          <p:cNvSpPr/>
          <p:nvPr/>
        </p:nvSpPr>
        <p:spPr>
          <a:xfrm>
            <a:off x="6812280" y="3538728"/>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500" u="none" cap="none" strike="noStrike">
                <a:solidFill>
                  <a:srgbClr val="333333"/>
                </a:solidFill>
                <a:latin typeface="Merriweather"/>
                <a:ea typeface="Merriweather"/>
                <a:cs typeface="Merriweather"/>
                <a:sym typeface="Merriweather"/>
              </a:rPr>
              <a:t>y = σ(w·x + b). The decision boundary where σ flips class is exactly a hyperplane.</a:t>
            </a:r>
            <a:endParaRPr b="0" i="0" sz="1500" u="none" cap="none" strike="noStrike">
              <a:solidFill>
                <a:schemeClr val="dk1"/>
              </a:solidFill>
              <a:latin typeface="Calibri"/>
              <a:ea typeface="Calibri"/>
              <a:cs typeface="Calibri"/>
              <a:sym typeface="Calibri"/>
            </a:endParaRPr>
          </a:p>
        </p:txBody>
      </p:sp>
      <p:sp>
        <p:nvSpPr>
          <p:cNvPr id="475" name="Google Shape;475;p32"/>
          <p:cNvSpPr/>
          <p:nvPr/>
        </p:nvSpPr>
        <p:spPr>
          <a:xfrm>
            <a:off x="6400800" y="4160520"/>
            <a:ext cx="292608" cy="292608"/>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2"/>
          <p:cNvSpPr/>
          <p:nvPr/>
        </p:nvSpPr>
        <p:spPr>
          <a:xfrm>
            <a:off x="6812280" y="411480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Two clean clusters → one line.</a:t>
            </a:r>
            <a:endParaRPr b="0" i="0" sz="1300" u="none" cap="none" strike="noStrike">
              <a:solidFill>
                <a:schemeClr val="dk1"/>
              </a:solidFill>
              <a:latin typeface="Calibri"/>
              <a:ea typeface="Calibri"/>
              <a:cs typeface="Calibri"/>
              <a:sym typeface="Calibri"/>
            </a:endParaRPr>
          </a:p>
        </p:txBody>
      </p:sp>
      <p:sp>
        <p:nvSpPr>
          <p:cNvPr id="477" name="Google Shape;477;p32"/>
          <p:cNvSpPr/>
          <p:nvPr/>
        </p:nvSpPr>
        <p:spPr>
          <a:xfrm>
            <a:off x="6812280" y="4498848"/>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500" u="none" cap="none" strike="noStrike">
                <a:solidFill>
                  <a:srgbClr val="333333"/>
                </a:solidFill>
                <a:latin typeface="Merriweather"/>
                <a:ea typeface="Merriweather"/>
                <a:cs typeface="Merriweather"/>
                <a:sym typeface="Merriweather"/>
              </a:rPr>
              <a:t>When classes occupy different regions, one weighted sum separates them perfectly.</a:t>
            </a:r>
            <a:endParaRPr b="0" i="0" sz="1500" u="none" cap="none" strike="noStrike">
              <a:solidFill>
                <a:schemeClr val="dk1"/>
              </a:solidFill>
              <a:latin typeface="Calibri"/>
              <a:ea typeface="Calibri"/>
              <a:cs typeface="Calibri"/>
              <a:sym typeface="Calibri"/>
            </a:endParaRPr>
          </a:p>
        </p:txBody>
      </p:sp>
      <p:sp>
        <p:nvSpPr>
          <p:cNvPr id="478" name="Google Shape;478;p32"/>
          <p:cNvSpPr/>
          <p:nvPr/>
        </p:nvSpPr>
        <p:spPr>
          <a:xfrm>
            <a:off x="6400800" y="5120640"/>
            <a:ext cx="292608" cy="292608"/>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2"/>
          <p:cNvSpPr/>
          <p:nvPr/>
        </p:nvSpPr>
        <p:spPr>
          <a:xfrm>
            <a:off x="6812280" y="507492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This is what the lab proves.</a:t>
            </a:r>
            <a:endParaRPr b="0" i="0" sz="1300" u="none" cap="none" strike="noStrike">
              <a:solidFill>
                <a:schemeClr val="dk1"/>
              </a:solidFill>
              <a:latin typeface="Calibri"/>
              <a:ea typeface="Calibri"/>
              <a:cs typeface="Calibri"/>
              <a:sym typeface="Calibri"/>
            </a:endParaRPr>
          </a:p>
        </p:txBody>
      </p:sp>
      <p:sp>
        <p:nvSpPr>
          <p:cNvPr id="480" name="Google Shape;480;p32"/>
          <p:cNvSpPr/>
          <p:nvPr/>
        </p:nvSpPr>
        <p:spPr>
          <a:xfrm>
            <a:off x="6812280" y="5458968"/>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500" u="none" cap="none" strike="noStrike">
                <a:solidFill>
                  <a:srgbClr val="333333"/>
                </a:solidFill>
                <a:latin typeface="Merriweather"/>
                <a:ea typeface="Merriweather"/>
                <a:cs typeface="Merriweather"/>
                <a:sym typeface="Merriweather"/>
              </a:rPr>
              <a:t>100% accuracy on the food / water embeddings  with a network that has one neuron.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5" name="Shape 485"/>
        <p:cNvGrpSpPr/>
        <p:nvPr/>
      </p:nvGrpSpPr>
      <p:grpSpPr>
        <a:xfrm>
          <a:off x="0" y="0"/>
          <a:ext cx="0" cy="0"/>
          <a:chOff x="0" y="0"/>
          <a:chExt cx="0" cy="0"/>
        </a:xfrm>
      </p:grpSpPr>
      <p:sp>
        <p:nvSpPr>
          <p:cNvPr id="486" name="Google Shape;486;p33"/>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When one line isn't enough.</a:t>
            </a:r>
            <a:endParaRPr b="0" i="0" sz="2600" u="none" cap="none" strike="noStrike">
              <a:solidFill>
                <a:schemeClr val="dk1"/>
              </a:solidFill>
              <a:latin typeface="Calibri"/>
              <a:ea typeface="Calibri"/>
              <a:cs typeface="Calibri"/>
              <a:sym typeface="Calibri"/>
            </a:endParaRPr>
          </a:p>
        </p:txBody>
      </p:sp>
      <p:sp>
        <p:nvSpPr>
          <p:cNvPr id="487" name="Google Shape;487;p33"/>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Non-linearly separable classes — like XOR — can't be cut by any single line.</a:t>
            </a:r>
            <a:endParaRPr b="0" i="0" sz="1600" u="none" cap="none" strike="noStrike">
              <a:solidFill>
                <a:schemeClr val="dk1"/>
              </a:solidFill>
              <a:latin typeface="Calibri"/>
              <a:ea typeface="Calibri"/>
              <a:cs typeface="Calibri"/>
              <a:sym typeface="Calibri"/>
            </a:endParaRPr>
          </a:p>
        </p:txBody>
      </p:sp>
      <p:sp>
        <p:nvSpPr>
          <p:cNvPr id="488" name="Google Shape;488;p33"/>
          <p:cNvSpPr/>
          <p:nvPr/>
        </p:nvSpPr>
        <p:spPr>
          <a:xfrm>
            <a:off x="914400" y="1828800"/>
            <a:ext cx="5029200" cy="39319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3"/>
          <p:cNvSpPr/>
          <p:nvPr/>
        </p:nvSpPr>
        <p:spPr>
          <a:xfrm>
            <a:off x="1828800" y="2602382"/>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3"/>
          <p:cNvSpPr/>
          <p:nvPr/>
        </p:nvSpPr>
        <p:spPr>
          <a:xfrm>
            <a:off x="2231136" y="2916936"/>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3"/>
          <p:cNvSpPr/>
          <p:nvPr/>
        </p:nvSpPr>
        <p:spPr>
          <a:xfrm>
            <a:off x="1929384" y="2445106"/>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3"/>
          <p:cNvSpPr/>
          <p:nvPr/>
        </p:nvSpPr>
        <p:spPr>
          <a:xfrm>
            <a:off x="4594860" y="4804258"/>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3"/>
          <p:cNvSpPr/>
          <p:nvPr/>
        </p:nvSpPr>
        <p:spPr>
          <a:xfrm>
            <a:off x="4946904" y="4568342"/>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3"/>
          <p:cNvSpPr/>
          <p:nvPr/>
        </p:nvSpPr>
        <p:spPr>
          <a:xfrm>
            <a:off x="4343400" y="5079492"/>
            <a:ext cx="182880" cy="18288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3"/>
          <p:cNvSpPr/>
          <p:nvPr/>
        </p:nvSpPr>
        <p:spPr>
          <a:xfrm>
            <a:off x="1828800" y="4804258"/>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3"/>
          <p:cNvSpPr/>
          <p:nvPr/>
        </p:nvSpPr>
        <p:spPr>
          <a:xfrm>
            <a:off x="2231136" y="4568342"/>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a:off x="1929384" y="5079492"/>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a:off x="4594860" y="2602382"/>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3"/>
          <p:cNvSpPr/>
          <p:nvPr/>
        </p:nvSpPr>
        <p:spPr>
          <a:xfrm>
            <a:off x="4946904" y="2916936"/>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a:off x="4343400" y="2445106"/>
            <a:ext cx="182880" cy="18288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1" name="Google Shape;501;p33"/>
          <p:cNvCxnSpPr/>
          <p:nvPr/>
        </p:nvCxnSpPr>
        <p:spPr>
          <a:xfrm>
            <a:off x="1165860" y="3794760"/>
            <a:ext cx="4777740" cy="0"/>
          </a:xfrm>
          <a:prstGeom prst="straightConnector1">
            <a:avLst/>
          </a:prstGeom>
          <a:noFill/>
          <a:ln cap="flat" cmpd="sng" w="38100">
            <a:solidFill>
              <a:srgbClr val="E97132"/>
            </a:solidFill>
            <a:prstDash val="dash"/>
            <a:round/>
            <a:headEnd len="sm" w="sm" type="none"/>
            <a:tailEnd len="sm" w="sm" type="none"/>
          </a:ln>
        </p:spPr>
      </p:cxnSp>
      <p:sp>
        <p:nvSpPr>
          <p:cNvPr id="502" name="Google Shape;502;p33"/>
          <p:cNvSpPr/>
          <p:nvPr/>
        </p:nvSpPr>
        <p:spPr>
          <a:xfrm>
            <a:off x="1165860" y="3383280"/>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100"/>
              <a:buFont typeface="Merriweather"/>
              <a:buNone/>
            </a:pPr>
            <a:r>
              <a:rPr b="0" i="1" lang="en-US" sz="1100" u="none" cap="none" strike="noStrike">
                <a:solidFill>
                  <a:srgbClr val="E97132"/>
                </a:solidFill>
                <a:latin typeface="Merriweather"/>
                <a:ea typeface="Merriweather"/>
                <a:cs typeface="Merriweather"/>
                <a:sym typeface="Merriweather"/>
              </a:rPr>
              <a:t>any single line fails</a:t>
            </a:r>
            <a:endParaRPr b="0" i="0" sz="1100" u="none" cap="none" strike="noStrike">
              <a:solidFill>
                <a:schemeClr val="dk1"/>
              </a:solidFill>
              <a:latin typeface="Calibri"/>
              <a:ea typeface="Calibri"/>
              <a:cs typeface="Calibri"/>
              <a:sym typeface="Calibri"/>
            </a:endParaRPr>
          </a:p>
        </p:txBody>
      </p:sp>
      <p:sp>
        <p:nvSpPr>
          <p:cNvPr id="503" name="Google Shape;503;p33"/>
          <p:cNvSpPr/>
          <p:nvPr/>
        </p:nvSpPr>
        <p:spPr>
          <a:xfrm>
            <a:off x="6400800" y="1828800"/>
            <a:ext cx="5303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The XOR problem.</a:t>
            </a:r>
            <a:endParaRPr b="0" i="0" sz="1800" u="none" cap="none" strike="noStrike">
              <a:solidFill>
                <a:schemeClr val="dk1"/>
              </a:solidFill>
              <a:latin typeface="Calibri"/>
              <a:ea typeface="Calibri"/>
              <a:cs typeface="Calibri"/>
              <a:sym typeface="Calibri"/>
            </a:endParaRPr>
          </a:p>
        </p:txBody>
      </p:sp>
      <p:sp>
        <p:nvSpPr>
          <p:cNvPr id="504" name="Google Shape;504;p33"/>
          <p:cNvSpPr/>
          <p:nvPr/>
        </p:nvSpPr>
        <p:spPr>
          <a:xfrm>
            <a:off x="6400800" y="2286000"/>
            <a:ext cx="53035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Merriweather"/>
              <a:buNone/>
            </a:pPr>
            <a:r>
              <a:rPr b="0" i="0" lang="en-US" sz="1700" u="none" cap="none" strike="noStrike">
                <a:solidFill>
                  <a:srgbClr val="333333"/>
                </a:solidFill>
                <a:latin typeface="Merriweather"/>
                <a:ea typeface="Merriweather"/>
                <a:cs typeface="Merriweather"/>
                <a:sym typeface="Merriweather"/>
              </a:rPr>
              <a:t>Two classes interleaved across the plane. No straight cut works. A perceptron  a single neuron  </a:t>
            </a:r>
            <a:r>
              <a:rPr lang="en-US" sz="1700">
                <a:solidFill>
                  <a:srgbClr val="333333"/>
                </a:solidFill>
                <a:latin typeface="Merriweather"/>
                <a:ea typeface="Merriweather"/>
                <a:cs typeface="Merriweather"/>
                <a:sym typeface="Merriweather"/>
              </a:rPr>
              <a:t>probably</a:t>
            </a:r>
            <a:r>
              <a:rPr b="0" i="0" lang="en-US" sz="1700" u="none" cap="none" strike="noStrike">
                <a:solidFill>
                  <a:srgbClr val="333333"/>
                </a:solidFill>
                <a:latin typeface="Merriweather"/>
                <a:ea typeface="Merriweather"/>
                <a:cs typeface="Merriweather"/>
                <a:sym typeface="Merriweather"/>
              </a:rPr>
              <a:t> cannot solve it.</a:t>
            </a:r>
            <a:endParaRPr b="0" i="0" sz="1700" u="none" cap="none" strike="noStrike">
              <a:solidFill>
                <a:schemeClr val="dk1"/>
              </a:solidFill>
              <a:latin typeface="Calibri"/>
              <a:ea typeface="Calibri"/>
              <a:cs typeface="Calibri"/>
              <a:sym typeface="Calibri"/>
            </a:endParaRPr>
          </a:p>
        </p:txBody>
      </p:sp>
      <p:sp>
        <p:nvSpPr>
          <p:cNvPr id="505" name="Google Shape;505;p33"/>
          <p:cNvSpPr/>
          <p:nvPr/>
        </p:nvSpPr>
        <p:spPr>
          <a:xfrm>
            <a:off x="6400800" y="3383280"/>
            <a:ext cx="5303520" cy="23774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3"/>
          <p:cNvSpPr/>
          <p:nvPr/>
        </p:nvSpPr>
        <p:spPr>
          <a:xfrm>
            <a:off x="6583680" y="352044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633"/>
              </a:buClr>
              <a:buSzPts val="1200"/>
              <a:buFont typeface="Archivo Black"/>
              <a:buNone/>
            </a:pPr>
            <a:r>
              <a:rPr b="1" i="0" lang="en-US" sz="1200" u="none" cap="none" strike="noStrike">
                <a:solidFill>
                  <a:srgbClr val="FDD633"/>
                </a:solidFill>
                <a:latin typeface="Archivo Black"/>
                <a:ea typeface="Archivo Black"/>
                <a:cs typeface="Archivo Black"/>
                <a:sym typeface="Archivo Black"/>
              </a:rPr>
              <a:t>THE FIX</a:t>
            </a:r>
            <a:endParaRPr b="0" i="0" sz="1200" u="none" cap="none" strike="noStrike">
              <a:solidFill>
                <a:schemeClr val="dk1"/>
              </a:solidFill>
              <a:latin typeface="Calibri"/>
              <a:ea typeface="Calibri"/>
              <a:cs typeface="Calibri"/>
              <a:sym typeface="Calibri"/>
            </a:endParaRPr>
          </a:p>
        </p:txBody>
      </p:sp>
      <p:sp>
        <p:nvSpPr>
          <p:cNvPr id="507" name="Google Shape;507;p33"/>
          <p:cNvSpPr/>
          <p:nvPr/>
        </p:nvSpPr>
        <p:spPr>
          <a:xfrm>
            <a:off x="6583680" y="3886200"/>
            <a:ext cx="4937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chivo Black"/>
              <a:buNone/>
            </a:pPr>
            <a:r>
              <a:rPr b="1" i="0" lang="en-US" sz="1800" u="none" cap="none" strike="noStrike">
                <a:solidFill>
                  <a:srgbClr val="FFFFFF"/>
                </a:solidFill>
                <a:latin typeface="Archivo Black"/>
                <a:ea typeface="Archivo Black"/>
                <a:cs typeface="Archivo Black"/>
                <a:sym typeface="Archivo Black"/>
              </a:rPr>
              <a:t>Stack multiple neurons in layers.</a:t>
            </a:r>
            <a:endParaRPr b="0" i="0" sz="1800" u="none" cap="none" strike="noStrike">
              <a:solidFill>
                <a:schemeClr val="dk1"/>
              </a:solidFill>
              <a:latin typeface="Calibri"/>
              <a:ea typeface="Calibri"/>
              <a:cs typeface="Calibri"/>
              <a:sym typeface="Calibri"/>
            </a:endParaRPr>
          </a:p>
        </p:txBody>
      </p:sp>
      <p:sp>
        <p:nvSpPr>
          <p:cNvPr id="508" name="Google Shape;508;p33"/>
          <p:cNvSpPr/>
          <p:nvPr/>
        </p:nvSpPr>
        <p:spPr>
          <a:xfrm>
            <a:off x="6583680" y="4389120"/>
            <a:ext cx="49377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F6E9"/>
              </a:buClr>
              <a:buSzPts val="1200"/>
              <a:buFont typeface="Merriweather"/>
              <a:buNone/>
            </a:pPr>
            <a:r>
              <a:rPr b="0" i="0" lang="en-US" sz="1600" u="none" cap="none" strike="noStrike">
                <a:solidFill>
                  <a:srgbClr val="FBF6E9"/>
                </a:solidFill>
                <a:latin typeface="Merriweather"/>
                <a:ea typeface="Merriweather"/>
                <a:cs typeface="Merriweather"/>
                <a:sym typeface="Merriweather"/>
              </a:rPr>
              <a:t>Each hidden neuron carves one half-plane. Combine them through a non-linear activation and you get curved, complex boundaries — enough to separate any pattern.</a:t>
            </a:r>
            <a:endParaRPr b="0" i="0" sz="1600" u="none" cap="none" strike="noStrike">
              <a:solidFill>
                <a:schemeClr val="dk1"/>
              </a:solidFill>
              <a:latin typeface="Calibri"/>
              <a:ea typeface="Calibri"/>
              <a:cs typeface="Calibri"/>
              <a:sym typeface="Calibri"/>
            </a:endParaRPr>
          </a:p>
        </p:txBody>
      </p:sp>
      <p:sp>
        <p:nvSpPr>
          <p:cNvPr id="509" name="Google Shape;509;p33"/>
          <p:cNvSpPr/>
          <p:nvPr/>
        </p:nvSpPr>
        <p:spPr>
          <a:xfrm>
            <a:off x="548640" y="617220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200"/>
              <a:buFont typeface="Merriweather"/>
              <a:buNone/>
            </a:pPr>
            <a:r>
              <a:rPr b="0" i="1" lang="en-US" sz="1700" u="none" cap="none" strike="noStrike">
                <a:solidFill>
                  <a:srgbClr val="555555"/>
                </a:solidFill>
                <a:latin typeface="Merriweather"/>
                <a:ea typeface="Merriweather"/>
                <a:cs typeface="Merriweather"/>
                <a:sym typeface="Merriweather"/>
              </a:rPr>
              <a:t>Universal approximation: one hidden layer (wide enough) can approximate any continuous function.</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4" name="Shape 514"/>
        <p:cNvGrpSpPr/>
        <p:nvPr/>
      </p:nvGrpSpPr>
      <p:grpSpPr>
        <a:xfrm>
          <a:off x="0" y="0"/>
          <a:ext cx="0" cy="0"/>
          <a:chOff x="0" y="0"/>
          <a:chExt cx="0" cy="0"/>
        </a:xfrm>
      </p:grpSpPr>
      <p:sp>
        <p:nvSpPr>
          <p:cNvPr id="515" name="Google Shape;515;p34"/>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multilayer perceptron, end to end.</a:t>
            </a:r>
            <a:endParaRPr b="0" i="0" sz="2600" u="none" cap="none" strike="noStrike">
              <a:solidFill>
                <a:schemeClr val="dk1"/>
              </a:solidFill>
              <a:latin typeface="Calibri"/>
              <a:ea typeface="Calibri"/>
              <a:cs typeface="Calibri"/>
              <a:sym typeface="Calibri"/>
            </a:endParaRPr>
          </a:p>
        </p:txBody>
      </p:sp>
      <p:sp>
        <p:nvSpPr>
          <p:cNvPr id="516" name="Google Shape;516;p34"/>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900" u="none" cap="none" strike="noStrike">
                <a:solidFill>
                  <a:srgbClr val="555555"/>
                </a:solidFill>
                <a:latin typeface="Merriweather"/>
                <a:ea typeface="Merriweather"/>
                <a:cs typeface="Merriweather"/>
                <a:sym typeface="Merriweather"/>
              </a:rPr>
              <a:t>Input layer → one or more hidden layers → output layer. Fully connected.</a:t>
            </a:r>
            <a:endParaRPr b="0" i="0" sz="1900" u="none" cap="none" strike="noStrike">
              <a:solidFill>
                <a:schemeClr val="dk1"/>
              </a:solidFill>
              <a:latin typeface="Calibri"/>
              <a:ea typeface="Calibri"/>
              <a:cs typeface="Calibri"/>
              <a:sym typeface="Calibri"/>
            </a:endParaRPr>
          </a:p>
        </p:txBody>
      </p:sp>
      <p:cxnSp>
        <p:nvCxnSpPr>
          <p:cNvPr id="517" name="Google Shape;517;p34"/>
          <p:cNvCxnSpPr/>
          <p:nvPr/>
        </p:nvCxnSpPr>
        <p:spPr>
          <a:xfrm flipH="1" rot="10800000">
            <a:off x="1664208" y="285292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18" name="Google Shape;518;p34"/>
          <p:cNvCxnSpPr/>
          <p:nvPr/>
        </p:nvCxnSpPr>
        <p:spPr>
          <a:xfrm>
            <a:off x="1664208" y="315010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19" name="Google Shape;519;p34"/>
          <p:cNvCxnSpPr/>
          <p:nvPr/>
        </p:nvCxnSpPr>
        <p:spPr>
          <a:xfrm>
            <a:off x="1664208" y="315010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20" name="Google Shape;520;p34"/>
          <p:cNvCxnSpPr/>
          <p:nvPr/>
        </p:nvCxnSpPr>
        <p:spPr>
          <a:xfrm>
            <a:off x="1664208" y="315010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21" name="Google Shape;521;p34"/>
          <p:cNvCxnSpPr/>
          <p:nvPr/>
        </p:nvCxnSpPr>
        <p:spPr>
          <a:xfrm>
            <a:off x="1664208" y="3150108"/>
            <a:ext cx="2514600" cy="2080260"/>
          </a:xfrm>
          <a:prstGeom prst="straightConnector1">
            <a:avLst/>
          </a:prstGeom>
          <a:noFill/>
          <a:ln cap="flat" cmpd="sng" w="9525">
            <a:solidFill>
              <a:srgbClr val="C8C8C8"/>
            </a:solidFill>
            <a:prstDash val="solid"/>
            <a:round/>
            <a:headEnd len="sm" w="sm" type="none"/>
            <a:tailEnd len="sm" w="sm" type="none"/>
          </a:ln>
        </p:spPr>
      </p:cxnSp>
      <p:cxnSp>
        <p:nvCxnSpPr>
          <p:cNvPr id="522" name="Google Shape;522;p34"/>
          <p:cNvCxnSpPr/>
          <p:nvPr/>
        </p:nvCxnSpPr>
        <p:spPr>
          <a:xfrm flipH="1" rot="10800000">
            <a:off x="1664208" y="285292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23" name="Google Shape;523;p34"/>
          <p:cNvCxnSpPr/>
          <p:nvPr/>
        </p:nvCxnSpPr>
        <p:spPr>
          <a:xfrm flipH="1" rot="10800000">
            <a:off x="1664208" y="344728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24" name="Google Shape;524;p34"/>
          <p:cNvCxnSpPr/>
          <p:nvPr/>
        </p:nvCxnSpPr>
        <p:spPr>
          <a:xfrm>
            <a:off x="1664208" y="374446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25" name="Google Shape;525;p34"/>
          <p:cNvCxnSpPr/>
          <p:nvPr/>
        </p:nvCxnSpPr>
        <p:spPr>
          <a:xfrm>
            <a:off x="1664208" y="374446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26" name="Google Shape;526;p34"/>
          <p:cNvCxnSpPr/>
          <p:nvPr/>
        </p:nvCxnSpPr>
        <p:spPr>
          <a:xfrm>
            <a:off x="1664208" y="374446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27" name="Google Shape;527;p34"/>
          <p:cNvCxnSpPr/>
          <p:nvPr/>
        </p:nvCxnSpPr>
        <p:spPr>
          <a:xfrm flipH="1" rot="10800000">
            <a:off x="1664208" y="285292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28" name="Google Shape;528;p34"/>
          <p:cNvCxnSpPr/>
          <p:nvPr/>
        </p:nvCxnSpPr>
        <p:spPr>
          <a:xfrm flipH="1" rot="10800000">
            <a:off x="1664208" y="344728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29" name="Google Shape;529;p34"/>
          <p:cNvCxnSpPr/>
          <p:nvPr/>
        </p:nvCxnSpPr>
        <p:spPr>
          <a:xfrm flipH="1" rot="10800000">
            <a:off x="1664208" y="404164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30" name="Google Shape;530;p34"/>
          <p:cNvCxnSpPr/>
          <p:nvPr/>
        </p:nvCxnSpPr>
        <p:spPr>
          <a:xfrm>
            <a:off x="1664208" y="433882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31" name="Google Shape;531;p34"/>
          <p:cNvCxnSpPr/>
          <p:nvPr/>
        </p:nvCxnSpPr>
        <p:spPr>
          <a:xfrm>
            <a:off x="1664208" y="433882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32" name="Google Shape;532;p34"/>
          <p:cNvCxnSpPr/>
          <p:nvPr/>
        </p:nvCxnSpPr>
        <p:spPr>
          <a:xfrm flipH="1" rot="10800000">
            <a:off x="1664208" y="2852928"/>
            <a:ext cx="2514600" cy="2080260"/>
          </a:xfrm>
          <a:prstGeom prst="straightConnector1">
            <a:avLst/>
          </a:prstGeom>
          <a:noFill/>
          <a:ln cap="flat" cmpd="sng" w="9525">
            <a:solidFill>
              <a:srgbClr val="C8C8C8"/>
            </a:solidFill>
            <a:prstDash val="solid"/>
            <a:round/>
            <a:headEnd len="sm" w="sm" type="none"/>
            <a:tailEnd len="sm" w="sm" type="none"/>
          </a:ln>
        </p:spPr>
      </p:cxnSp>
      <p:cxnSp>
        <p:nvCxnSpPr>
          <p:cNvPr id="533" name="Google Shape;533;p34"/>
          <p:cNvCxnSpPr/>
          <p:nvPr/>
        </p:nvCxnSpPr>
        <p:spPr>
          <a:xfrm flipH="1" rot="10800000">
            <a:off x="1664208" y="344728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34" name="Google Shape;534;p34"/>
          <p:cNvCxnSpPr/>
          <p:nvPr/>
        </p:nvCxnSpPr>
        <p:spPr>
          <a:xfrm flipH="1" rot="10800000">
            <a:off x="1664208" y="404164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35" name="Google Shape;535;p34"/>
          <p:cNvCxnSpPr/>
          <p:nvPr/>
        </p:nvCxnSpPr>
        <p:spPr>
          <a:xfrm flipH="1" rot="10800000">
            <a:off x="1664208" y="463600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36" name="Google Shape;536;p34"/>
          <p:cNvCxnSpPr/>
          <p:nvPr/>
        </p:nvCxnSpPr>
        <p:spPr>
          <a:xfrm>
            <a:off x="1664208" y="493318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37" name="Google Shape;537;p34"/>
          <p:cNvCxnSpPr/>
          <p:nvPr/>
        </p:nvCxnSpPr>
        <p:spPr>
          <a:xfrm>
            <a:off x="4224528" y="2852928"/>
            <a:ext cx="2514600" cy="0"/>
          </a:xfrm>
          <a:prstGeom prst="straightConnector1">
            <a:avLst/>
          </a:prstGeom>
          <a:noFill/>
          <a:ln cap="flat" cmpd="sng" w="9525">
            <a:solidFill>
              <a:srgbClr val="C8C8C8"/>
            </a:solidFill>
            <a:prstDash val="solid"/>
            <a:round/>
            <a:headEnd len="sm" w="sm" type="none"/>
            <a:tailEnd len="sm" w="sm" type="none"/>
          </a:ln>
        </p:spPr>
      </p:cxnSp>
      <p:cxnSp>
        <p:nvCxnSpPr>
          <p:cNvPr id="538" name="Google Shape;538;p34"/>
          <p:cNvCxnSpPr/>
          <p:nvPr/>
        </p:nvCxnSpPr>
        <p:spPr>
          <a:xfrm>
            <a:off x="4224528" y="285292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39" name="Google Shape;539;p34"/>
          <p:cNvCxnSpPr/>
          <p:nvPr/>
        </p:nvCxnSpPr>
        <p:spPr>
          <a:xfrm>
            <a:off x="4224528" y="285292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40" name="Google Shape;540;p34"/>
          <p:cNvCxnSpPr/>
          <p:nvPr/>
        </p:nvCxnSpPr>
        <p:spPr>
          <a:xfrm>
            <a:off x="4224528" y="2852928"/>
            <a:ext cx="2514600" cy="1783080"/>
          </a:xfrm>
          <a:prstGeom prst="straightConnector1">
            <a:avLst/>
          </a:prstGeom>
          <a:noFill/>
          <a:ln cap="flat" cmpd="sng" w="9525">
            <a:solidFill>
              <a:srgbClr val="C8C8C8"/>
            </a:solidFill>
            <a:prstDash val="solid"/>
            <a:round/>
            <a:headEnd len="sm" w="sm" type="none"/>
            <a:tailEnd len="sm" w="sm" type="none"/>
          </a:ln>
        </p:spPr>
      </p:cxnSp>
      <p:cxnSp>
        <p:nvCxnSpPr>
          <p:cNvPr id="541" name="Google Shape;541;p34"/>
          <p:cNvCxnSpPr/>
          <p:nvPr/>
        </p:nvCxnSpPr>
        <p:spPr>
          <a:xfrm>
            <a:off x="4224528" y="2852928"/>
            <a:ext cx="2514600" cy="2377440"/>
          </a:xfrm>
          <a:prstGeom prst="straightConnector1">
            <a:avLst/>
          </a:prstGeom>
          <a:noFill/>
          <a:ln cap="flat" cmpd="sng" w="9525">
            <a:solidFill>
              <a:srgbClr val="C8C8C8"/>
            </a:solidFill>
            <a:prstDash val="solid"/>
            <a:round/>
            <a:headEnd len="sm" w="sm" type="none"/>
            <a:tailEnd len="sm" w="sm" type="none"/>
          </a:ln>
        </p:spPr>
      </p:cxnSp>
      <p:cxnSp>
        <p:nvCxnSpPr>
          <p:cNvPr id="542" name="Google Shape;542;p34"/>
          <p:cNvCxnSpPr/>
          <p:nvPr/>
        </p:nvCxnSpPr>
        <p:spPr>
          <a:xfrm flipH="1" rot="10800000">
            <a:off x="4224528" y="285292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43" name="Google Shape;543;p34"/>
          <p:cNvCxnSpPr/>
          <p:nvPr/>
        </p:nvCxnSpPr>
        <p:spPr>
          <a:xfrm>
            <a:off x="4224528" y="3447288"/>
            <a:ext cx="2514600" cy="0"/>
          </a:xfrm>
          <a:prstGeom prst="straightConnector1">
            <a:avLst/>
          </a:prstGeom>
          <a:noFill/>
          <a:ln cap="flat" cmpd="sng" w="9525">
            <a:solidFill>
              <a:srgbClr val="C8C8C8"/>
            </a:solidFill>
            <a:prstDash val="solid"/>
            <a:round/>
            <a:headEnd len="sm" w="sm" type="none"/>
            <a:tailEnd len="sm" w="sm" type="none"/>
          </a:ln>
        </p:spPr>
      </p:cxnSp>
      <p:cxnSp>
        <p:nvCxnSpPr>
          <p:cNvPr id="544" name="Google Shape;544;p34"/>
          <p:cNvCxnSpPr/>
          <p:nvPr/>
        </p:nvCxnSpPr>
        <p:spPr>
          <a:xfrm>
            <a:off x="4224528" y="344728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45" name="Google Shape;545;p34"/>
          <p:cNvCxnSpPr/>
          <p:nvPr/>
        </p:nvCxnSpPr>
        <p:spPr>
          <a:xfrm>
            <a:off x="4224528" y="344728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46" name="Google Shape;546;p34"/>
          <p:cNvCxnSpPr/>
          <p:nvPr/>
        </p:nvCxnSpPr>
        <p:spPr>
          <a:xfrm>
            <a:off x="4224528" y="3447288"/>
            <a:ext cx="2514600" cy="1783080"/>
          </a:xfrm>
          <a:prstGeom prst="straightConnector1">
            <a:avLst/>
          </a:prstGeom>
          <a:noFill/>
          <a:ln cap="flat" cmpd="sng" w="9525">
            <a:solidFill>
              <a:srgbClr val="C8C8C8"/>
            </a:solidFill>
            <a:prstDash val="solid"/>
            <a:round/>
            <a:headEnd len="sm" w="sm" type="none"/>
            <a:tailEnd len="sm" w="sm" type="none"/>
          </a:ln>
        </p:spPr>
      </p:cxnSp>
      <p:cxnSp>
        <p:nvCxnSpPr>
          <p:cNvPr id="547" name="Google Shape;547;p34"/>
          <p:cNvCxnSpPr/>
          <p:nvPr/>
        </p:nvCxnSpPr>
        <p:spPr>
          <a:xfrm flipH="1" rot="10800000">
            <a:off x="4224528" y="285292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48" name="Google Shape;548;p34"/>
          <p:cNvCxnSpPr/>
          <p:nvPr/>
        </p:nvCxnSpPr>
        <p:spPr>
          <a:xfrm flipH="1" rot="10800000">
            <a:off x="4224528" y="344728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49" name="Google Shape;549;p34"/>
          <p:cNvCxnSpPr/>
          <p:nvPr/>
        </p:nvCxnSpPr>
        <p:spPr>
          <a:xfrm>
            <a:off x="4224528" y="4041648"/>
            <a:ext cx="2514600" cy="0"/>
          </a:xfrm>
          <a:prstGeom prst="straightConnector1">
            <a:avLst/>
          </a:prstGeom>
          <a:noFill/>
          <a:ln cap="flat" cmpd="sng" w="9525">
            <a:solidFill>
              <a:srgbClr val="C8C8C8"/>
            </a:solidFill>
            <a:prstDash val="solid"/>
            <a:round/>
            <a:headEnd len="sm" w="sm" type="none"/>
            <a:tailEnd len="sm" w="sm" type="none"/>
          </a:ln>
        </p:spPr>
      </p:cxnSp>
      <p:cxnSp>
        <p:nvCxnSpPr>
          <p:cNvPr id="550" name="Google Shape;550;p34"/>
          <p:cNvCxnSpPr/>
          <p:nvPr/>
        </p:nvCxnSpPr>
        <p:spPr>
          <a:xfrm>
            <a:off x="4224528" y="404164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51" name="Google Shape;551;p34"/>
          <p:cNvCxnSpPr/>
          <p:nvPr/>
        </p:nvCxnSpPr>
        <p:spPr>
          <a:xfrm>
            <a:off x="4224528" y="404164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52" name="Google Shape;552;p34"/>
          <p:cNvCxnSpPr/>
          <p:nvPr/>
        </p:nvCxnSpPr>
        <p:spPr>
          <a:xfrm flipH="1" rot="10800000">
            <a:off x="4224528" y="2852928"/>
            <a:ext cx="2514600" cy="1783080"/>
          </a:xfrm>
          <a:prstGeom prst="straightConnector1">
            <a:avLst/>
          </a:prstGeom>
          <a:noFill/>
          <a:ln cap="flat" cmpd="sng" w="9525">
            <a:solidFill>
              <a:srgbClr val="C8C8C8"/>
            </a:solidFill>
            <a:prstDash val="solid"/>
            <a:round/>
            <a:headEnd len="sm" w="sm" type="none"/>
            <a:tailEnd len="sm" w="sm" type="none"/>
          </a:ln>
        </p:spPr>
      </p:cxnSp>
      <p:cxnSp>
        <p:nvCxnSpPr>
          <p:cNvPr id="553" name="Google Shape;553;p34"/>
          <p:cNvCxnSpPr/>
          <p:nvPr/>
        </p:nvCxnSpPr>
        <p:spPr>
          <a:xfrm flipH="1" rot="10800000">
            <a:off x="4224528" y="344728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54" name="Google Shape;554;p34"/>
          <p:cNvCxnSpPr/>
          <p:nvPr/>
        </p:nvCxnSpPr>
        <p:spPr>
          <a:xfrm flipH="1" rot="10800000">
            <a:off x="4224528" y="404164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55" name="Google Shape;555;p34"/>
          <p:cNvCxnSpPr/>
          <p:nvPr/>
        </p:nvCxnSpPr>
        <p:spPr>
          <a:xfrm>
            <a:off x="4224528" y="4636008"/>
            <a:ext cx="2514600" cy="0"/>
          </a:xfrm>
          <a:prstGeom prst="straightConnector1">
            <a:avLst/>
          </a:prstGeom>
          <a:noFill/>
          <a:ln cap="flat" cmpd="sng" w="9525">
            <a:solidFill>
              <a:srgbClr val="C8C8C8"/>
            </a:solidFill>
            <a:prstDash val="solid"/>
            <a:round/>
            <a:headEnd len="sm" w="sm" type="none"/>
            <a:tailEnd len="sm" w="sm" type="none"/>
          </a:ln>
        </p:spPr>
      </p:cxnSp>
      <p:cxnSp>
        <p:nvCxnSpPr>
          <p:cNvPr id="556" name="Google Shape;556;p34"/>
          <p:cNvCxnSpPr/>
          <p:nvPr/>
        </p:nvCxnSpPr>
        <p:spPr>
          <a:xfrm>
            <a:off x="4224528" y="463600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57" name="Google Shape;557;p34"/>
          <p:cNvCxnSpPr/>
          <p:nvPr/>
        </p:nvCxnSpPr>
        <p:spPr>
          <a:xfrm flipH="1" rot="10800000">
            <a:off x="4224528" y="2852928"/>
            <a:ext cx="2514600" cy="2377440"/>
          </a:xfrm>
          <a:prstGeom prst="straightConnector1">
            <a:avLst/>
          </a:prstGeom>
          <a:noFill/>
          <a:ln cap="flat" cmpd="sng" w="9525">
            <a:solidFill>
              <a:srgbClr val="C8C8C8"/>
            </a:solidFill>
            <a:prstDash val="solid"/>
            <a:round/>
            <a:headEnd len="sm" w="sm" type="none"/>
            <a:tailEnd len="sm" w="sm" type="none"/>
          </a:ln>
        </p:spPr>
      </p:cxnSp>
      <p:cxnSp>
        <p:nvCxnSpPr>
          <p:cNvPr id="558" name="Google Shape;558;p34"/>
          <p:cNvCxnSpPr/>
          <p:nvPr/>
        </p:nvCxnSpPr>
        <p:spPr>
          <a:xfrm flipH="1" rot="10800000">
            <a:off x="4224528" y="3447288"/>
            <a:ext cx="2514600" cy="1783080"/>
          </a:xfrm>
          <a:prstGeom prst="straightConnector1">
            <a:avLst/>
          </a:prstGeom>
          <a:noFill/>
          <a:ln cap="flat" cmpd="sng" w="9525">
            <a:solidFill>
              <a:srgbClr val="C8C8C8"/>
            </a:solidFill>
            <a:prstDash val="solid"/>
            <a:round/>
            <a:headEnd len="sm" w="sm" type="none"/>
            <a:tailEnd len="sm" w="sm" type="none"/>
          </a:ln>
        </p:spPr>
      </p:cxnSp>
      <p:cxnSp>
        <p:nvCxnSpPr>
          <p:cNvPr id="559" name="Google Shape;559;p34"/>
          <p:cNvCxnSpPr/>
          <p:nvPr/>
        </p:nvCxnSpPr>
        <p:spPr>
          <a:xfrm flipH="1" rot="10800000">
            <a:off x="4224528" y="4041648"/>
            <a:ext cx="2514600" cy="1188720"/>
          </a:xfrm>
          <a:prstGeom prst="straightConnector1">
            <a:avLst/>
          </a:prstGeom>
          <a:noFill/>
          <a:ln cap="flat" cmpd="sng" w="9525">
            <a:solidFill>
              <a:srgbClr val="C8C8C8"/>
            </a:solidFill>
            <a:prstDash val="solid"/>
            <a:round/>
            <a:headEnd len="sm" w="sm" type="none"/>
            <a:tailEnd len="sm" w="sm" type="none"/>
          </a:ln>
        </p:spPr>
      </p:cxnSp>
      <p:cxnSp>
        <p:nvCxnSpPr>
          <p:cNvPr id="560" name="Google Shape;560;p34"/>
          <p:cNvCxnSpPr/>
          <p:nvPr/>
        </p:nvCxnSpPr>
        <p:spPr>
          <a:xfrm flipH="1" rot="10800000">
            <a:off x="4224528" y="4636008"/>
            <a:ext cx="2514600" cy="594360"/>
          </a:xfrm>
          <a:prstGeom prst="straightConnector1">
            <a:avLst/>
          </a:prstGeom>
          <a:noFill/>
          <a:ln cap="flat" cmpd="sng" w="9525">
            <a:solidFill>
              <a:srgbClr val="C8C8C8"/>
            </a:solidFill>
            <a:prstDash val="solid"/>
            <a:round/>
            <a:headEnd len="sm" w="sm" type="none"/>
            <a:tailEnd len="sm" w="sm" type="none"/>
          </a:ln>
        </p:spPr>
      </p:cxnSp>
      <p:cxnSp>
        <p:nvCxnSpPr>
          <p:cNvPr id="561" name="Google Shape;561;p34"/>
          <p:cNvCxnSpPr/>
          <p:nvPr/>
        </p:nvCxnSpPr>
        <p:spPr>
          <a:xfrm>
            <a:off x="4224528" y="5230368"/>
            <a:ext cx="2514600" cy="0"/>
          </a:xfrm>
          <a:prstGeom prst="straightConnector1">
            <a:avLst/>
          </a:prstGeom>
          <a:noFill/>
          <a:ln cap="flat" cmpd="sng" w="9525">
            <a:solidFill>
              <a:srgbClr val="C8C8C8"/>
            </a:solidFill>
            <a:prstDash val="solid"/>
            <a:round/>
            <a:headEnd len="sm" w="sm" type="none"/>
            <a:tailEnd len="sm" w="sm" type="none"/>
          </a:ln>
        </p:spPr>
      </p:cxnSp>
      <p:cxnSp>
        <p:nvCxnSpPr>
          <p:cNvPr id="562" name="Google Shape;562;p34"/>
          <p:cNvCxnSpPr/>
          <p:nvPr/>
        </p:nvCxnSpPr>
        <p:spPr>
          <a:xfrm>
            <a:off x="6784848" y="285292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63" name="Google Shape;563;p34"/>
          <p:cNvCxnSpPr/>
          <p:nvPr/>
        </p:nvCxnSpPr>
        <p:spPr>
          <a:xfrm>
            <a:off x="6784848" y="285292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64" name="Google Shape;564;p34"/>
          <p:cNvCxnSpPr/>
          <p:nvPr/>
        </p:nvCxnSpPr>
        <p:spPr>
          <a:xfrm>
            <a:off x="6784848" y="344728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65" name="Google Shape;565;p34"/>
          <p:cNvCxnSpPr/>
          <p:nvPr/>
        </p:nvCxnSpPr>
        <p:spPr>
          <a:xfrm>
            <a:off x="6784848" y="344728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66" name="Google Shape;566;p34"/>
          <p:cNvCxnSpPr/>
          <p:nvPr/>
        </p:nvCxnSpPr>
        <p:spPr>
          <a:xfrm flipH="1" rot="10800000">
            <a:off x="6784848" y="374446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67" name="Google Shape;567;p34"/>
          <p:cNvCxnSpPr/>
          <p:nvPr/>
        </p:nvCxnSpPr>
        <p:spPr>
          <a:xfrm>
            <a:off x="6784848" y="404164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68" name="Google Shape;568;p34"/>
          <p:cNvCxnSpPr/>
          <p:nvPr/>
        </p:nvCxnSpPr>
        <p:spPr>
          <a:xfrm flipH="1" rot="10800000">
            <a:off x="6784848" y="3744468"/>
            <a:ext cx="2514600" cy="891540"/>
          </a:xfrm>
          <a:prstGeom prst="straightConnector1">
            <a:avLst/>
          </a:prstGeom>
          <a:noFill/>
          <a:ln cap="flat" cmpd="sng" w="9525">
            <a:solidFill>
              <a:srgbClr val="C8C8C8"/>
            </a:solidFill>
            <a:prstDash val="solid"/>
            <a:round/>
            <a:headEnd len="sm" w="sm" type="none"/>
            <a:tailEnd len="sm" w="sm" type="none"/>
          </a:ln>
        </p:spPr>
      </p:cxnSp>
      <p:cxnSp>
        <p:nvCxnSpPr>
          <p:cNvPr id="569" name="Google Shape;569;p34"/>
          <p:cNvCxnSpPr/>
          <p:nvPr/>
        </p:nvCxnSpPr>
        <p:spPr>
          <a:xfrm flipH="1" rot="10800000">
            <a:off x="6784848" y="4338828"/>
            <a:ext cx="2514600" cy="297180"/>
          </a:xfrm>
          <a:prstGeom prst="straightConnector1">
            <a:avLst/>
          </a:prstGeom>
          <a:noFill/>
          <a:ln cap="flat" cmpd="sng" w="9525">
            <a:solidFill>
              <a:srgbClr val="C8C8C8"/>
            </a:solidFill>
            <a:prstDash val="solid"/>
            <a:round/>
            <a:headEnd len="sm" w="sm" type="none"/>
            <a:tailEnd len="sm" w="sm" type="none"/>
          </a:ln>
        </p:spPr>
      </p:cxnSp>
      <p:cxnSp>
        <p:nvCxnSpPr>
          <p:cNvPr id="570" name="Google Shape;570;p34"/>
          <p:cNvCxnSpPr/>
          <p:nvPr/>
        </p:nvCxnSpPr>
        <p:spPr>
          <a:xfrm flipH="1" rot="10800000">
            <a:off x="6784848" y="3744468"/>
            <a:ext cx="2514600" cy="1485900"/>
          </a:xfrm>
          <a:prstGeom prst="straightConnector1">
            <a:avLst/>
          </a:prstGeom>
          <a:noFill/>
          <a:ln cap="flat" cmpd="sng" w="9525">
            <a:solidFill>
              <a:srgbClr val="C8C8C8"/>
            </a:solidFill>
            <a:prstDash val="solid"/>
            <a:round/>
            <a:headEnd len="sm" w="sm" type="none"/>
            <a:tailEnd len="sm" w="sm" type="none"/>
          </a:ln>
        </p:spPr>
      </p:cxnSp>
      <p:cxnSp>
        <p:nvCxnSpPr>
          <p:cNvPr id="571" name="Google Shape;571;p34"/>
          <p:cNvCxnSpPr/>
          <p:nvPr/>
        </p:nvCxnSpPr>
        <p:spPr>
          <a:xfrm flipH="1" rot="10800000">
            <a:off x="6784848" y="4338828"/>
            <a:ext cx="2514600" cy="891540"/>
          </a:xfrm>
          <a:prstGeom prst="straightConnector1">
            <a:avLst/>
          </a:prstGeom>
          <a:noFill/>
          <a:ln cap="flat" cmpd="sng" w="9525">
            <a:solidFill>
              <a:srgbClr val="C8C8C8"/>
            </a:solidFill>
            <a:prstDash val="solid"/>
            <a:round/>
            <a:headEnd len="sm" w="sm" type="none"/>
            <a:tailEnd len="sm" w="sm" type="none"/>
          </a:ln>
        </p:spPr>
      </p:cxnSp>
      <p:sp>
        <p:nvSpPr>
          <p:cNvPr id="572" name="Google Shape;572;p34"/>
          <p:cNvSpPr/>
          <p:nvPr/>
        </p:nvSpPr>
        <p:spPr>
          <a:xfrm>
            <a:off x="1371600" y="2857500"/>
            <a:ext cx="585216" cy="585216"/>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4"/>
          <p:cNvSpPr/>
          <p:nvPr/>
        </p:nvSpPr>
        <p:spPr>
          <a:xfrm>
            <a:off x="1371600" y="3451860"/>
            <a:ext cx="585216" cy="585216"/>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4"/>
          <p:cNvSpPr/>
          <p:nvPr/>
        </p:nvSpPr>
        <p:spPr>
          <a:xfrm>
            <a:off x="1371600" y="4046220"/>
            <a:ext cx="585216" cy="585216"/>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4"/>
          <p:cNvSpPr/>
          <p:nvPr/>
        </p:nvSpPr>
        <p:spPr>
          <a:xfrm>
            <a:off x="1371600" y="4640580"/>
            <a:ext cx="585216" cy="585216"/>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4"/>
          <p:cNvSpPr/>
          <p:nvPr/>
        </p:nvSpPr>
        <p:spPr>
          <a:xfrm>
            <a:off x="914400" y="5532120"/>
            <a:ext cx="1463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200"/>
              <a:buFont typeface="Archivo Black"/>
              <a:buNone/>
            </a:pPr>
            <a:r>
              <a:rPr b="1" i="0" lang="en-US" sz="1200" u="none" cap="none" strike="noStrike">
                <a:solidFill>
                  <a:srgbClr val="361A54"/>
                </a:solidFill>
                <a:latin typeface="Archivo Black"/>
                <a:ea typeface="Archivo Black"/>
                <a:cs typeface="Archivo Black"/>
                <a:sym typeface="Archivo Black"/>
              </a:rPr>
              <a:t>Input</a:t>
            </a:r>
            <a:endParaRPr b="0" i="0" sz="1200" u="none" cap="none" strike="noStrike">
              <a:solidFill>
                <a:schemeClr val="dk1"/>
              </a:solidFill>
              <a:latin typeface="Calibri"/>
              <a:ea typeface="Calibri"/>
              <a:cs typeface="Calibri"/>
              <a:sym typeface="Calibri"/>
            </a:endParaRPr>
          </a:p>
        </p:txBody>
      </p:sp>
      <p:sp>
        <p:nvSpPr>
          <p:cNvPr id="577" name="Google Shape;577;p34"/>
          <p:cNvSpPr/>
          <p:nvPr/>
        </p:nvSpPr>
        <p:spPr>
          <a:xfrm>
            <a:off x="914400" y="5852160"/>
            <a:ext cx="1463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000" u="none" cap="none" strike="noStrike">
                <a:solidFill>
                  <a:srgbClr val="555555"/>
                </a:solidFill>
                <a:latin typeface="Merriweather"/>
                <a:ea typeface="Merriweather"/>
                <a:cs typeface="Merriweather"/>
                <a:sym typeface="Merriweather"/>
              </a:rPr>
              <a:t>4 units</a:t>
            </a:r>
            <a:endParaRPr b="0" i="0" sz="1000" u="none" cap="none" strike="noStrike">
              <a:solidFill>
                <a:schemeClr val="dk1"/>
              </a:solidFill>
              <a:latin typeface="Calibri"/>
              <a:ea typeface="Calibri"/>
              <a:cs typeface="Calibri"/>
              <a:sym typeface="Calibri"/>
            </a:endParaRPr>
          </a:p>
        </p:txBody>
      </p:sp>
      <p:sp>
        <p:nvSpPr>
          <p:cNvPr id="578" name="Google Shape;578;p34"/>
          <p:cNvSpPr/>
          <p:nvPr/>
        </p:nvSpPr>
        <p:spPr>
          <a:xfrm>
            <a:off x="3931920" y="2560320"/>
            <a:ext cx="585216" cy="585216"/>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4"/>
          <p:cNvSpPr/>
          <p:nvPr/>
        </p:nvSpPr>
        <p:spPr>
          <a:xfrm>
            <a:off x="3931920" y="3154680"/>
            <a:ext cx="585216" cy="585216"/>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4"/>
          <p:cNvSpPr/>
          <p:nvPr/>
        </p:nvSpPr>
        <p:spPr>
          <a:xfrm>
            <a:off x="3931920" y="3749040"/>
            <a:ext cx="585216" cy="585216"/>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4"/>
          <p:cNvSpPr/>
          <p:nvPr/>
        </p:nvSpPr>
        <p:spPr>
          <a:xfrm>
            <a:off x="3931920" y="4343400"/>
            <a:ext cx="585216" cy="585216"/>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4"/>
          <p:cNvSpPr/>
          <p:nvPr/>
        </p:nvSpPr>
        <p:spPr>
          <a:xfrm>
            <a:off x="3931920" y="4937760"/>
            <a:ext cx="585216" cy="585216"/>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4"/>
          <p:cNvSpPr/>
          <p:nvPr/>
        </p:nvSpPr>
        <p:spPr>
          <a:xfrm>
            <a:off x="3474720" y="5532120"/>
            <a:ext cx="1463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200"/>
              <a:buFont typeface="Archivo Black"/>
              <a:buNone/>
            </a:pPr>
            <a:r>
              <a:rPr b="1" i="0" lang="en-US" sz="1200" u="none" cap="none" strike="noStrike">
                <a:solidFill>
                  <a:srgbClr val="361A54"/>
                </a:solidFill>
                <a:latin typeface="Archivo Black"/>
                <a:ea typeface="Archivo Black"/>
                <a:cs typeface="Archivo Black"/>
                <a:sym typeface="Archivo Black"/>
              </a:rPr>
              <a:t>Hidden 1</a:t>
            </a:r>
            <a:endParaRPr b="0" i="0" sz="1200" u="none" cap="none" strike="noStrike">
              <a:solidFill>
                <a:schemeClr val="dk1"/>
              </a:solidFill>
              <a:latin typeface="Calibri"/>
              <a:ea typeface="Calibri"/>
              <a:cs typeface="Calibri"/>
              <a:sym typeface="Calibri"/>
            </a:endParaRPr>
          </a:p>
        </p:txBody>
      </p:sp>
      <p:sp>
        <p:nvSpPr>
          <p:cNvPr id="584" name="Google Shape;584;p34"/>
          <p:cNvSpPr/>
          <p:nvPr/>
        </p:nvSpPr>
        <p:spPr>
          <a:xfrm>
            <a:off x="3474720" y="5852160"/>
            <a:ext cx="1463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000" u="none" cap="none" strike="noStrike">
                <a:solidFill>
                  <a:srgbClr val="555555"/>
                </a:solidFill>
                <a:latin typeface="Merriweather"/>
                <a:ea typeface="Merriweather"/>
                <a:cs typeface="Merriweather"/>
                <a:sym typeface="Merriweather"/>
              </a:rPr>
              <a:t>5 units</a:t>
            </a:r>
            <a:endParaRPr b="0" i="0" sz="1000" u="none" cap="none" strike="noStrike">
              <a:solidFill>
                <a:schemeClr val="dk1"/>
              </a:solidFill>
              <a:latin typeface="Calibri"/>
              <a:ea typeface="Calibri"/>
              <a:cs typeface="Calibri"/>
              <a:sym typeface="Calibri"/>
            </a:endParaRPr>
          </a:p>
        </p:txBody>
      </p:sp>
      <p:sp>
        <p:nvSpPr>
          <p:cNvPr id="585" name="Google Shape;585;p34"/>
          <p:cNvSpPr/>
          <p:nvPr/>
        </p:nvSpPr>
        <p:spPr>
          <a:xfrm>
            <a:off x="6492240" y="2560320"/>
            <a:ext cx="585216" cy="585216"/>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4"/>
          <p:cNvSpPr/>
          <p:nvPr/>
        </p:nvSpPr>
        <p:spPr>
          <a:xfrm>
            <a:off x="6492240" y="3154680"/>
            <a:ext cx="585216" cy="585216"/>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4"/>
          <p:cNvSpPr/>
          <p:nvPr/>
        </p:nvSpPr>
        <p:spPr>
          <a:xfrm>
            <a:off x="6492240" y="3749040"/>
            <a:ext cx="585216" cy="585216"/>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4"/>
          <p:cNvSpPr/>
          <p:nvPr/>
        </p:nvSpPr>
        <p:spPr>
          <a:xfrm>
            <a:off x="6492240" y="4343400"/>
            <a:ext cx="585216" cy="585216"/>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6492240" y="4937760"/>
            <a:ext cx="585216" cy="585216"/>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4"/>
          <p:cNvSpPr/>
          <p:nvPr/>
        </p:nvSpPr>
        <p:spPr>
          <a:xfrm>
            <a:off x="6035040" y="5532120"/>
            <a:ext cx="1463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200"/>
              <a:buFont typeface="Archivo Black"/>
              <a:buNone/>
            </a:pPr>
            <a:r>
              <a:rPr b="1" i="0" lang="en-US" sz="1200" u="none" cap="none" strike="noStrike">
                <a:solidFill>
                  <a:srgbClr val="361A54"/>
                </a:solidFill>
                <a:latin typeface="Archivo Black"/>
                <a:ea typeface="Archivo Black"/>
                <a:cs typeface="Archivo Black"/>
                <a:sym typeface="Archivo Black"/>
              </a:rPr>
              <a:t>Hidden 2</a:t>
            </a:r>
            <a:endParaRPr b="0" i="0" sz="1200" u="none" cap="none" strike="noStrike">
              <a:solidFill>
                <a:schemeClr val="dk1"/>
              </a:solidFill>
              <a:latin typeface="Calibri"/>
              <a:ea typeface="Calibri"/>
              <a:cs typeface="Calibri"/>
              <a:sym typeface="Calibri"/>
            </a:endParaRPr>
          </a:p>
        </p:txBody>
      </p:sp>
      <p:sp>
        <p:nvSpPr>
          <p:cNvPr id="591" name="Google Shape;591;p34"/>
          <p:cNvSpPr/>
          <p:nvPr/>
        </p:nvSpPr>
        <p:spPr>
          <a:xfrm>
            <a:off x="6035040" y="5852160"/>
            <a:ext cx="1463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000" u="none" cap="none" strike="noStrike">
                <a:solidFill>
                  <a:srgbClr val="555555"/>
                </a:solidFill>
                <a:latin typeface="Merriweather"/>
                <a:ea typeface="Merriweather"/>
                <a:cs typeface="Merriweather"/>
                <a:sym typeface="Merriweather"/>
              </a:rPr>
              <a:t>5 units</a:t>
            </a:r>
            <a:endParaRPr b="0" i="0" sz="1000" u="none" cap="none" strike="noStrike">
              <a:solidFill>
                <a:schemeClr val="dk1"/>
              </a:solidFill>
              <a:latin typeface="Calibri"/>
              <a:ea typeface="Calibri"/>
              <a:cs typeface="Calibri"/>
              <a:sym typeface="Calibri"/>
            </a:endParaRPr>
          </a:p>
        </p:txBody>
      </p:sp>
      <p:sp>
        <p:nvSpPr>
          <p:cNvPr id="592" name="Google Shape;592;p34"/>
          <p:cNvSpPr/>
          <p:nvPr/>
        </p:nvSpPr>
        <p:spPr>
          <a:xfrm>
            <a:off x="9052560" y="3451860"/>
            <a:ext cx="585216" cy="585216"/>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4"/>
          <p:cNvSpPr/>
          <p:nvPr/>
        </p:nvSpPr>
        <p:spPr>
          <a:xfrm>
            <a:off x="9052560" y="4046220"/>
            <a:ext cx="585216" cy="585216"/>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4"/>
          <p:cNvSpPr/>
          <p:nvPr/>
        </p:nvSpPr>
        <p:spPr>
          <a:xfrm>
            <a:off x="8595360" y="5532120"/>
            <a:ext cx="1463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200"/>
              <a:buFont typeface="Archivo Black"/>
              <a:buNone/>
            </a:pPr>
            <a:r>
              <a:rPr b="1" i="0" lang="en-US" sz="1200" u="none" cap="none" strike="noStrike">
                <a:solidFill>
                  <a:srgbClr val="361A54"/>
                </a:solidFill>
                <a:latin typeface="Archivo Black"/>
                <a:ea typeface="Archivo Black"/>
                <a:cs typeface="Archivo Black"/>
                <a:sym typeface="Archivo Black"/>
              </a:rPr>
              <a:t>Output</a:t>
            </a:r>
            <a:endParaRPr b="0" i="0" sz="1200" u="none" cap="none" strike="noStrike">
              <a:solidFill>
                <a:schemeClr val="dk1"/>
              </a:solidFill>
              <a:latin typeface="Calibri"/>
              <a:ea typeface="Calibri"/>
              <a:cs typeface="Calibri"/>
              <a:sym typeface="Calibri"/>
            </a:endParaRPr>
          </a:p>
        </p:txBody>
      </p:sp>
      <p:sp>
        <p:nvSpPr>
          <p:cNvPr id="595" name="Google Shape;595;p34"/>
          <p:cNvSpPr/>
          <p:nvPr/>
        </p:nvSpPr>
        <p:spPr>
          <a:xfrm>
            <a:off x="8595360" y="5852160"/>
            <a:ext cx="1463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000"/>
              <a:buFont typeface="Merriweather"/>
              <a:buNone/>
            </a:pPr>
            <a:r>
              <a:rPr b="0" i="1" lang="en-US" sz="1000" u="none" cap="none" strike="noStrike">
                <a:solidFill>
                  <a:srgbClr val="555555"/>
                </a:solidFill>
                <a:latin typeface="Merriweather"/>
                <a:ea typeface="Merriweather"/>
                <a:cs typeface="Merriweather"/>
                <a:sym typeface="Merriweather"/>
              </a:rPr>
              <a:t>2 units</a:t>
            </a:r>
            <a:endParaRPr b="0" i="0" sz="1000" u="none" cap="none" strike="noStrike">
              <a:solidFill>
                <a:schemeClr val="dk1"/>
              </a:solidFill>
              <a:latin typeface="Calibri"/>
              <a:ea typeface="Calibri"/>
              <a:cs typeface="Calibri"/>
              <a:sym typeface="Calibri"/>
            </a:endParaRPr>
          </a:p>
        </p:txBody>
      </p:sp>
      <p:sp>
        <p:nvSpPr>
          <p:cNvPr id="596" name="Google Shape;596;p34"/>
          <p:cNvSpPr/>
          <p:nvPr/>
        </p:nvSpPr>
        <p:spPr>
          <a:xfrm>
            <a:off x="5029200" y="1783080"/>
            <a:ext cx="2103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5555"/>
              </a:buClr>
              <a:buSzPts val="1100"/>
              <a:buFont typeface="Merriweather"/>
              <a:buNone/>
            </a:pPr>
            <a:r>
              <a:rPr b="0" i="1" lang="en-US" sz="1600" u="none" cap="none" strike="noStrike">
                <a:solidFill>
                  <a:srgbClr val="555555"/>
                </a:solidFill>
                <a:latin typeface="Merriweather"/>
                <a:ea typeface="Merriweather"/>
                <a:cs typeface="Merriweather"/>
                <a:sym typeface="Merriweather"/>
              </a:rPr>
              <a:t>forward pass</a:t>
            </a:r>
            <a:endParaRPr b="0" i="0" sz="1600" u="none" cap="none" strike="noStrike">
              <a:solidFill>
                <a:schemeClr val="dk1"/>
              </a:solidFill>
              <a:latin typeface="Calibri"/>
              <a:ea typeface="Calibri"/>
              <a:cs typeface="Calibri"/>
              <a:sym typeface="Calibri"/>
            </a:endParaRPr>
          </a:p>
        </p:txBody>
      </p:sp>
      <p:cxnSp>
        <p:nvCxnSpPr>
          <p:cNvPr id="597" name="Google Shape;597;p34"/>
          <p:cNvCxnSpPr/>
          <p:nvPr/>
        </p:nvCxnSpPr>
        <p:spPr>
          <a:xfrm>
            <a:off x="1371600" y="2103120"/>
            <a:ext cx="8229600" cy="0"/>
          </a:xfrm>
          <a:prstGeom prst="straightConnector1">
            <a:avLst/>
          </a:prstGeom>
          <a:noFill/>
          <a:ln cap="flat" cmpd="sng" w="12700">
            <a:solidFill>
              <a:srgbClr val="361A54"/>
            </a:solidFill>
            <a:prstDash val="dash"/>
            <a:round/>
            <a:headEnd len="sm" w="sm" type="none"/>
            <a:tailEnd len="sm" w="sm" type="none"/>
          </a:ln>
        </p:spPr>
      </p:cxnSp>
      <p:sp>
        <p:nvSpPr>
          <p:cNvPr id="598" name="Google Shape;598;p34"/>
          <p:cNvSpPr/>
          <p:nvPr/>
        </p:nvSpPr>
        <p:spPr>
          <a:xfrm rot="5400000">
            <a:off x="9555480" y="1993392"/>
            <a:ext cx="182880" cy="228600"/>
          </a:xfrm>
          <a:prstGeom prst="rtTriangl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4"/>
          <p:cNvSpPr/>
          <p:nvPr/>
        </p:nvSpPr>
        <p:spPr>
          <a:xfrm>
            <a:off x="548640" y="626364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200"/>
              <a:buFont typeface="Merriweather"/>
              <a:buNone/>
            </a:pPr>
            <a:r>
              <a:rPr b="0" i="1" lang="en-US" sz="1700" u="none" cap="none" strike="noStrike">
                <a:solidFill>
                  <a:srgbClr val="555555"/>
                </a:solidFill>
                <a:latin typeface="Merriweather"/>
                <a:ea typeface="Merriweather"/>
                <a:cs typeface="Merriweather"/>
                <a:sym typeface="Merriweather"/>
              </a:rPr>
              <a:t>Each connection is one weight. Each neuron also has a bias. Train them all.</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4" name="Shape 604"/>
        <p:cNvGrpSpPr/>
        <p:nvPr/>
      </p:nvGrpSpPr>
      <p:grpSpPr>
        <a:xfrm>
          <a:off x="0" y="0"/>
          <a:ext cx="0" cy="0"/>
          <a:chOff x="0" y="0"/>
          <a:chExt cx="0" cy="0"/>
        </a:xfrm>
      </p:grpSpPr>
      <p:sp>
        <p:nvSpPr>
          <p:cNvPr id="605" name="Google Shape;605;p35"/>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Activation functions: where non-linearity comes from.</a:t>
            </a:r>
            <a:endParaRPr b="0" i="0" sz="2600" u="none" cap="none" strike="noStrike">
              <a:solidFill>
                <a:schemeClr val="dk1"/>
              </a:solidFill>
              <a:latin typeface="Calibri"/>
              <a:ea typeface="Calibri"/>
              <a:cs typeface="Calibri"/>
              <a:sym typeface="Calibri"/>
            </a:endParaRPr>
          </a:p>
        </p:txBody>
      </p:sp>
      <p:sp>
        <p:nvSpPr>
          <p:cNvPr id="606" name="Google Shape;606;p35"/>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Without a non-linear σ, stacking layers is mathematically identical to one big linear map.</a:t>
            </a:r>
            <a:endParaRPr b="0" i="0" sz="1300" u="none" cap="none" strike="noStrike">
              <a:solidFill>
                <a:schemeClr val="dk1"/>
              </a:solidFill>
              <a:latin typeface="Calibri"/>
              <a:ea typeface="Calibri"/>
              <a:cs typeface="Calibri"/>
              <a:sym typeface="Calibri"/>
            </a:endParaRPr>
          </a:p>
        </p:txBody>
      </p:sp>
      <p:sp>
        <p:nvSpPr>
          <p:cNvPr id="607" name="Google Shape;607;p35"/>
          <p:cNvSpPr/>
          <p:nvPr/>
        </p:nvSpPr>
        <p:spPr>
          <a:xfrm>
            <a:off x="406908"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5"/>
          <p:cNvSpPr/>
          <p:nvPr/>
        </p:nvSpPr>
        <p:spPr>
          <a:xfrm>
            <a:off x="406908" y="178308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
          <p:cNvSpPr/>
          <p:nvPr/>
        </p:nvSpPr>
        <p:spPr>
          <a:xfrm>
            <a:off x="635508" y="1847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ReLU</a:t>
            </a:r>
            <a:endParaRPr b="0" i="0" sz="1500" u="none" cap="none" strike="noStrike">
              <a:solidFill>
                <a:schemeClr val="dk1"/>
              </a:solidFill>
              <a:latin typeface="Calibri"/>
              <a:ea typeface="Calibri"/>
              <a:cs typeface="Calibri"/>
              <a:sym typeface="Calibri"/>
            </a:endParaRPr>
          </a:p>
        </p:txBody>
      </p:sp>
      <p:sp>
        <p:nvSpPr>
          <p:cNvPr id="610" name="Google Shape;610;p35"/>
          <p:cNvSpPr/>
          <p:nvPr/>
        </p:nvSpPr>
        <p:spPr>
          <a:xfrm>
            <a:off x="772668" y="2560320"/>
            <a:ext cx="2926080" cy="18288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1" name="Google Shape;611;p35"/>
          <p:cNvCxnSpPr/>
          <p:nvPr/>
        </p:nvCxnSpPr>
        <p:spPr>
          <a:xfrm>
            <a:off x="772668" y="3474720"/>
            <a:ext cx="2926080" cy="0"/>
          </a:xfrm>
          <a:prstGeom prst="straightConnector1">
            <a:avLst/>
          </a:prstGeom>
          <a:noFill/>
          <a:ln cap="flat" cmpd="sng" w="9525">
            <a:solidFill>
              <a:srgbClr val="555555"/>
            </a:solidFill>
            <a:prstDash val="solid"/>
            <a:round/>
            <a:headEnd len="sm" w="sm" type="none"/>
            <a:tailEnd len="sm" w="sm" type="none"/>
          </a:ln>
        </p:spPr>
      </p:cxnSp>
      <p:cxnSp>
        <p:nvCxnSpPr>
          <p:cNvPr id="612" name="Google Shape;612;p35"/>
          <p:cNvCxnSpPr/>
          <p:nvPr/>
        </p:nvCxnSpPr>
        <p:spPr>
          <a:xfrm>
            <a:off x="2235708" y="2560320"/>
            <a:ext cx="0" cy="1828800"/>
          </a:xfrm>
          <a:prstGeom prst="straightConnector1">
            <a:avLst/>
          </a:prstGeom>
          <a:noFill/>
          <a:ln cap="flat" cmpd="sng" w="9525">
            <a:solidFill>
              <a:srgbClr val="555555"/>
            </a:solidFill>
            <a:prstDash val="solid"/>
            <a:round/>
            <a:headEnd len="sm" w="sm" type="none"/>
            <a:tailEnd len="sm" w="sm" type="none"/>
          </a:ln>
        </p:spPr>
      </p:cxnSp>
      <p:cxnSp>
        <p:nvCxnSpPr>
          <p:cNvPr id="613" name="Google Shape;613;p35"/>
          <p:cNvCxnSpPr/>
          <p:nvPr/>
        </p:nvCxnSpPr>
        <p:spPr>
          <a:xfrm>
            <a:off x="772668" y="3474720"/>
            <a:ext cx="1463040" cy="0"/>
          </a:xfrm>
          <a:prstGeom prst="straightConnector1">
            <a:avLst/>
          </a:prstGeom>
          <a:noFill/>
          <a:ln cap="flat" cmpd="sng" w="31750">
            <a:solidFill>
              <a:srgbClr val="E97132"/>
            </a:solidFill>
            <a:prstDash val="solid"/>
            <a:round/>
            <a:headEnd len="sm" w="sm" type="none"/>
            <a:tailEnd len="sm" w="sm" type="none"/>
          </a:ln>
        </p:spPr>
      </p:cxnSp>
      <p:cxnSp>
        <p:nvCxnSpPr>
          <p:cNvPr id="614" name="Google Shape;614;p35"/>
          <p:cNvCxnSpPr/>
          <p:nvPr/>
        </p:nvCxnSpPr>
        <p:spPr>
          <a:xfrm flipH="1" rot="10800000">
            <a:off x="2235708" y="2560320"/>
            <a:ext cx="1463040" cy="914400"/>
          </a:xfrm>
          <a:prstGeom prst="straightConnector1">
            <a:avLst/>
          </a:prstGeom>
          <a:noFill/>
          <a:ln cap="flat" cmpd="sng" w="31750">
            <a:solidFill>
              <a:srgbClr val="E97132"/>
            </a:solidFill>
            <a:prstDash val="solid"/>
            <a:round/>
            <a:headEnd len="sm" w="sm" type="none"/>
            <a:tailEnd len="sm" w="sm" type="none"/>
          </a:ln>
        </p:spPr>
      </p:cxnSp>
      <p:sp>
        <p:nvSpPr>
          <p:cNvPr id="615" name="Google Shape;615;p35"/>
          <p:cNvSpPr/>
          <p:nvPr/>
        </p:nvSpPr>
        <p:spPr>
          <a:xfrm>
            <a:off x="635508" y="4480560"/>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400"/>
              <a:buFont typeface="Consolas"/>
              <a:buNone/>
            </a:pPr>
            <a:r>
              <a:rPr b="1" i="0" lang="en-US" sz="1400" u="none" cap="none" strike="noStrike">
                <a:solidFill>
                  <a:srgbClr val="361A54"/>
                </a:solidFill>
                <a:latin typeface="Consolas"/>
                <a:ea typeface="Consolas"/>
                <a:cs typeface="Consolas"/>
                <a:sym typeface="Consolas"/>
              </a:rPr>
              <a:t>max(0, x)</a:t>
            </a:r>
            <a:endParaRPr b="0" i="0" sz="1400" u="none" cap="none" strike="noStrike">
              <a:solidFill>
                <a:schemeClr val="dk1"/>
              </a:solidFill>
              <a:latin typeface="Calibri"/>
              <a:ea typeface="Calibri"/>
              <a:cs typeface="Calibri"/>
              <a:sym typeface="Calibri"/>
            </a:endParaRPr>
          </a:p>
        </p:txBody>
      </p:sp>
      <p:sp>
        <p:nvSpPr>
          <p:cNvPr id="616" name="Google Shape;616;p35"/>
          <p:cNvSpPr/>
          <p:nvPr/>
        </p:nvSpPr>
        <p:spPr>
          <a:xfrm>
            <a:off x="635508" y="4892040"/>
            <a:ext cx="32004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u="none" cap="none" strike="noStrike">
                <a:solidFill>
                  <a:srgbClr val="333333"/>
                </a:solidFill>
                <a:latin typeface="Merriweather"/>
                <a:ea typeface="Merriweather"/>
                <a:cs typeface="Merriweather"/>
                <a:sym typeface="Merriweather"/>
              </a:rPr>
              <a:t>Default for hidden layers in modern deep nets. Fast, sparse, well-behaved gradients.</a:t>
            </a:r>
            <a:endParaRPr b="0" i="0" u="none" cap="none" strike="noStrike">
              <a:solidFill>
                <a:schemeClr val="dk1"/>
              </a:solidFill>
              <a:latin typeface="Calibri"/>
              <a:ea typeface="Calibri"/>
              <a:cs typeface="Calibri"/>
              <a:sym typeface="Calibri"/>
            </a:endParaRPr>
          </a:p>
        </p:txBody>
      </p:sp>
      <p:sp>
        <p:nvSpPr>
          <p:cNvPr id="617" name="Google Shape;617;p35"/>
          <p:cNvSpPr/>
          <p:nvPr/>
        </p:nvSpPr>
        <p:spPr>
          <a:xfrm>
            <a:off x="4265676"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5"/>
          <p:cNvSpPr/>
          <p:nvPr/>
        </p:nvSpPr>
        <p:spPr>
          <a:xfrm>
            <a:off x="4265676" y="178308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5"/>
          <p:cNvSpPr/>
          <p:nvPr/>
        </p:nvSpPr>
        <p:spPr>
          <a:xfrm>
            <a:off x="4494276" y="1847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Sigmoid</a:t>
            </a:r>
            <a:endParaRPr b="0" i="0" sz="1500" u="none" cap="none" strike="noStrike">
              <a:solidFill>
                <a:schemeClr val="dk1"/>
              </a:solidFill>
              <a:latin typeface="Calibri"/>
              <a:ea typeface="Calibri"/>
              <a:cs typeface="Calibri"/>
              <a:sym typeface="Calibri"/>
            </a:endParaRPr>
          </a:p>
        </p:txBody>
      </p:sp>
      <p:sp>
        <p:nvSpPr>
          <p:cNvPr id="620" name="Google Shape;620;p35"/>
          <p:cNvSpPr/>
          <p:nvPr/>
        </p:nvSpPr>
        <p:spPr>
          <a:xfrm>
            <a:off x="4631436" y="2560320"/>
            <a:ext cx="2926080" cy="18288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1" name="Google Shape;621;p35"/>
          <p:cNvCxnSpPr/>
          <p:nvPr/>
        </p:nvCxnSpPr>
        <p:spPr>
          <a:xfrm>
            <a:off x="4631436" y="3474720"/>
            <a:ext cx="2926080" cy="0"/>
          </a:xfrm>
          <a:prstGeom prst="straightConnector1">
            <a:avLst/>
          </a:prstGeom>
          <a:noFill/>
          <a:ln cap="flat" cmpd="sng" w="9525">
            <a:solidFill>
              <a:srgbClr val="555555"/>
            </a:solidFill>
            <a:prstDash val="solid"/>
            <a:round/>
            <a:headEnd len="sm" w="sm" type="none"/>
            <a:tailEnd len="sm" w="sm" type="none"/>
          </a:ln>
        </p:spPr>
      </p:cxnSp>
      <p:cxnSp>
        <p:nvCxnSpPr>
          <p:cNvPr id="622" name="Google Shape;622;p35"/>
          <p:cNvCxnSpPr/>
          <p:nvPr/>
        </p:nvCxnSpPr>
        <p:spPr>
          <a:xfrm>
            <a:off x="6094476" y="2560320"/>
            <a:ext cx="0" cy="1828800"/>
          </a:xfrm>
          <a:prstGeom prst="straightConnector1">
            <a:avLst/>
          </a:prstGeom>
          <a:noFill/>
          <a:ln cap="flat" cmpd="sng" w="9525">
            <a:solidFill>
              <a:srgbClr val="555555"/>
            </a:solidFill>
            <a:prstDash val="solid"/>
            <a:round/>
            <a:headEnd len="sm" w="sm" type="none"/>
            <a:tailEnd len="sm" w="sm" type="none"/>
          </a:ln>
        </p:spPr>
      </p:cxnSp>
      <p:cxnSp>
        <p:nvCxnSpPr>
          <p:cNvPr id="623" name="Google Shape;623;p35"/>
          <p:cNvCxnSpPr/>
          <p:nvPr/>
        </p:nvCxnSpPr>
        <p:spPr>
          <a:xfrm flipH="1" rot="10800000">
            <a:off x="4631436" y="4372083"/>
            <a:ext cx="97536" cy="4797"/>
          </a:xfrm>
          <a:prstGeom prst="straightConnector1">
            <a:avLst/>
          </a:prstGeom>
          <a:noFill/>
          <a:ln cap="flat" cmpd="sng" w="31750">
            <a:solidFill>
              <a:srgbClr val="4EA72E"/>
            </a:solidFill>
            <a:prstDash val="solid"/>
            <a:round/>
            <a:headEnd len="sm" w="sm" type="none"/>
            <a:tailEnd len="sm" w="sm" type="none"/>
          </a:ln>
        </p:spPr>
      </p:cxnSp>
      <p:cxnSp>
        <p:nvCxnSpPr>
          <p:cNvPr id="624" name="Google Shape;624;p35"/>
          <p:cNvCxnSpPr/>
          <p:nvPr/>
        </p:nvCxnSpPr>
        <p:spPr>
          <a:xfrm flipH="1" rot="10800000">
            <a:off x="4728972" y="4365430"/>
            <a:ext cx="97536" cy="6653"/>
          </a:xfrm>
          <a:prstGeom prst="straightConnector1">
            <a:avLst/>
          </a:prstGeom>
          <a:noFill/>
          <a:ln cap="flat" cmpd="sng" w="31750">
            <a:solidFill>
              <a:srgbClr val="4EA72E"/>
            </a:solidFill>
            <a:prstDash val="solid"/>
            <a:round/>
            <a:headEnd len="sm" w="sm" type="none"/>
            <a:tailEnd len="sm" w="sm" type="none"/>
          </a:ln>
        </p:spPr>
      </p:cxnSp>
      <p:cxnSp>
        <p:nvCxnSpPr>
          <p:cNvPr id="625" name="Google Shape;625;p35"/>
          <p:cNvCxnSpPr/>
          <p:nvPr/>
        </p:nvCxnSpPr>
        <p:spPr>
          <a:xfrm flipH="1" rot="10800000">
            <a:off x="4826508" y="4356227"/>
            <a:ext cx="97536" cy="9203"/>
          </a:xfrm>
          <a:prstGeom prst="straightConnector1">
            <a:avLst/>
          </a:prstGeom>
          <a:noFill/>
          <a:ln cap="flat" cmpd="sng" w="31750">
            <a:solidFill>
              <a:srgbClr val="4EA72E"/>
            </a:solidFill>
            <a:prstDash val="solid"/>
            <a:round/>
            <a:headEnd len="sm" w="sm" type="none"/>
            <a:tailEnd len="sm" w="sm" type="none"/>
          </a:ln>
        </p:spPr>
      </p:cxnSp>
      <p:cxnSp>
        <p:nvCxnSpPr>
          <p:cNvPr id="626" name="Google Shape;626;p35"/>
          <p:cNvCxnSpPr/>
          <p:nvPr/>
        </p:nvCxnSpPr>
        <p:spPr>
          <a:xfrm flipH="1" rot="10800000">
            <a:off x="4924044" y="4343538"/>
            <a:ext cx="97536" cy="12689"/>
          </a:xfrm>
          <a:prstGeom prst="straightConnector1">
            <a:avLst/>
          </a:prstGeom>
          <a:noFill/>
          <a:ln cap="flat" cmpd="sng" w="31750">
            <a:solidFill>
              <a:srgbClr val="4EA72E"/>
            </a:solidFill>
            <a:prstDash val="solid"/>
            <a:round/>
            <a:headEnd len="sm" w="sm" type="none"/>
            <a:tailEnd len="sm" w="sm" type="none"/>
          </a:ln>
        </p:spPr>
      </p:cxnSp>
      <p:cxnSp>
        <p:nvCxnSpPr>
          <p:cNvPr id="627" name="Google Shape;627;p35"/>
          <p:cNvCxnSpPr/>
          <p:nvPr/>
        </p:nvCxnSpPr>
        <p:spPr>
          <a:xfrm flipH="1" rot="10800000">
            <a:off x="5021580" y="4326126"/>
            <a:ext cx="97536" cy="17412"/>
          </a:xfrm>
          <a:prstGeom prst="straightConnector1">
            <a:avLst/>
          </a:prstGeom>
          <a:noFill/>
          <a:ln cap="flat" cmpd="sng" w="31750">
            <a:solidFill>
              <a:srgbClr val="4EA72E"/>
            </a:solidFill>
            <a:prstDash val="solid"/>
            <a:round/>
            <a:headEnd len="sm" w="sm" type="none"/>
            <a:tailEnd len="sm" w="sm" type="none"/>
          </a:ln>
        </p:spPr>
      </p:cxnSp>
      <p:cxnSp>
        <p:nvCxnSpPr>
          <p:cNvPr id="628" name="Google Shape;628;p35"/>
          <p:cNvCxnSpPr/>
          <p:nvPr/>
        </p:nvCxnSpPr>
        <p:spPr>
          <a:xfrm flipH="1" rot="10800000">
            <a:off x="5119116" y="4302388"/>
            <a:ext cx="97536" cy="23739"/>
          </a:xfrm>
          <a:prstGeom prst="straightConnector1">
            <a:avLst/>
          </a:prstGeom>
          <a:noFill/>
          <a:ln cap="flat" cmpd="sng" w="31750">
            <a:solidFill>
              <a:srgbClr val="4EA72E"/>
            </a:solidFill>
            <a:prstDash val="solid"/>
            <a:round/>
            <a:headEnd len="sm" w="sm" type="none"/>
            <a:tailEnd len="sm" w="sm" type="none"/>
          </a:ln>
        </p:spPr>
      </p:cxnSp>
      <p:cxnSp>
        <p:nvCxnSpPr>
          <p:cNvPr id="629" name="Google Shape;629;p35"/>
          <p:cNvCxnSpPr/>
          <p:nvPr/>
        </p:nvCxnSpPr>
        <p:spPr>
          <a:xfrm flipH="1" rot="10800000">
            <a:off x="5216652" y="4270305"/>
            <a:ext cx="97536" cy="32083"/>
          </a:xfrm>
          <a:prstGeom prst="straightConnector1">
            <a:avLst/>
          </a:prstGeom>
          <a:noFill/>
          <a:ln cap="flat" cmpd="sng" w="31750">
            <a:solidFill>
              <a:srgbClr val="4EA72E"/>
            </a:solidFill>
            <a:prstDash val="solid"/>
            <a:round/>
            <a:headEnd len="sm" w="sm" type="none"/>
            <a:tailEnd len="sm" w="sm" type="none"/>
          </a:ln>
        </p:spPr>
      </p:cxnSp>
      <p:cxnSp>
        <p:nvCxnSpPr>
          <p:cNvPr id="630" name="Google Shape;630;p35"/>
          <p:cNvCxnSpPr/>
          <p:nvPr/>
        </p:nvCxnSpPr>
        <p:spPr>
          <a:xfrm flipH="1" rot="10800000">
            <a:off x="5314188" y="4227454"/>
            <a:ext cx="97536" cy="42850"/>
          </a:xfrm>
          <a:prstGeom prst="straightConnector1">
            <a:avLst/>
          </a:prstGeom>
          <a:noFill/>
          <a:ln cap="flat" cmpd="sng" w="31750">
            <a:solidFill>
              <a:srgbClr val="4EA72E"/>
            </a:solidFill>
            <a:prstDash val="solid"/>
            <a:round/>
            <a:headEnd len="sm" w="sm" type="none"/>
            <a:tailEnd len="sm" w="sm" type="none"/>
          </a:ln>
        </p:spPr>
      </p:cxnSp>
      <p:cxnSp>
        <p:nvCxnSpPr>
          <p:cNvPr id="631" name="Google Shape;631;p35"/>
          <p:cNvCxnSpPr/>
          <p:nvPr/>
        </p:nvCxnSpPr>
        <p:spPr>
          <a:xfrm flipH="1" rot="10800000">
            <a:off x="5411724" y="4171122"/>
            <a:ext cx="97536" cy="56333"/>
          </a:xfrm>
          <a:prstGeom prst="straightConnector1">
            <a:avLst/>
          </a:prstGeom>
          <a:noFill/>
          <a:ln cap="flat" cmpd="sng" w="31750">
            <a:solidFill>
              <a:srgbClr val="4EA72E"/>
            </a:solidFill>
            <a:prstDash val="solid"/>
            <a:round/>
            <a:headEnd len="sm" w="sm" type="none"/>
            <a:tailEnd len="sm" w="sm" type="none"/>
          </a:ln>
        </p:spPr>
      </p:cxnSp>
      <p:cxnSp>
        <p:nvCxnSpPr>
          <p:cNvPr id="632" name="Google Shape;632;p35"/>
          <p:cNvCxnSpPr/>
          <p:nvPr/>
        </p:nvCxnSpPr>
        <p:spPr>
          <a:xfrm flipH="1" rot="10800000">
            <a:off x="5509260" y="4098580"/>
            <a:ext cx="97536" cy="72542"/>
          </a:xfrm>
          <a:prstGeom prst="straightConnector1">
            <a:avLst/>
          </a:prstGeom>
          <a:noFill/>
          <a:ln cap="flat" cmpd="sng" w="31750">
            <a:solidFill>
              <a:srgbClr val="4EA72E"/>
            </a:solidFill>
            <a:prstDash val="solid"/>
            <a:round/>
            <a:headEnd len="sm" w="sm" type="none"/>
            <a:tailEnd len="sm" w="sm" type="none"/>
          </a:ln>
        </p:spPr>
      </p:cxnSp>
      <p:cxnSp>
        <p:nvCxnSpPr>
          <p:cNvPr id="633" name="Google Shape;633;p35"/>
          <p:cNvCxnSpPr/>
          <p:nvPr/>
        </p:nvCxnSpPr>
        <p:spPr>
          <a:xfrm flipH="1" rot="10800000">
            <a:off x="5606796" y="4007617"/>
            <a:ext cx="97536" cy="90963"/>
          </a:xfrm>
          <a:prstGeom prst="straightConnector1">
            <a:avLst/>
          </a:prstGeom>
          <a:noFill/>
          <a:ln cap="flat" cmpd="sng" w="31750">
            <a:solidFill>
              <a:srgbClr val="4EA72E"/>
            </a:solidFill>
            <a:prstDash val="solid"/>
            <a:round/>
            <a:headEnd len="sm" w="sm" type="none"/>
            <a:tailEnd len="sm" w="sm" type="none"/>
          </a:ln>
        </p:spPr>
      </p:cxnSp>
      <p:cxnSp>
        <p:nvCxnSpPr>
          <p:cNvPr id="634" name="Google Shape;634;p35"/>
          <p:cNvCxnSpPr/>
          <p:nvPr/>
        </p:nvCxnSpPr>
        <p:spPr>
          <a:xfrm flipH="1" rot="10800000">
            <a:off x="5704332" y="3897280"/>
            <a:ext cx="97536" cy="110337"/>
          </a:xfrm>
          <a:prstGeom prst="straightConnector1">
            <a:avLst/>
          </a:prstGeom>
          <a:noFill/>
          <a:ln cap="flat" cmpd="sng" w="31750">
            <a:solidFill>
              <a:srgbClr val="4EA72E"/>
            </a:solidFill>
            <a:prstDash val="solid"/>
            <a:round/>
            <a:headEnd len="sm" w="sm" type="none"/>
            <a:tailEnd len="sm" w="sm" type="none"/>
          </a:ln>
        </p:spPr>
      </p:cxnSp>
      <p:cxnSp>
        <p:nvCxnSpPr>
          <p:cNvPr id="635" name="Google Shape;635;p35"/>
          <p:cNvCxnSpPr/>
          <p:nvPr/>
        </p:nvCxnSpPr>
        <p:spPr>
          <a:xfrm flipH="1" rot="10800000">
            <a:off x="5801868" y="3768711"/>
            <a:ext cx="97536" cy="128569"/>
          </a:xfrm>
          <a:prstGeom prst="straightConnector1">
            <a:avLst/>
          </a:prstGeom>
          <a:noFill/>
          <a:ln cap="flat" cmpd="sng" w="31750">
            <a:solidFill>
              <a:srgbClr val="4EA72E"/>
            </a:solidFill>
            <a:prstDash val="solid"/>
            <a:round/>
            <a:headEnd len="sm" w="sm" type="none"/>
            <a:tailEnd len="sm" w="sm" type="none"/>
          </a:ln>
        </p:spPr>
      </p:cxnSp>
      <p:cxnSp>
        <p:nvCxnSpPr>
          <p:cNvPr id="636" name="Google Shape;636;p35"/>
          <p:cNvCxnSpPr/>
          <p:nvPr/>
        </p:nvCxnSpPr>
        <p:spPr>
          <a:xfrm flipH="1" rot="10800000">
            <a:off x="5899404" y="3625724"/>
            <a:ext cx="97536" cy="142987"/>
          </a:xfrm>
          <a:prstGeom prst="straightConnector1">
            <a:avLst/>
          </a:prstGeom>
          <a:noFill/>
          <a:ln cap="flat" cmpd="sng" w="31750">
            <a:solidFill>
              <a:srgbClr val="4EA72E"/>
            </a:solidFill>
            <a:prstDash val="solid"/>
            <a:round/>
            <a:headEnd len="sm" w="sm" type="none"/>
            <a:tailEnd len="sm" w="sm" type="none"/>
          </a:ln>
        </p:spPr>
      </p:cxnSp>
      <p:cxnSp>
        <p:nvCxnSpPr>
          <p:cNvPr id="637" name="Google Shape;637;p35"/>
          <p:cNvCxnSpPr/>
          <p:nvPr/>
        </p:nvCxnSpPr>
        <p:spPr>
          <a:xfrm flipH="1" rot="10800000">
            <a:off x="5996940" y="3474720"/>
            <a:ext cx="97536" cy="151004"/>
          </a:xfrm>
          <a:prstGeom prst="straightConnector1">
            <a:avLst/>
          </a:prstGeom>
          <a:noFill/>
          <a:ln cap="flat" cmpd="sng" w="31750">
            <a:solidFill>
              <a:srgbClr val="4EA72E"/>
            </a:solidFill>
            <a:prstDash val="solid"/>
            <a:round/>
            <a:headEnd len="sm" w="sm" type="none"/>
            <a:tailEnd len="sm" w="sm" type="none"/>
          </a:ln>
        </p:spPr>
      </p:cxnSp>
      <p:cxnSp>
        <p:nvCxnSpPr>
          <p:cNvPr id="638" name="Google Shape;638;p35"/>
          <p:cNvCxnSpPr/>
          <p:nvPr/>
        </p:nvCxnSpPr>
        <p:spPr>
          <a:xfrm flipH="1" rot="10800000">
            <a:off x="6094476" y="3323716"/>
            <a:ext cx="97536" cy="151004"/>
          </a:xfrm>
          <a:prstGeom prst="straightConnector1">
            <a:avLst/>
          </a:prstGeom>
          <a:noFill/>
          <a:ln cap="flat" cmpd="sng" w="31750">
            <a:solidFill>
              <a:srgbClr val="4EA72E"/>
            </a:solidFill>
            <a:prstDash val="solid"/>
            <a:round/>
            <a:headEnd len="sm" w="sm" type="none"/>
            <a:tailEnd len="sm" w="sm" type="none"/>
          </a:ln>
        </p:spPr>
      </p:cxnSp>
      <p:cxnSp>
        <p:nvCxnSpPr>
          <p:cNvPr id="639" name="Google Shape;639;p35"/>
          <p:cNvCxnSpPr/>
          <p:nvPr/>
        </p:nvCxnSpPr>
        <p:spPr>
          <a:xfrm flipH="1" rot="10800000">
            <a:off x="6192012" y="3180729"/>
            <a:ext cx="97536" cy="142987"/>
          </a:xfrm>
          <a:prstGeom prst="straightConnector1">
            <a:avLst/>
          </a:prstGeom>
          <a:noFill/>
          <a:ln cap="flat" cmpd="sng" w="31750">
            <a:solidFill>
              <a:srgbClr val="4EA72E"/>
            </a:solidFill>
            <a:prstDash val="solid"/>
            <a:round/>
            <a:headEnd len="sm" w="sm" type="none"/>
            <a:tailEnd len="sm" w="sm" type="none"/>
          </a:ln>
        </p:spPr>
      </p:cxnSp>
      <p:cxnSp>
        <p:nvCxnSpPr>
          <p:cNvPr id="640" name="Google Shape;640;p35"/>
          <p:cNvCxnSpPr/>
          <p:nvPr/>
        </p:nvCxnSpPr>
        <p:spPr>
          <a:xfrm flipH="1" rot="10800000">
            <a:off x="6289548" y="3052160"/>
            <a:ext cx="97536" cy="128569"/>
          </a:xfrm>
          <a:prstGeom prst="straightConnector1">
            <a:avLst/>
          </a:prstGeom>
          <a:noFill/>
          <a:ln cap="flat" cmpd="sng" w="31750">
            <a:solidFill>
              <a:srgbClr val="4EA72E"/>
            </a:solidFill>
            <a:prstDash val="solid"/>
            <a:round/>
            <a:headEnd len="sm" w="sm" type="none"/>
            <a:tailEnd len="sm" w="sm" type="none"/>
          </a:ln>
        </p:spPr>
      </p:cxnSp>
      <p:cxnSp>
        <p:nvCxnSpPr>
          <p:cNvPr id="641" name="Google Shape;641;p35"/>
          <p:cNvCxnSpPr/>
          <p:nvPr/>
        </p:nvCxnSpPr>
        <p:spPr>
          <a:xfrm flipH="1" rot="10800000">
            <a:off x="6387084" y="2941823"/>
            <a:ext cx="97536" cy="110337"/>
          </a:xfrm>
          <a:prstGeom prst="straightConnector1">
            <a:avLst/>
          </a:prstGeom>
          <a:noFill/>
          <a:ln cap="flat" cmpd="sng" w="31750">
            <a:solidFill>
              <a:srgbClr val="4EA72E"/>
            </a:solidFill>
            <a:prstDash val="solid"/>
            <a:round/>
            <a:headEnd len="sm" w="sm" type="none"/>
            <a:tailEnd len="sm" w="sm" type="none"/>
          </a:ln>
        </p:spPr>
      </p:cxnSp>
      <p:cxnSp>
        <p:nvCxnSpPr>
          <p:cNvPr id="642" name="Google Shape;642;p35"/>
          <p:cNvCxnSpPr/>
          <p:nvPr/>
        </p:nvCxnSpPr>
        <p:spPr>
          <a:xfrm flipH="1" rot="10800000">
            <a:off x="6484620" y="2850860"/>
            <a:ext cx="97536" cy="90963"/>
          </a:xfrm>
          <a:prstGeom prst="straightConnector1">
            <a:avLst/>
          </a:prstGeom>
          <a:noFill/>
          <a:ln cap="flat" cmpd="sng" w="31750">
            <a:solidFill>
              <a:srgbClr val="4EA72E"/>
            </a:solidFill>
            <a:prstDash val="solid"/>
            <a:round/>
            <a:headEnd len="sm" w="sm" type="none"/>
            <a:tailEnd len="sm" w="sm" type="none"/>
          </a:ln>
        </p:spPr>
      </p:cxnSp>
      <p:cxnSp>
        <p:nvCxnSpPr>
          <p:cNvPr id="643" name="Google Shape;643;p35"/>
          <p:cNvCxnSpPr/>
          <p:nvPr/>
        </p:nvCxnSpPr>
        <p:spPr>
          <a:xfrm flipH="1" rot="10800000">
            <a:off x="6582156" y="2778318"/>
            <a:ext cx="97536" cy="72542"/>
          </a:xfrm>
          <a:prstGeom prst="straightConnector1">
            <a:avLst/>
          </a:prstGeom>
          <a:noFill/>
          <a:ln cap="flat" cmpd="sng" w="31750">
            <a:solidFill>
              <a:srgbClr val="4EA72E"/>
            </a:solidFill>
            <a:prstDash val="solid"/>
            <a:round/>
            <a:headEnd len="sm" w="sm" type="none"/>
            <a:tailEnd len="sm" w="sm" type="none"/>
          </a:ln>
        </p:spPr>
      </p:cxnSp>
      <p:cxnSp>
        <p:nvCxnSpPr>
          <p:cNvPr id="644" name="Google Shape;644;p35"/>
          <p:cNvCxnSpPr/>
          <p:nvPr/>
        </p:nvCxnSpPr>
        <p:spPr>
          <a:xfrm flipH="1" rot="10800000">
            <a:off x="6679692" y="2721985"/>
            <a:ext cx="97536" cy="56333"/>
          </a:xfrm>
          <a:prstGeom prst="straightConnector1">
            <a:avLst/>
          </a:prstGeom>
          <a:noFill/>
          <a:ln cap="flat" cmpd="sng" w="31750">
            <a:solidFill>
              <a:srgbClr val="4EA72E"/>
            </a:solidFill>
            <a:prstDash val="solid"/>
            <a:round/>
            <a:headEnd len="sm" w="sm" type="none"/>
            <a:tailEnd len="sm" w="sm" type="none"/>
          </a:ln>
        </p:spPr>
      </p:cxnSp>
      <p:cxnSp>
        <p:nvCxnSpPr>
          <p:cNvPr id="645" name="Google Shape;645;p35"/>
          <p:cNvCxnSpPr/>
          <p:nvPr/>
        </p:nvCxnSpPr>
        <p:spPr>
          <a:xfrm flipH="1" rot="10800000">
            <a:off x="6777228" y="2679135"/>
            <a:ext cx="97536" cy="42850"/>
          </a:xfrm>
          <a:prstGeom prst="straightConnector1">
            <a:avLst/>
          </a:prstGeom>
          <a:noFill/>
          <a:ln cap="flat" cmpd="sng" w="31750">
            <a:solidFill>
              <a:srgbClr val="4EA72E"/>
            </a:solidFill>
            <a:prstDash val="solid"/>
            <a:round/>
            <a:headEnd len="sm" w="sm" type="none"/>
            <a:tailEnd len="sm" w="sm" type="none"/>
          </a:ln>
        </p:spPr>
      </p:cxnSp>
      <p:cxnSp>
        <p:nvCxnSpPr>
          <p:cNvPr id="646" name="Google Shape;646;p35"/>
          <p:cNvCxnSpPr/>
          <p:nvPr/>
        </p:nvCxnSpPr>
        <p:spPr>
          <a:xfrm flipH="1" rot="10800000">
            <a:off x="6874764" y="2647053"/>
            <a:ext cx="97536" cy="32083"/>
          </a:xfrm>
          <a:prstGeom prst="straightConnector1">
            <a:avLst/>
          </a:prstGeom>
          <a:noFill/>
          <a:ln cap="flat" cmpd="sng" w="31750">
            <a:solidFill>
              <a:srgbClr val="4EA72E"/>
            </a:solidFill>
            <a:prstDash val="solid"/>
            <a:round/>
            <a:headEnd len="sm" w="sm" type="none"/>
            <a:tailEnd len="sm" w="sm" type="none"/>
          </a:ln>
        </p:spPr>
      </p:cxnSp>
      <p:cxnSp>
        <p:nvCxnSpPr>
          <p:cNvPr id="647" name="Google Shape;647;p35"/>
          <p:cNvCxnSpPr/>
          <p:nvPr/>
        </p:nvCxnSpPr>
        <p:spPr>
          <a:xfrm flipH="1" rot="10800000">
            <a:off x="6972300" y="2623313"/>
            <a:ext cx="97536" cy="23739"/>
          </a:xfrm>
          <a:prstGeom prst="straightConnector1">
            <a:avLst/>
          </a:prstGeom>
          <a:noFill/>
          <a:ln cap="flat" cmpd="sng" w="31750">
            <a:solidFill>
              <a:srgbClr val="4EA72E"/>
            </a:solidFill>
            <a:prstDash val="solid"/>
            <a:round/>
            <a:headEnd len="sm" w="sm" type="none"/>
            <a:tailEnd len="sm" w="sm" type="none"/>
          </a:ln>
        </p:spPr>
      </p:cxnSp>
      <p:cxnSp>
        <p:nvCxnSpPr>
          <p:cNvPr id="648" name="Google Shape;648;p35"/>
          <p:cNvCxnSpPr/>
          <p:nvPr/>
        </p:nvCxnSpPr>
        <p:spPr>
          <a:xfrm flipH="1" rot="10800000">
            <a:off x="7069836" y="2605901"/>
            <a:ext cx="97536" cy="17412"/>
          </a:xfrm>
          <a:prstGeom prst="straightConnector1">
            <a:avLst/>
          </a:prstGeom>
          <a:noFill/>
          <a:ln cap="flat" cmpd="sng" w="31750">
            <a:solidFill>
              <a:srgbClr val="4EA72E"/>
            </a:solidFill>
            <a:prstDash val="solid"/>
            <a:round/>
            <a:headEnd len="sm" w="sm" type="none"/>
            <a:tailEnd len="sm" w="sm" type="none"/>
          </a:ln>
        </p:spPr>
      </p:cxnSp>
      <p:cxnSp>
        <p:nvCxnSpPr>
          <p:cNvPr id="649" name="Google Shape;649;p35"/>
          <p:cNvCxnSpPr/>
          <p:nvPr/>
        </p:nvCxnSpPr>
        <p:spPr>
          <a:xfrm flipH="1" rot="10800000">
            <a:off x="7167372" y="2593213"/>
            <a:ext cx="97536" cy="12689"/>
          </a:xfrm>
          <a:prstGeom prst="straightConnector1">
            <a:avLst/>
          </a:prstGeom>
          <a:noFill/>
          <a:ln cap="flat" cmpd="sng" w="31750">
            <a:solidFill>
              <a:srgbClr val="4EA72E"/>
            </a:solidFill>
            <a:prstDash val="solid"/>
            <a:round/>
            <a:headEnd len="sm" w="sm" type="none"/>
            <a:tailEnd len="sm" w="sm" type="none"/>
          </a:ln>
        </p:spPr>
      </p:cxnSp>
      <p:cxnSp>
        <p:nvCxnSpPr>
          <p:cNvPr id="650" name="Google Shape;650;p35"/>
          <p:cNvCxnSpPr/>
          <p:nvPr/>
        </p:nvCxnSpPr>
        <p:spPr>
          <a:xfrm flipH="1" rot="10800000">
            <a:off x="7264908" y="2584010"/>
            <a:ext cx="97536" cy="9203"/>
          </a:xfrm>
          <a:prstGeom prst="straightConnector1">
            <a:avLst/>
          </a:prstGeom>
          <a:noFill/>
          <a:ln cap="flat" cmpd="sng" w="31750">
            <a:solidFill>
              <a:srgbClr val="4EA72E"/>
            </a:solidFill>
            <a:prstDash val="solid"/>
            <a:round/>
            <a:headEnd len="sm" w="sm" type="none"/>
            <a:tailEnd len="sm" w="sm" type="none"/>
          </a:ln>
        </p:spPr>
      </p:cxnSp>
      <p:cxnSp>
        <p:nvCxnSpPr>
          <p:cNvPr id="651" name="Google Shape;651;p35"/>
          <p:cNvCxnSpPr/>
          <p:nvPr/>
        </p:nvCxnSpPr>
        <p:spPr>
          <a:xfrm flipH="1" rot="10800000">
            <a:off x="7362444" y="2577357"/>
            <a:ext cx="97536" cy="6653"/>
          </a:xfrm>
          <a:prstGeom prst="straightConnector1">
            <a:avLst/>
          </a:prstGeom>
          <a:noFill/>
          <a:ln cap="flat" cmpd="sng" w="31750">
            <a:solidFill>
              <a:srgbClr val="4EA72E"/>
            </a:solidFill>
            <a:prstDash val="solid"/>
            <a:round/>
            <a:headEnd len="sm" w="sm" type="none"/>
            <a:tailEnd len="sm" w="sm" type="none"/>
          </a:ln>
        </p:spPr>
      </p:cxnSp>
      <p:cxnSp>
        <p:nvCxnSpPr>
          <p:cNvPr id="652" name="Google Shape;652;p35"/>
          <p:cNvCxnSpPr/>
          <p:nvPr/>
        </p:nvCxnSpPr>
        <p:spPr>
          <a:xfrm flipH="1" rot="10800000">
            <a:off x="7459980" y="2572560"/>
            <a:ext cx="97536" cy="4797"/>
          </a:xfrm>
          <a:prstGeom prst="straightConnector1">
            <a:avLst/>
          </a:prstGeom>
          <a:noFill/>
          <a:ln cap="flat" cmpd="sng" w="31750">
            <a:solidFill>
              <a:srgbClr val="4EA72E"/>
            </a:solidFill>
            <a:prstDash val="solid"/>
            <a:round/>
            <a:headEnd len="sm" w="sm" type="none"/>
            <a:tailEnd len="sm" w="sm" type="none"/>
          </a:ln>
        </p:spPr>
      </p:cxnSp>
      <p:sp>
        <p:nvSpPr>
          <p:cNvPr id="653" name="Google Shape;653;p35"/>
          <p:cNvSpPr/>
          <p:nvPr/>
        </p:nvSpPr>
        <p:spPr>
          <a:xfrm>
            <a:off x="4494276" y="4480560"/>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400"/>
              <a:buFont typeface="Consolas"/>
              <a:buNone/>
            </a:pPr>
            <a:r>
              <a:rPr b="1" i="0" lang="en-US" sz="1400" u="none" cap="none" strike="noStrike">
                <a:solidFill>
                  <a:srgbClr val="361A54"/>
                </a:solidFill>
                <a:latin typeface="Consolas"/>
                <a:ea typeface="Consolas"/>
                <a:cs typeface="Consolas"/>
                <a:sym typeface="Consolas"/>
              </a:rPr>
              <a:t>1 / (1 + e⁻ˣ)</a:t>
            </a:r>
            <a:endParaRPr b="0" i="0" sz="1400" u="none" cap="none" strike="noStrike">
              <a:solidFill>
                <a:schemeClr val="dk1"/>
              </a:solidFill>
              <a:latin typeface="Calibri"/>
              <a:ea typeface="Calibri"/>
              <a:cs typeface="Calibri"/>
              <a:sym typeface="Calibri"/>
            </a:endParaRPr>
          </a:p>
        </p:txBody>
      </p:sp>
      <p:sp>
        <p:nvSpPr>
          <p:cNvPr id="654" name="Google Shape;654;p35"/>
          <p:cNvSpPr/>
          <p:nvPr/>
        </p:nvSpPr>
        <p:spPr>
          <a:xfrm>
            <a:off x="4494276" y="4892040"/>
            <a:ext cx="32004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u="none" cap="none" strike="noStrike">
                <a:solidFill>
                  <a:srgbClr val="333333"/>
                </a:solidFill>
                <a:latin typeface="Merriweather"/>
                <a:ea typeface="Merriweather"/>
                <a:cs typeface="Merriweather"/>
                <a:sym typeface="Merriweather"/>
              </a:rPr>
              <a:t>Squashes to (0, 1). Used for output of binary classifiers; rarely in hidden layers now.</a:t>
            </a:r>
            <a:endParaRPr b="0" i="0" u="none" cap="none" strike="noStrike">
              <a:solidFill>
                <a:schemeClr val="dk1"/>
              </a:solidFill>
              <a:latin typeface="Calibri"/>
              <a:ea typeface="Calibri"/>
              <a:cs typeface="Calibri"/>
              <a:sym typeface="Calibri"/>
            </a:endParaRPr>
          </a:p>
        </p:txBody>
      </p:sp>
      <p:sp>
        <p:nvSpPr>
          <p:cNvPr id="655" name="Google Shape;655;p35"/>
          <p:cNvSpPr/>
          <p:nvPr/>
        </p:nvSpPr>
        <p:spPr>
          <a:xfrm>
            <a:off x="8124444"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5"/>
          <p:cNvSpPr/>
          <p:nvPr/>
        </p:nvSpPr>
        <p:spPr>
          <a:xfrm>
            <a:off x="8124444" y="178308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8353044" y="1847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Tanh</a:t>
            </a:r>
            <a:endParaRPr b="0" i="0" sz="1500" u="none" cap="none" strike="noStrike">
              <a:solidFill>
                <a:schemeClr val="dk1"/>
              </a:solidFill>
              <a:latin typeface="Calibri"/>
              <a:ea typeface="Calibri"/>
              <a:cs typeface="Calibri"/>
              <a:sym typeface="Calibri"/>
            </a:endParaRPr>
          </a:p>
        </p:txBody>
      </p:sp>
      <p:sp>
        <p:nvSpPr>
          <p:cNvPr id="658" name="Google Shape;658;p35"/>
          <p:cNvSpPr/>
          <p:nvPr/>
        </p:nvSpPr>
        <p:spPr>
          <a:xfrm>
            <a:off x="8490204" y="2560320"/>
            <a:ext cx="2926080" cy="18288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9" name="Google Shape;659;p35"/>
          <p:cNvCxnSpPr/>
          <p:nvPr/>
        </p:nvCxnSpPr>
        <p:spPr>
          <a:xfrm>
            <a:off x="8490204" y="3474720"/>
            <a:ext cx="2926080" cy="0"/>
          </a:xfrm>
          <a:prstGeom prst="straightConnector1">
            <a:avLst/>
          </a:prstGeom>
          <a:noFill/>
          <a:ln cap="flat" cmpd="sng" w="9525">
            <a:solidFill>
              <a:srgbClr val="555555"/>
            </a:solidFill>
            <a:prstDash val="solid"/>
            <a:round/>
            <a:headEnd len="sm" w="sm" type="none"/>
            <a:tailEnd len="sm" w="sm" type="none"/>
          </a:ln>
        </p:spPr>
      </p:cxnSp>
      <p:cxnSp>
        <p:nvCxnSpPr>
          <p:cNvPr id="660" name="Google Shape;660;p35"/>
          <p:cNvCxnSpPr/>
          <p:nvPr/>
        </p:nvCxnSpPr>
        <p:spPr>
          <a:xfrm>
            <a:off x="9953244" y="2560320"/>
            <a:ext cx="0" cy="1828800"/>
          </a:xfrm>
          <a:prstGeom prst="straightConnector1">
            <a:avLst/>
          </a:prstGeom>
          <a:noFill/>
          <a:ln cap="flat" cmpd="sng" w="9525">
            <a:solidFill>
              <a:srgbClr val="555555"/>
            </a:solidFill>
            <a:prstDash val="solid"/>
            <a:round/>
            <a:headEnd len="sm" w="sm" type="none"/>
            <a:tailEnd len="sm" w="sm" type="none"/>
          </a:ln>
        </p:spPr>
      </p:cxnSp>
      <p:cxnSp>
        <p:nvCxnSpPr>
          <p:cNvPr id="661" name="Google Shape;661;p35"/>
          <p:cNvCxnSpPr/>
          <p:nvPr/>
        </p:nvCxnSpPr>
        <p:spPr>
          <a:xfrm flipH="1" rot="10800000">
            <a:off x="8490204" y="4382382"/>
            <a:ext cx="97536" cy="2216"/>
          </a:xfrm>
          <a:prstGeom prst="straightConnector1">
            <a:avLst/>
          </a:prstGeom>
          <a:noFill/>
          <a:ln cap="flat" cmpd="sng" w="31750">
            <a:solidFill>
              <a:srgbClr val="A02B93"/>
            </a:solidFill>
            <a:prstDash val="solid"/>
            <a:round/>
            <a:headEnd len="sm" w="sm" type="none"/>
            <a:tailEnd len="sm" w="sm" type="none"/>
          </a:ln>
        </p:spPr>
      </p:cxnSp>
      <p:cxnSp>
        <p:nvCxnSpPr>
          <p:cNvPr id="662" name="Google Shape;662;p35"/>
          <p:cNvCxnSpPr/>
          <p:nvPr/>
        </p:nvCxnSpPr>
        <p:spPr>
          <a:xfrm flipH="1" rot="10800000">
            <a:off x="8587740" y="4379086"/>
            <a:ext cx="97536" cy="3296"/>
          </a:xfrm>
          <a:prstGeom prst="straightConnector1">
            <a:avLst/>
          </a:prstGeom>
          <a:noFill/>
          <a:ln cap="flat" cmpd="sng" w="31750">
            <a:solidFill>
              <a:srgbClr val="A02B93"/>
            </a:solidFill>
            <a:prstDash val="solid"/>
            <a:round/>
            <a:headEnd len="sm" w="sm" type="none"/>
            <a:tailEnd len="sm" w="sm" type="none"/>
          </a:ln>
        </p:spPr>
      </p:cxnSp>
      <p:cxnSp>
        <p:nvCxnSpPr>
          <p:cNvPr id="663" name="Google Shape;663;p35"/>
          <p:cNvCxnSpPr/>
          <p:nvPr/>
        </p:nvCxnSpPr>
        <p:spPr>
          <a:xfrm flipH="1" rot="10800000">
            <a:off x="8685276" y="4374193"/>
            <a:ext cx="97536" cy="4894"/>
          </a:xfrm>
          <a:prstGeom prst="straightConnector1">
            <a:avLst/>
          </a:prstGeom>
          <a:noFill/>
          <a:ln cap="flat" cmpd="sng" w="31750">
            <a:solidFill>
              <a:srgbClr val="A02B93"/>
            </a:solidFill>
            <a:prstDash val="solid"/>
            <a:round/>
            <a:headEnd len="sm" w="sm" type="none"/>
            <a:tailEnd len="sm" w="sm" type="none"/>
          </a:ln>
        </p:spPr>
      </p:cxnSp>
      <p:cxnSp>
        <p:nvCxnSpPr>
          <p:cNvPr id="664" name="Google Shape;664;p35"/>
          <p:cNvCxnSpPr/>
          <p:nvPr/>
        </p:nvCxnSpPr>
        <p:spPr>
          <a:xfrm flipH="1" rot="10800000">
            <a:off x="8782812" y="4366939"/>
            <a:ext cx="97536" cy="7253"/>
          </a:xfrm>
          <a:prstGeom prst="straightConnector1">
            <a:avLst/>
          </a:prstGeom>
          <a:noFill/>
          <a:ln cap="flat" cmpd="sng" w="31750">
            <a:solidFill>
              <a:srgbClr val="A02B93"/>
            </a:solidFill>
            <a:prstDash val="solid"/>
            <a:round/>
            <a:headEnd len="sm" w="sm" type="none"/>
            <a:tailEnd len="sm" w="sm" type="none"/>
          </a:ln>
        </p:spPr>
      </p:cxnSp>
      <p:cxnSp>
        <p:nvCxnSpPr>
          <p:cNvPr id="665" name="Google Shape;665;p35"/>
          <p:cNvCxnSpPr/>
          <p:nvPr/>
        </p:nvCxnSpPr>
        <p:spPr>
          <a:xfrm flipH="1" rot="10800000">
            <a:off x="8880348" y="4356227"/>
            <a:ext cx="97536" cy="10713"/>
          </a:xfrm>
          <a:prstGeom prst="straightConnector1">
            <a:avLst/>
          </a:prstGeom>
          <a:noFill/>
          <a:ln cap="flat" cmpd="sng" w="31750">
            <a:solidFill>
              <a:srgbClr val="A02B93"/>
            </a:solidFill>
            <a:prstDash val="solid"/>
            <a:round/>
            <a:headEnd len="sm" w="sm" type="none"/>
            <a:tailEnd len="sm" w="sm" type="none"/>
          </a:ln>
        </p:spPr>
      </p:cxnSp>
      <p:cxnSp>
        <p:nvCxnSpPr>
          <p:cNvPr id="666" name="Google Shape;666;p35"/>
          <p:cNvCxnSpPr/>
          <p:nvPr/>
        </p:nvCxnSpPr>
        <p:spPr>
          <a:xfrm flipH="1" rot="10800000">
            <a:off x="8977884" y="4340480"/>
            <a:ext cx="97536" cy="15747"/>
          </a:xfrm>
          <a:prstGeom prst="straightConnector1">
            <a:avLst/>
          </a:prstGeom>
          <a:noFill/>
          <a:ln cap="flat" cmpd="sng" w="31750">
            <a:solidFill>
              <a:srgbClr val="A02B93"/>
            </a:solidFill>
            <a:prstDash val="solid"/>
            <a:round/>
            <a:headEnd len="sm" w="sm" type="none"/>
            <a:tailEnd len="sm" w="sm" type="none"/>
          </a:ln>
        </p:spPr>
      </p:cxnSp>
      <p:cxnSp>
        <p:nvCxnSpPr>
          <p:cNvPr id="667" name="Google Shape;667;p35"/>
          <p:cNvCxnSpPr/>
          <p:nvPr/>
        </p:nvCxnSpPr>
        <p:spPr>
          <a:xfrm flipH="1" rot="10800000">
            <a:off x="9075420" y="4317493"/>
            <a:ext cx="97536" cy="22986"/>
          </a:xfrm>
          <a:prstGeom prst="straightConnector1">
            <a:avLst/>
          </a:prstGeom>
          <a:noFill/>
          <a:ln cap="flat" cmpd="sng" w="31750">
            <a:solidFill>
              <a:srgbClr val="A02B93"/>
            </a:solidFill>
            <a:prstDash val="solid"/>
            <a:round/>
            <a:headEnd len="sm" w="sm" type="none"/>
            <a:tailEnd len="sm" w="sm" type="none"/>
          </a:ln>
        </p:spPr>
      </p:cxnSp>
      <p:cxnSp>
        <p:nvCxnSpPr>
          <p:cNvPr id="668" name="Google Shape;668;p35"/>
          <p:cNvCxnSpPr/>
          <p:nvPr/>
        </p:nvCxnSpPr>
        <p:spPr>
          <a:xfrm flipH="1" rot="10800000">
            <a:off x="9172956" y="4284286"/>
            <a:ext cx="97536" cy="33208"/>
          </a:xfrm>
          <a:prstGeom prst="straightConnector1">
            <a:avLst/>
          </a:prstGeom>
          <a:noFill/>
          <a:ln cap="flat" cmpd="sng" w="31750">
            <a:solidFill>
              <a:srgbClr val="A02B93"/>
            </a:solidFill>
            <a:prstDash val="solid"/>
            <a:round/>
            <a:headEnd len="sm" w="sm" type="none"/>
            <a:tailEnd len="sm" w="sm" type="none"/>
          </a:ln>
        </p:spPr>
      </p:cxnSp>
      <p:cxnSp>
        <p:nvCxnSpPr>
          <p:cNvPr id="669" name="Google Shape;669;p35"/>
          <p:cNvCxnSpPr/>
          <p:nvPr/>
        </p:nvCxnSpPr>
        <p:spPr>
          <a:xfrm flipH="1" rot="10800000">
            <a:off x="9270492" y="4237014"/>
            <a:ext cx="97536" cy="47272"/>
          </a:xfrm>
          <a:prstGeom prst="straightConnector1">
            <a:avLst/>
          </a:prstGeom>
          <a:noFill/>
          <a:ln cap="flat" cmpd="sng" w="31750">
            <a:solidFill>
              <a:srgbClr val="A02B93"/>
            </a:solidFill>
            <a:prstDash val="solid"/>
            <a:round/>
            <a:headEnd len="sm" w="sm" type="none"/>
            <a:tailEnd len="sm" w="sm" type="none"/>
          </a:ln>
        </p:spPr>
      </p:cxnSp>
      <p:cxnSp>
        <p:nvCxnSpPr>
          <p:cNvPr id="670" name="Google Shape;670;p35"/>
          <p:cNvCxnSpPr/>
          <p:nvPr/>
        </p:nvCxnSpPr>
        <p:spPr>
          <a:xfrm flipH="1" rot="10800000">
            <a:off x="9368028" y="4171122"/>
            <a:ext cx="97536" cy="65892"/>
          </a:xfrm>
          <a:prstGeom prst="straightConnector1">
            <a:avLst/>
          </a:prstGeom>
          <a:noFill/>
          <a:ln cap="flat" cmpd="sng" w="31750">
            <a:solidFill>
              <a:srgbClr val="A02B93"/>
            </a:solidFill>
            <a:prstDash val="solid"/>
            <a:round/>
            <a:headEnd len="sm" w="sm" type="none"/>
            <a:tailEnd len="sm" w="sm" type="none"/>
          </a:ln>
        </p:spPr>
      </p:cxnSp>
      <p:cxnSp>
        <p:nvCxnSpPr>
          <p:cNvPr id="671" name="Google Shape;671;p35"/>
          <p:cNvCxnSpPr/>
          <p:nvPr/>
        </p:nvCxnSpPr>
        <p:spPr>
          <a:xfrm flipH="1" rot="10800000">
            <a:off x="9465564" y="4081916"/>
            <a:ext cx="97536" cy="89206"/>
          </a:xfrm>
          <a:prstGeom prst="straightConnector1">
            <a:avLst/>
          </a:prstGeom>
          <a:noFill/>
          <a:ln cap="flat" cmpd="sng" w="31750">
            <a:solidFill>
              <a:srgbClr val="A02B93"/>
            </a:solidFill>
            <a:prstDash val="solid"/>
            <a:round/>
            <a:headEnd len="sm" w="sm" type="none"/>
            <a:tailEnd len="sm" w="sm" type="none"/>
          </a:ln>
        </p:spPr>
      </p:cxnSp>
      <p:cxnSp>
        <p:nvCxnSpPr>
          <p:cNvPr id="672" name="Google Shape;672;p35"/>
          <p:cNvCxnSpPr/>
          <p:nvPr/>
        </p:nvCxnSpPr>
        <p:spPr>
          <a:xfrm flipH="1" rot="10800000">
            <a:off x="9563100" y="3965798"/>
            <a:ext cx="97536" cy="116117"/>
          </a:xfrm>
          <a:prstGeom prst="straightConnector1">
            <a:avLst/>
          </a:prstGeom>
          <a:noFill/>
          <a:ln cap="flat" cmpd="sng" w="31750">
            <a:solidFill>
              <a:srgbClr val="A02B93"/>
            </a:solidFill>
            <a:prstDash val="solid"/>
            <a:round/>
            <a:headEnd len="sm" w="sm" type="none"/>
            <a:tailEnd len="sm" w="sm" type="none"/>
          </a:ln>
        </p:spPr>
      </p:cxnSp>
      <p:cxnSp>
        <p:nvCxnSpPr>
          <p:cNvPr id="673" name="Google Shape;673;p35"/>
          <p:cNvCxnSpPr/>
          <p:nvPr/>
        </p:nvCxnSpPr>
        <p:spPr>
          <a:xfrm flipH="1" rot="10800000">
            <a:off x="9660636" y="3822145"/>
            <a:ext cx="97536" cy="143653"/>
          </a:xfrm>
          <a:prstGeom prst="straightConnector1">
            <a:avLst/>
          </a:prstGeom>
          <a:noFill/>
          <a:ln cap="flat" cmpd="sng" w="31750">
            <a:solidFill>
              <a:srgbClr val="A02B93"/>
            </a:solidFill>
            <a:prstDash val="solid"/>
            <a:round/>
            <a:headEnd len="sm" w="sm" type="none"/>
            <a:tailEnd len="sm" w="sm" type="none"/>
          </a:ln>
        </p:spPr>
      </p:cxnSp>
      <p:cxnSp>
        <p:nvCxnSpPr>
          <p:cNvPr id="674" name="Google Shape;674;p35"/>
          <p:cNvCxnSpPr/>
          <p:nvPr/>
        </p:nvCxnSpPr>
        <p:spPr>
          <a:xfrm flipH="1" rot="10800000">
            <a:off x="9758172" y="3655200"/>
            <a:ext cx="97536" cy="166945"/>
          </a:xfrm>
          <a:prstGeom prst="straightConnector1">
            <a:avLst/>
          </a:prstGeom>
          <a:noFill/>
          <a:ln cap="flat" cmpd="sng" w="31750">
            <a:solidFill>
              <a:srgbClr val="A02B93"/>
            </a:solidFill>
            <a:prstDash val="solid"/>
            <a:round/>
            <a:headEnd len="sm" w="sm" type="none"/>
            <a:tailEnd len="sm" w="sm" type="none"/>
          </a:ln>
        </p:spPr>
      </p:cxnSp>
      <p:cxnSp>
        <p:nvCxnSpPr>
          <p:cNvPr id="675" name="Google Shape;675;p35"/>
          <p:cNvCxnSpPr/>
          <p:nvPr/>
        </p:nvCxnSpPr>
        <p:spPr>
          <a:xfrm flipH="1" rot="10800000">
            <a:off x="9855708" y="3474720"/>
            <a:ext cx="97536" cy="180480"/>
          </a:xfrm>
          <a:prstGeom prst="straightConnector1">
            <a:avLst/>
          </a:prstGeom>
          <a:noFill/>
          <a:ln cap="flat" cmpd="sng" w="31750">
            <a:solidFill>
              <a:srgbClr val="A02B93"/>
            </a:solidFill>
            <a:prstDash val="solid"/>
            <a:round/>
            <a:headEnd len="sm" w="sm" type="none"/>
            <a:tailEnd len="sm" w="sm" type="none"/>
          </a:ln>
        </p:spPr>
      </p:cxnSp>
      <p:cxnSp>
        <p:nvCxnSpPr>
          <p:cNvPr id="676" name="Google Shape;676;p35"/>
          <p:cNvCxnSpPr/>
          <p:nvPr/>
        </p:nvCxnSpPr>
        <p:spPr>
          <a:xfrm flipH="1" rot="10800000">
            <a:off x="9953244" y="3294240"/>
            <a:ext cx="97536" cy="180480"/>
          </a:xfrm>
          <a:prstGeom prst="straightConnector1">
            <a:avLst/>
          </a:prstGeom>
          <a:noFill/>
          <a:ln cap="flat" cmpd="sng" w="31750">
            <a:solidFill>
              <a:srgbClr val="A02B93"/>
            </a:solidFill>
            <a:prstDash val="solid"/>
            <a:round/>
            <a:headEnd len="sm" w="sm" type="none"/>
            <a:tailEnd len="sm" w="sm" type="none"/>
          </a:ln>
        </p:spPr>
      </p:cxnSp>
      <p:cxnSp>
        <p:nvCxnSpPr>
          <p:cNvPr id="677" name="Google Shape;677;p35"/>
          <p:cNvCxnSpPr/>
          <p:nvPr/>
        </p:nvCxnSpPr>
        <p:spPr>
          <a:xfrm flipH="1" rot="10800000">
            <a:off x="10050780" y="3127295"/>
            <a:ext cx="97536" cy="166945"/>
          </a:xfrm>
          <a:prstGeom prst="straightConnector1">
            <a:avLst/>
          </a:prstGeom>
          <a:noFill/>
          <a:ln cap="flat" cmpd="sng" w="31750">
            <a:solidFill>
              <a:srgbClr val="A02B93"/>
            </a:solidFill>
            <a:prstDash val="solid"/>
            <a:round/>
            <a:headEnd len="sm" w="sm" type="none"/>
            <a:tailEnd len="sm" w="sm" type="none"/>
          </a:ln>
        </p:spPr>
      </p:cxnSp>
      <p:cxnSp>
        <p:nvCxnSpPr>
          <p:cNvPr id="678" name="Google Shape;678;p35"/>
          <p:cNvCxnSpPr/>
          <p:nvPr/>
        </p:nvCxnSpPr>
        <p:spPr>
          <a:xfrm flipH="1" rot="10800000">
            <a:off x="10148316" y="2983642"/>
            <a:ext cx="97536" cy="143653"/>
          </a:xfrm>
          <a:prstGeom prst="straightConnector1">
            <a:avLst/>
          </a:prstGeom>
          <a:noFill/>
          <a:ln cap="flat" cmpd="sng" w="31750">
            <a:solidFill>
              <a:srgbClr val="A02B93"/>
            </a:solidFill>
            <a:prstDash val="solid"/>
            <a:round/>
            <a:headEnd len="sm" w="sm" type="none"/>
            <a:tailEnd len="sm" w="sm" type="none"/>
          </a:ln>
        </p:spPr>
      </p:cxnSp>
      <p:cxnSp>
        <p:nvCxnSpPr>
          <p:cNvPr id="679" name="Google Shape;679;p35"/>
          <p:cNvCxnSpPr/>
          <p:nvPr/>
        </p:nvCxnSpPr>
        <p:spPr>
          <a:xfrm flipH="1" rot="10800000">
            <a:off x="10245852" y="2867525"/>
            <a:ext cx="97536" cy="116117"/>
          </a:xfrm>
          <a:prstGeom prst="straightConnector1">
            <a:avLst/>
          </a:prstGeom>
          <a:noFill/>
          <a:ln cap="flat" cmpd="sng" w="31750">
            <a:solidFill>
              <a:srgbClr val="A02B93"/>
            </a:solidFill>
            <a:prstDash val="solid"/>
            <a:round/>
            <a:headEnd len="sm" w="sm" type="none"/>
            <a:tailEnd len="sm" w="sm" type="none"/>
          </a:ln>
        </p:spPr>
      </p:cxnSp>
      <p:cxnSp>
        <p:nvCxnSpPr>
          <p:cNvPr id="680" name="Google Shape;680;p35"/>
          <p:cNvCxnSpPr/>
          <p:nvPr/>
        </p:nvCxnSpPr>
        <p:spPr>
          <a:xfrm flipH="1" rot="10800000">
            <a:off x="10343388" y="2778319"/>
            <a:ext cx="97536" cy="89206"/>
          </a:xfrm>
          <a:prstGeom prst="straightConnector1">
            <a:avLst/>
          </a:prstGeom>
          <a:noFill/>
          <a:ln cap="flat" cmpd="sng" w="31750">
            <a:solidFill>
              <a:srgbClr val="A02B93"/>
            </a:solidFill>
            <a:prstDash val="solid"/>
            <a:round/>
            <a:headEnd len="sm" w="sm" type="none"/>
            <a:tailEnd len="sm" w="sm" type="none"/>
          </a:ln>
        </p:spPr>
      </p:cxnSp>
      <p:cxnSp>
        <p:nvCxnSpPr>
          <p:cNvPr id="681" name="Google Shape;681;p35"/>
          <p:cNvCxnSpPr/>
          <p:nvPr/>
        </p:nvCxnSpPr>
        <p:spPr>
          <a:xfrm flipH="1" rot="10800000">
            <a:off x="10440924" y="2712426"/>
            <a:ext cx="97536" cy="65892"/>
          </a:xfrm>
          <a:prstGeom prst="straightConnector1">
            <a:avLst/>
          </a:prstGeom>
          <a:noFill/>
          <a:ln cap="flat" cmpd="sng" w="31750">
            <a:solidFill>
              <a:srgbClr val="A02B93"/>
            </a:solidFill>
            <a:prstDash val="solid"/>
            <a:round/>
            <a:headEnd len="sm" w="sm" type="none"/>
            <a:tailEnd len="sm" w="sm" type="none"/>
          </a:ln>
        </p:spPr>
      </p:cxnSp>
      <p:cxnSp>
        <p:nvCxnSpPr>
          <p:cNvPr id="682" name="Google Shape;682;p35"/>
          <p:cNvCxnSpPr/>
          <p:nvPr/>
        </p:nvCxnSpPr>
        <p:spPr>
          <a:xfrm flipH="1" rot="10800000">
            <a:off x="10538460" y="2665154"/>
            <a:ext cx="97536" cy="47272"/>
          </a:xfrm>
          <a:prstGeom prst="straightConnector1">
            <a:avLst/>
          </a:prstGeom>
          <a:noFill/>
          <a:ln cap="flat" cmpd="sng" w="31750">
            <a:solidFill>
              <a:srgbClr val="A02B93"/>
            </a:solidFill>
            <a:prstDash val="solid"/>
            <a:round/>
            <a:headEnd len="sm" w="sm" type="none"/>
            <a:tailEnd len="sm" w="sm" type="none"/>
          </a:ln>
        </p:spPr>
      </p:cxnSp>
      <p:cxnSp>
        <p:nvCxnSpPr>
          <p:cNvPr id="683" name="Google Shape;683;p35"/>
          <p:cNvCxnSpPr/>
          <p:nvPr/>
        </p:nvCxnSpPr>
        <p:spPr>
          <a:xfrm flipH="1" rot="10800000">
            <a:off x="10635996" y="2631946"/>
            <a:ext cx="97536" cy="33208"/>
          </a:xfrm>
          <a:prstGeom prst="straightConnector1">
            <a:avLst/>
          </a:prstGeom>
          <a:noFill/>
          <a:ln cap="flat" cmpd="sng" w="31750">
            <a:solidFill>
              <a:srgbClr val="A02B93"/>
            </a:solidFill>
            <a:prstDash val="solid"/>
            <a:round/>
            <a:headEnd len="sm" w="sm" type="none"/>
            <a:tailEnd len="sm" w="sm" type="none"/>
          </a:ln>
        </p:spPr>
      </p:cxnSp>
      <p:cxnSp>
        <p:nvCxnSpPr>
          <p:cNvPr id="684" name="Google Shape;684;p35"/>
          <p:cNvCxnSpPr/>
          <p:nvPr/>
        </p:nvCxnSpPr>
        <p:spPr>
          <a:xfrm flipH="1" rot="10800000">
            <a:off x="10733532" y="2608960"/>
            <a:ext cx="97536" cy="22986"/>
          </a:xfrm>
          <a:prstGeom prst="straightConnector1">
            <a:avLst/>
          </a:prstGeom>
          <a:noFill/>
          <a:ln cap="flat" cmpd="sng" w="31750">
            <a:solidFill>
              <a:srgbClr val="A02B93"/>
            </a:solidFill>
            <a:prstDash val="solid"/>
            <a:round/>
            <a:headEnd len="sm" w="sm" type="none"/>
            <a:tailEnd len="sm" w="sm" type="none"/>
          </a:ln>
        </p:spPr>
      </p:cxnSp>
      <p:cxnSp>
        <p:nvCxnSpPr>
          <p:cNvPr id="685" name="Google Shape;685;p35"/>
          <p:cNvCxnSpPr/>
          <p:nvPr/>
        </p:nvCxnSpPr>
        <p:spPr>
          <a:xfrm flipH="1" rot="10800000">
            <a:off x="10831068" y="2593214"/>
            <a:ext cx="97536" cy="15747"/>
          </a:xfrm>
          <a:prstGeom prst="straightConnector1">
            <a:avLst/>
          </a:prstGeom>
          <a:noFill/>
          <a:ln cap="flat" cmpd="sng" w="31750">
            <a:solidFill>
              <a:srgbClr val="A02B93"/>
            </a:solidFill>
            <a:prstDash val="solid"/>
            <a:round/>
            <a:headEnd len="sm" w="sm" type="none"/>
            <a:tailEnd len="sm" w="sm" type="none"/>
          </a:ln>
        </p:spPr>
      </p:cxnSp>
      <p:cxnSp>
        <p:nvCxnSpPr>
          <p:cNvPr id="686" name="Google Shape;686;p35"/>
          <p:cNvCxnSpPr/>
          <p:nvPr/>
        </p:nvCxnSpPr>
        <p:spPr>
          <a:xfrm flipH="1" rot="10800000">
            <a:off x="10928604" y="2582500"/>
            <a:ext cx="97536" cy="10713"/>
          </a:xfrm>
          <a:prstGeom prst="straightConnector1">
            <a:avLst/>
          </a:prstGeom>
          <a:noFill/>
          <a:ln cap="flat" cmpd="sng" w="31750">
            <a:solidFill>
              <a:srgbClr val="A02B93"/>
            </a:solidFill>
            <a:prstDash val="solid"/>
            <a:round/>
            <a:headEnd len="sm" w="sm" type="none"/>
            <a:tailEnd len="sm" w="sm" type="none"/>
          </a:ln>
        </p:spPr>
      </p:cxnSp>
      <p:cxnSp>
        <p:nvCxnSpPr>
          <p:cNvPr id="687" name="Google Shape;687;p35"/>
          <p:cNvCxnSpPr/>
          <p:nvPr/>
        </p:nvCxnSpPr>
        <p:spPr>
          <a:xfrm flipH="1" rot="10800000">
            <a:off x="11026140" y="2575247"/>
            <a:ext cx="97536" cy="7253"/>
          </a:xfrm>
          <a:prstGeom prst="straightConnector1">
            <a:avLst/>
          </a:prstGeom>
          <a:noFill/>
          <a:ln cap="flat" cmpd="sng" w="31750">
            <a:solidFill>
              <a:srgbClr val="A02B93"/>
            </a:solidFill>
            <a:prstDash val="solid"/>
            <a:round/>
            <a:headEnd len="sm" w="sm" type="none"/>
            <a:tailEnd len="sm" w="sm" type="none"/>
          </a:ln>
        </p:spPr>
      </p:cxnSp>
      <p:cxnSp>
        <p:nvCxnSpPr>
          <p:cNvPr id="688" name="Google Shape;688;p35"/>
          <p:cNvCxnSpPr/>
          <p:nvPr/>
        </p:nvCxnSpPr>
        <p:spPr>
          <a:xfrm flipH="1" rot="10800000">
            <a:off x="11123676" y="2570354"/>
            <a:ext cx="97536" cy="4894"/>
          </a:xfrm>
          <a:prstGeom prst="straightConnector1">
            <a:avLst/>
          </a:prstGeom>
          <a:noFill/>
          <a:ln cap="flat" cmpd="sng" w="31750">
            <a:solidFill>
              <a:srgbClr val="A02B93"/>
            </a:solidFill>
            <a:prstDash val="solid"/>
            <a:round/>
            <a:headEnd len="sm" w="sm" type="none"/>
            <a:tailEnd len="sm" w="sm" type="none"/>
          </a:ln>
        </p:spPr>
      </p:cxnSp>
      <p:cxnSp>
        <p:nvCxnSpPr>
          <p:cNvPr id="689" name="Google Shape;689;p35"/>
          <p:cNvCxnSpPr/>
          <p:nvPr/>
        </p:nvCxnSpPr>
        <p:spPr>
          <a:xfrm flipH="1" rot="10800000">
            <a:off x="11221212" y="2567057"/>
            <a:ext cx="97536" cy="3296"/>
          </a:xfrm>
          <a:prstGeom prst="straightConnector1">
            <a:avLst/>
          </a:prstGeom>
          <a:noFill/>
          <a:ln cap="flat" cmpd="sng" w="31750">
            <a:solidFill>
              <a:srgbClr val="A02B93"/>
            </a:solidFill>
            <a:prstDash val="solid"/>
            <a:round/>
            <a:headEnd len="sm" w="sm" type="none"/>
            <a:tailEnd len="sm" w="sm" type="none"/>
          </a:ln>
        </p:spPr>
      </p:cxnSp>
      <p:cxnSp>
        <p:nvCxnSpPr>
          <p:cNvPr id="690" name="Google Shape;690;p35"/>
          <p:cNvCxnSpPr/>
          <p:nvPr/>
        </p:nvCxnSpPr>
        <p:spPr>
          <a:xfrm flipH="1" rot="10800000">
            <a:off x="11318748" y="2564842"/>
            <a:ext cx="97536" cy="2216"/>
          </a:xfrm>
          <a:prstGeom prst="straightConnector1">
            <a:avLst/>
          </a:prstGeom>
          <a:noFill/>
          <a:ln cap="flat" cmpd="sng" w="31750">
            <a:solidFill>
              <a:srgbClr val="A02B93"/>
            </a:solidFill>
            <a:prstDash val="solid"/>
            <a:round/>
            <a:headEnd len="sm" w="sm" type="none"/>
            <a:tailEnd len="sm" w="sm" type="none"/>
          </a:ln>
        </p:spPr>
      </p:cxnSp>
      <p:sp>
        <p:nvSpPr>
          <p:cNvPr id="691" name="Google Shape;691;p35"/>
          <p:cNvSpPr/>
          <p:nvPr/>
        </p:nvSpPr>
        <p:spPr>
          <a:xfrm>
            <a:off x="8353044" y="4480560"/>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400"/>
              <a:buFont typeface="Consolas"/>
              <a:buNone/>
            </a:pPr>
            <a:r>
              <a:rPr b="1" i="0" lang="en-US" sz="1400" u="none" cap="none" strike="noStrike">
                <a:solidFill>
                  <a:srgbClr val="361A54"/>
                </a:solidFill>
                <a:latin typeface="Consolas"/>
                <a:ea typeface="Consolas"/>
                <a:cs typeface="Consolas"/>
                <a:sym typeface="Consolas"/>
              </a:rPr>
              <a:t>(eˣ − e⁻ˣ) / (eˣ + e⁻ˣ)</a:t>
            </a:r>
            <a:endParaRPr b="0" i="0" sz="1400" u="none" cap="none" strike="noStrike">
              <a:solidFill>
                <a:schemeClr val="dk1"/>
              </a:solidFill>
              <a:latin typeface="Calibri"/>
              <a:ea typeface="Calibri"/>
              <a:cs typeface="Calibri"/>
              <a:sym typeface="Calibri"/>
            </a:endParaRPr>
          </a:p>
        </p:txBody>
      </p:sp>
      <p:sp>
        <p:nvSpPr>
          <p:cNvPr id="692" name="Google Shape;692;p35"/>
          <p:cNvSpPr/>
          <p:nvPr/>
        </p:nvSpPr>
        <p:spPr>
          <a:xfrm>
            <a:off x="8353044" y="4892040"/>
            <a:ext cx="32004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u="none" cap="none" strike="noStrike">
                <a:solidFill>
                  <a:srgbClr val="333333"/>
                </a:solidFill>
                <a:latin typeface="Merriweather"/>
                <a:ea typeface="Merriweather"/>
                <a:cs typeface="Merriweather"/>
                <a:sym typeface="Merriweather"/>
              </a:rPr>
              <a:t>Squashes to (−1, 1), zero-centred. Once standard; ReLU has largely replaced it.</a:t>
            </a:r>
            <a:endParaRPr b="0" i="0" u="none" cap="none" strike="noStrike">
              <a:solidFill>
                <a:schemeClr val="dk1"/>
              </a:solidFill>
              <a:latin typeface="Calibri"/>
              <a:ea typeface="Calibri"/>
              <a:cs typeface="Calibri"/>
              <a:sym typeface="Calibri"/>
            </a:endParaRPr>
          </a:p>
        </p:txBody>
      </p:sp>
      <p:sp>
        <p:nvSpPr>
          <p:cNvPr id="693" name="Google Shape;693;p35"/>
          <p:cNvSpPr/>
          <p:nvPr/>
        </p:nvSpPr>
        <p:spPr>
          <a:xfrm>
            <a:off x="548640" y="617220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1300"/>
              <a:buFont typeface="Merriweather"/>
              <a:buNone/>
            </a:pPr>
            <a:r>
              <a:rPr b="1" i="1" lang="en-US" sz="1300" u="none" cap="none" strike="noStrike">
                <a:solidFill>
                  <a:srgbClr val="361A54"/>
                </a:solidFill>
                <a:latin typeface="Merriweather"/>
                <a:ea typeface="Merriweather"/>
                <a:cs typeface="Merriweather"/>
                <a:sym typeface="Merriweather"/>
              </a:rPr>
              <a:t>Pick ReLU until you have a reason not to.</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8" name="Shape 698"/>
        <p:cNvGrpSpPr/>
        <p:nvPr/>
      </p:nvGrpSpPr>
      <p:grpSpPr>
        <a:xfrm>
          <a:off x="0" y="0"/>
          <a:ext cx="0" cy="0"/>
          <a:chOff x="0" y="0"/>
          <a:chExt cx="0" cy="0"/>
        </a:xfrm>
      </p:grpSpPr>
      <p:sp>
        <p:nvSpPr>
          <p:cNvPr id="699" name="Google Shape;699;p36"/>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Design your own MLP in Keras.</a:t>
            </a:r>
            <a:endParaRPr b="0" i="0" sz="2600" u="none" cap="none" strike="noStrike">
              <a:solidFill>
                <a:schemeClr val="dk1"/>
              </a:solidFill>
              <a:latin typeface="Calibri"/>
              <a:ea typeface="Calibri"/>
              <a:cs typeface="Calibri"/>
              <a:sym typeface="Calibri"/>
            </a:endParaRPr>
          </a:p>
        </p:txBody>
      </p:sp>
      <p:sp>
        <p:nvSpPr>
          <p:cNvPr id="700" name="Google Shape;700;p36"/>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Three lines of Python </a:t>
            </a:r>
            <a:r>
              <a:rPr i="1" lang="en-US" sz="1300">
                <a:solidFill>
                  <a:srgbClr val="555555"/>
                </a:solidFill>
                <a:latin typeface="Merriweather"/>
                <a:ea typeface="Merriweather"/>
                <a:cs typeface="Merriweather"/>
                <a:sym typeface="Merriweather"/>
              </a:rPr>
              <a:t>: </a:t>
            </a:r>
            <a:r>
              <a:rPr b="0" i="1" lang="en-US" sz="1300" u="none" cap="none" strike="noStrike">
                <a:solidFill>
                  <a:srgbClr val="555555"/>
                </a:solidFill>
                <a:latin typeface="Merriweather"/>
                <a:ea typeface="Merriweather"/>
                <a:cs typeface="Merriweather"/>
                <a:sym typeface="Merriweather"/>
              </a:rPr>
              <a:t>that's a working network. The rest is choices.</a:t>
            </a:r>
            <a:endParaRPr b="0" i="0" sz="1300" u="none" cap="none" strike="noStrike">
              <a:solidFill>
                <a:schemeClr val="dk1"/>
              </a:solidFill>
              <a:latin typeface="Calibri"/>
              <a:ea typeface="Calibri"/>
              <a:cs typeface="Calibri"/>
              <a:sym typeface="Calibri"/>
            </a:endParaRPr>
          </a:p>
        </p:txBody>
      </p:sp>
      <p:sp>
        <p:nvSpPr>
          <p:cNvPr id="701" name="Google Shape;701;p36"/>
          <p:cNvSpPr/>
          <p:nvPr/>
        </p:nvSpPr>
        <p:spPr>
          <a:xfrm>
            <a:off x="548640" y="1828800"/>
            <a:ext cx="6217920" cy="411480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6"/>
          <p:cNvSpPr/>
          <p:nvPr/>
        </p:nvSpPr>
        <p:spPr>
          <a:xfrm>
            <a:off x="731520" y="1920240"/>
            <a:ext cx="5852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633"/>
              </a:buClr>
              <a:buSzPts val="1100"/>
              <a:buFont typeface="Consolas"/>
              <a:buNone/>
            </a:pPr>
            <a:r>
              <a:rPr b="0" i="0" lang="en-US" sz="1100" u="none" cap="none" strike="noStrike">
                <a:solidFill>
                  <a:srgbClr val="FDD633"/>
                </a:solidFill>
                <a:latin typeface="Consolas"/>
                <a:ea typeface="Consolas"/>
                <a:cs typeface="Consolas"/>
                <a:sym typeface="Consolas"/>
              </a:rPr>
              <a:t>keras_mlp.py</a:t>
            </a:r>
            <a:endParaRPr b="0" i="0" sz="1100" u="none" cap="none" strike="noStrike">
              <a:solidFill>
                <a:schemeClr val="dk1"/>
              </a:solidFill>
              <a:latin typeface="Calibri"/>
              <a:ea typeface="Calibri"/>
              <a:cs typeface="Calibri"/>
              <a:sym typeface="Calibri"/>
            </a:endParaRPr>
          </a:p>
        </p:txBody>
      </p:sp>
      <p:sp>
        <p:nvSpPr>
          <p:cNvPr id="703" name="Google Shape;703;p36"/>
          <p:cNvSpPr/>
          <p:nvPr/>
        </p:nvSpPr>
        <p:spPr>
          <a:xfrm>
            <a:off x="731520" y="2331720"/>
            <a:ext cx="5852160" cy="3566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from keras import Sequential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from keras.layers import Dense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model = Sequential([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    Dense(64, activation='relu',</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          input_shape=(d_in,)),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    Dense(32, activation='relu'),</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    Dense(n_classes,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BF6E9"/>
              </a:buClr>
              <a:buSzPts val="1400"/>
              <a:buFont typeface="Consolas"/>
              <a:buNone/>
            </a:pPr>
            <a:r>
              <a:rPr b="0" i="0" lang="en-US" sz="1400" u="none" cap="none" strike="noStrike">
                <a:solidFill>
                  <a:srgbClr val="FBF6E9"/>
                </a:solidFill>
                <a:latin typeface="Consolas"/>
                <a:ea typeface="Consolas"/>
                <a:cs typeface="Consolas"/>
                <a:sym typeface="Consolas"/>
              </a:rPr>
              <a:t>          activation='softmax'),</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D633"/>
              </a:buClr>
              <a:buSzPts val="1400"/>
              <a:buFont typeface="Consolas"/>
              <a:buNone/>
            </a:pPr>
            <a:r>
              <a:rPr b="0" i="0" lang="en-US" sz="1400" u="none" cap="none" strike="noStrike">
                <a:solidFill>
                  <a:srgbClr val="FDD633"/>
                </a:solidFill>
                <a:latin typeface="Consolas"/>
                <a:ea typeface="Consolas"/>
                <a:cs typeface="Consolas"/>
                <a:sym typeface="Consolas"/>
              </a:rPr>
              <a:t>])</a:t>
            </a:r>
            <a:endParaRPr b="0" i="0" sz="1400" u="none" cap="none" strike="noStrike">
              <a:solidFill>
                <a:schemeClr val="dk1"/>
              </a:solidFill>
              <a:latin typeface="Calibri"/>
              <a:ea typeface="Calibri"/>
              <a:cs typeface="Calibri"/>
              <a:sym typeface="Calibri"/>
            </a:endParaRPr>
          </a:p>
        </p:txBody>
      </p:sp>
      <p:sp>
        <p:nvSpPr>
          <p:cNvPr id="704" name="Google Shape;704;p36"/>
          <p:cNvSpPr/>
          <p:nvPr/>
        </p:nvSpPr>
        <p:spPr>
          <a:xfrm>
            <a:off x="7040880" y="1920240"/>
            <a:ext cx="292608" cy="292608"/>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6"/>
          <p:cNvSpPr/>
          <p:nvPr/>
        </p:nvSpPr>
        <p:spPr>
          <a:xfrm>
            <a:off x="7452360" y="1874520"/>
            <a:ext cx="4434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Each Dense() is one layer.</a:t>
            </a:r>
            <a:endParaRPr b="0" i="0" sz="1400" u="none" cap="none" strike="noStrike">
              <a:solidFill>
                <a:schemeClr val="dk1"/>
              </a:solidFill>
              <a:latin typeface="Calibri"/>
              <a:ea typeface="Calibri"/>
              <a:cs typeface="Calibri"/>
              <a:sym typeface="Calibri"/>
            </a:endParaRPr>
          </a:p>
        </p:txBody>
      </p:sp>
      <p:sp>
        <p:nvSpPr>
          <p:cNvPr id="706" name="Google Shape;706;p36"/>
          <p:cNvSpPr/>
          <p:nvPr/>
        </p:nvSpPr>
        <p:spPr>
          <a:xfrm>
            <a:off x="7452360" y="2286000"/>
            <a:ext cx="4434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It does y = σ(Wx + b) for every example. Keras handles W, b, and the maths.</a:t>
            </a:r>
            <a:endParaRPr b="0" i="0" sz="1200" u="none" cap="none" strike="noStrike">
              <a:solidFill>
                <a:schemeClr val="dk1"/>
              </a:solidFill>
              <a:latin typeface="Calibri"/>
              <a:ea typeface="Calibri"/>
              <a:cs typeface="Calibri"/>
              <a:sym typeface="Calibri"/>
            </a:endParaRPr>
          </a:p>
        </p:txBody>
      </p:sp>
      <p:sp>
        <p:nvSpPr>
          <p:cNvPr id="707" name="Google Shape;707;p36"/>
          <p:cNvSpPr/>
          <p:nvPr/>
        </p:nvSpPr>
        <p:spPr>
          <a:xfrm>
            <a:off x="7040880" y="3291840"/>
            <a:ext cx="292608" cy="292608"/>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
          <p:cNvSpPr/>
          <p:nvPr/>
        </p:nvSpPr>
        <p:spPr>
          <a:xfrm>
            <a:off x="7452360" y="3246120"/>
            <a:ext cx="4434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Width and depth are choices.</a:t>
            </a:r>
            <a:endParaRPr b="0" i="0" sz="1400" u="none" cap="none" strike="noStrike">
              <a:solidFill>
                <a:schemeClr val="dk1"/>
              </a:solidFill>
              <a:latin typeface="Calibri"/>
              <a:ea typeface="Calibri"/>
              <a:cs typeface="Calibri"/>
              <a:sym typeface="Calibri"/>
            </a:endParaRPr>
          </a:p>
        </p:txBody>
      </p:sp>
      <p:sp>
        <p:nvSpPr>
          <p:cNvPr id="709" name="Google Shape;709;p36"/>
          <p:cNvSpPr/>
          <p:nvPr/>
        </p:nvSpPr>
        <p:spPr>
          <a:xfrm>
            <a:off x="7452360" y="3657600"/>
            <a:ext cx="4434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More units → more capacity → more risk of overfitting. We'll tune this next.</a:t>
            </a:r>
            <a:endParaRPr b="0" i="0" sz="1200" u="none" cap="none" strike="noStrike">
              <a:solidFill>
                <a:schemeClr val="dk1"/>
              </a:solidFill>
              <a:latin typeface="Calibri"/>
              <a:ea typeface="Calibri"/>
              <a:cs typeface="Calibri"/>
              <a:sym typeface="Calibri"/>
            </a:endParaRPr>
          </a:p>
        </p:txBody>
      </p:sp>
      <p:sp>
        <p:nvSpPr>
          <p:cNvPr id="710" name="Google Shape;710;p36"/>
          <p:cNvSpPr/>
          <p:nvPr/>
        </p:nvSpPr>
        <p:spPr>
          <a:xfrm>
            <a:off x="7040880" y="4663440"/>
            <a:ext cx="292608" cy="292608"/>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6"/>
          <p:cNvSpPr/>
          <p:nvPr/>
        </p:nvSpPr>
        <p:spPr>
          <a:xfrm>
            <a:off x="7452360" y="4617720"/>
            <a:ext cx="4434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Output activation matches the task.</a:t>
            </a:r>
            <a:endParaRPr b="0" i="0" sz="1400" u="none" cap="none" strike="noStrike">
              <a:solidFill>
                <a:schemeClr val="dk1"/>
              </a:solidFill>
              <a:latin typeface="Calibri"/>
              <a:ea typeface="Calibri"/>
              <a:cs typeface="Calibri"/>
              <a:sym typeface="Calibri"/>
            </a:endParaRPr>
          </a:p>
        </p:txBody>
      </p:sp>
      <p:sp>
        <p:nvSpPr>
          <p:cNvPr id="712" name="Google Shape;712;p36"/>
          <p:cNvSpPr/>
          <p:nvPr/>
        </p:nvSpPr>
        <p:spPr>
          <a:xfrm>
            <a:off x="7452360" y="5029200"/>
            <a:ext cx="4434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softmax for multi-class, sigmoid for binary, linear for regression.</a:t>
            </a:r>
            <a:endParaRPr b="0" i="0" sz="1200" u="none" cap="none" strike="noStrike">
              <a:solidFill>
                <a:schemeClr val="dk1"/>
              </a:solidFill>
              <a:latin typeface="Calibri"/>
              <a:ea typeface="Calibri"/>
              <a:cs typeface="Calibri"/>
              <a:sym typeface="Calibri"/>
            </a:endParaRPr>
          </a:p>
        </p:txBody>
      </p:sp>
      <p:sp>
        <p:nvSpPr>
          <p:cNvPr id="713" name="TextBox 712"/>
          <p:cNvSpPr txBox="1"/>
          <p:nvPr/>
        </p:nvSpPr>
        <p:spPr>
          <a:xfrm>
            <a:off x="548640" y="6144768"/>
            <a:ext cx="11091672" cy="548640"/>
          </a:xfrm>
          <a:prstGeom prst="rect">
            <a:avLst/>
          </a:prstGeom>
          <a:noFill/>
        </p:spPr>
        <p:txBody>
          <a:bodyPr wrap="square">
            <a:spAutoFit/>
          </a:bodyPr>
          <a:lstStyle/>
          <a:p>
            <a:pPr algn="l"/>
            <a:r>
              <a:rPr sz="1250" b="1">
                <a:solidFill>
                  <a:srgbClr val="361A54"/>
                </a:solidFill>
                <a:latin typeface="Merriweather"/>
              </a:rPr>
              <a:t>The maths ↔ the code: Dense(n) = width · number of Dense() calls = depth · activation = σ · softmax = multi-class output. You will run exactly this in this afternoon's Course 3 lab.</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7" name="Shape 717"/>
        <p:cNvGrpSpPr/>
        <p:nvPr/>
      </p:nvGrpSpPr>
      <p:grpSpPr>
        <a:xfrm>
          <a:off x="0" y="0"/>
          <a:ext cx="0" cy="0"/>
          <a:chOff x="0" y="0"/>
          <a:chExt cx="0" cy="0"/>
        </a:xfrm>
      </p:grpSpPr>
      <p:sp>
        <p:nvSpPr>
          <p:cNvPr id="718" name="Google Shape;718;p37"/>
          <p:cNvSpPr txBox="1"/>
          <p:nvPr/>
        </p:nvSpPr>
        <p:spPr>
          <a:xfrm>
            <a:off x="2917450" y="2604900"/>
            <a:ext cx="61644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351C75"/>
                </a:solidFill>
              </a:rPr>
              <a:t>Knowledge check 3</a:t>
            </a:r>
          </a:p>
        </p:txBody>
      </p:sp>
      <p:sp>
        <p:nvSpPr>
          <p:cNvPr id="719" name="TextBox 718"/>
          <p:cNvSpPr txBox="1"/>
          <p:nvPr/>
        </p:nvSpPr>
        <p:spPr>
          <a:xfrm>
            <a:off x="1069848" y="3839340"/>
            <a:ext cx="10058400" cy="457200"/>
          </a:xfrm>
          <a:prstGeom prst="rect">
            <a:avLst/>
          </a:prstGeom>
          <a:noFill/>
        </p:spPr>
        <p:txBody>
          <a:bodyPr wrap="square">
            <a:spAutoFit/>
          </a:bodyPr>
          <a:lstStyle/>
          <a:p>
            <a:pPr algn="ctr"/>
            <a:r>
              <a:rPr sz="1400" b="0">
                <a:solidFill>
                  <a:srgbClr val="555555"/>
                </a:solidFill>
                <a:latin typeface="Merriweather"/>
              </a:rPr>
              <a:t>Section 03 — the multilayer perceptron  ·  Mentimeter (menti.com) · anonymous · ~3 min</a:t>
            </a:r>
          </a:p>
        </p:txBody>
      </p:sp>
      <p:sp>
        <p:nvSpPr>
          <p:cNvPr id="720" name="TextBox 719"/>
          <p:cNvSpPr txBox="1"/>
          <p:nvPr/>
        </p:nvSpPr>
        <p:spPr>
          <a:xfrm>
            <a:off x="1069848" y="4296540"/>
            <a:ext cx="10058400" cy="365760"/>
          </a:xfrm>
          <a:prstGeom prst="rect">
            <a:avLst/>
          </a:prstGeom>
          <a:noFill/>
        </p:spPr>
        <p:txBody>
          <a:bodyPr wrap="square">
            <a:spAutoFit/>
          </a:bodyPr>
          <a:lstStyle/>
          <a:p>
            <a:pPr algn="ctr"/>
            <a:r>
              <a:rPr sz="1200" b="0">
                <a:solidFill>
                  <a:srgbClr val="555555"/>
                </a:solidFill>
                <a:latin typeface="Merriweather"/>
              </a:rPr>
              <a:t>after the poll: why the right answer is right — and why each wrong option is wrong</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3" name="Shape 723"/>
        <p:cNvGrpSpPr/>
        <p:nvPr/>
      </p:nvGrpSpPr>
      <p:grpSpPr>
        <a:xfrm>
          <a:off x="0" y="0"/>
          <a:ext cx="0" cy="0"/>
          <a:chOff x="0" y="0"/>
          <a:chExt cx="0" cy="0"/>
        </a:xfrm>
      </p:grpSpPr>
      <p:sp>
        <p:nvSpPr>
          <p:cNvPr id="724" name="Google Shape;724;p38"/>
          <p:cNvSpPr/>
          <p:nvPr/>
        </p:nvSpPr>
        <p:spPr>
          <a:xfrm>
            <a:off x="640080" y="1828800"/>
            <a:ext cx="2743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Archivo Black"/>
              <a:buNone/>
            </a:pPr>
            <a:r>
              <a:rPr b="1" i="0" lang="en-US" sz="6000" u="none" cap="none" strike="noStrike">
                <a:solidFill>
                  <a:srgbClr val="FFFFFF"/>
                </a:solidFill>
                <a:latin typeface="Archivo Black"/>
                <a:ea typeface="Archivo Black"/>
                <a:cs typeface="Archivo Black"/>
                <a:sym typeface="Archivo Black"/>
              </a:rPr>
              <a:t>04</a:t>
            </a:r>
            <a:endParaRPr b="0" i="0" sz="6000" u="none" cap="none" strike="noStrike">
              <a:solidFill>
                <a:schemeClr val="dk1"/>
              </a:solidFill>
              <a:latin typeface="Calibri"/>
              <a:ea typeface="Calibri"/>
              <a:cs typeface="Calibri"/>
              <a:sym typeface="Calibri"/>
            </a:endParaRPr>
          </a:p>
        </p:txBody>
      </p:sp>
      <p:sp>
        <p:nvSpPr>
          <p:cNvPr id="725" name="Google Shape;725;p38"/>
          <p:cNvSpPr/>
          <p:nvPr/>
        </p:nvSpPr>
        <p:spPr>
          <a:xfrm>
            <a:off x="640080" y="2743200"/>
            <a:ext cx="100584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Preventing</a:t>
            </a:r>
            <a:endParaRPr b="0" i="0" sz="5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overfitting.</a:t>
            </a:r>
            <a:endParaRPr b="0" i="0" sz="5000" u="none" cap="none" strike="noStrike">
              <a:solidFill>
                <a:schemeClr val="dk1"/>
              </a:solidFill>
              <a:latin typeface="Calibri"/>
              <a:ea typeface="Calibri"/>
              <a:cs typeface="Calibri"/>
              <a:sym typeface="Calibri"/>
            </a:endParaRPr>
          </a:p>
        </p:txBody>
      </p:sp>
      <p:sp>
        <p:nvSpPr>
          <p:cNvPr id="726" name="Google Shape;726;p38"/>
          <p:cNvSpPr/>
          <p:nvPr/>
        </p:nvSpPr>
        <p:spPr>
          <a:xfrm>
            <a:off x="640080" y="475488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2000"/>
              <a:buFont typeface="Merriweather"/>
              <a:buNone/>
            </a:pPr>
            <a:r>
              <a:rPr b="0" i="1" lang="en-US" sz="2000" u="none" cap="none" strike="noStrike">
                <a:solidFill>
                  <a:srgbClr val="361A54"/>
                </a:solidFill>
                <a:latin typeface="Merriweather"/>
                <a:ea typeface="Merriweather"/>
                <a:cs typeface="Merriweather"/>
                <a:sym typeface="Merriweather"/>
              </a:rPr>
              <a:t>Bigger isn't better. Generalisation is engineered, not assumed.  ·  ~12 min incl. knowledge check</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1" name="Shape 731"/>
        <p:cNvGrpSpPr/>
        <p:nvPr/>
      </p:nvGrpSpPr>
      <p:grpSpPr>
        <a:xfrm>
          <a:off x="0" y="0"/>
          <a:ext cx="0" cy="0"/>
          <a:chOff x="0" y="0"/>
          <a:chExt cx="0" cy="0"/>
        </a:xfrm>
      </p:grpSpPr>
      <p:sp>
        <p:nvSpPr>
          <p:cNvPr id="732" name="Google Shape;732;p39"/>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Hyperparameters — the dials you set before training.</a:t>
            </a:r>
            <a:endParaRPr b="0" i="0" sz="2600" u="none" cap="none" strike="noStrike">
              <a:solidFill>
                <a:schemeClr val="dk1"/>
              </a:solidFill>
              <a:latin typeface="Calibri"/>
              <a:ea typeface="Calibri"/>
              <a:cs typeface="Calibri"/>
              <a:sym typeface="Calibri"/>
            </a:endParaRPr>
          </a:p>
        </p:txBody>
      </p:sp>
      <p:sp>
        <p:nvSpPr>
          <p:cNvPr id="733" name="Google Shape;733;p39"/>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Not learned from data. Chosen by you (or by search).</a:t>
            </a:r>
            <a:endParaRPr b="0" i="0" sz="1600" u="none" cap="none" strike="noStrike">
              <a:solidFill>
                <a:schemeClr val="dk1"/>
              </a:solidFill>
              <a:latin typeface="Calibri"/>
              <a:ea typeface="Calibri"/>
              <a:cs typeface="Calibri"/>
              <a:sym typeface="Calibri"/>
            </a:endParaRPr>
          </a:p>
        </p:txBody>
      </p:sp>
      <p:sp>
        <p:nvSpPr>
          <p:cNvPr id="734" name="Google Shape;734;p39"/>
          <p:cNvSpPr/>
          <p:nvPr/>
        </p:nvSpPr>
        <p:spPr>
          <a:xfrm>
            <a:off x="406908" y="1783080"/>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9"/>
          <p:cNvSpPr/>
          <p:nvPr/>
        </p:nvSpPr>
        <p:spPr>
          <a:xfrm>
            <a:off x="406908" y="1783080"/>
            <a:ext cx="109728" cy="14630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9"/>
          <p:cNvSpPr/>
          <p:nvPr/>
        </p:nvSpPr>
        <p:spPr>
          <a:xfrm>
            <a:off x="635508" y="190195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Number of layers</a:t>
            </a:r>
            <a:endParaRPr b="0" i="0" sz="1400" u="none" cap="none" strike="noStrike">
              <a:solidFill>
                <a:schemeClr val="dk1"/>
              </a:solidFill>
              <a:latin typeface="Calibri"/>
              <a:ea typeface="Calibri"/>
              <a:cs typeface="Calibri"/>
              <a:sym typeface="Calibri"/>
            </a:endParaRPr>
          </a:p>
        </p:txBody>
      </p:sp>
      <p:sp>
        <p:nvSpPr>
          <p:cNvPr id="737" name="Google Shape;737;p39"/>
          <p:cNvSpPr/>
          <p:nvPr/>
        </p:nvSpPr>
        <p:spPr>
          <a:xfrm>
            <a:off x="635508" y="2286000"/>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Depth.</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More layers = more abstraction, harder to train, more risk of overfit.</a:t>
            </a:r>
            <a:endParaRPr b="0" i="0" sz="1450" u="none" cap="none" strike="noStrike">
              <a:solidFill>
                <a:schemeClr val="dk1"/>
              </a:solidFill>
              <a:latin typeface="Calibri"/>
              <a:ea typeface="Calibri"/>
              <a:cs typeface="Calibri"/>
              <a:sym typeface="Calibri"/>
            </a:endParaRPr>
          </a:p>
        </p:txBody>
      </p:sp>
      <p:sp>
        <p:nvSpPr>
          <p:cNvPr id="738" name="Google Shape;738;p39"/>
          <p:cNvSpPr/>
          <p:nvPr/>
        </p:nvSpPr>
        <p:spPr>
          <a:xfrm>
            <a:off x="4265676" y="1783080"/>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9"/>
          <p:cNvSpPr/>
          <p:nvPr/>
        </p:nvSpPr>
        <p:spPr>
          <a:xfrm>
            <a:off x="4265676" y="1783080"/>
            <a:ext cx="109728" cy="14630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9"/>
          <p:cNvSpPr/>
          <p:nvPr/>
        </p:nvSpPr>
        <p:spPr>
          <a:xfrm>
            <a:off x="4494276" y="190195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Units per layer</a:t>
            </a:r>
            <a:endParaRPr b="0" i="0" sz="1400" u="none" cap="none" strike="noStrike">
              <a:solidFill>
                <a:schemeClr val="dk1"/>
              </a:solidFill>
              <a:latin typeface="Calibri"/>
              <a:ea typeface="Calibri"/>
              <a:cs typeface="Calibri"/>
              <a:sym typeface="Calibri"/>
            </a:endParaRPr>
          </a:p>
        </p:txBody>
      </p:sp>
      <p:sp>
        <p:nvSpPr>
          <p:cNvPr id="741" name="Google Shape;741;p39"/>
          <p:cNvSpPr/>
          <p:nvPr/>
        </p:nvSpPr>
        <p:spPr>
          <a:xfrm>
            <a:off x="4494276" y="2286000"/>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Width.</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More units fit finer detail. Too many memorise. Too few underfit.</a:t>
            </a:r>
            <a:endParaRPr b="0" i="0" sz="1550" u="none" cap="none" strike="noStrike">
              <a:solidFill>
                <a:schemeClr val="dk1"/>
              </a:solidFill>
              <a:latin typeface="Calibri"/>
              <a:ea typeface="Calibri"/>
              <a:cs typeface="Calibri"/>
              <a:sym typeface="Calibri"/>
            </a:endParaRPr>
          </a:p>
        </p:txBody>
      </p:sp>
      <p:sp>
        <p:nvSpPr>
          <p:cNvPr id="742" name="Google Shape;742;p39"/>
          <p:cNvSpPr/>
          <p:nvPr/>
        </p:nvSpPr>
        <p:spPr>
          <a:xfrm>
            <a:off x="8124444" y="1783080"/>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9"/>
          <p:cNvSpPr/>
          <p:nvPr/>
        </p:nvSpPr>
        <p:spPr>
          <a:xfrm>
            <a:off x="8124444" y="1783080"/>
            <a:ext cx="109728" cy="14630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9"/>
          <p:cNvSpPr/>
          <p:nvPr/>
        </p:nvSpPr>
        <p:spPr>
          <a:xfrm>
            <a:off x="8353044" y="190195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Learning rate</a:t>
            </a:r>
            <a:endParaRPr b="0" i="0" sz="1400" u="none" cap="none" strike="noStrike">
              <a:solidFill>
                <a:schemeClr val="dk1"/>
              </a:solidFill>
              <a:latin typeface="Calibri"/>
              <a:ea typeface="Calibri"/>
              <a:cs typeface="Calibri"/>
              <a:sym typeface="Calibri"/>
            </a:endParaRPr>
          </a:p>
        </p:txBody>
      </p:sp>
      <p:sp>
        <p:nvSpPr>
          <p:cNvPr id="745" name="Google Shape;745;p39"/>
          <p:cNvSpPr/>
          <p:nvPr/>
        </p:nvSpPr>
        <p:spPr>
          <a:xfrm>
            <a:off x="8353044" y="2286000"/>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Step size.</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Too big and training diverges. Too small and it crawls.</a:t>
            </a:r>
            <a:endParaRPr b="0" i="0" sz="1550" u="none" cap="none" strike="noStrike">
              <a:solidFill>
                <a:schemeClr val="dk1"/>
              </a:solidFill>
              <a:latin typeface="Calibri"/>
              <a:ea typeface="Calibri"/>
              <a:cs typeface="Calibri"/>
              <a:sym typeface="Calibri"/>
            </a:endParaRPr>
          </a:p>
        </p:txBody>
      </p:sp>
      <p:sp>
        <p:nvSpPr>
          <p:cNvPr id="746" name="Google Shape;746;p39"/>
          <p:cNvSpPr/>
          <p:nvPr/>
        </p:nvSpPr>
        <p:spPr>
          <a:xfrm>
            <a:off x="406908" y="3447288"/>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9"/>
          <p:cNvSpPr/>
          <p:nvPr/>
        </p:nvSpPr>
        <p:spPr>
          <a:xfrm>
            <a:off x="406908" y="3447288"/>
            <a:ext cx="109728" cy="1463040"/>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9"/>
          <p:cNvSpPr/>
          <p:nvPr/>
        </p:nvSpPr>
        <p:spPr>
          <a:xfrm>
            <a:off x="635508" y="35661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Batch size</a:t>
            </a:r>
            <a:endParaRPr b="0" i="0" sz="1400" u="none" cap="none" strike="noStrike">
              <a:solidFill>
                <a:schemeClr val="dk1"/>
              </a:solidFill>
              <a:latin typeface="Calibri"/>
              <a:ea typeface="Calibri"/>
              <a:cs typeface="Calibri"/>
              <a:sym typeface="Calibri"/>
            </a:endParaRPr>
          </a:p>
        </p:txBody>
      </p:sp>
      <p:sp>
        <p:nvSpPr>
          <p:cNvPr id="749" name="Google Shape;749;p39"/>
          <p:cNvSpPr/>
          <p:nvPr/>
        </p:nvSpPr>
        <p:spPr>
          <a:xfrm>
            <a:off x="635508" y="3950208"/>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How many examples per gradient update.</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550" u="none" cap="none" strike="noStrike">
                <a:solidFill>
                  <a:srgbClr val="333333"/>
                </a:solidFill>
                <a:latin typeface="Merriweather"/>
                <a:ea typeface="Merriweather"/>
                <a:cs typeface="Merriweather"/>
                <a:sym typeface="Merriweather"/>
              </a:rPr>
              <a:t>Affects speed and noise.</a:t>
            </a:r>
            <a:endParaRPr b="0" i="0" sz="1550" u="none" cap="none" strike="noStrike">
              <a:solidFill>
                <a:schemeClr val="dk1"/>
              </a:solidFill>
              <a:latin typeface="Calibri"/>
              <a:ea typeface="Calibri"/>
              <a:cs typeface="Calibri"/>
              <a:sym typeface="Calibri"/>
            </a:endParaRPr>
          </a:p>
        </p:txBody>
      </p:sp>
      <p:sp>
        <p:nvSpPr>
          <p:cNvPr id="750" name="Google Shape;750;p39"/>
          <p:cNvSpPr/>
          <p:nvPr/>
        </p:nvSpPr>
        <p:spPr>
          <a:xfrm>
            <a:off x="4265676" y="3447288"/>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9"/>
          <p:cNvSpPr/>
          <p:nvPr/>
        </p:nvSpPr>
        <p:spPr>
          <a:xfrm>
            <a:off x="4265676" y="3447288"/>
            <a:ext cx="109728" cy="14630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9"/>
          <p:cNvSpPr/>
          <p:nvPr/>
        </p:nvSpPr>
        <p:spPr>
          <a:xfrm>
            <a:off x="4494276" y="35661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Number of epochs</a:t>
            </a:r>
            <a:endParaRPr b="0" i="0" sz="1400" u="none" cap="none" strike="noStrike">
              <a:solidFill>
                <a:schemeClr val="dk1"/>
              </a:solidFill>
              <a:latin typeface="Calibri"/>
              <a:ea typeface="Calibri"/>
              <a:cs typeface="Calibri"/>
              <a:sym typeface="Calibri"/>
            </a:endParaRPr>
          </a:p>
        </p:txBody>
      </p:sp>
      <p:sp>
        <p:nvSpPr>
          <p:cNvPr id="753" name="Google Shape;753;p39"/>
          <p:cNvSpPr/>
          <p:nvPr/>
        </p:nvSpPr>
        <p:spPr>
          <a:xfrm>
            <a:off x="4494276" y="3950208"/>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How many passes over the training set.</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Too few = underfit, too many = overfit.</a:t>
            </a:r>
            <a:endParaRPr b="0" i="0" sz="1450" u="none" cap="none" strike="noStrike">
              <a:solidFill>
                <a:schemeClr val="dk1"/>
              </a:solidFill>
              <a:latin typeface="Calibri"/>
              <a:ea typeface="Calibri"/>
              <a:cs typeface="Calibri"/>
              <a:sym typeface="Calibri"/>
            </a:endParaRPr>
          </a:p>
        </p:txBody>
      </p:sp>
      <p:sp>
        <p:nvSpPr>
          <p:cNvPr id="754" name="Google Shape;754;p39"/>
          <p:cNvSpPr/>
          <p:nvPr/>
        </p:nvSpPr>
        <p:spPr>
          <a:xfrm>
            <a:off x="8124444" y="3447288"/>
            <a:ext cx="3657600" cy="14630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9"/>
          <p:cNvSpPr/>
          <p:nvPr/>
        </p:nvSpPr>
        <p:spPr>
          <a:xfrm>
            <a:off x="8124444" y="3447288"/>
            <a:ext cx="109728" cy="14630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9"/>
          <p:cNvSpPr/>
          <p:nvPr/>
        </p:nvSpPr>
        <p:spPr>
          <a:xfrm>
            <a:off x="8353044" y="356616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Activation function</a:t>
            </a:r>
            <a:endParaRPr b="0" i="0" sz="1400" u="none" cap="none" strike="noStrike">
              <a:solidFill>
                <a:schemeClr val="dk1"/>
              </a:solidFill>
              <a:latin typeface="Calibri"/>
              <a:ea typeface="Calibri"/>
              <a:cs typeface="Calibri"/>
              <a:sym typeface="Calibri"/>
            </a:endParaRPr>
          </a:p>
        </p:txBody>
      </p:sp>
      <p:sp>
        <p:nvSpPr>
          <p:cNvPr id="757" name="Google Shape;757;p39"/>
          <p:cNvSpPr/>
          <p:nvPr/>
        </p:nvSpPr>
        <p:spPr>
          <a:xfrm>
            <a:off x="8353044" y="3950208"/>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ReLU, sigmoid, tanh, GELU…</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150"/>
              <a:buFont typeface="Merriweather"/>
              <a:buNone/>
            </a:pPr>
            <a:r>
              <a:rPr b="0" i="0" lang="en-US" sz="1450" u="none" cap="none" strike="noStrike">
                <a:solidFill>
                  <a:srgbClr val="333333"/>
                </a:solidFill>
                <a:latin typeface="Merriweather"/>
                <a:ea typeface="Merriweather"/>
                <a:cs typeface="Merriweather"/>
                <a:sym typeface="Merriweather"/>
              </a:rPr>
              <a:t>Changes the shape of decision boundaries.</a:t>
            </a:r>
            <a:endParaRPr b="0" i="0" sz="145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2" name="Shape 762"/>
        <p:cNvGrpSpPr/>
        <p:nvPr/>
      </p:nvGrpSpPr>
      <p:grpSpPr>
        <a:xfrm>
          <a:off x="0" y="0"/>
          <a:ext cx="0" cy="0"/>
          <a:chOff x="0" y="0"/>
          <a:chExt cx="0" cy="0"/>
        </a:xfrm>
      </p:grpSpPr>
      <p:sp>
        <p:nvSpPr>
          <p:cNvPr id="763" name="Google Shape;763;p40"/>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Three ways to keep a model honest.</a:t>
            </a:r>
            <a:endParaRPr b="0" i="0" sz="2600" u="none" cap="none" strike="noStrike">
              <a:solidFill>
                <a:schemeClr val="dk1"/>
              </a:solidFill>
              <a:latin typeface="Calibri"/>
              <a:ea typeface="Calibri"/>
              <a:cs typeface="Calibri"/>
              <a:sym typeface="Calibri"/>
            </a:endParaRPr>
          </a:p>
        </p:txBody>
      </p:sp>
      <p:sp>
        <p:nvSpPr>
          <p:cNvPr id="764" name="Google Shape;764;p40"/>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All three reduce variance. Use them together.</a:t>
            </a:r>
            <a:endParaRPr b="0" i="0" sz="1300" u="none" cap="none" strike="noStrike">
              <a:solidFill>
                <a:schemeClr val="dk1"/>
              </a:solidFill>
              <a:latin typeface="Calibri"/>
              <a:ea typeface="Calibri"/>
              <a:cs typeface="Calibri"/>
              <a:sym typeface="Calibri"/>
            </a:endParaRPr>
          </a:p>
        </p:txBody>
      </p:sp>
      <p:sp>
        <p:nvSpPr>
          <p:cNvPr id="765" name="Google Shape;765;p40"/>
          <p:cNvSpPr/>
          <p:nvPr/>
        </p:nvSpPr>
        <p:spPr>
          <a:xfrm>
            <a:off x="406908"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0"/>
          <p:cNvSpPr/>
          <p:nvPr/>
        </p:nvSpPr>
        <p:spPr>
          <a:xfrm>
            <a:off x="406908" y="1783080"/>
            <a:ext cx="3657600" cy="5486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0"/>
          <p:cNvSpPr/>
          <p:nvPr/>
        </p:nvSpPr>
        <p:spPr>
          <a:xfrm>
            <a:off x="635508"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01</a:t>
            </a:r>
            <a:endParaRPr b="0" i="0" sz="2000" u="none" cap="none" strike="noStrike">
              <a:solidFill>
                <a:schemeClr val="dk1"/>
              </a:solidFill>
              <a:latin typeface="Calibri"/>
              <a:ea typeface="Calibri"/>
              <a:cs typeface="Calibri"/>
              <a:sym typeface="Calibri"/>
            </a:endParaRPr>
          </a:p>
        </p:txBody>
      </p:sp>
      <p:sp>
        <p:nvSpPr>
          <p:cNvPr id="768" name="Google Shape;768;p40"/>
          <p:cNvSpPr/>
          <p:nvPr/>
        </p:nvSpPr>
        <p:spPr>
          <a:xfrm>
            <a:off x="635508"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Early stopping</a:t>
            </a:r>
            <a:endParaRPr b="0" i="0" sz="1800" u="none" cap="none" strike="noStrike">
              <a:solidFill>
                <a:schemeClr val="dk1"/>
              </a:solidFill>
              <a:latin typeface="Calibri"/>
              <a:ea typeface="Calibri"/>
              <a:cs typeface="Calibri"/>
              <a:sym typeface="Calibri"/>
            </a:endParaRPr>
          </a:p>
        </p:txBody>
      </p:sp>
      <p:sp>
        <p:nvSpPr>
          <p:cNvPr id="769" name="Google Shape;769;p40"/>
          <p:cNvSpPr/>
          <p:nvPr/>
        </p:nvSpPr>
        <p:spPr>
          <a:xfrm>
            <a:off x="635508"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2200" u="none" cap="none" strike="noStrike">
                <a:solidFill>
                  <a:srgbClr val="333333"/>
                </a:solidFill>
                <a:latin typeface="Merriweather"/>
                <a:ea typeface="Merriweather"/>
                <a:cs typeface="Merriweather"/>
                <a:sym typeface="Merriweather"/>
              </a:rPr>
              <a:t>Watch validation loss. The moment it stops improving, stop training. Keep the weights from the best epoch — not the last.</a:t>
            </a:r>
            <a:endParaRPr b="0" i="0" sz="2200" u="none" cap="none" strike="noStrike">
              <a:solidFill>
                <a:schemeClr val="dk1"/>
              </a:solidFill>
              <a:latin typeface="Calibri"/>
              <a:ea typeface="Calibri"/>
              <a:cs typeface="Calibri"/>
              <a:sym typeface="Calibri"/>
            </a:endParaRPr>
          </a:p>
        </p:txBody>
      </p:sp>
      <p:sp>
        <p:nvSpPr>
          <p:cNvPr id="770" name="Google Shape;770;p40"/>
          <p:cNvSpPr/>
          <p:nvPr/>
        </p:nvSpPr>
        <p:spPr>
          <a:xfrm>
            <a:off x="4265676"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0"/>
          <p:cNvSpPr/>
          <p:nvPr/>
        </p:nvSpPr>
        <p:spPr>
          <a:xfrm>
            <a:off x="4265676" y="1783080"/>
            <a:ext cx="3657600" cy="5486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0"/>
          <p:cNvSpPr/>
          <p:nvPr/>
        </p:nvSpPr>
        <p:spPr>
          <a:xfrm>
            <a:off x="4494276"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02</a:t>
            </a:r>
            <a:endParaRPr b="0" i="0" sz="2000" u="none" cap="none" strike="noStrike">
              <a:solidFill>
                <a:schemeClr val="dk1"/>
              </a:solidFill>
              <a:latin typeface="Calibri"/>
              <a:ea typeface="Calibri"/>
              <a:cs typeface="Calibri"/>
              <a:sym typeface="Calibri"/>
            </a:endParaRPr>
          </a:p>
        </p:txBody>
      </p:sp>
      <p:sp>
        <p:nvSpPr>
          <p:cNvPr id="773" name="Google Shape;773;p40"/>
          <p:cNvSpPr/>
          <p:nvPr/>
        </p:nvSpPr>
        <p:spPr>
          <a:xfrm>
            <a:off x="4494276"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Dropout</a:t>
            </a:r>
            <a:endParaRPr b="0" i="0" sz="1800" u="none" cap="none" strike="noStrike">
              <a:solidFill>
                <a:schemeClr val="dk1"/>
              </a:solidFill>
              <a:latin typeface="Calibri"/>
              <a:ea typeface="Calibri"/>
              <a:cs typeface="Calibri"/>
              <a:sym typeface="Calibri"/>
            </a:endParaRPr>
          </a:p>
        </p:txBody>
      </p:sp>
      <p:sp>
        <p:nvSpPr>
          <p:cNvPr id="774" name="Google Shape;774;p40"/>
          <p:cNvSpPr/>
          <p:nvPr/>
        </p:nvSpPr>
        <p:spPr>
          <a:xfrm>
            <a:off x="4494276"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900" u="none" cap="none" strike="noStrike">
                <a:solidFill>
                  <a:srgbClr val="333333"/>
                </a:solidFill>
                <a:latin typeface="Merriweather"/>
                <a:ea typeface="Merriweather"/>
                <a:cs typeface="Merriweather"/>
                <a:sym typeface="Merriweather"/>
              </a:rPr>
              <a:t>During training, randomly zero out a fraction (e.g. 20–50%) of neurons each step. The network can't rely on any single unit, so it learns redundant, robust features.</a:t>
            </a:r>
            <a:endParaRPr b="0" i="0" sz="1900" u="none" cap="none" strike="noStrike">
              <a:solidFill>
                <a:schemeClr val="dk1"/>
              </a:solidFill>
              <a:latin typeface="Calibri"/>
              <a:ea typeface="Calibri"/>
              <a:cs typeface="Calibri"/>
              <a:sym typeface="Calibri"/>
            </a:endParaRPr>
          </a:p>
        </p:txBody>
      </p:sp>
      <p:sp>
        <p:nvSpPr>
          <p:cNvPr id="775" name="Google Shape;775;p40"/>
          <p:cNvSpPr/>
          <p:nvPr/>
        </p:nvSpPr>
        <p:spPr>
          <a:xfrm>
            <a:off x="8124444"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0"/>
          <p:cNvSpPr/>
          <p:nvPr/>
        </p:nvSpPr>
        <p:spPr>
          <a:xfrm>
            <a:off x="8124444" y="1783080"/>
            <a:ext cx="3657600" cy="5486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0"/>
          <p:cNvSpPr/>
          <p:nvPr/>
        </p:nvSpPr>
        <p:spPr>
          <a:xfrm>
            <a:off x="8353044"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03</a:t>
            </a:r>
            <a:endParaRPr b="0" i="0" sz="2000" u="none" cap="none" strike="noStrike">
              <a:solidFill>
                <a:schemeClr val="dk1"/>
              </a:solidFill>
              <a:latin typeface="Calibri"/>
              <a:ea typeface="Calibri"/>
              <a:cs typeface="Calibri"/>
              <a:sym typeface="Calibri"/>
            </a:endParaRPr>
          </a:p>
        </p:txBody>
      </p:sp>
      <p:sp>
        <p:nvSpPr>
          <p:cNvPr id="778" name="Google Shape;778;p40"/>
          <p:cNvSpPr/>
          <p:nvPr/>
        </p:nvSpPr>
        <p:spPr>
          <a:xfrm>
            <a:off x="8353044"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L₁ / L₂ regularisation</a:t>
            </a:r>
            <a:endParaRPr b="0" i="0" sz="1800" u="none" cap="none" strike="noStrike">
              <a:solidFill>
                <a:schemeClr val="dk1"/>
              </a:solidFill>
              <a:latin typeface="Calibri"/>
              <a:ea typeface="Calibri"/>
              <a:cs typeface="Calibri"/>
              <a:sym typeface="Calibri"/>
            </a:endParaRPr>
          </a:p>
        </p:txBody>
      </p:sp>
      <p:sp>
        <p:nvSpPr>
          <p:cNvPr id="779" name="Google Shape;779;p40"/>
          <p:cNvSpPr/>
          <p:nvPr/>
        </p:nvSpPr>
        <p:spPr>
          <a:xfrm>
            <a:off x="8353044"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2000" u="none" cap="none" strike="noStrike">
                <a:solidFill>
                  <a:srgbClr val="333333"/>
                </a:solidFill>
                <a:latin typeface="Merriweather"/>
                <a:ea typeface="Merriweather"/>
                <a:cs typeface="Merriweather"/>
                <a:sym typeface="Merriweather"/>
              </a:rPr>
              <a:t>Add a penalty on the size of the weights to the loss. The model is now pushed to fit the data and keep weights small — preventing extreme, overfit solutions.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4" name="Shape 784"/>
        <p:cNvGrpSpPr/>
        <p:nvPr/>
      </p:nvGrpSpPr>
      <p:grpSpPr>
        <a:xfrm>
          <a:off x="0" y="0"/>
          <a:ext cx="0" cy="0"/>
          <a:chOff x="0" y="0"/>
          <a:chExt cx="0" cy="0"/>
        </a:xfrm>
      </p:grpSpPr>
      <p:sp>
        <p:nvSpPr>
          <p:cNvPr id="785" name="Google Shape;785;p41"/>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Why we need a validation set.</a:t>
            </a:r>
            <a:endParaRPr b="0" i="0" sz="2600" u="none" cap="none" strike="noStrike">
              <a:solidFill>
                <a:schemeClr val="dk1"/>
              </a:solidFill>
              <a:latin typeface="Calibri"/>
              <a:ea typeface="Calibri"/>
              <a:cs typeface="Calibri"/>
              <a:sym typeface="Calibri"/>
            </a:endParaRPr>
          </a:p>
        </p:txBody>
      </p:sp>
      <p:sp>
        <p:nvSpPr>
          <p:cNvPr id="786" name="Google Shape;786;p41"/>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Train tunes the weights. Validation tunes the hyperparameters. Test is the audit.</a:t>
            </a:r>
            <a:endParaRPr b="0" i="0" sz="1300" u="none" cap="none" strike="noStrike">
              <a:solidFill>
                <a:schemeClr val="dk1"/>
              </a:solidFill>
              <a:latin typeface="Calibri"/>
              <a:ea typeface="Calibri"/>
              <a:cs typeface="Calibri"/>
              <a:sym typeface="Calibri"/>
            </a:endParaRPr>
          </a:p>
        </p:txBody>
      </p:sp>
      <p:sp>
        <p:nvSpPr>
          <p:cNvPr id="787" name="Google Shape;787;p41"/>
          <p:cNvSpPr/>
          <p:nvPr/>
        </p:nvSpPr>
        <p:spPr>
          <a:xfrm>
            <a:off x="548640" y="1828800"/>
            <a:ext cx="7764170" cy="7315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1"/>
          <p:cNvSpPr/>
          <p:nvPr/>
        </p:nvSpPr>
        <p:spPr>
          <a:xfrm>
            <a:off x="8312810" y="1828800"/>
            <a:ext cx="1663751" cy="7315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1"/>
          <p:cNvSpPr/>
          <p:nvPr/>
        </p:nvSpPr>
        <p:spPr>
          <a:xfrm>
            <a:off x="9976561" y="1828800"/>
            <a:ext cx="1663751" cy="7315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1"/>
          <p:cNvSpPr/>
          <p:nvPr/>
        </p:nvSpPr>
        <p:spPr>
          <a:xfrm>
            <a:off x="548640" y="1828800"/>
            <a:ext cx="776417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TRAIN  ·  70%</a:t>
            </a:r>
            <a:endParaRPr b="0" i="0" sz="1600" u="none" cap="none" strike="noStrike">
              <a:solidFill>
                <a:schemeClr val="dk1"/>
              </a:solidFill>
              <a:latin typeface="Calibri"/>
              <a:ea typeface="Calibri"/>
              <a:cs typeface="Calibri"/>
              <a:sym typeface="Calibri"/>
            </a:endParaRPr>
          </a:p>
        </p:txBody>
      </p:sp>
      <p:sp>
        <p:nvSpPr>
          <p:cNvPr id="791" name="Google Shape;791;p41"/>
          <p:cNvSpPr/>
          <p:nvPr/>
        </p:nvSpPr>
        <p:spPr>
          <a:xfrm>
            <a:off x="8312810" y="1828800"/>
            <a:ext cx="1663751"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chivo Black"/>
              <a:buNone/>
            </a:pPr>
            <a:r>
              <a:rPr b="1" i="0" lang="en-US" sz="1200" u="none" cap="none" strike="noStrike">
                <a:solidFill>
                  <a:srgbClr val="FFFFFF"/>
                </a:solidFill>
                <a:latin typeface="Archivo Black"/>
                <a:ea typeface="Archivo Black"/>
                <a:cs typeface="Archivo Black"/>
                <a:sym typeface="Archivo Black"/>
              </a:rPr>
              <a:t>VAL  ·  15%</a:t>
            </a:r>
            <a:endParaRPr b="0" i="0" sz="1200" u="none" cap="none" strike="noStrike">
              <a:solidFill>
                <a:schemeClr val="dk1"/>
              </a:solidFill>
              <a:latin typeface="Calibri"/>
              <a:ea typeface="Calibri"/>
              <a:cs typeface="Calibri"/>
              <a:sym typeface="Calibri"/>
            </a:endParaRPr>
          </a:p>
        </p:txBody>
      </p:sp>
      <p:sp>
        <p:nvSpPr>
          <p:cNvPr id="792" name="Google Shape;792;p41"/>
          <p:cNvSpPr/>
          <p:nvPr/>
        </p:nvSpPr>
        <p:spPr>
          <a:xfrm>
            <a:off x="9976561" y="1828800"/>
            <a:ext cx="1663751"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chivo Black"/>
              <a:buNone/>
            </a:pPr>
            <a:r>
              <a:rPr b="1" i="0" lang="en-US" sz="1200" u="none" cap="none" strike="noStrike">
                <a:solidFill>
                  <a:srgbClr val="FFFFFF"/>
                </a:solidFill>
                <a:latin typeface="Archivo Black"/>
                <a:ea typeface="Archivo Black"/>
                <a:cs typeface="Archivo Black"/>
                <a:sym typeface="Archivo Black"/>
              </a:rPr>
              <a:t>TEST  ·  15%</a:t>
            </a:r>
            <a:endParaRPr b="0" i="0" sz="1200" u="none" cap="none" strike="noStrike">
              <a:solidFill>
                <a:schemeClr val="dk1"/>
              </a:solidFill>
              <a:latin typeface="Calibri"/>
              <a:ea typeface="Calibri"/>
              <a:cs typeface="Calibri"/>
              <a:sym typeface="Calibri"/>
            </a:endParaRPr>
          </a:p>
        </p:txBody>
      </p:sp>
      <p:sp>
        <p:nvSpPr>
          <p:cNvPr id="793" name="Google Shape;793;p41"/>
          <p:cNvSpPr/>
          <p:nvPr/>
        </p:nvSpPr>
        <p:spPr>
          <a:xfrm>
            <a:off x="406908" y="3108960"/>
            <a:ext cx="3657600" cy="27889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1"/>
          <p:cNvSpPr/>
          <p:nvPr/>
        </p:nvSpPr>
        <p:spPr>
          <a:xfrm>
            <a:off x="406908" y="3108960"/>
            <a:ext cx="3657600" cy="5486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1"/>
          <p:cNvSpPr/>
          <p:nvPr/>
        </p:nvSpPr>
        <p:spPr>
          <a:xfrm>
            <a:off x="635508" y="320040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TRAIN</a:t>
            </a:r>
            <a:endParaRPr b="0" i="0" sz="1600" u="none" cap="none" strike="noStrike">
              <a:solidFill>
                <a:schemeClr val="dk1"/>
              </a:solidFill>
              <a:latin typeface="Calibri"/>
              <a:ea typeface="Calibri"/>
              <a:cs typeface="Calibri"/>
              <a:sym typeface="Calibri"/>
            </a:endParaRPr>
          </a:p>
        </p:txBody>
      </p:sp>
      <p:sp>
        <p:nvSpPr>
          <p:cNvPr id="796" name="Google Shape;796;p41"/>
          <p:cNvSpPr/>
          <p:nvPr/>
        </p:nvSpPr>
        <p:spPr>
          <a:xfrm>
            <a:off x="635508" y="38404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Tunes weights.</a:t>
            </a:r>
            <a:endParaRPr b="0" i="0" sz="1400" u="none" cap="none" strike="noStrike">
              <a:solidFill>
                <a:schemeClr val="dk1"/>
              </a:solidFill>
              <a:latin typeface="Calibri"/>
              <a:ea typeface="Calibri"/>
              <a:cs typeface="Calibri"/>
              <a:sym typeface="Calibri"/>
            </a:endParaRPr>
          </a:p>
        </p:txBody>
      </p:sp>
      <p:sp>
        <p:nvSpPr>
          <p:cNvPr id="797" name="Google Shape;797;p41"/>
          <p:cNvSpPr/>
          <p:nvPr/>
        </p:nvSpPr>
        <p:spPr>
          <a:xfrm>
            <a:off x="635508" y="4251960"/>
            <a:ext cx="3200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800" u="none" cap="none" strike="noStrike">
                <a:solidFill>
                  <a:srgbClr val="333333"/>
                </a:solidFill>
                <a:latin typeface="Merriweather"/>
                <a:ea typeface="Merriweather"/>
                <a:cs typeface="Merriweather"/>
                <a:sym typeface="Merriweather"/>
              </a:rPr>
              <a:t>The gradient descent loop runs over this. Used at every step of training.</a:t>
            </a:r>
            <a:endParaRPr b="0" i="0" sz="1800" u="none" cap="none" strike="noStrike">
              <a:solidFill>
                <a:schemeClr val="dk1"/>
              </a:solidFill>
              <a:latin typeface="Calibri"/>
              <a:ea typeface="Calibri"/>
              <a:cs typeface="Calibri"/>
              <a:sym typeface="Calibri"/>
            </a:endParaRPr>
          </a:p>
        </p:txBody>
      </p:sp>
      <p:sp>
        <p:nvSpPr>
          <p:cNvPr id="798" name="Google Shape;798;p41"/>
          <p:cNvSpPr/>
          <p:nvPr/>
        </p:nvSpPr>
        <p:spPr>
          <a:xfrm>
            <a:off x="4265676" y="3108960"/>
            <a:ext cx="3657600" cy="27889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1"/>
          <p:cNvSpPr/>
          <p:nvPr/>
        </p:nvSpPr>
        <p:spPr>
          <a:xfrm>
            <a:off x="4265676" y="3108960"/>
            <a:ext cx="3657600" cy="5486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1"/>
          <p:cNvSpPr/>
          <p:nvPr/>
        </p:nvSpPr>
        <p:spPr>
          <a:xfrm>
            <a:off x="4494276" y="320040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VALIDATION</a:t>
            </a:r>
            <a:endParaRPr b="0" i="0" sz="1600" u="none" cap="none" strike="noStrike">
              <a:solidFill>
                <a:schemeClr val="dk1"/>
              </a:solidFill>
              <a:latin typeface="Calibri"/>
              <a:ea typeface="Calibri"/>
              <a:cs typeface="Calibri"/>
              <a:sym typeface="Calibri"/>
            </a:endParaRPr>
          </a:p>
        </p:txBody>
      </p:sp>
      <p:sp>
        <p:nvSpPr>
          <p:cNvPr id="801" name="Google Shape;801;p41"/>
          <p:cNvSpPr/>
          <p:nvPr/>
        </p:nvSpPr>
        <p:spPr>
          <a:xfrm>
            <a:off x="4494276" y="38404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Tunes hyperparameters.</a:t>
            </a:r>
            <a:endParaRPr b="0" i="0" sz="1400" u="none" cap="none" strike="noStrike">
              <a:solidFill>
                <a:schemeClr val="dk1"/>
              </a:solidFill>
              <a:latin typeface="Calibri"/>
              <a:ea typeface="Calibri"/>
              <a:cs typeface="Calibri"/>
              <a:sym typeface="Calibri"/>
            </a:endParaRPr>
          </a:p>
        </p:txBody>
      </p:sp>
      <p:sp>
        <p:nvSpPr>
          <p:cNvPr id="802" name="Google Shape;802;p41"/>
          <p:cNvSpPr/>
          <p:nvPr/>
        </p:nvSpPr>
        <p:spPr>
          <a:xfrm>
            <a:off x="4494276" y="4251960"/>
            <a:ext cx="3200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700" u="none" cap="none" strike="noStrike">
                <a:solidFill>
                  <a:srgbClr val="333333"/>
                </a:solidFill>
                <a:latin typeface="Merriweather"/>
                <a:ea typeface="Merriweather"/>
                <a:cs typeface="Merriweather"/>
                <a:sym typeface="Merriweather"/>
              </a:rPr>
              <a:t>Choose learning rate, number of layers, dropout, when to early-stop. The model sees it indirectly — through your choices.</a:t>
            </a:r>
            <a:endParaRPr b="0" i="0" sz="1700" u="none" cap="none" strike="noStrike">
              <a:solidFill>
                <a:schemeClr val="dk1"/>
              </a:solidFill>
              <a:latin typeface="Calibri"/>
              <a:ea typeface="Calibri"/>
              <a:cs typeface="Calibri"/>
              <a:sym typeface="Calibri"/>
            </a:endParaRPr>
          </a:p>
        </p:txBody>
      </p:sp>
      <p:sp>
        <p:nvSpPr>
          <p:cNvPr id="803" name="Google Shape;803;p41"/>
          <p:cNvSpPr/>
          <p:nvPr/>
        </p:nvSpPr>
        <p:spPr>
          <a:xfrm>
            <a:off x="8124444" y="3108960"/>
            <a:ext cx="3657600" cy="27889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1"/>
          <p:cNvSpPr/>
          <p:nvPr/>
        </p:nvSpPr>
        <p:spPr>
          <a:xfrm>
            <a:off x="8124444" y="3108960"/>
            <a:ext cx="3657600" cy="5486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1"/>
          <p:cNvSpPr/>
          <p:nvPr/>
        </p:nvSpPr>
        <p:spPr>
          <a:xfrm>
            <a:off x="8353044" y="320040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chivo Black"/>
              <a:buNone/>
            </a:pPr>
            <a:r>
              <a:rPr b="1" i="0" lang="en-US" sz="1600" u="none" cap="none" strike="noStrike">
                <a:solidFill>
                  <a:srgbClr val="FFFFFF"/>
                </a:solidFill>
                <a:latin typeface="Archivo Black"/>
                <a:ea typeface="Archivo Black"/>
                <a:cs typeface="Archivo Black"/>
                <a:sym typeface="Archivo Black"/>
              </a:rPr>
              <a:t>TEST</a:t>
            </a:r>
            <a:endParaRPr b="0" i="0" sz="1600" u="none" cap="none" strike="noStrike">
              <a:solidFill>
                <a:schemeClr val="dk1"/>
              </a:solidFill>
              <a:latin typeface="Calibri"/>
              <a:ea typeface="Calibri"/>
              <a:cs typeface="Calibri"/>
              <a:sym typeface="Calibri"/>
            </a:endParaRPr>
          </a:p>
        </p:txBody>
      </p:sp>
      <p:sp>
        <p:nvSpPr>
          <p:cNvPr id="806" name="Google Shape;806;p41"/>
          <p:cNvSpPr/>
          <p:nvPr/>
        </p:nvSpPr>
        <p:spPr>
          <a:xfrm>
            <a:off x="8353044" y="38404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Audits the final model.</a:t>
            </a:r>
            <a:endParaRPr b="0" i="0" sz="1400" u="none" cap="none" strike="noStrike">
              <a:solidFill>
                <a:schemeClr val="dk1"/>
              </a:solidFill>
              <a:latin typeface="Calibri"/>
              <a:ea typeface="Calibri"/>
              <a:cs typeface="Calibri"/>
              <a:sym typeface="Calibri"/>
            </a:endParaRPr>
          </a:p>
        </p:txBody>
      </p:sp>
      <p:sp>
        <p:nvSpPr>
          <p:cNvPr id="807" name="Google Shape;807;p41"/>
          <p:cNvSpPr/>
          <p:nvPr/>
        </p:nvSpPr>
        <p:spPr>
          <a:xfrm>
            <a:off x="8353044" y="4251960"/>
            <a:ext cx="3200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800" u="none" cap="none" strike="noStrike">
                <a:solidFill>
                  <a:srgbClr val="333333"/>
                </a:solidFill>
                <a:latin typeface="Merriweather"/>
                <a:ea typeface="Merriweather"/>
                <a:cs typeface="Merriweather"/>
                <a:sym typeface="Merriweather"/>
              </a:rPr>
              <a:t>Used once, at the very end. The number you report. Look at it twice and it becomes another validation set.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2" name="Shape 812"/>
        <p:cNvGrpSpPr/>
        <p:nvPr/>
      </p:nvGrpSpPr>
      <p:grpSpPr>
        <a:xfrm>
          <a:off x="0" y="0"/>
          <a:ext cx="0" cy="0"/>
          <a:chOff x="0" y="0"/>
          <a:chExt cx="0" cy="0"/>
        </a:xfrm>
      </p:grpSpPr>
      <p:sp>
        <p:nvSpPr>
          <p:cNvPr id="813" name="Google Shape;813;p42"/>
          <p:cNvSpPr txBox="1"/>
          <p:nvPr/>
        </p:nvSpPr>
        <p:spPr>
          <a:xfrm>
            <a:off x="2896050" y="2776150"/>
            <a:ext cx="61644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351C75"/>
                </a:solidFill>
              </a:rPr>
              <a:t>Knowledge check 4</a:t>
            </a:r>
          </a:p>
        </p:txBody>
      </p:sp>
      <p:sp>
        <p:nvSpPr>
          <p:cNvPr id="814" name="TextBox 813"/>
          <p:cNvSpPr txBox="1"/>
          <p:nvPr/>
        </p:nvSpPr>
        <p:spPr>
          <a:xfrm>
            <a:off x="1069848" y="4010590"/>
            <a:ext cx="10058400" cy="457200"/>
          </a:xfrm>
          <a:prstGeom prst="rect">
            <a:avLst/>
          </a:prstGeom>
          <a:noFill/>
        </p:spPr>
        <p:txBody>
          <a:bodyPr wrap="square">
            <a:spAutoFit/>
          </a:bodyPr>
          <a:lstStyle/>
          <a:p>
            <a:pPr algn="ctr"/>
            <a:r>
              <a:rPr sz="1400" b="0">
                <a:solidFill>
                  <a:srgbClr val="555555"/>
                </a:solidFill>
                <a:latin typeface="Merriweather"/>
              </a:rPr>
              <a:t>Section 04 — preventing overfitting  ·  Mentimeter (menti.com) · anonymous · ~3 min</a:t>
            </a:r>
          </a:p>
        </p:txBody>
      </p:sp>
      <p:sp>
        <p:nvSpPr>
          <p:cNvPr id="815" name="TextBox 814"/>
          <p:cNvSpPr txBox="1"/>
          <p:nvPr/>
        </p:nvSpPr>
        <p:spPr>
          <a:xfrm>
            <a:off x="1069848" y="4467790"/>
            <a:ext cx="10058400" cy="365760"/>
          </a:xfrm>
          <a:prstGeom prst="rect">
            <a:avLst/>
          </a:prstGeom>
          <a:noFill/>
        </p:spPr>
        <p:txBody>
          <a:bodyPr wrap="square">
            <a:spAutoFit/>
          </a:bodyPr>
          <a:lstStyle/>
          <a:p>
            <a:pPr algn="ctr"/>
            <a:r>
              <a:rPr sz="1200" b="0">
                <a:solidFill>
                  <a:srgbClr val="555555"/>
                </a:solidFill>
                <a:latin typeface="Merriweather"/>
              </a:rPr>
              <a:t>after the poll: why the right answer is right — and why each wrong option is wrong</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8" name="Shape 818"/>
        <p:cNvGrpSpPr/>
        <p:nvPr/>
      </p:nvGrpSpPr>
      <p:grpSpPr>
        <a:xfrm>
          <a:off x="0" y="0"/>
          <a:ext cx="0" cy="0"/>
          <a:chOff x="0" y="0"/>
          <a:chExt cx="0" cy="0"/>
        </a:xfrm>
      </p:grpSpPr>
      <p:sp>
        <p:nvSpPr>
          <p:cNvPr id="819" name="Google Shape;819;p43"/>
          <p:cNvSpPr/>
          <p:nvPr/>
        </p:nvSpPr>
        <p:spPr>
          <a:xfrm>
            <a:off x="640080" y="1828800"/>
            <a:ext cx="2743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Archivo Black"/>
              <a:buNone/>
            </a:pPr>
            <a:r>
              <a:rPr b="1" i="0" lang="en-US" sz="6000" u="none" cap="none" strike="noStrike">
                <a:solidFill>
                  <a:srgbClr val="FFFFFF"/>
                </a:solidFill>
                <a:latin typeface="Archivo Black"/>
                <a:ea typeface="Archivo Black"/>
                <a:cs typeface="Archivo Black"/>
                <a:sym typeface="Archivo Black"/>
              </a:rPr>
              <a:t>05</a:t>
            </a:r>
            <a:endParaRPr b="0" i="0" sz="6000" u="none" cap="none" strike="noStrike">
              <a:solidFill>
                <a:schemeClr val="dk1"/>
              </a:solidFill>
              <a:latin typeface="Calibri"/>
              <a:ea typeface="Calibri"/>
              <a:cs typeface="Calibri"/>
              <a:sym typeface="Calibri"/>
            </a:endParaRPr>
          </a:p>
        </p:txBody>
      </p:sp>
      <p:sp>
        <p:nvSpPr>
          <p:cNvPr id="820" name="Google Shape;820;p43"/>
          <p:cNvSpPr/>
          <p:nvPr/>
        </p:nvSpPr>
        <p:spPr>
          <a:xfrm>
            <a:off x="640080" y="2926080"/>
            <a:ext cx="109728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5000"/>
              <a:buFont typeface="Archivo Black"/>
              <a:buNone/>
            </a:pPr>
            <a:r>
              <a:rPr b="1" i="0" lang="en-US" sz="5000" u="none" cap="none" strike="noStrike">
                <a:solidFill>
                  <a:srgbClr val="361A54"/>
                </a:solidFill>
                <a:latin typeface="Archivo Black"/>
                <a:ea typeface="Archivo Black"/>
                <a:cs typeface="Archivo Black"/>
                <a:sym typeface="Archivo Black"/>
              </a:rPr>
              <a:t>How networks learn.</a:t>
            </a:r>
            <a:endParaRPr b="0" i="0" sz="5000" u="none" cap="none" strike="noStrike">
              <a:solidFill>
                <a:schemeClr val="dk1"/>
              </a:solidFill>
              <a:latin typeface="Calibri"/>
              <a:ea typeface="Calibri"/>
              <a:cs typeface="Calibri"/>
              <a:sym typeface="Calibri"/>
            </a:endParaRPr>
          </a:p>
        </p:txBody>
      </p:sp>
      <p:sp>
        <p:nvSpPr>
          <p:cNvPr id="821" name="Google Shape;821;p43"/>
          <p:cNvSpPr/>
          <p:nvPr/>
        </p:nvSpPr>
        <p:spPr>
          <a:xfrm>
            <a:off x="640080" y="402336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1A54"/>
              </a:buClr>
              <a:buSzPts val="2000"/>
              <a:buFont typeface="Merriweather"/>
              <a:buNone/>
            </a:pPr>
            <a:r>
              <a:rPr b="0" i="1" lang="en-US" sz="2000" u="none" cap="none" strike="noStrike">
                <a:solidFill>
                  <a:srgbClr val="361A54"/>
                </a:solidFill>
                <a:latin typeface="Merriweather"/>
                <a:ea typeface="Merriweather"/>
                <a:cs typeface="Merriweather"/>
                <a:sym typeface="Merriweather"/>
              </a:rPr>
              <a:t>Gradients, backpropagation, and the optimiser that turns them into updates.  ·  ~20 min incl. knowledge check</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6" name="Shape 826"/>
        <p:cNvGrpSpPr/>
        <p:nvPr/>
      </p:nvGrpSpPr>
      <p:grpSpPr>
        <a:xfrm>
          <a:off x="0" y="0"/>
          <a:ext cx="0" cy="0"/>
          <a:chOff x="0" y="0"/>
          <a:chExt cx="0" cy="0"/>
        </a:xfrm>
      </p:grpSpPr>
      <p:sp>
        <p:nvSpPr>
          <p:cNvPr id="827" name="Google Shape;827;p44"/>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loss landscape.</a:t>
            </a:r>
            <a:endParaRPr b="0" i="0" sz="2600" u="none" cap="none" strike="noStrike">
              <a:solidFill>
                <a:schemeClr val="dk1"/>
              </a:solidFill>
              <a:latin typeface="Calibri"/>
              <a:ea typeface="Calibri"/>
              <a:cs typeface="Calibri"/>
              <a:sym typeface="Calibri"/>
            </a:endParaRPr>
          </a:p>
        </p:txBody>
      </p:sp>
      <p:sp>
        <p:nvSpPr>
          <p:cNvPr id="828" name="Google Shape;828;p44"/>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600" u="none" cap="none" strike="noStrike">
                <a:solidFill>
                  <a:srgbClr val="555555"/>
                </a:solidFill>
                <a:latin typeface="Merriweather"/>
                <a:ea typeface="Merriweather"/>
                <a:cs typeface="Merriweather"/>
                <a:sym typeface="Merriweather"/>
              </a:rPr>
              <a:t>Every weight is an axis. The loss is the height. Training walks downhill.</a:t>
            </a:r>
            <a:endParaRPr b="0" i="0" sz="1600" u="none" cap="none" strike="noStrike">
              <a:solidFill>
                <a:schemeClr val="dk1"/>
              </a:solidFill>
              <a:latin typeface="Calibri"/>
              <a:ea typeface="Calibri"/>
              <a:cs typeface="Calibri"/>
              <a:sym typeface="Calibri"/>
            </a:endParaRPr>
          </a:p>
        </p:txBody>
      </p:sp>
      <p:sp>
        <p:nvSpPr>
          <p:cNvPr id="829" name="Google Shape;829;p44"/>
          <p:cNvSpPr/>
          <p:nvPr/>
        </p:nvSpPr>
        <p:spPr>
          <a:xfrm>
            <a:off x="457200" y="2468880"/>
            <a:ext cx="5486400" cy="2926080"/>
          </a:xfrm>
          <a:prstGeom prst="ellipse">
            <a:avLst/>
          </a:prstGeom>
          <a:solidFill>
            <a:srgbClr val="FAE9D6"/>
          </a:solidFill>
          <a:ln cap="flat" cmpd="sng" w="12700">
            <a:solidFill>
              <a:srgbClr val="FAE9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4"/>
          <p:cNvSpPr/>
          <p:nvPr/>
        </p:nvSpPr>
        <p:spPr>
          <a:xfrm>
            <a:off x="960120" y="2743200"/>
            <a:ext cx="4480560" cy="2377440"/>
          </a:xfrm>
          <a:prstGeom prst="ellipse">
            <a:avLst/>
          </a:prstGeom>
          <a:solidFill>
            <a:srgbClr val="F7D8B5"/>
          </a:solidFill>
          <a:ln cap="flat" cmpd="sng" w="12700">
            <a:solidFill>
              <a:srgbClr val="F7D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4"/>
          <p:cNvSpPr/>
          <p:nvPr/>
        </p:nvSpPr>
        <p:spPr>
          <a:xfrm>
            <a:off x="1463040" y="3017520"/>
            <a:ext cx="3474720" cy="1828800"/>
          </a:xfrm>
          <a:prstGeom prst="ellipse">
            <a:avLst/>
          </a:prstGeom>
          <a:solidFill>
            <a:srgbClr val="F1B677"/>
          </a:solidFill>
          <a:ln cap="flat" cmpd="sng" w="12700">
            <a:solidFill>
              <a:srgbClr val="F1B6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4"/>
          <p:cNvSpPr/>
          <p:nvPr/>
        </p:nvSpPr>
        <p:spPr>
          <a:xfrm>
            <a:off x="1965960" y="3291840"/>
            <a:ext cx="2468880" cy="1280160"/>
          </a:xfrm>
          <a:prstGeom prst="ellipse">
            <a:avLst/>
          </a:prstGeom>
          <a:solidFill>
            <a:srgbClr val="EC9645"/>
          </a:solidFill>
          <a:ln cap="flat" cmpd="sng" w="12700">
            <a:solidFill>
              <a:srgbClr val="EC96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4"/>
          <p:cNvSpPr/>
          <p:nvPr/>
        </p:nvSpPr>
        <p:spPr>
          <a:xfrm>
            <a:off x="2468880" y="3566160"/>
            <a:ext cx="1463040" cy="73152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4"/>
          <p:cNvSpPr/>
          <p:nvPr/>
        </p:nvSpPr>
        <p:spPr>
          <a:xfrm>
            <a:off x="3090672" y="3822192"/>
            <a:ext cx="219456" cy="219456"/>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4"/>
          <p:cNvSpPr/>
          <p:nvPr/>
        </p:nvSpPr>
        <p:spPr>
          <a:xfrm>
            <a:off x="3383280" y="3767328"/>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000"/>
              <a:buFont typeface="Merriweather"/>
              <a:buNone/>
            </a:pPr>
            <a:r>
              <a:rPr b="1" i="1" lang="en-US" sz="1000" u="none" cap="none" strike="noStrike">
                <a:solidFill>
                  <a:srgbClr val="361A54"/>
                </a:solidFill>
                <a:latin typeface="Merriweather"/>
                <a:ea typeface="Merriweather"/>
                <a:cs typeface="Merriweather"/>
                <a:sym typeface="Merriweather"/>
              </a:rPr>
              <a:t>minimum</a:t>
            </a:r>
            <a:endParaRPr b="0" i="0" sz="1000" u="none" cap="none" strike="noStrike">
              <a:solidFill>
                <a:schemeClr val="dk1"/>
              </a:solidFill>
              <a:latin typeface="Calibri"/>
              <a:ea typeface="Calibri"/>
              <a:cs typeface="Calibri"/>
              <a:sym typeface="Calibri"/>
            </a:endParaRPr>
          </a:p>
        </p:txBody>
      </p:sp>
      <p:cxnSp>
        <p:nvCxnSpPr>
          <p:cNvPr id="836" name="Google Shape;836;p44"/>
          <p:cNvCxnSpPr/>
          <p:nvPr/>
        </p:nvCxnSpPr>
        <p:spPr>
          <a:xfrm flipH="1">
            <a:off x="4754880" y="2834640"/>
            <a:ext cx="822960" cy="457200"/>
          </a:xfrm>
          <a:prstGeom prst="straightConnector1">
            <a:avLst/>
          </a:prstGeom>
          <a:noFill/>
          <a:ln cap="flat" cmpd="sng" w="31750">
            <a:solidFill>
              <a:srgbClr val="361A54"/>
            </a:solidFill>
            <a:prstDash val="solid"/>
            <a:round/>
            <a:headEnd len="sm" w="sm" type="none"/>
            <a:tailEnd len="sm" w="sm" type="none"/>
          </a:ln>
        </p:spPr>
      </p:cxnSp>
      <p:sp>
        <p:nvSpPr>
          <p:cNvPr id="837" name="Google Shape;837;p44"/>
          <p:cNvSpPr/>
          <p:nvPr/>
        </p:nvSpPr>
        <p:spPr>
          <a:xfrm>
            <a:off x="5513832" y="2770632"/>
            <a:ext cx="128016" cy="128016"/>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8" name="Google Shape;838;p44"/>
          <p:cNvCxnSpPr/>
          <p:nvPr/>
        </p:nvCxnSpPr>
        <p:spPr>
          <a:xfrm flipH="1">
            <a:off x="4023360" y="3291840"/>
            <a:ext cx="731520" cy="320040"/>
          </a:xfrm>
          <a:prstGeom prst="straightConnector1">
            <a:avLst/>
          </a:prstGeom>
          <a:noFill/>
          <a:ln cap="flat" cmpd="sng" w="31750">
            <a:solidFill>
              <a:srgbClr val="361A54"/>
            </a:solidFill>
            <a:prstDash val="solid"/>
            <a:round/>
            <a:headEnd len="sm" w="sm" type="none"/>
            <a:tailEnd len="sm" w="sm" type="none"/>
          </a:ln>
        </p:spPr>
      </p:cxnSp>
      <p:sp>
        <p:nvSpPr>
          <p:cNvPr id="839" name="Google Shape;839;p44"/>
          <p:cNvSpPr/>
          <p:nvPr/>
        </p:nvSpPr>
        <p:spPr>
          <a:xfrm>
            <a:off x="4690872" y="3227832"/>
            <a:ext cx="128016" cy="128016"/>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0" name="Google Shape;840;p44"/>
          <p:cNvCxnSpPr/>
          <p:nvPr/>
        </p:nvCxnSpPr>
        <p:spPr>
          <a:xfrm flipH="1">
            <a:off x="3474720" y="3611880"/>
            <a:ext cx="548640" cy="228600"/>
          </a:xfrm>
          <a:prstGeom prst="straightConnector1">
            <a:avLst/>
          </a:prstGeom>
          <a:noFill/>
          <a:ln cap="flat" cmpd="sng" w="31750">
            <a:solidFill>
              <a:srgbClr val="361A54"/>
            </a:solidFill>
            <a:prstDash val="solid"/>
            <a:round/>
            <a:headEnd len="sm" w="sm" type="none"/>
            <a:tailEnd len="sm" w="sm" type="none"/>
          </a:ln>
        </p:spPr>
      </p:cxnSp>
      <p:sp>
        <p:nvSpPr>
          <p:cNvPr id="841" name="Google Shape;841;p44"/>
          <p:cNvSpPr/>
          <p:nvPr/>
        </p:nvSpPr>
        <p:spPr>
          <a:xfrm>
            <a:off x="3959352" y="3547872"/>
            <a:ext cx="128016" cy="128016"/>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4"/>
          <p:cNvSpPr/>
          <p:nvPr/>
        </p:nvSpPr>
        <p:spPr>
          <a:xfrm>
            <a:off x="548640" y="187452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Merriweather"/>
              <a:buNone/>
            </a:pPr>
            <a:r>
              <a:rPr b="1" i="1" lang="en-US" sz="1500" u="none" cap="none" strike="noStrike">
                <a:solidFill>
                  <a:srgbClr val="555555"/>
                </a:solidFill>
                <a:latin typeface="Merriweather"/>
                <a:ea typeface="Merriweather"/>
                <a:cs typeface="Merriweather"/>
                <a:sym typeface="Merriweather"/>
              </a:rPr>
              <a:t>Loss surface (one slice)</a:t>
            </a:r>
            <a:endParaRPr b="0" i="0" sz="1500" u="none" cap="none" strike="noStrike">
              <a:solidFill>
                <a:schemeClr val="dk1"/>
              </a:solidFill>
              <a:latin typeface="Calibri"/>
              <a:ea typeface="Calibri"/>
              <a:cs typeface="Calibri"/>
              <a:sym typeface="Calibri"/>
            </a:endParaRPr>
          </a:p>
        </p:txBody>
      </p:sp>
      <p:sp>
        <p:nvSpPr>
          <p:cNvPr id="843" name="Google Shape;843;p44"/>
          <p:cNvSpPr/>
          <p:nvPr/>
        </p:nvSpPr>
        <p:spPr>
          <a:xfrm>
            <a:off x="6766560" y="1828800"/>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The gradient ∇L points uphill.</a:t>
            </a:r>
            <a:endParaRPr b="0" i="0" sz="1800" u="none" cap="none" strike="noStrike">
              <a:solidFill>
                <a:schemeClr val="dk1"/>
              </a:solidFill>
              <a:latin typeface="Calibri"/>
              <a:ea typeface="Calibri"/>
              <a:cs typeface="Calibri"/>
              <a:sym typeface="Calibri"/>
            </a:endParaRPr>
          </a:p>
        </p:txBody>
      </p:sp>
      <p:sp>
        <p:nvSpPr>
          <p:cNvPr id="844" name="Google Shape;844;p44"/>
          <p:cNvSpPr/>
          <p:nvPr/>
        </p:nvSpPr>
        <p:spPr>
          <a:xfrm>
            <a:off x="6766560" y="2286000"/>
            <a:ext cx="5029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Merriweather"/>
              <a:buNone/>
            </a:pPr>
            <a:r>
              <a:rPr b="0" i="0" lang="en-US" sz="1600" u="none" cap="none" strike="noStrike">
                <a:solidFill>
                  <a:srgbClr val="333333"/>
                </a:solidFill>
                <a:latin typeface="Merriweather"/>
                <a:ea typeface="Merriweather"/>
                <a:cs typeface="Merriweather"/>
                <a:sym typeface="Merriweather"/>
              </a:rPr>
              <a:t>It's the vector of partial derivatives of the loss with respect to each weight.</a:t>
            </a:r>
            <a:endParaRPr b="0" i="0" sz="1600" u="none" cap="none" strike="noStrike">
              <a:solidFill>
                <a:schemeClr val="dk1"/>
              </a:solidFill>
              <a:latin typeface="Calibri"/>
              <a:ea typeface="Calibri"/>
              <a:cs typeface="Calibri"/>
              <a:sym typeface="Calibri"/>
            </a:endParaRPr>
          </a:p>
        </p:txBody>
      </p:sp>
      <p:sp>
        <p:nvSpPr>
          <p:cNvPr id="845" name="Google Shape;845;p44"/>
          <p:cNvSpPr/>
          <p:nvPr/>
        </p:nvSpPr>
        <p:spPr>
          <a:xfrm>
            <a:off x="6766560" y="3108960"/>
            <a:ext cx="5029200" cy="91440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4"/>
          <p:cNvSpPr/>
          <p:nvPr/>
        </p:nvSpPr>
        <p:spPr>
          <a:xfrm>
            <a:off x="6766560" y="3108960"/>
            <a:ext cx="50292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1400"/>
              <a:buFont typeface="Consolas"/>
              <a:buNone/>
            </a:pPr>
            <a:r>
              <a:rPr b="1" i="0" lang="en-US" sz="1400" u="none" cap="none" strike="noStrike">
                <a:solidFill>
                  <a:srgbClr val="FDD633"/>
                </a:solidFill>
                <a:latin typeface="Consolas"/>
                <a:ea typeface="Consolas"/>
                <a:cs typeface="Consolas"/>
                <a:sym typeface="Consolas"/>
              </a:rPr>
              <a:t>∇L  =  [ ∂L/∂w₁ , ∂L/∂w₂ , … , ∂L/∂wₙ ]</a:t>
            </a:r>
            <a:endParaRPr b="0" i="0" sz="1400" u="none" cap="none" strike="noStrike">
              <a:solidFill>
                <a:schemeClr val="dk1"/>
              </a:solidFill>
              <a:latin typeface="Calibri"/>
              <a:ea typeface="Calibri"/>
              <a:cs typeface="Calibri"/>
              <a:sym typeface="Calibri"/>
            </a:endParaRPr>
          </a:p>
        </p:txBody>
      </p:sp>
      <p:sp>
        <p:nvSpPr>
          <p:cNvPr id="847" name="Google Shape;847;p44"/>
          <p:cNvSpPr/>
          <p:nvPr/>
        </p:nvSpPr>
        <p:spPr>
          <a:xfrm>
            <a:off x="6766560" y="4297680"/>
            <a:ext cx="292608" cy="292608"/>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4"/>
          <p:cNvSpPr/>
          <p:nvPr/>
        </p:nvSpPr>
        <p:spPr>
          <a:xfrm>
            <a:off x="7178040" y="425196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u="none" cap="none" strike="noStrike">
                <a:solidFill>
                  <a:srgbClr val="361A54"/>
                </a:solidFill>
                <a:latin typeface="Archivo Black"/>
                <a:ea typeface="Archivo Black"/>
                <a:cs typeface="Archivo Black"/>
                <a:sym typeface="Archivo Black"/>
              </a:rPr>
              <a:t>To decrease loss, move opposite the gradient.</a:t>
            </a:r>
            <a:endParaRPr b="0" i="0" u="none" cap="none" strike="noStrike">
              <a:solidFill>
                <a:schemeClr val="dk1"/>
              </a:solidFill>
              <a:latin typeface="Calibri"/>
              <a:ea typeface="Calibri"/>
              <a:cs typeface="Calibri"/>
              <a:sym typeface="Calibri"/>
            </a:endParaRPr>
          </a:p>
        </p:txBody>
      </p:sp>
      <p:sp>
        <p:nvSpPr>
          <p:cNvPr id="849" name="Google Shape;849;p44"/>
          <p:cNvSpPr/>
          <p:nvPr/>
        </p:nvSpPr>
        <p:spPr>
          <a:xfrm>
            <a:off x="6766560" y="4846320"/>
            <a:ext cx="292608" cy="292608"/>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4"/>
          <p:cNvSpPr/>
          <p:nvPr/>
        </p:nvSpPr>
        <p:spPr>
          <a:xfrm>
            <a:off x="7178040" y="4800600"/>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600" u="none" cap="none" strike="noStrike">
                <a:solidFill>
                  <a:srgbClr val="361A54"/>
                </a:solidFill>
                <a:latin typeface="Archivo Black"/>
                <a:ea typeface="Archivo Black"/>
                <a:cs typeface="Archivo Black"/>
                <a:sym typeface="Archivo Black"/>
              </a:rPr>
              <a:t>Step size = learning rate × gradient.</a:t>
            </a:r>
            <a:endParaRPr b="0" i="0" sz="1600" u="none" cap="none" strike="noStrike">
              <a:solidFill>
                <a:schemeClr val="dk1"/>
              </a:solidFill>
              <a:latin typeface="Calibri"/>
              <a:ea typeface="Calibri"/>
              <a:cs typeface="Calibri"/>
              <a:sym typeface="Calibri"/>
            </a:endParaRPr>
          </a:p>
        </p:txBody>
      </p:sp>
      <p:sp>
        <p:nvSpPr>
          <p:cNvPr id="851" name="Google Shape;851;p44"/>
          <p:cNvSpPr/>
          <p:nvPr/>
        </p:nvSpPr>
        <p:spPr>
          <a:xfrm>
            <a:off x="6766560" y="5394960"/>
            <a:ext cx="292608" cy="292608"/>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4"/>
          <p:cNvSpPr/>
          <p:nvPr/>
        </p:nvSpPr>
        <p:spPr>
          <a:xfrm>
            <a:off x="7178040" y="5349240"/>
            <a:ext cx="46634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In high dimensions, the landscape is non-convex and full of saddle points — but it still works.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7" name="Shape 857"/>
        <p:cNvGrpSpPr/>
        <p:nvPr/>
      </p:nvGrpSpPr>
      <p:grpSpPr>
        <a:xfrm>
          <a:off x="0" y="0"/>
          <a:ext cx="0" cy="0"/>
          <a:chOff x="0" y="0"/>
          <a:chExt cx="0" cy="0"/>
        </a:xfrm>
      </p:grpSpPr>
      <p:sp>
        <p:nvSpPr>
          <p:cNvPr id="858" name="Google Shape;858;p45"/>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Gradient descent, one step at a time.</a:t>
            </a:r>
            <a:endParaRPr b="0" i="0" sz="2600" u="none" cap="none" strike="noStrike">
              <a:solidFill>
                <a:schemeClr val="dk1"/>
              </a:solidFill>
              <a:latin typeface="Calibri"/>
              <a:ea typeface="Calibri"/>
              <a:cs typeface="Calibri"/>
              <a:sym typeface="Calibri"/>
            </a:endParaRPr>
          </a:p>
        </p:txBody>
      </p:sp>
      <p:sp>
        <p:nvSpPr>
          <p:cNvPr id="859" name="Google Shape;859;p45"/>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Repeat until the loss stops going down.</a:t>
            </a:r>
            <a:endParaRPr b="0" i="0" sz="1300" u="none" cap="none" strike="noStrike">
              <a:solidFill>
                <a:schemeClr val="dk1"/>
              </a:solidFill>
              <a:latin typeface="Calibri"/>
              <a:ea typeface="Calibri"/>
              <a:cs typeface="Calibri"/>
              <a:sym typeface="Calibri"/>
            </a:endParaRPr>
          </a:p>
        </p:txBody>
      </p:sp>
      <p:sp>
        <p:nvSpPr>
          <p:cNvPr id="860" name="Google Shape;860;p45"/>
          <p:cNvSpPr/>
          <p:nvPr/>
        </p:nvSpPr>
        <p:spPr>
          <a:xfrm>
            <a:off x="1371600" y="1828800"/>
            <a:ext cx="9418320" cy="128016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371600" y="1828800"/>
            <a:ext cx="941832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3000"/>
              <a:buFont typeface="Consolas"/>
              <a:buNone/>
            </a:pPr>
            <a:r>
              <a:rPr b="1" i="0" lang="en-US" sz="3000" u="none" cap="none" strike="noStrike">
                <a:solidFill>
                  <a:srgbClr val="FDD633"/>
                </a:solidFill>
                <a:latin typeface="Consolas"/>
                <a:ea typeface="Consolas"/>
                <a:cs typeface="Consolas"/>
                <a:sym typeface="Consolas"/>
              </a:rPr>
              <a:t>wₜ₊₁  =  wₜ  −  η · ∇L(wₜ)</a:t>
            </a:r>
            <a:endParaRPr b="0" i="0" sz="3000" u="none" cap="none" strike="noStrike">
              <a:solidFill>
                <a:schemeClr val="dk1"/>
              </a:solidFill>
              <a:latin typeface="Calibri"/>
              <a:ea typeface="Calibri"/>
              <a:cs typeface="Calibri"/>
              <a:sym typeface="Calibri"/>
            </a:endParaRPr>
          </a:p>
        </p:txBody>
      </p:sp>
      <p:sp>
        <p:nvSpPr>
          <p:cNvPr id="862" name="Google Shape;862;p45"/>
          <p:cNvSpPr/>
          <p:nvPr/>
        </p:nvSpPr>
        <p:spPr>
          <a:xfrm>
            <a:off x="51663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5"/>
          <p:cNvSpPr/>
          <p:nvPr/>
        </p:nvSpPr>
        <p:spPr>
          <a:xfrm>
            <a:off x="516636" y="3474720"/>
            <a:ext cx="91440" cy="14173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5"/>
          <p:cNvSpPr/>
          <p:nvPr/>
        </p:nvSpPr>
        <p:spPr>
          <a:xfrm>
            <a:off x="74523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800"/>
              <a:buFont typeface="Consolas"/>
              <a:buNone/>
            </a:pPr>
            <a:r>
              <a:rPr b="1" i="0" lang="en-US" sz="2800" u="none" cap="none" strike="noStrike">
                <a:solidFill>
                  <a:srgbClr val="E97132"/>
                </a:solidFill>
                <a:latin typeface="Consolas"/>
                <a:ea typeface="Consolas"/>
                <a:cs typeface="Consolas"/>
                <a:sym typeface="Consolas"/>
              </a:rPr>
              <a:t>wₜ</a:t>
            </a:r>
            <a:endParaRPr b="0" i="0" sz="2800" u="none" cap="none" strike="noStrike">
              <a:solidFill>
                <a:schemeClr val="dk1"/>
              </a:solidFill>
              <a:latin typeface="Calibri"/>
              <a:ea typeface="Calibri"/>
              <a:cs typeface="Calibri"/>
              <a:sym typeface="Calibri"/>
            </a:endParaRPr>
          </a:p>
        </p:txBody>
      </p:sp>
      <p:sp>
        <p:nvSpPr>
          <p:cNvPr id="865" name="Google Shape;865;p45"/>
          <p:cNvSpPr/>
          <p:nvPr/>
        </p:nvSpPr>
        <p:spPr>
          <a:xfrm>
            <a:off x="74523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current weights</a:t>
            </a:r>
            <a:endParaRPr b="0" i="0" sz="1200" u="none" cap="none" strike="noStrike">
              <a:solidFill>
                <a:schemeClr val="dk1"/>
              </a:solidFill>
              <a:latin typeface="Calibri"/>
              <a:ea typeface="Calibri"/>
              <a:cs typeface="Calibri"/>
              <a:sym typeface="Calibri"/>
            </a:endParaRPr>
          </a:p>
        </p:txBody>
      </p:sp>
      <p:sp>
        <p:nvSpPr>
          <p:cNvPr id="866" name="Google Shape;866;p45"/>
          <p:cNvSpPr/>
          <p:nvPr/>
        </p:nvSpPr>
        <p:spPr>
          <a:xfrm>
            <a:off x="335127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5"/>
          <p:cNvSpPr/>
          <p:nvPr/>
        </p:nvSpPr>
        <p:spPr>
          <a:xfrm>
            <a:off x="3351276" y="3474720"/>
            <a:ext cx="91440" cy="14173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5"/>
          <p:cNvSpPr/>
          <p:nvPr/>
        </p:nvSpPr>
        <p:spPr>
          <a:xfrm>
            <a:off x="357987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800"/>
              <a:buFont typeface="Consolas"/>
              <a:buNone/>
            </a:pPr>
            <a:r>
              <a:rPr b="1" i="0" lang="en-US" sz="2800" u="none" cap="none" strike="noStrike">
                <a:solidFill>
                  <a:srgbClr val="4EA72E"/>
                </a:solidFill>
                <a:latin typeface="Consolas"/>
                <a:ea typeface="Consolas"/>
                <a:cs typeface="Consolas"/>
                <a:sym typeface="Consolas"/>
              </a:rPr>
              <a:t>wₜ₊₁</a:t>
            </a:r>
            <a:endParaRPr b="0" i="0" sz="2800" u="none" cap="none" strike="noStrike">
              <a:solidFill>
                <a:schemeClr val="dk1"/>
              </a:solidFill>
              <a:latin typeface="Calibri"/>
              <a:ea typeface="Calibri"/>
              <a:cs typeface="Calibri"/>
              <a:sym typeface="Calibri"/>
            </a:endParaRPr>
          </a:p>
        </p:txBody>
      </p:sp>
      <p:sp>
        <p:nvSpPr>
          <p:cNvPr id="869" name="Google Shape;869;p45"/>
          <p:cNvSpPr/>
          <p:nvPr/>
        </p:nvSpPr>
        <p:spPr>
          <a:xfrm>
            <a:off x="357987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updated weights</a:t>
            </a:r>
            <a:endParaRPr b="0" i="0" sz="1200" u="none" cap="none" strike="noStrike">
              <a:solidFill>
                <a:schemeClr val="dk1"/>
              </a:solidFill>
              <a:latin typeface="Calibri"/>
              <a:ea typeface="Calibri"/>
              <a:cs typeface="Calibri"/>
              <a:sym typeface="Calibri"/>
            </a:endParaRPr>
          </a:p>
        </p:txBody>
      </p:sp>
      <p:sp>
        <p:nvSpPr>
          <p:cNvPr id="870" name="Google Shape;870;p45"/>
          <p:cNvSpPr/>
          <p:nvPr/>
        </p:nvSpPr>
        <p:spPr>
          <a:xfrm>
            <a:off x="618591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5"/>
          <p:cNvSpPr/>
          <p:nvPr/>
        </p:nvSpPr>
        <p:spPr>
          <a:xfrm>
            <a:off x="6185916" y="3474720"/>
            <a:ext cx="91440" cy="14173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5"/>
          <p:cNvSpPr/>
          <p:nvPr/>
        </p:nvSpPr>
        <p:spPr>
          <a:xfrm>
            <a:off x="641451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800"/>
              <a:buFont typeface="Consolas"/>
              <a:buNone/>
            </a:pPr>
            <a:r>
              <a:rPr b="1" i="0" lang="en-US" sz="2800" u="none" cap="none" strike="noStrike">
                <a:solidFill>
                  <a:srgbClr val="A02B93"/>
                </a:solidFill>
                <a:latin typeface="Consolas"/>
                <a:ea typeface="Consolas"/>
                <a:cs typeface="Consolas"/>
                <a:sym typeface="Consolas"/>
              </a:rPr>
              <a:t>η</a:t>
            </a:r>
            <a:endParaRPr b="0" i="0" sz="2800" u="none" cap="none" strike="noStrike">
              <a:solidFill>
                <a:schemeClr val="dk1"/>
              </a:solidFill>
              <a:latin typeface="Calibri"/>
              <a:ea typeface="Calibri"/>
              <a:cs typeface="Calibri"/>
              <a:sym typeface="Calibri"/>
            </a:endParaRPr>
          </a:p>
        </p:txBody>
      </p:sp>
      <p:sp>
        <p:nvSpPr>
          <p:cNvPr id="873" name="Google Shape;873;p45"/>
          <p:cNvSpPr/>
          <p:nvPr/>
        </p:nvSpPr>
        <p:spPr>
          <a:xfrm>
            <a:off x="641451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learning rate (step size)</a:t>
            </a:r>
            <a:endParaRPr b="0" i="0" sz="1200" u="none" cap="none" strike="noStrike">
              <a:solidFill>
                <a:schemeClr val="dk1"/>
              </a:solidFill>
              <a:latin typeface="Calibri"/>
              <a:ea typeface="Calibri"/>
              <a:cs typeface="Calibri"/>
              <a:sym typeface="Calibri"/>
            </a:endParaRPr>
          </a:p>
        </p:txBody>
      </p:sp>
      <p:sp>
        <p:nvSpPr>
          <p:cNvPr id="874" name="Google Shape;874;p45"/>
          <p:cNvSpPr/>
          <p:nvPr/>
        </p:nvSpPr>
        <p:spPr>
          <a:xfrm>
            <a:off x="902055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5"/>
          <p:cNvSpPr/>
          <p:nvPr/>
        </p:nvSpPr>
        <p:spPr>
          <a:xfrm>
            <a:off x="9020556" y="3474720"/>
            <a:ext cx="91440" cy="1417320"/>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5"/>
          <p:cNvSpPr/>
          <p:nvPr/>
        </p:nvSpPr>
        <p:spPr>
          <a:xfrm>
            <a:off x="924915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82FF"/>
              </a:buClr>
              <a:buSzPts val="2800"/>
              <a:buFont typeface="Consolas"/>
              <a:buNone/>
            </a:pPr>
            <a:r>
              <a:rPr b="1" i="0" lang="en-US" sz="2800" u="none" cap="none" strike="noStrike">
                <a:solidFill>
                  <a:srgbClr val="BA82FF"/>
                </a:solidFill>
                <a:latin typeface="Consolas"/>
                <a:ea typeface="Consolas"/>
                <a:cs typeface="Consolas"/>
                <a:sym typeface="Consolas"/>
              </a:rPr>
              <a:t>∇L</a:t>
            </a:r>
            <a:endParaRPr b="0" i="0" sz="2800" u="none" cap="none" strike="noStrike">
              <a:solidFill>
                <a:schemeClr val="dk1"/>
              </a:solidFill>
              <a:latin typeface="Calibri"/>
              <a:ea typeface="Calibri"/>
              <a:cs typeface="Calibri"/>
              <a:sym typeface="Calibri"/>
            </a:endParaRPr>
          </a:p>
        </p:txBody>
      </p:sp>
      <p:sp>
        <p:nvSpPr>
          <p:cNvPr id="877" name="Google Shape;877;p45"/>
          <p:cNvSpPr/>
          <p:nvPr/>
        </p:nvSpPr>
        <p:spPr>
          <a:xfrm>
            <a:off x="924915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200" u="none" cap="none" strike="noStrike">
                <a:solidFill>
                  <a:srgbClr val="333333"/>
                </a:solidFill>
                <a:latin typeface="Merriweather"/>
                <a:ea typeface="Merriweather"/>
                <a:cs typeface="Merriweather"/>
                <a:sym typeface="Merriweather"/>
              </a:rPr>
              <a:t>gradient (direction uphill)</a:t>
            </a:r>
            <a:endParaRPr b="0" i="0" sz="1200" u="none" cap="none" strike="noStrike">
              <a:solidFill>
                <a:schemeClr val="dk1"/>
              </a:solidFill>
              <a:latin typeface="Calibri"/>
              <a:ea typeface="Calibri"/>
              <a:cs typeface="Calibri"/>
              <a:sym typeface="Calibri"/>
            </a:endParaRPr>
          </a:p>
        </p:txBody>
      </p:sp>
      <p:sp>
        <p:nvSpPr>
          <p:cNvPr id="878" name="Google Shape;878;p45"/>
          <p:cNvSpPr/>
          <p:nvPr/>
        </p:nvSpPr>
        <p:spPr>
          <a:xfrm>
            <a:off x="548640" y="5257800"/>
            <a:ext cx="109728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300"/>
              <a:buFont typeface="Merriweather"/>
              <a:buNone/>
            </a:pPr>
            <a:r>
              <a:rPr b="0" i="1" lang="en-US" sz="1700" u="none" cap="none" strike="noStrike">
                <a:solidFill>
                  <a:srgbClr val="555555"/>
                </a:solidFill>
                <a:latin typeface="Merriweather"/>
                <a:ea typeface="Merriweather"/>
                <a:cs typeface="Merriweather"/>
                <a:sym typeface="Merriweather"/>
              </a:rPr>
              <a:t>Subtract a small step in the downhill direction. Then do it again. That's the entire learning algorithm.</a:t>
            </a:r>
            <a:endParaRPr b="0" i="0" sz="1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3" name="Shape 883"/>
        <p:cNvGrpSpPr/>
        <p:nvPr/>
      </p:nvGrpSpPr>
      <p:grpSpPr>
        <a:xfrm>
          <a:off x="0" y="0"/>
          <a:ext cx="0" cy="0"/>
          <a:chOff x="0" y="0"/>
          <a:chExt cx="0" cy="0"/>
        </a:xfrm>
      </p:grpSpPr>
      <p:sp>
        <p:nvSpPr>
          <p:cNvPr id="884" name="Google Shape;884;p46"/>
          <p:cNvSpPr txBox="1"/>
          <p:nvPr/>
        </p:nvSpPr>
        <p:spPr>
          <a:xfrm>
            <a:off x="240239" y="441093"/>
            <a:ext cx="11630400" cy="503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3269" u="none" cap="none" strike="noStrike">
                <a:solidFill>
                  <a:srgbClr val="3C1053"/>
                </a:solidFill>
                <a:latin typeface="Calibri"/>
                <a:ea typeface="Calibri"/>
                <a:cs typeface="Calibri"/>
                <a:sym typeface="Calibri"/>
              </a:rPr>
              <a:t>Backpropagation: the chain rule, applied.</a:t>
            </a:r>
            <a:endParaRPr sz="1430"/>
          </a:p>
        </p:txBody>
      </p:sp>
      <p:sp>
        <p:nvSpPr>
          <p:cNvPr id="885" name="Google Shape;885;p46"/>
          <p:cNvSpPr/>
          <p:nvPr/>
        </p:nvSpPr>
        <p:spPr>
          <a:xfrm>
            <a:off x="240239" y="1169740"/>
            <a:ext cx="11630400" cy="448500"/>
          </a:xfrm>
          <a:prstGeom prst="rect">
            <a:avLst/>
          </a:prstGeom>
          <a:noFill/>
          <a:ln cap="flat" cmpd="sng" w="9725">
            <a:solidFill>
              <a:srgbClr val="BFBFBF"/>
            </a:solidFill>
            <a:prstDash val="solid"/>
            <a:round/>
            <a:headEnd len="sm" w="sm" type="none"/>
            <a:tailEnd len="sm" w="sm" type="none"/>
          </a:ln>
        </p:spPr>
        <p:txBody>
          <a:bodyPr anchorCtr="0" anchor="ctr" bIns="0" lIns="130775" spcFirstLastPara="1" rIns="93400" wrap="square" tIns="0">
            <a:noAutofit/>
          </a:bodyPr>
          <a:lstStyle/>
          <a:p>
            <a:pPr indent="0" lvl="0" marL="0" marR="0" rtl="0" algn="l">
              <a:spcBef>
                <a:spcPts val="0"/>
              </a:spcBef>
              <a:spcAft>
                <a:spcPts val="0"/>
              </a:spcAft>
              <a:buNone/>
            </a:pPr>
            <a:r>
              <a:rPr b="0" i="1" lang="en-US" sz="1328" u="none" cap="none" strike="noStrike">
                <a:solidFill>
                  <a:srgbClr val="595959"/>
                </a:solidFill>
                <a:latin typeface="Calibri"/>
                <a:ea typeface="Calibri"/>
                <a:cs typeface="Calibri"/>
                <a:sym typeface="Calibri"/>
              </a:rPr>
              <a:t>How we compute the gradient for millions of weights in one efficient pass.</a:t>
            </a:r>
            <a:endParaRPr sz="1430"/>
          </a:p>
        </p:txBody>
      </p:sp>
      <p:sp>
        <p:nvSpPr>
          <p:cNvPr id="886" name="Google Shape;886;p46"/>
          <p:cNvSpPr txBox="1"/>
          <p:nvPr/>
        </p:nvSpPr>
        <p:spPr>
          <a:xfrm>
            <a:off x="240239" y="1786288"/>
            <a:ext cx="11630400" cy="188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226" u="none" cap="none" strike="noStrike">
                <a:solidFill>
                  <a:srgbClr val="3C7A1E"/>
                </a:solidFill>
                <a:latin typeface="Calibri"/>
                <a:ea typeface="Calibri"/>
                <a:cs typeface="Calibri"/>
                <a:sym typeface="Calibri"/>
              </a:rPr>
              <a:t>FORWARD PASS  ·  compute the loss</a:t>
            </a:r>
            <a:endParaRPr sz="1430"/>
          </a:p>
        </p:txBody>
      </p:sp>
      <p:sp>
        <p:nvSpPr>
          <p:cNvPr id="887" name="Google Shape;887;p46"/>
          <p:cNvSpPr/>
          <p:nvPr/>
        </p:nvSpPr>
        <p:spPr>
          <a:xfrm>
            <a:off x="240239" y="2253370"/>
            <a:ext cx="1681500" cy="934200"/>
          </a:xfrm>
          <a:prstGeom prst="rect">
            <a:avLst/>
          </a:prstGeom>
          <a:solidFill>
            <a:srgbClr val="BE6FE8"/>
          </a:solidFill>
          <a:ln>
            <a:noFill/>
          </a:ln>
        </p:spPr>
        <p:txBody>
          <a:bodyPr anchorCtr="0" anchor="ctr" bIns="37375" lIns="37375" spcFirstLastPara="1" rIns="37375" wrap="square" tIns="37375">
            <a:noAutofit/>
          </a:bodyPr>
          <a:lstStyle/>
          <a:p>
            <a:pPr indent="0" lvl="0" marL="0" marR="0" rtl="0" algn="ctr">
              <a:spcBef>
                <a:spcPts val="0"/>
              </a:spcBef>
              <a:spcAft>
                <a:spcPts val="0"/>
              </a:spcAft>
              <a:buNone/>
            </a:pPr>
            <a:r>
              <a:rPr b="1" i="0" lang="en-US" sz="1839" u="none" cap="none" strike="noStrike">
                <a:solidFill>
                  <a:srgbClr val="FFFFFF"/>
                </a:solidFill>
                <a:latin typeface="Calibri"/>
                <a:ea typeface="Calibri"/>
                <a:cs typeface="Calibri"/>
                <a:sym typeface="Calibri"/>
              </a:rPr>
              <a:t>Input x</a:t>
            </a:r>
            <a:endParaRPr sz="1430"/>
          </a:p>
        </p:txBody>
      </p:sp>
      <p:sp>
        <p:nvSpPr>
          <p:cNvPr id="888" name="Google Shape;888;p46"/>
          <p:cNvSpPr/>
          <p:nvPr/>
        </p:nvSpPr>
        <p:spPr>
          <a:xfrm>
            <a:off x="2722314" y="2253370"/>
            <a:ext cx="1681500" cy="934200"/>
          </a:xfrm>
          <a:prstGeom prst="rect">
            <a:avLst/>
          </a:prstGeom>
          <a:solidFill>
            <a:srgbClr val="E07C1A"/>
          </a:solidFill>
          <a:ln>
            <a:noFill/>
          </a:ln>
        </p:spPr>
        <p:txBody>
          <a:bodyPr anchorCtr="0" anchor="ctr" bIns="37375" lIns="37375" spcFirstLastPara="1" rIns="37375" wrap="square" tIns="37375">
            <a:noAutofit/>
          </a:bodyPr>
          <a:lstStyle/>
          <a:p>
            <a:pPr indent="0" lvl="0" marL="0" marR="0" rtl="0" algn="ctr">
              <a:spcBef>
                <a:spcPts val="0"/>
              </a:spcBef>
              <a:spcAft>
                <a:spcPts val="0"/>
              </a:spcAft>
              <a:buNone/>
            </a:pPr>
            <a:r>
              <a:rPr b="1" i="0" lang="en-US" sz="1839" u="none" cap="none" strike="noStrike">
                <a:solidFill>
                  <a:srgbClr val="FFFFFF"/>
                </a:solidFill>
                <a:latin typeface="Calibri"/>
                <a:ea typeface="Calibri"/>
                <a:cs typeface="Calibri"/>
                <a:sym typeface="Calibri"/>
              </a:rPr>
              <a:t>Layer 1</a:t>
            </a:r>
            <a:endParaRPr sz="1430"/>
          </a:p>
        </p:txBody>
      </p:sp>
      <p:sp>
        <p:nvSpPr>
          <p:cNvPr id="889" name="Google Shape;889;p46"/>
          <p:cNvSpPr/>
          <p:nvPr/>
        </p:nvSpPr>
        <p:spPr>
          <a:xfrm>
            <a:off x="5204390" y="2253370"/>
            <a:ext cx="1681500" cy="934200"/>
          </a:xfrm>
          <a:prstGeom prst="rect">
            <a:avLst/>
          </a:prstGeom>
          <a:solidFill>
            <a:srgbClr val="5FA22C"/>
          </a:solidFill>
          <a:ln>
            <a:noFill/>
          </a:ln>
        </p:spPr>
        <p:txBody>
          <a:bodyPr anchorCtr="0" anchor="ctr" bIns="37375" lIns="37375" spcFirstLastPara="1" rIns="37375" wrap="square" tIns="37375">
            <a:noAutofit/>
          </a:bodyPr>
          <a:lstStyle/>
          <a:p>
            <a:pPr indent="0" lvl="0" marL="0" marR="0" rtl="0" algn="ctr">
              <a:spcBef>
                <a:spcPts val="0"/>
              </a:spcBef>
              <a:spcAft>
                <a:spcPts val="0"/>
              </a:spcAft>
              <a:buNone/>
            </a:pPr>
            <a:r>
              <a:rPr b="1" i="0" lang="en-US" sz="1839" u="none" cap="none" strike="noStrike">
                <a:solidFill>
                  <a:srgbClr val="FFFFFF"/>
                </a:solidFill>
                <a:latin typeface="Calibri"/>
                <a:ea typeface="Calibri"/>
                <a:cs typeface="Calibri"/>
                <a:sym typeface="Calibri"/>
              </a:rPr>
              <a:t>Layer 2</a:t>
            </a:r>
            <a:endParaRPr sz="1430"/>
          </a:p>
        </p:txBody>
      </p:sp>
      <p:sp>
        <p:nvSpPr>
          <p:cNvPr id="890" name="Google Shape;890;p46"/>
          <p:cNvSpPr/>
          <p:nvPr/>
        </p:nvSpPr>
        <p:spPr>
          <a:xfrm>
            <a:off x="7686467" y="2253370"/>
            <a:ext cx="1681500" cy="934200"/>
          </a:xfrm>
          <a:prstGeom prst="rect">
            <a:avLst/>
          </a:prstGeom>
          <a:solidFill>
            <a:srgbClr val="A8238E"/>
          </a:solidFill>
          <a:ln>
            <a:noFill/>
          </a:ln>
        </p:spPr>
        <p:txBody>
          <a:bodyPr anchorCtr="0" anchor="ctr" bIns="37375" lIns="37375" spcFirstLastPara="1" rIns="37375" wrap="square" tIns="37375">
            <a:noAutofit/>
          </a:bodyPr>
          <a:lstStyle/>
          <a:p>
            <a:pPr indent="0" lvl="0" marL="0" marR="0" rtl="0" algn="ctr">
              <a:spcBef>
                <a:spcPts val="0"/>
              </a:spcBef>
              <a:spcAft>
                <a:spcPts val="0"/>
              </a:spcAft>
              <a:buNone/>
            </a:pPr>
            <a:r>
              <a:rPr b="1" i="0" lang="en-US" sz="1839" u="none" cap="none" strike="noStrike">
                <a:solidFill>
                  <a:srgbClr val="FFFFFF"/>
                </a:solidFill>
                <a:latin typeface="Calibri"/>
                <a:ea typeface="Calibri"/>
                <a:cs typeface="Calibri"/>
                <a:sym typeface="Calibri"/>
              </a:rPr>
              <a:t>Output ŷ</a:t>
            </a:r>
            <a:endParaRPr sz="1430"/>
          </a:p>
        </p:txBody>
      </p:sp>
      <p:sp>
        <p:nvSpPr>
          <p:cNvPr id="891" name="Google Shape;891;p46"/>
          <p:cNvSpPr/>
          <p:nvPr/>
        </p:nvSpPr>
        <p:spPr>
          <a:xfrm>
            <a:off x="10168543" y="2253370"/>
            <a:ext cx="1681500" cy="934200"/>
          </a:xfrm>
          <a:prstGeom prst="rect">
            <a:avLst/>
          </a:prstGeom>
          <a:solidFill>
            <a:srgbClr val="2B0A45"/>
          </a:solidFill>
          <a:ln>
            <a:noFill/>
          </a:ln>
        </p:spPr>
        <p:txBody>
          <a:bodyPr anchorCtr="0" anchor="ctr" bIns="37375" lIns="37375" spcFirstLastPara="1" rIns="37375" wrap="square" tIns="37375">
            <a:noAutofit/>
          </a:bodyPr>
          <a:lstStyle/>
          <a:p>
            <a:pPr indent="0" lvl="0" marL="0" marR="0" rtl="0" algn="ctr">
              <a:spcBef>
                <a:spcPts val="0"/>
              </a:spcBef>
              <a:spcAft>
                <a:spcPts val="0"/>
              </a:spcAft>
              <a:buNone/>
            </a:pPr>
            <a:r>
              <a:rPr b="1" i="0" lang="en-US" sz="1839" u="none" cap="none" strike="noStrike">
                <a:solidFill>
                  <a:srgbClr val="FFFFFF"/>
                </a:solidFill>
                <a:latin typeface="Calibri"/>
                <a:ea typeface="Calibri"/>
                <a:cs typeface="Calibri"/>
                <a:sym typeface="Calibri"/>
              </a:rPr>
              <a:t>Loss L</a:t>
            </a:r>
            <a:endParaRPr sz="1430"/>
          </a:p>
        </p:txBody>
      </p:sp>
      <p:sp>
        <p:nvSpPr>
          <p:cNvPr id="892" name="Google Shape;892;p46"/>
          <p:cNvSpPr txBox="1"/>
          <p:nvPr/>
        </p:nvSpPr>
        <p:spPr>
          <a:xfrm>
            <a:off x="1808234" y="2384153"/>
            <a:ext cx="1027500" cy="173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124" u="none" cap="none" strike="noStrike">
                <a:solidFill>
                  <a:srgbClr val="3C7A1E"/>
                </a:solidFill>
                <a:latin typeface="Calibri"/>
                <a:ea typeface="Calibri"/>
                <a:cs typeface="Calibri"/>
                <a:sym typeface="Calibri"/>
              </a:rPr>
              <a:t>x</a:t>
            </a:r>
            <a:endParaRPr sz="1430"/>
          </a:p>
        </p:txBody>
      </p:sp>
      <p:cxnSp>
        <p:nvCxnSpPr>
          <p:cNvPr id="893" name="Google Shape;893;p46"/>
          <p:cNvCxnSpPr/>
          <p:nvPr/>
        </p:nvCxnSpPr>
        <p:spPr>
          <a:xfrm>
            <a:off x="1977786" y="2720452"/>
            <a:ext cx="688500" cy="0"/>
          </a:xfrm>
          <a:prstGeom prst="straightConnector1">
            <a:avLst/>
          </a:prstGeom>
          <a:noFill/>
          <a:ln cap="flat" cmpd="sng" w="19450">
            <a:solidFill>
              <a:srgbClr val="3C7A1E"/>
            </a:solidFill>
            <a:prstDash val="solid"/>
            <a:round/>
            <a:headEnd len="sm" w="sm" type="none"/>
            <a:tailEnd len="med" w="med" type="triangle"/>
          </a:ln>
        </p:spPr>
      </p:cxnSp>
      <p:sp>
        <p:nvSpPr>
          <p:cNvPr id="894" name="Google Shape;894;p46"/>
          <p:cNvSpPr txBox="1"/>
          <p:nvPr/>
        </p:nvSpPr>
        <p:spPr>
          <a:xfrm>
            <a:off x="4290310" y="2384153"/>
            <a:ext cx="1027500" cy="173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124" u="none" cap="none" strike="noStrike">
                <a:solidFill>
                  <a:srgbClr val="3C7A1E"/>
                </a:solidFill>
                <a:latin typeface="Calibri"/>
                <a:ea typeface="Calibri"/>
                <a:cs typeface="Calibri"/>
                <a:sym typeface="Calibri"/>
              </a:rPr>
              <a:t>h₁</a:t>
            </a:r>
            <a:endParaRPr sz="1430"/>
          </a:p>
        </p:txBody>
      </p:sp>
      <p:cxnSp>
        <p:nvCxnSpPr>
          <p:cNvPr id="895" name="Google Shape;895;p46"/>
          <p:cNvCxnSpPr/>
          <p:nvPr/>
        </p:nvCxnSpPr>
        <p:spPr>
          <a:xfrm>
            <a:off x="4459861" y="2720452"/>
            <a:ext cx="688500" cy="0"/>
          </a:xfrm>
          <a:prstGeom prst="straightConnector1">
            <a:avLst/>
          </a:prstGeom>
          <a:noFill/>
          <a:ln cap="flat" cmpd="sng" w="19450">
            <a:solidFill>
              <a:srgbClr val="3C7A1E"/>
            </a:solidFill>
            <a:prstDash val="solid"/>
            <a:round/>
            <a:headEnd len="sm" w="sm" type="none"/>
            <a:tailEnd len="med" w="med" type="triangle"/>
          </a:ln>
        </p:spPr>
      </p:cxnSp>
      <p:sp>
        <p:nvSpPr>
          <p:cNvPr id="896" name="Google Shape;896;p46"/>
          <p:cNvSpPr txBox="1"/>
          <p:nvPr/>
        </p:nvSpPr>
        <p:spPr>
          <a:xfrm>
            <a:off x="6772387" y="2384153"/>
            <a:ext cx="1027500" cy="173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124" u="none" cap="none" strike="noStrike">
                <a:solidFill>
                  <a:srgbClr val="3C7A1E"/>
                </a:solidFill>
                <a:latin typeface="Calibri"/>
                <a:ea typeface="Calibri"/>
                <a:cs typeface="Calibri"/>
                <a:sym typeface="Calibri"/>
              </a:rPr>
              <a:t>h₂</a:t>
            </a:r>
            <a:endParaRPr sz="1430"/>
          </a:p>
        </p:txBody>
      </p:sp>
      <p:cxnSp>
        <p:nvCxnSpPr>
          <p:cNvPr id="897" name="Google Shape;897;p46"/>
          <p:cNvCxnSpPr/>
          <p:nvPr/>
        </p:nvCxnSpPr>
        <p:spPr>
          <a:xfrm>
            <a:off x="6941937" y="2720452"/>
            <a:ext cx="688500" cy="0"/>
          </a:xfrm>
          <a:prstGeom prst="straightConnector1">
            <a:avLst/>
          </a:prstGeom>
          <a:noFill/>
          <a:ln cap="flat" cmpd="sng" w="19450">
            <a:solidFill>
              <a:srgbClr val="3C7A1E"/>
            </a:solidFill>
            <a:prstDash val="solid"/>
            <a:round/>
            <a:headEnd len="sm" w="sm" type="none"/>
            <a:tailEnd len="med" w="med" type="triangle"/>
          </a:ln>
        </p:spPr>
      </p:cxnSp>
      <p:sp>
        <p:nvSpPr>
          <p:cNvPr id="898" name="Google Shape;898;p46"/>
          <p:cNvSpPr txBox="1"/>
          <p:nvPr/>
        </p:nvSpPr>
        <p:spPr>
          <a:xfrm>
            <a:off x="9254462" y="2384153"/>
            <a:ext cx="1027500" cy="173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124" u="none" cap="none" strike="noStrike">
                <a:solidFill>
                  <a:srgbClr val="3C7A1E"/>
                </a:solidFill>
                <a:latin typeface="Calibri"/>
                <a:ea typeface="Calibri"/>
                <a:cs typeface="Calibri"/>
                <a:sym typeface="Calibri"/>
              </a:rPr>
              <a:t>ŷ</a:t>
            </a:r>
            <a:endParaRPr sz="1430"/>
          </a:p>
        </p:txBody>
      </p:sp>
      <p:cxnSp>
        <p:nvCxnSpPr>
          <p:cNvPr id="899" name="Google Shape;899;p46"/>
          <p:cNvCxnSpPr/>
          <p:nvPr/>
        </p:nvCxnSpPr>
        <p:spPr>
          <a:xfrm>
            <a:off x="9424013" y="2720452"/>
            <a:ext cx="688500" cy="0"/>
          </a:xfrm>
          <a:prstGeom prst="straightConnector1">
            <a:avLst/>
          </a:prstGeom>
          <a:noFill/>
          <a:ln cap="flat" cmpd="sng" w="19450">
            <a:solidFill>
              <a:srgbClr val="3C7A1E"/>
            </a:solidFill>
            <a:prstDash val="solid"/>
            <a:round/>
            <a:headEnd len="sm" w="sm" type="none"/>
            <a:tailEnd len="med" w="med" type="triangle"/>
          </a:ln>
        </p:spPr>
      </p:cxnSp>
      <p:cxnSp>
        <p:nvCxnSpPr>
          <p:cNvPr id="900" name="Google Shape;900;p46"/>
          <p:cNvCxnSpPr/>
          <p:nvPr/>
        </p:nvCxnSpPr>
        <p:spPr>
          <a:xfrm rot="10800000">
            <a:off x="1977764" y="3393050"/>
            <a:ext cx="688500" cy="0"/>
          </a:xfrm>
          <a:prstGeom prst="straightConnector1">
            <a:avLst/>
          </a:prstGeom>
          <a:noFill/>
          <a:ln cap="flat" cmpd="sng" w="19450">
            <a:solidFill>
              <a:srgbClr val="C65A12"/>
            </a:solidFill>
            <a:prstDash val="solid"/>
            <a:round/>
            <a:headEnd len="sm" w="sm" type="none"/>
            <a:tailEnd len="med" w="med" type="triangle"/>
          </a:ln>
        </p:spPr>
      </p:cxnSp>
      <p:sp>
        <p:nvSpPr>
          <p:cNvPr id="901" name="Google Shape;901;p46"/>
          <p:cNvSpPr txBox="1"/>
          <p:nvPr/>
        </p:nvSpPr>
        <p:spPr>
          <a:xfrm>
            <a:off x="1761526" y="3523833"/>
            <a:ext cx="1121100" cy="196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277" u="none" cap="none" strike="noStrike">
                <a:solidFill>
                  <a:srgbClr val="C65A12"/>
                </a:solidFill>
                <a:latin typeface="Calibri"/>
                <a:ea typeface="Calibri"/>
                <a:cs typeface="Calibri"/>
                <a:sym typeface="Calibri"/>
              </a:rPr>
              <a:t>∂L/∂x</a:t>
            </a:r>
            <a:endParaRPr sz="1430"/>
          </a:p>
        </p:txBody>
      </p:sp>
      <p:cxnSp>
        <p:nvCxnSpPr>
          <p:cNvPr id="902" name="Google Shape;902;p46"/>
          <p:cNvCxnSpPr/>
          <p:nvPr/>
        </p:nvCxnSpPr>
        <p:spPr>
          <a:xfrm rot="10800000">
            <a:off x="4459840" y="3393050"/>
            <a:ext cx="688500" cy="0"/>
          </a:xfrm>
          <a:prstGeom prst="straightConnector1">
            <a:avLst/>
          </a:prstGeom>
          <a:noFill/>
          <a:ln cap="flat" cmpd="sng" w="19450">
            <a:solidFill>
              <a:srgbClr val="C65A12"/>
            </a:solidFill>
            <a:prstDash val="solid"/>
            <a:round/>
            <a:headEnd len="sm" w="sm" type="none"/>
            <a:tailEnd len="med" w="med" type="triangle"/>
          </a:ln>
        </p:spPr>
      </p:cxnSp>
      <p:sp>
        <p:nvSpPr>
          <p:cNvPr id="903" name="Google Shape;903;p46"/>
          <p:cNvSpPr txBox="1"/>
          <p:nvPr/>
        </p:nvSpPr>
        <p:spPr>
          <a:xfrm>
            <a:off x="4243602" y="3523833"/>
            <a:ext cx="1121100" cy="196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277" u="none" cap="none" strike="noStrike">
                <a:solidFill>
                  <a:srgbClr val="C65A12"/>
                </a:solidFill>
                <a:latin typeface="Calibri"/>
                <a:ea typeface="Calibri"/>
                <a:cs typeface="Calibri"/>
                <a:sym typeface="Calibri"/>
              </a:rPr>
              <a:t>∂L/∂h₁</a:t>
            </a:r>
            <a:endParaRPr sz="1430"/>
          </a:p>
        </p:txBody>
      </p:sp>
      <p:cxnSp>
        <p:nvCxnSpPr>
          <p:cNvPr id="904" name="Google Shape;904;p46"/>
          <p:cNvCxnSpPr/>
          <p:nvPr/>
        </p:nvCxnSpPr>
        <p:spPr>
          <a:xfrm rot="10800000">
            <a:off x="6941917" y="3393050"/>
            <a:ext cx="688500" cy="0"/>
          </a:xfrm>
          <a:prstGeom prst="straightConnector1">
            <a:avLst/>
          </a:prstGeom>
          <a:noFill/>
          <a:ln cap="flat" cmpd="sng" w="19450">
            <a:solidFill>
              <a:srgbClr val="C65A12"/>
            </a:solidFill>
            <a:prstDash val="solid"/>
            <a:round/>
            <a:headEnd len="sm" w="sm" type="none"/>
            <a:tailEnd len="med" w="med" type="triangle"/>
          </a:ln>
        </p:spPr>
      </p:cxnSp>
      <p:sp>
        <p:nvSpPr>
          <p:cNvPr id="905" name="Google Shape;905;p46"/>
          <p:cNvSpPr txBox="1"/>
          <p:nvPr/>
        </p:nvSpPr>
        <p:spPr>
          <a:xfrm>
            <a:off x="6725678" y="3523833"/>
            <a:ext cx="1121100" cy="196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277" u="none" cap="none" strike="noStrike">
                <a:solidFill>
                  <a:srgbClr val="C65A12"/>
                </a:solidFill>
                <a:latin typeface="Calibri"/>
                <a:ea typeface="Calibri"/>
                <a:cs typeface="Calibri"/>
                <a:sym typeface="Calibri"/>
              </a:rPr>
              <a:t>∂L/∂h₂</a:t>
            </a:r>
            <a:endParaRPr sz="1430"/>
          </a:p>
        </p:txBody>
      </p:sp>
      <p:cxnSp>
        <p:nvCxnSpPr>
          <p:cNvPr id="906" name="Google Shape;906;p46"/>
          <p:cNvCxnSpPr/>
          <p:nvPr/>
        </p:nvCxnSpPr>
        <p:spPr>
          <a:xfrm rot="10800000">
            <a:off x="9423993" y="3393050"/>
            <a:ext cx="688500" cy="0"/>
          </a:xfrm>
          <a:prstGeom prst="straightConnector1">
            <a:avLst/>
          </a:prstGeom>
          <a:noFill/>
          <a:ln cap="flat" cmpd="sng" w="19450">
            <a:solidFill>
              <a:srgbClr val="C65A12"/>
            </a:solidFill>
            <a:prstDash val="solid"/>
            <a:round/>
            <a:headEnd len="sm" w="sm" type="none"/>
            <a:tailEnd len="med" w="med" type="triangle"/>
          </a:ln>
        </p:spPr>
      </p:cxnSp>
      <p:sp>
        <p:nvSpPr>
          <p:cNvPr id="907" name="Google Shape;907;p46"/>
          <p:cNvSpPr txBox="1"/>
          <p:nvPr/>
        </p:nvSpPr>
        <p:spPr>
          <a:xfrm>
            <a:off x="9207754" y="3523833"/>
            <a:ext cx="1121100" cy="196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277" u="none" cap="none" strike="noStrike">
                <a:solidFill>
                  <a:srgbClr val="C65A12"/>
                </a:solidFill>
                <a:latin typeface="Calibri"/>
                <a:ea typeface="Calibri"/>
                <a:cs typeface="Calibri"/>
                <a:sym typeface="Calibri"/>
              </a:rPr>
              <a:t>∂L/∂ŷ</a:t>
            </a:r>
            <a:endParaRPr sz="1430"/>
          </a:p>
        </p:txBody>
      </p:sp>
      <p:sp>
        <p:nvSpPr>
          <p:cNvPr id="908" name="Google Shape;908;p46"/>
          <p:cNvSpPr txBox="1"/>
          <p:nvPr/>
        </p:nvSpPr>
        <p:spPr>
          <a:xfrm>
            <a:off x="240239" y="3897498"/>
            <a:ext cx="11630400" cy="188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226" u="none" cap="none" strike="noStrike">
                <a:solidFill>
                  <a:srgbClr val="C65A12"/>
                </a:solidFill>
                <a:latin typeface="Calibri"/>
                <a:ea typeface="Calibri"/>
                <a:cs typeface="Calibri"/>
                <a:sym typeface="Calibri"/>
              </a:rPr>
              <a:t>BACKWARD PASS  ·  propagate the gradient</a:t>
            </a:r>
            <a:endParaRPr sz="1430"/>
          </a:p>
        </p:txBody>
      </p:sp>
      <p:sp>
        <p:nvSpPr>
          <p:cNvPr id="909" name="Google Shape;909;p46"/>
          <p:cNvSpPr/>
          <p:nvPr/>
        </p:nvSpPr>
        <p:spPr>
          <a:xfrm>
            <a:off x="240239" y="4448655"/>
            <a:ext cx="11630400" cy="1914900"/>
          </a:xfrm>
          <a:prstGeom prst="rect">
            <a:avLst/>
          </a:prstGeom>
          <a:solidFill>
            <a:srgbClr val="FBF1DA"/>
          </a:solidFill>
          <a:ln>
            <a:noFill/>
          </a:ln>
        </p:spPr>
        <p:txBody>
          <a:bodyPr anchorCtr="0" anchor="t" bIns="186825" lIns="326950" spcFirstLastPara="1" rIns="1868325" wrap="square" tIns="242875">
            <a:noAutofit/>
          </a:bodyPr>
          <a:lstStyle/>
          <a:p>
            <a:pPr indent="0" lvl="0" marL="0" marR="0" rtl="0" algn="l">
              <a:spcBef>
                <a:spcPts val="0"/>
              </a:spcBef>
              <a:spcAft>
                <a:spcPts val="0"/>
              </a:spcAft>
              <a:buNone/>
            </a:pPr>
            <a:r>
              <a:rPr b="1" i="0" lang="en-US" sz="2043" u="none" cap="none" strike="noStrike">
                <a:solidFill>
                  <a:srgbClr val="3C1053"/>
                </a:solidFill>
                <a:latin typeface="Courier New"/>
                <a:ea typeface="Courier New"/>
                <a:cs typeface="Courier New"/>
                <a:sym typeface="Courier New"/>
              </a:rPr>
              <a:t>Chain rule:    ∂L/∂w  =  ∂L/∂ŷ  ·  ∂ŷ/∂h  ·  ∂h/∂w</a:t>
            </a:r>
            <a:endParaRPr sz="1430"/>
          </a:p>
          <a:p>
            <a:pPr indent="0" lvl="0" marL="0" marR="0" rtl="0" algn="l">
              <a:spcBef>
                <a:spcPts val="1022"/>
              </a:spcBef>
              <a:spcAft>
                <a:spcPts val="0"/>
              </a:spcAft>
              <a:buNone/>
            </a:pPr>
            <a:r>
              <a:rPr b="0" i="0" lang="en-US" sz="1630" u="none" cap="none" strike="noStrike">
                <a:solidFill>
                  <a:srgbClr val="1A1A1A"/>
                </a:solidFill>
                <a:latin typeface="Calibri"/>
                <a:ea typeface="Calibri"/>
                <a:cs typeface="Calibri"/>
                <a:sym typeface="Calibri"/>
              </a:rPr>
              <a:t>Each layer locally knows how its output depends on its inputs and its weights. Chain those local derivatives together and you get the gradient of the loss with respect to every weight in the network — in a single O(n) sweep, from the output back to the input.</a:t>
            </a:r>
            <a:endParaRPr sz="163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4" name="Shape 914"/>
        <p:cNvGrpSpPr/>
        <p:nvPr/>
      </p:nvGrpSpPr>
      <p:grpSpPr>
        <a:xfrm>
          <a:off x="0" y="0"/>
          <a:ext cx="0" cy="0"/>
          <a:chOff x="0" y="0"/>
          <a:chExt cx="0" cy="0"/>
        </a:xfrm>
      </p:grpSpPr>
      <p:sp>
        <p:nvSpPr>
          <p:cNvPr id="915" name="Google Shape;915;p4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From gradient descent to real optimisers.</a:t>
            </a:r>
            <a:endParaRPr b="0" i="0" sz="2600" u="none" cap="none" strike="noStrike">
              <a:solidFill>
                <a:schemeClr val="dk1"/>
              </a:solidFill>
              <a:latin typeface="Calibri"/>
              <a:ea typeface="Calibri"/>
              <a:cs typeface="Calibri"/>
              <a:sym typeface="Calibri"/>
            </a:endParaRPr>
          </a:p>
        </p:txBody>
      </p:sp>
      <p:sp>
        <p:nvSpPr>
          <p:cNvPr id="916" name="Google Shape;916;p4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Two practical variants you'll meet every time you call .compile().</a:t>
            </a:r>
            <a:endParaRPr b="0" i="0" sz="1300" u="none" cap="none" strike="noStrike">
              <a:solidFill>
                <a:schemeClr val="dk1"/>
              </a:solidFill>
              <a:latin typeface="Calibri"/>
              <a:ea typeface="Calibri"/>
              <a:cs typeface="Calibri"/>
              <a:sym typeface="Calibri"/>
            </a:endParaRPr>
          </a:p>
        </p:txBody>
      </p:sp>
      <p:sp>
        <p:nvSpPr>
          <p:cNvPr id="917" name="Google Shape;917;p47"/>
          <p:cNvSpPr/>
          <p:nvPr/>
        </p:nvSpPr>
        <p:spPr>
          <a:xfrm>
            <a:off x="54864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7"/>
          <p:cNvSpPr/>
          <p:nvPr/>
        </p:nvSpPr>
        <p:spPr>
          <a:xfrm>
            <a:off x="548640" y="1828800"/>
            <a:ext cx="5422392" cy="64008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7"/>
          <p:cNvSpPr/>
          <p:nvPr/>
        </p:nvSpPr>
        <p:spPr>
          <a:xfrm>
            <a:off x="82296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SGD</a:t>
            </a:r>
            <a:endParaRPr b="0" i="0" sz="2200" u="none" cap="none" strike="noStrike">
              <a:solidFill>
                <a:schemeClr val="dk1"/>
              </a:solidFill>
              <a:latin typeface="Calibri"/>
              <a:ea typeface="Calibri"/>
              <a:cs typeface="Calibri"/>
              <a:sym typeface="Calibri"/>
            </a:endParaRPr>
          </a:p>
        </p:txBody>
      </p:sp>
      <p:sp>
        <p:nvSpPr>
          <p:cNvPr id="920" name="Google Shape;920;p47"/>
          <p:cNvSpPr/>
          <p:nvPr/>
        </p:nvSpPr>
        <p:spPr>
          <a:xfrm>
            <a:off x="82296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400"/>
              <a:buFont typeface="Archivo Black"/>
              <a:buNone/>
            </a:pPr>
            <a:r>
              <a:rPr b="1" i="0" lang="en-US" sz="1400" u="none" cap="none" strike="noStrike">
                <a:solidFill>
                  <a:srgbClr val="E97132"/>
                </a:solidFill>
                <a:latin typeface="Archivo Black"/>
                <a:ea typeface="Archivo Black"/>
                <a:cs typeface="Archivo Black"/>
                <a:sym typeface="Archivo Black"/>
              </a:rPr>
              <a:t>Stochastic Gradient Descent.</a:t>
            </a:r>
            <a:endParaRPr b="0" i="0" sz="1400" u="none" cap="none" strike="noStrike">
              <a:solidFill>
                <a:schemeClr val="dk1"/>
              </a:solidFill>
              <a:latin typeface="Calibri"/>
              <a:ea typeface="Calibri"/>
              <a:cs typeface="Calibri"/>
              <a:sym typeface="Calibri"/>
            </a:endParaRPr>
          </a:p>
        </p:txBody>
      </p:sp>
      <p:sp>
        <p:nvSpPr>
          <p:cNvPr id="921" name="Google Shape;921;p47"/>
          <p:cNvSpPr/>
          <p:nvPr/>
        </p:nvSpPr>
        <p:spPr>
          <a:xfrm>
            <a:off x="82296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750" u="none" cap="none" strike="noStrike">
                <a:solidFill>
                  <a:srgbClr val="333333"/>
                </a:solidFill>
                <a:latin typeface="Merriweather"/>
                <a:ea typeface="Merriweather"/>
                <a:cs typeface="Merriweather"/>
                <a:sym typeface="Merriweather"/>
              </a:rPr>
              <a:t>Use a small random batch instead of the full dataset to compute each gradient. The gradient is noisy — but that's a feature, not a bug. The noise helps the optimiser escape shallow minima and saddle points. Cheap, simple, and the foundation everything else builds on.</a:t>
            </a:r>
            <a:endParaRPr b="0" i="0" sz="1750" u="none" cap="none" strike="noStrike">
              <a:solidFill>
                <a:schemeClr val="dk1"/>
              </a:solidFill>
              <a:latin typeface="Calibri"/>
              <a:ea typeface="Calibri"/>
              <a:cs typeface="Calibri"/>
              <a:sym typeface="Calibri"/>
            </a:endParaRPr>
          </a:p>
        </p:txBody>
      </p:sp>
      <p:sp>
        <p:nvSpPr>
          <p:cNvPr id="922" name="Google Shape;922;p47"/>
          <p:cNvSpPr/>
          <p:nvPr/>
        </p:nvSpPr>
        <p:spPr>
          <a:xfrm>
            <a:off x="73152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7"/>
          <p:cNvSpPr/>
          <p:nvPr/>
        </p:nvSpPr>
        <p:spPr>
          <a:xfrm>
            <a:off x="73152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900" u="none" cap="none" strike="noStrike">
                <a:solidFill>
                  <a:srgbClr val="361A54"/>
                </a:solidFill>
                <a:latin typeface="Consolas"/>
                <a:ea typeface="Consolas"/>
                <a:cs typeface="Consolas"/>
                <a:sym typeface="Consolas"/>
              </a:rPr>
              <a:t>w ← w − η · ∇L(batch)</a:t>
            </a:r>
            <a:endParaRPr b="0" i="0" sz="1900" u="none" cap="none" strike="noStrike">
              <a:solidFill>
                <a:schemeClr val="dk1"/>
              </a:solidFill>
              <a:latin typeface="Calibri"/>
              <a:ea typeface="Calibri"/>
              <a:cs typeface="Calibri"/>
              <a:sym typeface="Calibri"/>
            </a:endParaRPr>
          </a:p>
        </p:txBody>
      </p:sp>
      <p:sp>
        <p:nvSpPr>
          <p:cNvPr id="924" name="Google Shape;924;p47"/>
          <p:cNvSpPr/>
          <p:nvPr/>
        </p:nvSpPr>
        <p:spPr>
          <a:xfrm>
            <a:off x="621792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7"/>
          <p:cNvSpPr/>
          <p:nvPr/>
        </p:nvSpPr>
        <p:spPr>
          <a:xfrm>
            <a:off x="6217920" y="1828800"/>
            <a:ext cx="5422392" cy="64008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7"/>
          <p:cNvSpPr/>
          <p:nvPr/>
        </p:nvSpPr>
        <p:spPr>
          <a:xfrm>
            <a:off x="649224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Adam</a:t>
            </a:r>
            <a:endParaRPr b="0" i="0" sz="2200" u="none" cap="none" strike="noStrike">
              <a:solidFill>
                <a:schemeClr val="dk1"/>
              </a:solidFill>
              <a:latin typeface="Calibri"/>
              <a:ea typeface="Calibri"/>
              <a:cs typeface="Calibri"/>
              <a:sym typeface="Calibri"/>
            </a:endParaRPr>
          </a:p>
        </p:txBody>
      </p:sp>
      <p:sp>
        <p:nvSpPr>
          <p:cNvPr id="927" name="Google Shape;927;p47"/>
          <p:cNvSpPr/>
          <p:nvPr/>
        </p:nvSpPr>
        <p:spPr>
          <a:xfrm>
            <a:off x="649224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400"/>
              <a:buFont typeface="Archivo Black"/>
              <a:buNone/>
            </a:pPr>
            <a:r>
              <a:rPr b="1" i="0" lang="en-US" sz="1400" u="none" cap="none" strike="noStrike">
                <a:solidFill>
                  <a:srgbClr val="A02B93"/>
                </a:solidFill>
                <a:latin typeface="Archivo Black"/>
                <a:ea typeface="Archivo Black"/>
                <a:cs typeface="Archivo Black"/>
                <a:sym typeface="Archivo Black"/>
              </a:rPr>
              <a:t>Adaptive Moment Estimation.</a:t>
            </a:r>
            <a:endParaRPr b="0" i="0" sz="1400" u="none" cap="none" strike="noStrike">
              <a:solidFill>
                <a:schemeClr val="dk1"/>
              </a:solidFill>
              <a:latin typeface="Calibri"/>
              <a:ea typeface="Calibri"/>
              <a:cs typeface="Calibri"/>
              <a:sym typeface="Calibri"/>
            </a:endParaRPr>
          </a:p>
        </p:txBody>
      </p:sp>
      <p:sp>
        <p:nvSpPr>
          <p:cNvPr id="928" name="Google Shape;928;p47"/>
          <p:cNvSpPr/>
          <p:nvPr/>
        </p:nvSpPr>
        <p:spPr>
          <a:xfrm>
            <a:off x="649224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750" u="none" cap="none" strike="noStrike">
                <a:solidFill>
                  <a:srgbClr val="333333"/>
                </a:solidFill>
                <a:latin typeface="Merriweather"/>
                <a:ea typeface="Merriweather"/>
                <a:cs typeface="Merriweather"/>
                <a:sym typeface="Merriweather"/>
              </a:rPr>
              <a:t>Track two running averages: the mean of past gradients (momentum) and the mean of their squares (scale). Use them to give each weight its own adaptive learning rate. Converges fast on a wide range of problems with little tuning — which is why it's the default in Keras.</a:t>
            </a:r>
            <a:endParaRPr b="0" i="0" sz="1750" u="none" cap="none" strike="noStrike">
              <a:solidFill>
                <a:schemeClr val="dk1"/>
              </a:solidFill>
              <a:latin typeface="Calibri"/>
              <a:ea typeface="Calibri"/>
              <a:cs typeface="Calibri"/>
              <a:sym typeface="Calibri"/>
            </a:endParaRPr>
          </a:p>
        </p:txBody>
      </p:sp>
      <p:sp>
        <p:nvSpPr>
          <p:cNvPr id="929" name="Google Shape;929;p47"/>
          <p:cNvSpPr/>
          <p:nvPr/>
        </p:nvSpPr>
        <p:spPr>
          <a:xfrm>
            <a:off x="640080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7"/>
          <p:cNvSpPr/>
          <p:nvPr/>
        </p:nvSpPr>
        <p:spPr>
          <a:xfrm>
            <a:off x="640080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800" u="none" cap="none" strike="noStrike">
                <a:solidFill>
                  <a:srgbClr val="361A54"/>
                </a:solidFill>
                <a:latin typeface="Consolas"/>
                <a:ea typeface="Consolas"/>
                <a:cs typeface="Consolas"/>
                <a:sym typeface="Consolas"/>
              </a:rPr>
              <a:t>m, v ← running averages of ∇L</a:t>
            </a:r>
            <a:endParaRPr b="0" i="0" sz="1800" u="none" cap="none" strike="noStrike">
              <a:solidFill>
                <a:schemeClr val="dk1"/>
              </a:solidFill>
              <a:latin typeface="Calibri"/>
              <a:ea typeface="Calibri"/>
              <a:cs typeface="Calibri"/>
              <a:sym typeface="Calibri"/>
            </a:endParaRPr>
          </a:p>
        </p:txBody>
      </p:sp>
      <p:sp>
        <p:nvSpPr>
          <p:cNvPr id="931" name="TextBox 930"/>
          <p:cNvSpPr txBox="1"/>
          <p:nvPr/>
        </p:nvSpPr>
        <p:spPr>
          <a:xfrm>
            <a:off x="548640" y="6144768"/>
            <a:ext cx="11091672" cy="548640"/>
          </a:xfrm>
          <a:prstGeom prst="rect">
            <a:avLst/>
          </a:prstGeom>
          <a:noFill/>
        </p:spPr>
        <p:txBody>
          <a:bodyPr wrap="square">
            <a:spAutoFit/>
          </a:bodyPr>
          <a:lstStyle/>
          <a:p>
            <a:pPr algn="l"/>
            <a:r>
              <a:rPr sz="1250" b="0">
                <a:solidFill>
                  <a:srgbClr val="555555"/>
                </a:solidFill>
                <a:latin typeface="Merriweather"/>
              </a:rPr>
              <a:t>In the lab: model.compile(optimizer='adam', loss=…) selects this exact machinery.</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5" name="Shape 935"/>
        <p:cNvGrpSpPr/>
        <p:nvPr/>
      </p:nvGrpSpPr>
      <p:grpSpPr>
        <a:xfrm>
          <a:off x="0" y="0"/>
          <a:ext cx="0" cy="0"/>
          <a:chOff x="0" y="0"/>
          <a:chExt cx="0" cy="0"/>
        </a:xfrm>
      </p:grpSpPr>
      <p:sp>
        <p:nvSpPr>
          <p:cNvPr id="936" name="Google Shape;936;p48"/>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full training loop.</a:t>
            </a:r>
            <a:endParaRPr b="0" i="0" sz="2600" u="none" cap="none" strike="noStrike">
              <a:solidFill>
                <a:schemeClr val="dk1"/>
              </a:solidFill>
              <a:latin typeface="Calibri"/>
              <a:ea typeface="Calibri"/>
              <a:cs typeface="Calibri"/>
              <a:sym typeface="Calibri"/>
            </a:endParaRPr>
          </a:p>
        </p:txBody>
      </p:sp>
      <p:sp>
        <p:nvSpPr>
          <p:cNvPr id="937" name="Google Shape;937;p48"/>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700" u="none" cap="none" strike="noStrike">
                <a:solidFill>
                  <a:srgbClr val="555555"/>
                </a:solidFill>
                <a:latin typeface="Merriweather"/>
                <a:ea typeface="Merriweather"/>
                <a:cs typeface="Merriweather"/>
                <a:sym typeface="Merriweather"/>
              </a:rPr>
              <a:t>Every step of every deep learning model — same five moves.</a:t>
            </a:r>
            <a:endParaRPr b="0" i="0" sz="1700" u="none" cap="none" strike="noStrike">
              <a:solidFill>
                <a:schemeClr val="dk1"/>
              </a:solidFill>
              <a:latin typeface="Calibri"/>
              <a:ea typeface="Calibri"/>
              <a:cs typeface="Calibri"/>
              <a:sym typeface="Calibri"/>
            </a:endParaRPr>
          </a:p>
        </p:txBody>
      </p:sp>
      <p:sp>
        <p:nvSpPr>
          <p:cNvPr id="938" name="Google Shape;938;p48"/>
          <p:cNvSpPr/>
          <p:nvPr/>
        </p:nvSpPr>
        <p:spPr>
          <a:xfrm>
            <a:off x="278892" y="1828800"/>
            <a:ext cx="2194560" cy="32004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8"/>
          <p:cNvSpPr/>
          <p:nvPr/>
        </p:nvSpPr>
        <p:spPr>
          <a:xfrm>
            <a:off x="964692" y="2103120"/>
            <a:ext cx="822960" cy="822960"/>
          </a:xfrm>
          <a:prstGeom prst="ellipse">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8"/>
          <p:cNvSpPr/>
          <p:nvPr/>
        </p:nvSpPr>
        <p:spPr>
          <a:xfrm>
            <a:off x="964692" y="210312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chivo Black"/>
              <a:buNone/>
            </a:pPr>
            <a:r>
              <a:rPr b="1" i="0" lang="en-US" sz="3200" u="none" cap="none" strike="noStrike">
                <a:solidFill>
                  <a:srgbClr val="FFFFFF"/>
                </a:solidFill>
                <a:latin typeface="Archivo Black"/>
                <a:ea typeface="Archivo Black"/>
                <a:cs typeface="Archivo Black"/>
                <a:sym typeface="Archivo Black"/>
              </a:rPr>
              <a:t>1</a:t>
            </a:r>
            <a:endParaRPr b="0" i="0" sz="3200" u="none" cap="none" strike="noStrike">
              <a:solidFill>
                <a:schemeClr val="dk1"/>
              </a:solidFill>
              <a:latin typeface="Calibri"/>
              <a:ea typeface="Calibri"/>
              <a:cs typeface="Calibri"/>
              <a:sym typeface="Calibri"/>
            </a:endParaRPr>
          </a:p>
        </p:txBody>
      </p:sp>
      <p:sp>
        <p:nvSpPr>
          <p:cNvPr id="941" name="Google Shape;941;p48"/>
          <p:cNvSpPr/>
          <p:nvPr/>
        </p:nvSpPr>
        <p:spPr>
          <a:xfrm>
            <a:off x="461772" y="31546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Forward</a:t>
            </a:r>
            <a:endParaRPr b="0" i="0" sz="1600" u="none" cap="none" strike="noStrike">
              <a:solidFill>
                <a:schemeClr val="dk1"/>
              </a:solidFill>
              <a:latin typeface="Calibri"/>
              <a:ea typeface="Calibri"/>
              <a:cs typeface="Calibri"/>
              <a:sym typeface="Calibri"/>
            </a:endParaRPr>
          </a:p>
        </p:txBody>
      </p:sp>
      <p:sp>
        <p:nvSpPr>
          <p:cNvPr id="942" name="Google Shape;942;p48"/>
          <p:cNvSpPr/>
          <p:nvPr/>
        </p:nvSpPr>
        <p:spPr>
          <a:xfrm>
            <a:off x="461772" y="3611880"/>
            <a:ext cx="1828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1100"/>
              <a:buFont typeface="Merriweather"/>
              <a:buNone/>
            </a:pPr>
            <a:r>
              <a:rPr b="0" i="0" lang="en-US" sz="1600" u="none" cap="none" strike="noStrike">
                <a:solidFill>
                  <a:srgbClr val="333333"/>
                </a:solidFill>
                <a:latin typeface="Merriweather"/>
                <a:ea typeface="Merriweather"/>
                <a:cs typeface="Merriweather"/>
                <a:sym typeface="Merriweather"/>
              </a:rPr>
              <a:t>Push a batch through the network. Get predictions.</a:t>
            </a:r>
            <a:endParaRPr b="0" i="0" sz="1600" u="none" cap="none" strike="noStrike">
              <a:solidFill>
                <a:schemeClr val="dk1"/>
              </a:solidFill>
              <a:latin typeface="Calibri"/>
              <a:ea typeface="Calibri"/>
              <a:cs typeface="Calibri"/>
              <a:sym typeface="Calibri"/>
            </a:endParaRPr>
          </a:p>
        </p:txBody>
      </p:sp>
      <p:sp>
        <p:nvSpPr>
          <p:cNvPr id="943" name="Google Shape;943;p48"/>
          <p:cNvSpPr/>
          <p:nvPr/>
        </p:nvSpPr>
        <p:spPr>
          <a:xfrm>
            <a:off x="2638044" y="1828800"/>
            <a:ext cx="2194560" cy="32004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8"/>
          <p:cNvSpPr/>
          <p:nvPr/>
        </p:nvSpPr>
        <p:spPr>
          <a:xfrm>
            <a:off x="3323844" y="2103120"/>
            <a:ext cx="822960" cy="822960"/>
          </a:xfrm>
          <a:prstGeom prst="ellipse">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8"/>
          <p:cNvSpPr/>
          <p:nvPr/>
        </p:nvSpPr>
        <p:spPr>
          <a:xfrm>
            <a:off x="3323844" y="210312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chivo Black"/>
              <a:buNone/>
            </a:pPr>
            <a:r>
              <a:rPr b="1" i="0" lang="en-US" sz="3200" u="none" cap="none" strike="noStrike">
                <a:solidFill>
                  <a:srgbClr val="FFFFFF"/>
                </a:solidFill>
                <a:latin typeface="Archivo Black"/>
                <a:ea typeface="Archivo Black"/>
                <a:cs typeface="Archivo Black"/>
                <a:sym typeface="Archivo Black"/>
              </a:rPr>
              <a:t>2</a:t>
            </a:r>
            <a:endParaRPr b="0" i="0" sz="3200" u="none" cap="none" strike="noStrike">
              <a:solidFill>
                <a:schemeClr val="dk1"/>
              </a:solidFill>
              <a:latin typeface="Calibri"/>
              <a:ea typeface="Calibri"/>
              <a:cs typeface="Calibri"/>
              <a:sym typeface="Calibri"/>
            </a:endParaRPr>
          </a:p>
        </p:txBody>
      </p:sp>
      <p:sp>
        <p:nvSpPr>
          <p:cNvPr id="946" name="Google Shape;946;p48"/>
          <p:cNvSpPr/>
          <p:nvPr/>
        </p:nvSpPr>
        <p:spPr>
          <a:xfrm>
            <a:off x="2820924" y="31546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Loss</a:t>
            </a:r>
            <a:endParaRPr b="0" i="0" sz="1600" u="none" cap="none" strike="noStrike">
              <a:solidFill>
                <a:schemeClr val="dk1"/>
              </a:solidFill>
              <a:latin typeface="Calibri"/>
              <a:ea typeface="Calibri"/>
              <a:cs typeface="Calibri"/>
              <a:sym typeface="Calibri"/>
            </a:endParaRPr>
          </a:p>
        </p:txBody>
      </p:sp>
      <p:sp>
        <p:nvSpPr>
          <p:cNvPr id="947" name="Google Shape;947;p48"/>
          <p:cNvSpPr/>
          <p:nvPr/>
        </p:nvSpPr>
        <p:spPr>
          <a:xfrm>
            <a:off x="2820924" y="3611880"/>
            <a:ext cx="1828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1100"/>
              <a:buFont typeface="Merriweather"/>
              <a:buNone/>
            </a:pPr>
            <a:r>
              <a:rPr b="0" i="0" lang="en-US" sz="1600" u="none" cap="none" strike="noStrike">
                <a:solidFill>
                  <a:srgbClr val="333333"/>
                </a:solidFill>
                <a:latin typeface="Merriweather"/>
                <a:ea typeface="Merriweather"/>
                <a:cs typeface="Merriweather"/>
                <a:sym typeface="Merriweather"/>
              </a:rPr>
              <a:t>Compare predictions to labels. Compute the scalar loss.</a:t>
            </a:r>
            <a:endParaRPr b="0" i="0" sz="1600" u="none" cap="none" strike="noStrike">
              <a:solidFill>
                <a:schemeClr val="dk1"/>
              </a:solidFill>
              <a:latin typeface="Calibri"/>
              <a:ea typeface="Calibri"/>
              <a:cs typeface="Calibri"/>
              <a:sym typeface="Calibri"/>
            </a:endParaRPr>
          </a:p>
        </p:txBody>
      </p:sp>
      <p:sp>
        <p:nvSpPr>
          <p:cNvPr id="948" name="Google Shape;948;p48"/>
          <p:cNvSpPr/>
          <p:nvPr/>
        </p:nvSpPr>
        <p:spPr>
          <a:xfrm>
            <a:off x="4997196" y="1828800"/>
            <a:ext cx="2194560" cy="32004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8"/>
          <p:cNvSpPr/>
          <p:nvPr/>
        </p:nvSpPr>
        <p:spPr>
          <a:xfrm>
            <a:off x="5682996" y="2103120"/>
            <a:ext cx="822960" cy="822960"/>
          </a:xfrm>
          <a:prstGeom prst="ellipse">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8"/>
          <p:cNvSpPr/>
          <p:nvPr/>
        </p:nvSpPr>
        <p:spPr>
          <a:xfrm>
            <a:off x="5682996" y="210312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chivo Black"/>
              <a:buNone/>
            </a:pPr>
            <a:r>
              <a:rPr b="1" i="0" lang="en-US" sz="3200" u="none" cap="none" strike="noStrike">
                <a:solidFill>
                  <a:srgbClr val="FFFFFF"/>
                </a:solidFill>
                <a:latin typeface="Archivo Black"/>
                <a:ea typeface="Archivo Black"/>
                <a:cs typeface="Archivo Black"/>
                <a:sym typeface="Archivo Black"/>
              </a:rPr>
              <a:t>3</a:t>
            </a:r>
            <a:endParaRPr b="0" i="0" sz="3200" u="none" cap="none" strike="noStrike">
              <a:solidFill>
                <a:schemeClr val="dk1"/>
              </a:solidFill>
              <a:latin typeface="Calibri"/>
              <a:ea typeface="Calibri"/>
              <a:cs typeface="Calibri"/>
              <a:sym typeface="Calibri"/>
            </a:endParaRPr>
          </a:p>
        </p:txBody>
      </p:sp>
      <p:sp>
        <p:nvSpPr>
          <p:cNvPr id="951" name="Google Shape;951;p48"/>
          <p:cNvSpPr/>
          <p:nvPr/>
        </p:nvSpPr>
        <p:spPr>
          <a:xfrm>
            <a:off x="5180076" y="31546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Backward</a:t>
            </a:r>
            <a:endParaRPr b="0" i="0" sz="1600" u="none" cap="none" strike="noStrike">
              <a:solidFill>
                <a:schemeClr val="dk1"/>
              </a:solidFill>
              <a:latin typeface="Calibri"/>
              <a:ea typeface="Calibri"/>
              <a:cs typeface="Calibri"/>
              <a:sym typeface="Calibri"/>
            </a:endParaRPr>
          </a:p>
        </p:txBody>
      </p:sp>
      <p:sp>
        <p:nvSpPr>
          <p:cNvPr id="952" name="Google Shape;952;p48"/>
          <p:cNvSpPr/>
          <p:nvPr/>
        </p:nvSpPr>
        <p:spPr>
          <a:xfrm>
            <a:off x="5180076" y="3611880"/>
            <a:ext cx="1828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1100"/>
              <a:buFont typeface="Merriweather"/>
              <a:buNone/>
            </a:pPr>
            <a:r>
              <a:rPr b="0" i="0" lang="en-US" sz="1600" u="none" cap="none" strike="noStrike">
                <a:solidFill>
                  <a:srgbClr val="333333"/>
                </a:solidFill>
                <a:latin typeface="Merriweather"/>
                <a:ea typeface="Merriweather"/>
                <a:cs typeface="Merriweather"/>
                <a:sym typeface="Merriweather"/>
              </a:rPr>
              <a:t>Run backprop. Get ∂L/∂w for every weight.</a:t>
            </a:r>
            <a:endParaRPr b="0" i="0" sz="1600" u="none" cap="none" strike="noStrike">
              <a:solidFill>
                <a:schemeClr val="dk1"/>
              </a:solidFill>
              <a:latin typeface="Calibri"/>
              <a:ea typeface="Calibri"/>
              <a:cs typeface="Calibri"/>
              <a:sym typeface="Calibri"/>
            </a:endParaRPr>
          </a:p>
        </p:txBody>
      </p:sp>
      <p:sp>
        <p:nvSpPr>
          <p:cNvPr id="953" name="Google Shape;953;p48"/>
          <p:cNvSpPr/>
          <p:nvPr/>
        </p:nvSpPr>
        <p:spPr>
          <a:xfrm>
            <a:off x="7356348" y="1828800"/>
            <a:ext cx="2194560" cy="32004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8"/>
          <p:cNvSpPr/>
          <p:nvPr/>
        </p:nvSpPr>
        <p:spPr>
          <a:xfrm>
            <a:off x="8042148" y="2103120"/>
            <a:ext cx="822960" cy="822960"/>
          </a:xfrm>
          <a:prstGeom prst="ellipse">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8"/>
          <p:cNvSpPr/>
          <p:nvPr/>
        </p:nvSpPr>
        <p:spPr>
          <a:xfrm>
            <a:off x="8042148" y="210312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chivo Black"/>
              <a:buNone/>
            </a:pPr>
            <a:r>
              <a:rPr b="1" i="0" lang="en-US" sz="3200" u="none" cap="none" strike="noStrike">
                <a:solidFill>
                  <a:srgbClr val="FFFFFF"/>
                </a:solidFill>
                <a:latin typeface="Archivo Black"/>
                <a:ea typeface="Archivo Black"/>
                <a:cs typeface="Archivo Black"/>
                <a:sym typeface="Archivo Black"/>
              </a:rPr>
              <a:t>4</a:t>
            </a:r>
            <a:endParaRPr b="0" i="0" sz="3200" u="none" cap="none" strike="noStrike">
              <a:solidFill>
                <a:schemeClr val="dk1"/>
              </a:solidFill>
              <a:latin typeface="Calibri"/>
              <a:ea typeface="Calibri"/>
              <a:cs typeface="Calibri"/>
              <a:sym typeface="Calibri"/>
            </a:endParaRPr>
          </a:p>
        </p:txBody>
      </p:sp>
      <p:sp>
        <p:nvSpPr>
          <p:cNvPr id="956" name="Google Shape;956;p48"/>
          <p:cNvSpPr/>
          <p:nvPr/>
        </p:nvSpPr>
        <p:spPr>
          <a:xfrm>
            <a:off x="7539228" y="31546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Update</a:t>
            </a:r>
            <a:endParaRPr b="0" i="0" sz="1600" u="none" cap="none" strike="noStrike">
              <a:solidFill>
                <a:schemeClr val="dk1"/>
              </a:solidFill>
              <a:latin typeface="Calibri"/>
              <a:ea typeface="Calibri"/>
              <a:cs typeface="Calibri"/>
              <a:sym typeface="Calibri"/>
            </a:endParaRPr>
          </a:p>
        </p:txBody>
      </p:sp>
      <p:sp>
        <p:nvSpPr>
          <p:cNvPr id="957" name="Google Shape;957;p48"/>
          <p:cNvSpPr/>
          <p:nvPr/>
        </p:nvSpPr>
        <p:spPr>
          <a:xfrm>
            <a:off x="7539228" y="3611880"/>
            <a:ext cx="1828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1100"/>
              <a:buFont typeface="Merriweather"/>
              <a:buNone/>
            </a:pPr>
            <a:r>
              <a:rPr b="0" i="0" lang="en-US" sz="1500" u="none" cap="none" strike="noStrike">
                <a:solidFill>
                  <a:srgbClr val="333333"/>
                </a:solidFill>
                <a:latin typeface="Merriweather"/>
                <a:ea typeface="Merriweather"/>
                <a:cs typeface="Merriweather"/>
                <a:sym typeface="Merriweather"/>
              </a:rPr>
              <a:t>Optimiser (SGD/Adam) adjusts weights.</a:t>
            </a:r>
            <a:endParaRPr b="0" i="0" sz="1500" u="none" cap="none" strike="noStrike">
              <a:solidFill>
                <a:schemeClr val="dk1"/>
              </a:solidFill>
              <a:latin typeface="Calibri"/>
              <a:ea typeface="Calibri"/>
              <a:cs typeface="Calibri"/>
              <a:sym typeface="Calibri"/>
            </a:endParaRPr>
          </a:p>
        </p:txBody>
      </p:sp>
      <p:sp>
        <p:nvSpPr>
          <p:cNvPr id="958" name="Google Shape;958;p48"/>
          <p:cNvSpPr/>
          <p:nvPr/>
        </p:nvSpPr>
        <p:spPr>
          <a:xfrm>
            <a:off x="9715500" y="1828800"/>
            <a:ext cx="2194560" cy="320040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8"/>
          <p:cNvSpPr/>
          <p:nvPr/>
        </p:nvSpPr>
        <p:spPr>
          <a:xfrm>
            <a:off x="10401300" y="2103120"/>
            <a:ext cx="822960" cy="822960"/>
          </a:xfrm>
          <a:prstGeom prst="ellipse">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8"/>
          <p:cNvSpPr/>
          <p:nvPr/>
        </p:nvSpPr>
        <p:spPr>
          <a:xfrm>
            <a:off x="10401300" y="210312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Archivo Black"/>
              <a:buNone/>
            </a:pPr>
            <a:r>
              <a:rPr b="1" i="0" lang="en-US" sz="3200" u="none" cap="none" strike="noStrike">
                <a:solidFill>
                  <a:srgbClr val="FFFFFF"/>
                </a:solidFill>
                <a:latin typeface="Archivo Black"/>
                <a:ea typeface="Archivo Black"/>
                <a:cs typeface="Archivo Black"/>
                <a:sym typeface="Archivo Black"/>
              </a:rPr>
              <a:t>5</a:t>
            </a:r>
            <a:endParaRPr b="0" i="0" sz="3200" u="none" cap="none" strike="noStrike">
              <a:solidFill>
                <a:schemeClr val="dk1"/>
              </a:solidFill>
              <a:latin typeface="Calibri"/>
              <a:ea typeface="Calibri"/>
              <a:cs typeface="Calibri"/>
              <a:sym typeface="Calibri"/>
            </a:endParaRPr>
          </a:p>
        </p:txBody>
      </p:sp>
      <p:sp>
        <p:nvSpPr>
          <p:cNvPr id="961" name="Google Shape;961;p48"/>
          <p:cNvSpPr/>
          <p:nvPr/>
        </p:nvSpPr>
        <p:spPr>
          <a:xfrm>
            <a:off x="9898380" y="31546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Repeat</a:t>
            </a:r>
            <a:endParaRPr b="0" i="0" sz="1600" u="none" cap="none" strike="noStrike">
              <a:solidFill>
                <a:schemeClr val="dk1"/>
              </a:solidFill>
              <a:latin typeface="Calibri"/>
              <a:ea typeface="Calibri"/>
              <a:cs typeface="Calibri"/>
              <a:sym typeface="Calibri"/>
            </a:endParaRPr>
          </a:p>
        </p:txBody>
      </p:sp>
      <p:sp>
        <p:nvSpPr>
          <p:cNvPr id="962" name="Google Shape;962;p48"/>
          <p:cNvSpPr/>
          <p:nvPr/>
        </p:nvSpPr>
        <p:spPr>
          <a:xfrm>
            <a:off x="9898380" y="3611880"/>
            <a:ext cx="18288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1100"/>
              <a:buFont typeface="Merriweather"/>
              <a:buNone/>
            </a:pPr>
            <a:r>
              <a:rPr b="0" i="0" lang="en-US" u="none" cap="none" strike="noStrike">
                <a:solidFill>
                  <a:srgbClr val="333333"/>
                </a:solidFill>
                <a:latin typeface="Merriweather"/>
                <a:ea typeface="Merriweather"/>
                <a:cs typeface="Merriweather"/>
                <a:sym typeface="Merriweather"/>
              </a:rPr>
              <a:t>Next batch. Next epoch. Until validation stops improving.</a:t>
            </a:r>
            <a:endParaRPr b="0" i="0" u="none" cap="none" strike="noStrike">
              <a:solidFill>
                <a:schemeClr val="dk1"/>
              </a:solidFill>
              <a:latin typeface="Calibri"/>
              <a:ea typeface="Calibri"/>
              <a:cs typeface="Calibri"/>
              <a:sym typeface="Calibri"/>
            </a:endParaRPr>
          </a:p>
        </p:txBody>
      </p:sp>
      <p:sp>
        <p:nvSpPr>
          <p:cNvPr id="963" name="TextBox 962"/>
          <p:cNvSpPr txBox="1"/>
          <p:nvPr/>
        </p:nvSpPr>
        <p:spPr>
          <a:xfrm>
            <a:off x="548640" y="5532120"/>
            <a:ext cx="11091672" cy="548640"/>
          </a:xfrm>
          <a:prstGeom prst="rect">
            <a:avLst/>
          </a:prstGeom>
          <a:noFill/>
        </p:spPr>
        <p:txBody>
          <a:bodyPr wrap="square">
            <a:spAutoFit/>
          </a:bodyPr>
          <a:lstStyle/>
          <a:p>
            <a:pPr algn="l"/>
            <a:r>
              <a:rPr sz="1300" b="0">
                <a:solidFill>
                  <a:srgbClr val="555555"/>
                </a:solidFill>
                <a:latin typeface="Merriweather"/>
              </a:rPr>
              <a:t>In Keras: moves 1–4 live inside model.fit() — you choose the pieces in model.compile(optimizer, loss).</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7" name="Shape 967"/>
        <p:cNvGrpSpPr/>
        <p:nvPr/>
      </p:nvGrpSpPr>
      <p:grpSpPr>
        <a:xfrm>
          <a:off x="0" y="0"/>
          <a:ext cx="0" cy="0"/>
          <a:chOff x="0" y="0"/>
          <a:chExt cx="0" cy="0"/>
        </a:xfrm>
      </p:grpSpPr>
      <p:sp>
        <p:nvSpPr>
          <p:cNvPr id="968" name="Google Shape;968;p49"/>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Key takeaways.</a:t>
            </a:r>
            <a:endParaRPr b="0" i="0" sz="2600" u="none" cap="none" strike="noStrike">
              <a:solidFill>
                <a:schemeClr val="dk1"/>
              </a:solidFill>
              <a:latin typeface="Calibri"/>
              <a:ea typeface="Calibri"/>
              <a:cs typeface="Calibri"/>
              <a:sym typeface="Calibri"/>
            </a:endParaRPr>
          </a:p>
        </p:txBody>
      </p:sp>
      <p:sp>
        <p:nvSpPr>
          <p:cNvPr id="969" name="Google Shape;969;p49"/>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700" u="none" cap="none" strike="noStrike">
                <a:solidFill>
                  <a:srgbClr val="555555"/>
                </a:solidFill>
                <a:latin typeface="Merriweather"/>
                <a:ea typeface="Merriweather"/>
                <a:cs typeface="Merriweather"/>
                <a:sym typeface="Merriweather"/>
              </a:rPr>
              <a:t>Six things to remember the next time you train a neural network.</a:t>
            </a:r>
            <a:endParaRPr b="0" i="0" sz="1700" u="none" cap="none" strike="noStrike">
              <a:solidFill>
                <a:schemeClr val="dk1"/>
              </a:solidFill>
              <a:latin typeface="Calibri"/>
              <a:ea typeface="Calibri"/>
              <a:cs typeface="Calibri"/>
              <a:sym typeface="Calibri"/>
            </a:endParaRPr>
          </a:p>
        </p:txBody>
      </p:sp>
      <p:sp>
        <p:nvSpPr>
          <p:cNvPr id="970" name="Google Shape;970;p49"/>
          <p:cNvSpPr/>
          <p:nvPr/>
        </p:nvSpPr>
        <p:spPr>
          <a:xfrm>
            <a:off x="406908" y="182880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9"/>
          <p:cNvSpPr/>
          <p:nvPr/>
        </p:nvSpPr>
        <p:spPr>
          <a:xfrm>
            <a:off x="406908" y="1828800"/>
            <a:ext cx="3657600" cy="7315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9"/>
          <p:cNvSpPr/>
          <p:nvPr/>
        </p:nvSpPr>
        <p:spPr>
          <a:xfrm>
            <a:off x="635508" y="201168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Signal vs noise is the central problem.</a:t>
            </a:r>
            <a:endParaRPr b="0" i="0" sz="1300" u="none" cap="none" strike="noStrike">
              <a:solidFill>
                <a:schemeClr val="dk1"/>
              </a:solidFill>
              <a:latin typeface="Calibri"/>
              <a:ea typeface="Calibri"/>
              <a:cs typeface="Calibri"/>
              <a:sym typeface="Calibri"/>
            </a:endParaRPr>
          </a:p>
        </p:txBody>
      </p:sp>
      <p:sp>
        <p:nvSpPr>
          <p:cNvPr id="973" name="Google Shape;973;p49"/>
          <p:cNvSpPr/>
          <p:nvPr/>
        </p:nvSpPr>
        <p:spPr>
          <a:xfrm>
            <a:off x="635508" y="251460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300" u="none" cap="none" strike="noStrike">
                <a:solidFill>
                  <a:srgbClr val="333333"/>
                </a:solidFill>
                <a:latin typeface="Merriweather"/>
                <a:ea typeface="Merriweather"/>
                <a:cs typeface="Merriweather"/>
                <a:sym typeface="Merriweather"/>
              </a:rPr>
              <a:t>Training is signal extraction. Everything else  splits, regularisation, validation  exists to enforce that distinction.</a:t>
            </a:r>
            <a:endParaRPr b="0" i="0" sz="1300" u="none" cap="none" strike="noStrike">
              <a:solidFill>
                <a:schemeClr val="dk1"/>
              </a:solidFill>
              <a:latin typeface="Calibri"/>
              <a:ea typeface="Calibri"/>
              <a:cs typeface="Calibri"/>
              <a:sym typeface="Calibri"/>
            </a:endParaRPr>
          </a:p>
        </p:txBody>
      </p:sp>
      <p:sp>
        <p:nvSpPr>
          <p:cNvPr id="974" name="Google Shape;974;p49"/>
          <p:cNvSpPr/>
          <p:nvPr/>
        </p:nvSpPr>
        <p:spPr>
          <a:xfrm>
            <a:off x="4265676" y="182880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9"/>
          <p:cNvSpPr/>
          <p:nvPr/>
        </p:nvSpPr>
        <p:spPr>
          <a:xfrm>
            <a:off x="4265676" y="1828800"/>
            <a:ext cx="3657600" cy="73152"/>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9"/>
          <p:cNvSpPr/>
          <p:nvPr/>
        </p:nvSpPr>
        <p:spPr>
          <a:xfrm>
            <a:off x="4494276" y="201168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Generalisation is measured, not assumed.</a:t>
            </a:r>
            <a:endParaRPr b="0" i="0" sz="1300" u="none" cap="none" strike="noStrike">
              <a:solidFill>
                <a:schemeClr val="dk1"/>
              </a:solidFill>
              <a:latin typeface="Calibri"/>
              <a:ea typeface="Calibri"/>
              <a:cs typeface="Calibri"/>
              <a:sym typeface="Calibri"/>
            </a:endParaRPr>
          </a:p>
        </p:txBody>
      </p:sp>
      <p:sp>
        <p:nvSpPr>
          <p:cNvPr id="977" name="Google Shape;977;p49"/>
          <p:cNvSpPr/>
          <p:nvPr/>
        </p:nvSpPr>
        <p:spPr>
          <a:xfrm>
            <a:off x="4494276" y="251460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300" u="none" cap="none" strike="noStrike">
                <a:solidFill>
                  <a:srgbClr val="333333"/>
                </a:solidFill>
                <a:latin typeface="Merriweather"/>
                <a:ea typeface="Merriweather"/>
                <a:cs typeface="Merriweather"/>
                <a:sym typeface="Merriweather"/>
              </a:rPr>
              <a:t>A held-out test set, touched once, is the only honest answer to "does it work?"</a:t>
            </a:r>
            <a:endParaRPr b="0" i="0" sz="1300" u="none" cap="none" strike="noStrike">
              <a:solidFill>
                <a:schemeClr val="dk1"/>
              </a:solidFill>
              <a:latin typeface="Calibri"/>
              <a:ea typeface="Calibri"/>
              <a:cs typeface="Calibri"/>
              <a:sym typeface="Calibri"/>
            </a:endParaRPr>
          </a:p>
        </p:txBody>
      </p:sp>
      <p:sp>
        <p:nvSpPr>
          <p:cNvPr id="978" name="Google Shape;978;p49"/>
          <p:cNvSpPr/>
          <p:nvPr/>
        </p:nvSpPr>
        <p:spPr>
          <a:xfrm>
            <a:off x="8124444" y="182880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9"/>
          <p:cNvSpPr/>
          <p:nvPr/>
        </p:nvSpPr>
        <p:spPr>
          <a:xfrm>
            <a:off x="8124444" y="1828800"/>
            <a:ext cx="3657600" cy="73152"/>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9"/>
          <p:cNvSpPr/>
          <p:nvPr/>
        </p:nvSpPr>
        <p:spPr>
          <a:xfrm>
            <a:off x="8353044" y="201168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Stacking neurons creates non-linearity.</a:t>
            </a:r>
            <a:endParaRPr b="0" i="0" sz="1300" u="none" cap="none" strike="noStrike">
              <a:solidFill>
                <a:schemeClr val="dk1"/>
              </a:solidFill>
              <a:latin typeface="Calibri"/>
              <a:ea typeface="Calibri"/>
              <a:cs typeface="Calibri"/>
              <a:sym typeface="Calibri"/>
            </a:endParaRPr>
          </a:p>
        </p:txBody>
      </p:sp>
      <p:sp>
        <p:nvSpPr>
          <p:cNvPr id="981" name="Google Shape;981;p49"/>
          <p:cNvSpPr/>
          <p:nvPr/>
        </p:nvSpPr>
        <p:spPr>
          <a:xfrm>
            <a:off x="8353044" y="251460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300" u="none" cap="none" strike="noStrike">
                <a:solidFill>
                  <a:srgbClr val="333333"/>
                </a:solidFill>
                <a:latin typeface="Merriweather"/>
                <a:ea typeface="Merriweather"/>
                <a:cs typeface="Merriweather"/>
                <a:sym typeface="Merriweather"/>
              </a:rPr>
              <a:t>An MLP with non-linear activations can approximate any continuous decision boundary.</a:t>
            </a:r>
            <a:endParaRPr b="0" i="0" sz="1300" u="none" cap="none" strike="noStrike">
              <a:solidFill>
                <a:schemeClr val="dk1"/>
              </a:solidFill>
              <a:latin typeface="Calibri"/>
              <a:ea typeface="Calibri"/>
              <a:cs typeface="Calibri"/>
              <a:sym typeface="Calibri"/>
            </a:endParaRPr>
          </a:p>
        </p:txBody>
      </p:sp>
      <p:sp>
        <p:nvSpPr>
          <p:cNvPr id="982" name="Google Shape;982;p49"/>
          <p:cNvSpPr/>
          <p:nvPr/>
        </p:nvSpPr>
        <p:spPr>
          <a:xfrm>
            <a:off x="406908" y="347472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9"/>
          <p:cNvSpPr/>
          <p:nvPr/>
        </p:nvSpPr>
        <p:spPr>
          <a:xfrm>
            <a:off x="406908" y="3474720"/>
            <a:ext cx="3657600" cy="73152"/>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9"/>
          <p:cNvSpPr/>
          <p:nvPr/>
        </p:nvSpPr>
        <p:spPr>
          <a:xfrm>
            <a:off x="635508" y="36576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Overfitting is normal — control it.</a:t>
            </a:r>
            <a:endParaRPr b="0" i="0" sz="1300" u="none" cap="none" strike="noStrike">
              <a:solidFill>
                <a:schemeClr val="dk1"/>
              </a:solidFill>
              <a:latin typeface="Calibri"/>
              <a:ea typeface="Calibri"/>
              <a:cs typeface="Calibri"/>
              <a:sym typeface="Calibri"/>
            </a:endParaRPr>
          </a:p>
        </p:txBody>
      </p:sp>
      <p:sp>
        <p:nvSpPr>
          <p:cNvPr id="985" name="Google Shape;985;p49"/>
          <p:cNvSpPr/>
          <p:nvPr/>
        </p:nvSpPr>
        <p:spPr>
          <a:xfrm>
            <a:off x="635508" y="416052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300" u="none" cap="none" strike="noStrike">
                <a:solidFill>
                  <a:srgbClr val="333333"/>
                </a:solidFill>
                <a:latin typeface="Merriweather"/>
                <a:ea typeface="Merriweather"/>
                <a:cs typeface="Merriweather"/>
                <a:sym typeface="Merriweather"/>
              </a:rPr>
              <a:t>Early stopping, dropout, regularisation, and a validation set are standard equipment.</a:t>
            </a:r>
            <a:endParaRPr b="0" i="0" sz="1300" u="none" cap="none" strike="noStrike">
              <a:solidFill>
                <a:schemeClr val="dk1"/>
              </a:solidFill>
              <a:latin typeface="Calibri"/>
              <a:ea typeface="Calibri"/>
              <a:cs typeface="Calibri"/>
              <a:sym typeface="Calibri"/>
            </a:endParaRPr>
          </a:p>
        </p:txBody>
      </p:sp>
      <p:sp>
        <p:nvSpPr>
          <p:cNvPr id="986" name="Google Shape;986;p49"/>
          <p:cNvSpPr/>
          <p:nvPr/>
        </p:nvSpPr>
        <p:spPr>
          <a:xfrm>
            <a:off x="4265676" y="347472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9"/>
          <p:cNvSpPr/>
          <p:nvPr/>
        </p:nvSpPr>
        <p:spPr>
          <a:xfrm>
            <a:off x="4265676" y="3474720"/>
            <a:ext cx="3657600" cy="73152"/>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9"/>
          <p:cNvSpPr/>
          <p:nvPr/>
        </p:nvSpPr>
        <p:spPr>
          <a:xfrm>
            <a:off x="4494276" y="36576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Gradients point uphill. Subtract them.</a:t>
            </a:r>
            <a:endParaRPr b="0" i="0" sz="1300" u="none" cap="none" strike="noStrike">
              <a:solidFill>
                <a:schemeClr val="dk1"/>
              </a:solidFill>
              <a:latin typeface="Calibri"/>
              <a:ea typeface="Calibri"/>
              <a:cs typeface="Calibri"/>
              <a:sym typeface="Calibri"/>
            </a:endParaRPr>
          </a:p>
        </p:txBody>
      </p:sp>
      <p:sp>
        <p:nvSpPr>
          <p:cNvPr id="989" name="Google Shape;989;p49"/>
          <p:cNvSpPr/>
          <p:nvPr/>
        </p:nvSpPr>
        <p:spPr>
          <a:xfrm>
            <a:off x="4494276" y="416052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u="none" cap="none" strike="noStrike">
                <a:solidFill>
                  <a:srgbClr val="333333"/>
                </a:solidFill>
                <a:latin typeface="Merriweather"/>
                <a:ea typeface="Merriweather"/>
                <a:cs typeface="Merriweather"/>
                <a:sym typeface="Merriweather"/>
              </a:rPr>
              <a:t>That single move, applied to millions of weights, is what learning is.</a:t>
            </a:r>
            <a:endParaRPr b="0" i="0" u="none" cap="none" strike="noStrike">
              <a:solidFill>
                <a:schemeClr val="dk1"/>
              </a:solidFill>
              <a:latin typeface="Calibri"/>
              <a:ea typeface="Calibri"/>
              <a:cs typeface="Calibri"/>
              <a:sym typeface="Calibri"/>
            </a:endParaRPr>
          </a:p>
        </p:txBody>
      </p:sp>
      <p:sp>
        <p:nvSpPr>
          <p:cNvPr id="990" name="Google Shape;990;p49"/>
          <p:cNvSpPr/>
          <p:nvPr/>
        </p:nvSpPr>
        <p:spPr>
          <a:xfrm>
            <a:off x="8124444" y="3474720"/>
            <a:ext cx="365760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9"/>
          <p:cNvSpPr/>
          <p:nvPr/>
        </p:nvSpPr>
        <p:spPr>
          <a:xfrm>
            <a:off x="8124444" y="3474720"/>
            <a:ext cx="3657600" cy="73152"/>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9"/>
          <p:cNvSpPr/>
          <p:nvPr/>
        </p:nvSpPr>
        <p:spPr>
          <a:xfrm>
            <a:off x="8353044" y="365760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300"/>
              <a:buFont typeface="Archivo Black"/>
              <a:buNone/>
            </a:pPr>
            <a:r>
              <a:rPr b="1" i="0" lang="en-US" sz="1300" u="none" cap="none" strike="noStrike">
                <a:solidFill>
                  <a:srgbClr val="361A54"/>
                </a:solidFill>
                <a:latin typeface="Archivo Black"/>
                <a:ea typeface="Archivo Black"/>
                <a:cs typeface="Archivo Black"/>
                <a:sym typeface="Archivo Black"/>
              </a:rPr>
              <a:t>Backprop + SGD/Adam runs the whole show.</a:t>
            </a:r>
            <a:endParaRPr b="0" i="0" sz="1300" u="none" cap="none" strike="noStrike">
              <a:solidFill>
                <a:schemeClr val="dk1"/>
              </a:solidFill>
              <a:latin typeface="Calibri"/>
              <a:ea typeface="Calibri"/>
              <a:cs typeface="Calibri"/>
              <a:sym typeface="Calibri"/>
            </a:endParaRPr>
          </a:p>
        </p:txBody>
      </p:sp>
      <p:sp>
        <p:nvSpPr>
          <p:cNvPr id="993" name="Google Shape;993;p49"/>
          <p:cNvSpPr/>
          <p:nvPr/>
        </p:nvSpPr>
        <p:spPr>
          <a:xfrm>
            <a:off x="8353044" y="4160520"/>
            <a:ext cx="3291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00"/>
              <a:buFont typeface="Merriweather"/>
              <a:buNone/>
            </a:pPr>
            <a:r>
              <a:rPr b="0" i="0" lang="en-US" sz="1300" u="none" cap="none" strike="noStrike">
                <a:solidFill>
                  <a:srgbClr val="333333"/>
                </a:solidFill>
                <a:latin typeface="Merriweather"/>
                <a:ea typeface="Merriweather"/>
                <a:cs typeface="Merriweather"/>
                <a:sym typeface="Merriweather"/>
              </a:rPr>
              <a:t>From a 3-neuron toy to a 70-billion-parameter LLM — the algorithm is the same.</a:t>
            </a:r>
            <a:endParaRPr b="0" i="0" sz="13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8" name="Shape 998"/>
        <p:cNvGrpSpPr/>
        <p:nvPr/>
      </p:nvGrpSpPr>
      <p:grpSpPr>
        <a:xfrm>
          <a:off x="0" y="0"/>
          <a:ext cx="0" cy="0"/>
          <a:chOff x="0" y="0"/>
          <a:chExt cx="0" cy="0"/>
        </a:xfrm>
      </p:grpSpPr>
      <p:sp>
        <p:nvSpPr>
          <p:cNvPr id="999" name="Google Shape;999;p50"/>
          <p:cNvSpPr txBox="1"/>
          <p:nvPr/>
        </p:nvSpPr>
        <p:spPr>
          <a:xfrm>
            <a:off x="2842550" y="2808250"/>
            <a:ext cx="61644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351C75"/>
                </a:solidFill>
              </a:rPr>
              <a:t>Knowledge check 5</a:t>
            </a:r>
          </a:p>
        </p:txBody>
      </p:sp>
      <p:sp>
        <p:nvSpPr>
          <p:cNvPr id="1000" name="TextBox 999"/>
          <p:cNvSpPr txBox="1"/>
          <p:nvPr/>
        </p:nvSpPr>
        <p:spPr>
          <a:xfrm>
            <a:off x="1069848" y="4042689"/>
            <a:ext cx="10058400" cy="457200"/>
          </a:xfrm>
          <a:prstGeom prst="rect">
            <a:avLst/>
          </a:prstGeom>
          <a:noFill/>
        </p:spPr>
        <p:txBody>
          <a:bodyPr wrap="square">
            <a:spAutoFit/>
          </a:bodyPr>
          <a:lstStyle/>
          <a:p>
            <a:pPr algn="ctr"/>
            <a:r>
              <a:rPr sz="1400" b="0">
                <a:solidFill>
                  <a:srgbClr val="555555"/>
                </a:solidFill>
                <a:latin typeface="Merriweather"/>
              </a:rPr>
              <a:t>Sections 01–05 — whole-lecture synthesis  ·  Mentimeter (menti.com) · anonymous · ~3 min</a:t>
            </a:r>
          </a:p>
        </p:txBody>
      </p:sp>
      <p:sp>
        <p:nvSpPr>
          <p:cNvPr id="1001" name="TextBox 1000"/>
          <p:cNvSpPr txBox="1"/>
          <p:nvPr/>
        </p:nvSpPr>
        <p:spPr>
          <a:xfrm>
            <a:off x="1069848" y="4499889"/>
            <a:ext cx="10058400" cy="365760"/>
          </a:xfrm>
          <a:prstGeom prst="rect">
            <a:avLst/>
          </a:prstGeom>
          <a:noFill/>
        </p:spPr>
        <p:txBody>
          <a:bodyPr wrap="square">
            <a:spAutoFit/>
          </a:bodyPr>
          <a:lstStyle/>
          <a:p>
            <a:pPr algn="ctr"/>
            <a:r>
              <a:rPr sz="1200" b="0">
                <a:solidFill>
                  <a:srgbClr val="555555"/>
                </a:solidFill>
                <a:latin typeface="Merriweather"/>
              </a:rPr>
              <a:t>after the poll: why the right answer is right — and why each wrong option is wrong</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A54"/>
        </a:solidFill>
      </p:bgPr>
    </p:bg>
    <p:spTree>
      <p:nvGrpSpPr>
        <p:cNvPr id="1004" name="Shape 1004"/>
        <p:cNvGrpSpPr/>
        <p:nvPr/>
      </p:nvGrpSpPr>
      <p:grpSpPr>
        <a:xfrm>
          <a:off x="0" y="0"/>
          <a:ext cx="0" cy="0"/>
          <a:chOff x="0" y="0"/>
          <a:chExt cx="0" cy="0"/>
        </a:xfrm>
      </p:grpSpPr>
      <p:sp>
        <p:nvSpPr>
          <p:cNvPr id="1005" name="Google Shape;1005;p51"/>
          <p:cNvSpPr/>
          <p:nvPr/>
        </p:nvSpPr>
        <p:spPr>
          <a:xfrm>
            <a:off x="548640" y="2560320"/>
            <a:ext cx="11091672"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DD633"/>
              </a:buClr>
              <a:buSzPts val="11000"/>
              <a:buFont typeface="Archivo Black"/>
              <a:buNone/>
            </a:pPr>
            <a:r>
              <a:rPr b="1" i="0" lang="en-US" sz="11000" u="none" cap="none" strike="noStrike">
                <a:solidFill>
                  <a:srgbClr val="FDD633"/>
                </a:solidFill>
                <a:latin typeface="Archivo Black"/>
                <a:ea typeface="Archivo Black"/>
                <a:cs typeface="Archivo Black"/>
                <a:sym typeface="Archivo Black"/>
              </a:rPr>
              <a:t>Questions?</a:t>
            </a:r>
            <a:endParaRPr b="0" i="0" sz="11000" u="none" cap="none" strike="noStrike">
              <a:solidFill>
                <a:schemeClr val="dk1"/>
              </a:solidFill>
              <a:latin typeface="Calibri"/>
              <a:ea typeface="Calibri"/>
              <a:cs typeface="Calibri"/>
              <a:sym typeface="Calibri"/>
            </a:endParaRPr>
          </a:p>
        </p:txBody>
      </p:sp>
      <p:sp>
        <p:nvSpPr>
          <p:cNvPr id="1006" name="TextBox 1005"/>
          <p:cNvSpPr txBox="1"/>
          <p:nvPr/>
        </p:nvSpPr>
        <p:spPr>
          <a:xfrm>
            <a:off x="548640" y="4434840"/>
            <a:ext cx="11091672" cy="822960"/>
          </a:xfrm>
          <a:prstGeom prst="rect">
            <a:avLst/>
          </a:prstGeom>
          <a:noFill/>
        </p:spPr>
        <p:txBody>
          <a:bodyPr wrap="square">
            <a:spAutoFit/>
          </a:bodyPr>
          <a:lstStyle/>
          <a:p>
            <a:pPr algn="l"/>
            <a:r>
              <a:rPr sz="1600" b="0">
                <a:solidFill>
                  <a:srgbClr val="361A54"/>
                </a:solidFill>
                <a:latin typeface="Merriweather"/>
              </a:rPr>
              <a:t>Slides + the annotated quiz reach Drive &amp; Discord today.</a:t>
            </a:r>
          </a:p>
          <a:p>
            <a:pPr algn="l"/>
            <a:r>
              <a:rPr sz="1600" b="0">
                <a:solidFill>
                  <a:srgbClr val="361A54"/>
                </a:solidFill>
                <a:latin typeface="Merriweather"/>
              </a:rPr>
              <a:t>This afternoon: the Course 3 lab — you train what we just built.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763" name="Google Shape;763;p40"/>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How this session runs.</a:t>
            </a:r>
          </a:p>
        </p:txBody>
      </p:sp>
      <p:sp>
        <p:nvSpPr>
          <p:cNvPr id="764" name="Google Shape;764;p40"/>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90 minutes · five anonymous knowledge checks · questions welcome at any point.</a:t>
            </a:r>
          </a:p>
        </p:txBody>
      </p:sp>
      <p:sp>
        <p:nvSpPr>
          <p:cNvPr id="765" name="Google Shape;765;p40"/>
          <p:cNvSpPr/>
          <p:nvPr/>
        </p:nvSpPr>
        <p:spPr>
          <a:xfrm>
            <a:off x="406908"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0"/>
          <p:cNvSpPr/>
          <p:nvPr/>
        </p:nvSpPr>
        <p:spPr>
          <a:xfrm>
            <a:off x="406908" y="1783080"/>
            <a:ext cx="3657600" cy="5486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0"/>
          <p:cNvSpPr/>
          <p:nvPr/>
        </p:nvSpPr>
        <p:spPr>
          <a:xfrm>
            <a:off x="635508"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01</a:t>
            </a:r>
            <a:endParaRPr b="0" i="0" sz="2000" u="none" cap="none" strike="noStrike">
              <a:solidFill>
                <a:schemeClr val="dk1"/>
              </a:solidFill>
              <a:latin typeface="Calibri"/>
              <a:ea typeface="Calibri"/>
              <a:cs typeface="Calibri"/>
              <a:sym typeface="Calibri"/>
            </a:endParaRPr>
          </a:p>
        </p:txBody>
      </p:sp>
      <p:sp>
        <p:nvSpPr>
          <p:cNvPr id="768" name="Google Shape;768;p40"/>
          <p:cNvSpPr/>
          <p:nvPr/>
        </p:nvSpPr>
        <p:spPr>
          <a:xfrm>
            <a:off x="635508"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Timed, not rushed</a:t>
            </a:r>
          </a:p>
        </p:txBody>
      </p:sp>
      <p:sp>
        <p:nvSpPr>
          <p:cNvPr id="769" name="Google Shape;769;p40"/>
          <p:cNvSpPr/>
          <p:nvPr/>
        </p:nvSpPr>
        <p:spPr>
          <a:xfrm>
            <a:off x="635508"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Every section header carries its time budget. The heaviest topic — how networks actually learn — gets the most: about 20 minutes.</a:t>
            </a:r>
          </a:p>
        </p:txBody>
      </p:sp>
      <p:sp>
        <p:nvSpPr>
          <p:cNvPr id="770" name="Google Shape;770;p40"/>
          <p:cNvSpPr/>
          <p:nvPr/>
        </p:nvSpPr>
        <p:spPr>
          <a:xfrm>
            <a:off x="4265676"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0"/>
          <p:cNvSpPr/>
          <p:nvPr/>
        </p:nvSpPr>
        <p:spPr>
          <a:xfrm>
            <a:off x="4265676" y="1783080"/>
            <a:ext cx="3657600" cy="5486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0"/>
          <p:cNvSpPr/>
          <p:nvPr/>
        </p:nvSpPr>
        <p:spPr>
          <a:xfrm>
            <a:off x="4494276"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02</a:t>
            </a:r>
            <a:endParaRPr b="0" i="0" sz="2000" u="none" cap="none" strike="noStrike">
              <a:solidFill>
                <a:schemeClr val="dk1"/>
              </a:solidFill>
              <a:latin typeface="Calibri"/>
              <a:ea typeface="Calibri"/>
              <a:cs typeface="Calibri"/>
              <a:sym typeface="Calibri"/>
            </a:endParaRPr>
          </a:p>
        </p:txBody>
      </p:sp>
      <p:sp>
        <p:nvSpPr>
          <p:cNvPr id="773" name="Google Shape;773;p40"/>
          <p:cNvSpPr/>
          <p:nvPr/>
        </p:nvSpPr>
        <p:spPr>
          <a:xfrm>
            <a:off x="4494276"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Checks, not tests</a:t>
            </a:r>
          </a:p>
        </p:txBody>
      </p:sp>
      <p:sp>
        <p:nvSpPr>
          <p:cNvPr id="774" name="Google Shape;774;p40"/>
          <p:cNvSpPr/>
          <p:nvPr/>
        </p:nvSpPr>
        <p:spPr>
          <a:xfrm>
            <a:off x="4494276"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Five Mentimeter checks, ~3 minutes each, fully anonymous. We debrief every option — including exactly why the wrong ones are wrong.</a:t>
            </a:r>
          </a:p>
        </p:txBody>
      </p:sp>
      <p:sp>
        <p:nvSpPr>
          <p:cNvPr id="775" name="Google Shape;775;p40"/>
          <p:cNvSpPr/>
          <p:nvPr/>
        </p:nvSpPr>
        <p:spPr>
          <a:xfrm>
            <a:off x="8124444"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0"/>
          <p:cNvSpPr/>
          <p:nvPr/>
        </p:nvSpPr>
        <p:spPr>
          <a:xfrm>
            <a:off x="8124444" y="1783080"/>
            <a:ext cx="3657600" cy="5486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0"/>
          <p:cNvSpPr/>
          <p:nvPr/>
        </p:nvSpPr>
        <p:spPr>
          <a:xfrm>
            <a:off x="8353044"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03</a:t>
            </a:r>
            <a:endParaRPr b="0" i="0" sz="2000" u="none" cap="none" strike="noStrike">
              <a:solidFill>
                <a:schemeClr val="dk1"/>
              </a:solidFill>
              <a:latin typeface="Calibri"/>
              <a:ea typeface="Calibri"/>
              <a:cs typeface="Calibri"/>
              <a:sym typeface="Calibri"/>
            </a:endParaRPr>
          </a:p>
        </p:txBody>
      </p:sp>
      <p:sp>
        <p:nvSpPr>
          <p:cNvPr id="778" name="Google Shape;778;p40"/>
          <p:cNvSpPr/>
          <p:nvPr/>
        </p:nvSpPr>
        <p:spPr>
          <a:xfrm>
            <a:off x="8353044"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Slides are shared</a:t>
            </a:r>
          </a:p>
        </p:txBody>
      </p:sp>
      <p:sp>
        <p:nvSpPr>
          <p:cNvPr id="779" name="Google Shape;779;p40"/>
          <p:cNvSpPr/>
          <p:nvPr/>
        </p:nvSpPr>
        <p:spPr>
          <a:xfrm>
            <a:off x="8353044"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This deck and the annotated quiz reach Drive and Discord today. Don't transcribe — think, ask, argue.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109" name="Google Shape;109;p1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You already have the ingredients.</a:t>
            </a:r>
          </a:p>
        </p:txBody>
      </p:sp>
      <p:sp>
        <p:nvSpPr>
          <p:cNvPr id="110" name="Google Shape;110;p1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Sixty seconds of recap before anything new.</a:t>
            </a:r>
          </a:p>
        </p:txBody>
      </p:sp>
      <p:sp>
        <p:nvSpPr>
          <p:cNvPr id="111" name="Google Shape;111;p17"/>
          <p:cNvSpPr/>
          <p:nvPr/>
        </p:nvSpPr>
        <p:spPr>
          <a:xfrm>
            <a:off x="361188"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361188" y="1691640"/>
            <a:ext cx="109728" cy="42062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681228"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800"/>
              <a:buFont typeface="Archivo Black"/>
              <a:buNone/>
            </a:pPr>
            <a:r>
              <a:rPr b="1" i="0" lang="en-US" sz="2800" u="none" cap="none" strike="noStrike">
                <a:solidFill>
                  <a:srgbClr val="E97132"/>
                </a:solidFill>
                <a:latin typeface="Archivo Black"/>
                <a:ea typeface="Archivo Black"/>
                <a:cs typeface="Archivo Black"/>
                <a:sym typeface="Archivo Black"/>
              </a:rPr>
              <a:t>01</a:t>
            </a:r>
            <a:endParaRPr b="0" i="0" sz="2800" u="none" cap="none" strike="noStrike">
              <a:solidFill>
                <a:schemeClr val="dk1"/>
              </a:solidFill>
              <a:latin typeface="Calibri"/>
              <a:ea typeface="Calibri"/>
              <a:cs typeface="Calibri"/>
              <a:sym typeface="Calibri"/>
            </a:endParaRPr>
          </a:p>
        </p:txBody>
      </p:sp>
      <p:sp>
        <p:nvSpPr>
          <p:cNvPr id="114" name="Google Shape;114;p17"/>
          <p:cNvSpPr/>
          <p:nvPr/>
        </p:nvSpPr>
        <p:spPr>
          <a:xfrm>
            <a:off x="681228"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Text becomes numbers.</a:t>
            </a:r>
          </a:p>
        </p:txBody>
      </p:sp>
      <p:sp>
        <p:nvSpPr>
          <p:cNvPr id="115" name="Google Shape;115;p17"/>
          <p:cNvSpPr/>
          <p:nvPr/>
        </p:nvSpPr>
        <p:spPr>
          <a:xfrm>
            <a:off x="681228"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Course 2: tokens and embeddings turn language into vectors a network can process.</a:t>
            </a:r>
          </a:p>
        </p:txBody>
      </p:sp>
      <p:sp>
        <p:nvSpPr>
          <p:cNvPr id="116" name="Google Shape;116;p17"/>
          <p:cNvSpPr/>
          <p:nvPr/>
        </p:nvSpPr>
        <p:spPr>
          <a:xfrm>
            <a:off x="4265676"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4265676" y="1691640"/>
            <a:ext cx="109728" cy="42062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4585716"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800"/>
              <a:buFont typeface="Archivo Black"/>
              <a:buNone/>
            </a:pPr>
            <a:r>
              <a:rPr b="1" i="0" lang="en-US" sz="2800" u="none" cap="none" strike="noStrike">
                <a:solidFill>
                  <a:srgbClr val="A02B93"/>
                </a:solidFill>
                <a:latin typeface="Archivo Black"/>
                <a:ea typeface="Archivo Black"/>
                <a:cs typeface="Archivo Black"/>
                <a:sym typeface="Archivo Black"/>
              </a:rPr>
              <a:t>02</a:t>
            </a:r>
            <a:endParaRPr b="0" i="0" sz="2800" u="none" cap="none" strike="noStrike">
              <a:solidFill>
                <a:schemeClr val="dk1"/>
              </a:solidFill>
              <a:latin typeface="Calibri"/>
              <a:ea typeface="Calibri"/>
              <a:cs typeface="Calibri"/>
              <a:sym typeface="Calibri"/>
            </a:endParaRPr>
          </a:p>
        </p:txBody>
      </p:sp>
      <p:sp>
        <p:nvSpPr>
          <p:cNvPr id="119" name="Google Shape;119;p17"/>
          <p:cNvSpPr/>
          <p:nvPr/>
        </p:nvSpPr>
        <p:spPr>
          <a:xfrm>
            <a:off x="4585716"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Loss measures wrongness.</a:t>
            </a:r>
          </a:p>
        </p:txBody>
      </p:sp>
      <p:sp>
        <p:nvSpPr>
          <p:cNvPr id="120" name="Google Shape;120;p17"/>
          <p:cNvSpPr/>
          <p:nvPr/>
        </p:nvSpPr>
        <p:spPr>
          <a:xfrm>
            <a:off x="4585716"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One number saying how far predictions sit from the truth. Smaller is better.</a:t>
            </a:r>
          </a:p>
        </p:txBody>
      </p:sp>
      <p:sp>
        <p:nvSpPr>
          <p:cNvPr id="121" name="Google Shape;121;p17"/>
          <p:cNvSpPr/>
          <p:nvPr/>
        </p:nvSpPr>
        <p:spPr>
          <a:xfrm>
            <a:off x="8170164" y="1691640"/>
            <a:ext cx="3657600" cy="420624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8170164" y="1691640"/>
            <a:ext cx="109728" cy="42062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8490204" y="187452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800"/>
              <a:buFont typeface="Archivo Black"/>
              <a:buNone/>
            </a:pPr>
            <a:r>
              <a:rPr b="1" i="0" lang="en-US" sz="2800" u="none" cap="none" strike="noStrike">
                <a:solidFill>
                  <a:srgbClr val="4EA72E"/>
                </a:solidFill>
                <a:latin typeface="Archivo Black"/>
                <a:ea typeface="Archivo Black"/>
                <a:cs typeface="Archivo Black"/>
                <a:sym typeface="Archivo Black"/>
              </a:rPr>
              <a:t>03</a:t>
            </a:r>
            <a:endParaRPr b="0" i="0" sz="2800" u="none" cap="none" strike="noStrike">
              <a:solidFill>
                <a:schemeClr val="dk1"/>
              </a:solidFill>
              <a:latin typeface="Calibri"/>
              <a:ea typeface="Calibri"/>
              <a:cs typeface="Calibri"/>
              <a:sym typeface="Calibri"/>
            </a:endParaRPr>
          </a:p>
        </p:txBody>
      </p:sp>
      <p:sp>
        <p:nvSpPr>
          <p:cNvPr id="124" name="Google Shape;124;p17"/>
          <p:cNvSpPr/>
          <p:nvPr/>
        </p:nvSpPr>
        <p:spPr>
          <a:xfrm>
            <a:off x="8490204" y="242316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600"/>
              <a:buFont typeface="Archivo Black"/>
              <a:buNone/>
            </a:pPr>
            <a:r>
              <a:rPr b="1" i="0" lang="en-US" sz="1600" u="none" cap="none" strike="noStrike">
                <a:solidFill>
                  <a:srgbClr val="361A54"/>
                </a:solidFill>
                <a:latin typeface="Archivo Black"/>
                <a:ea typeface="Archivo Black"/>
                <a:cs typeface="Archivo Black"/>
                <a:sym typeface="Archivo Black"/>
              </a:rPr>
              <a:t>Today: how loss gets smaller.</a:t>
            </a:r>
          </a:p>
        </p:txBody>
      </p:sp>
      <p:sp>
        <p:nvSpPr>
          <p:cNvPr id="125" name="Google Shape;125;p17"/>
          <p:cNvSpPr/>
          <p:nvPr/>
        </p:nvSpPr>
        <p:spPr>
          <a:xfrm>
            <a:off x="8490204" y="3520440"/>
            <a:ext cx="310896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The mechanism — gradients, backpropagation, and the training loop that runs them.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338" name="Google Shape;338;p26"/>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Why Bias², not just Bias?</a:t>
            </a:r>
          </a:p>
        </p:txBody>
      </p:sp>
      <p:sp>
        <p:nvSpPr>
          <p:cNvPr id="339" name="Google Shape;339;p26"/>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The pilot cohort asked. The answer is three lines of algebra.</a:t>
            </a:r>
          </a:p>
        </p:txBody>
      </p:sp>
      <p:sp>
        <p:nvSpPr>
          <p:cNvPr id="340" name="Google Shape;340;p26"/>
          <p:cNvSpPr/>
          <p:nvPr/>
        </p:nvSpPr>
        <p:spPr>
          <a:xfrm>
            <a:off x="1371600" y="1783080"/>
            <a:ext cx="9418320" cy="7772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p:nvPr/>
        </p:nvSpPr>
        <p:spPr>
          <a:xfrm>
            <a:off x="1371600" y="1783080"/>
            <a:ext cx="941832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2200"/>
              <a:buFont typeface="Consolas"/>
              <a:buNone/>
            </a:pPr>
            <a:r>
              <a:rPr b="1" i="0" lang="en-US" sz="1500" u="none" cap="none" strike="noStrike">
                <a:solidFill>
                  <a:srgbClr val="FDD633"/>
                </a:solidFill>
                <a:latin typeface="Consolas"/>
                <a:ea typeface="Consolas"/>
                <a:cs typeface="Consolas"/>
                <a:sym typeface="Consolas"/>
              </a:rPr>
              <a:t>E[(ŷ − y)²]  =  (E[ŷ] − y)²  +  E[(ŷ − E[ŷ])²]  =  Bias² + Variance</a:t>
            </a:r>
          </a:p>
        </p:txBody>
      </p:sp>
      <p:sp>
        <p:nvSpPr>
          <p:cNvPr id="342" name="Google Shape;342;p26"/>
          <p:cNvSpPr/>
          <p:nvPr/>
        </p:nvSpPr>
        <p:spPr>
          <a:xfrm>
            <a:off x="406908"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406908" y="292608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6"/>
          <p:cNvSpPr/>
          <p:nvPr/>
        </p:nvSpPr>
        <p:spPr>
          <a:xfrm>
            <a:off x="635508"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BIAS IS A DISTANCE</a:t>
            </a:r>
          </a:p>
        </p:txBody>
      </p:sp>
      <p:sp>
        <p:nvSpPr>
          <p:cNvPr id="345" name="Google Shape;345;p26"/>
          <p:cNvSpPr/>
          <p:nvPr/>
        </p:nvSpPr>
        <p:spPr>
          <a:xfrm>
            <a:off x="635508"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Wrong on average.</a:t>
            </a:r>
          </a:p>
        </p:txBody>
      </p:sp>
      <p:sp>
        <p:nvSpPr>
          <p:cNvPr id="346" name="Google Shape;346;p26"/>
          <p:cNvSpPr/>
          <p:nvPr/>
        </p:nvSpPr>
        <p:spPr>
          <a:xfrm>
            <a:off x="635508"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The systematic offset between the model's average prediction and the truth. Expanding the SQUARED error turns that plain distance into its square.</a:t>
            </a:r>
          </a:p>
        </p:txBody>
      </p:sp>
      <p:sp>
        <p:nvSpPr>
          <p:cNvPr id="347" name="Google Shape;347;p26"/>
          <p:cNvSpPr/>
          <p:nvPr/>
        </p:nvSpPr>
        <p:spPr>
          <a:xfrm>
            <a:off x="4265676"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
          <p:cNvSpPr/>
          <p:nvPr/>
        </p:nvSpPr>
        <p:spPr>
          <a:xfrm>
            <a:off x="4265676" y="292608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6"/>
          <p:cNvSpPr/>
          <p:nvPr/>
        </p:nvSpPr>
        <p:spPr>
          <a:xfrm>
            <a:off x="4494276"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VARIANCE IS A SQUARE</a:t>
            </a:r>
          </a:p>
        </p:txBody>
      </p:sp>
      <p:sp>
        <p:nvSpPr>
          <p:cNvPr id="350" name="Google Shape;350;p26"/>
          <p:cNvSpPr/>
          <p:nvPr/>
        </p:nvSpPr>
        <p:spPr>
          <a:xfrm>
            <a:off x="4494276"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Wobble, squared by definition.</a:t>
            </a:r>
          </a:p>
        </p:txBody>
      </p:sp>
      <p:sp>
        <p:nvSpPr>
          <p:cNvPr id="351" name="Google Shape;351;p26"/>
          <p:cNvSpPr/>
          <p:nvPr/>
        </p:nvSpPr>
        <p:spPr>
          <a:xfrm>
            <a:off x="4494276"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Variance is the average SQUARED deviation of predictions around their own mean — it already arrives in squared units.</a:t>
            </a:r>
          </a:p>
        </p:txBody>
      </p:sp>
      <p:sp>
        <p:nvSpPr>
          <p:cNvPr id="352" name="Google Shape;352;p26"/>
          <p:cNvSpPr/>
          <p:nvPr/>
        </p:nvSpPr>
        <p:spPr>
          <a:xfrm>
            <a:off x="8124444"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8124444" y="292608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6"/>
          <p:cNvSpPr/>
          <p:nvPr/>
        </p:nvSpPr>
        <p:spPr>
          <a:xfrm>
            <a:off x="8353044"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SAME UNITS, HONEST TRADE</a:t>
            </a:r>
          </a:p>
        </p:txBody>
      </p:sp>
      <p:sp>
        <p:nvSpPr>
          <p:cNvPr id="355" name="Google Shape;355;p26"/>
          <p:cNvSpPr/>
          <p:nvPr/>
        </p:nvSpPr>
        <p:spPr>
          <a:xfrm>
            <a:off x="8353044"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Now you may add them.</a:t>
            </a:r>
          </a:p>
        </p:txBody>
      </p:sp>
      <p:sp>
        <p:nvSpPr>
          <p:cNvPr id="356" name="Google Shape;356;p26"/>
          <p:cNvSpPr/>
          <p:nvPr/>
        </p:nvSpPr>
        <p:spPr>
          <a:xfrm>
            <a:off x="8353044"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Both terms live in squared-error units, so adding — and trading — them is legitimate: shrink one, watch the other grow.</a:t>
            </a:r>
          </a:p>
        </p:txBody>
      </p:sp>
      <p:sp>
        <p:nvSpPr>
          <p:cNvPr id="357" name="TextBox 356"/>
          <p:cNvSpPr txBox="1"/>
          <p:nvPr/>
        </p:nvSpPr>
        <p:spPr>
          <a:xfrm>
            <a:off x="548640" y="6108192"/>
            <a:ext cx="11091672" cy="548640"/>
          </a:xfrm>
          <a:prstGeom prst="rect">
            <a:avLst/>
          </a:prstGeom>
          <a:noFill/>
        </p:spPr>
        <p:txBody>
          <a:bodyPr wrap="square">
            <a:spAutoFit/>
          </a:bodyPr>
          <a:lstStyle/>
          <a:p>
            <a:pPr algn="l"/>
            <a:r>
              <a:rPr sz="1250" b="0">
                <a:solidFill>
                  <a:srgbClr val="555555"/>
                </a:solidFill>
                <a:latin typeface="Merriweather"/>
              </a:rPr>
              <a:t>The cross-term vanishes because E[ŷ − E[ŷ]] = 0. Full derivation in the speaker notes — take it to the board if the room wants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548640"/>
          </a:xfrm>
          <a:prstGeom prst="rect">
            <a:avLst/>
          </a:prstGeom>
          <a:noFill/>
        </p:spPr>
        <p:txBody>
          <a:bodyPr wrap="square">
            <a:spAutoFit/>
          </a:bodyPr>
          <a:lstStyle/>
          <a:p>
            <a:pPr algn="l"/>
            <a:r>
              <a:rPr sz="2600" b="1">
                <a:solidFill>
                  <a:srgbClr val="361A54"/>
                </a:solidFill>
                <a:latin typeface="Archivo Black"/>
              </a:rPr>
              <a:t>Bias and variance, on a dartboard.</a:t>
            </a:r>
          </a:p>
        </p:txBody>
      </p:sp>
      <p:sp>
        <p:nvSpPr>
          <p:cNvPr id="3" name="TextBox 2"/>
          <p:cNvSpPr txBox="1"/>
          <p:nvPr/>
        </p:nvSpPr>
        <p:spPr>
          <a:xfrm>
            <a:off x="548640" y="978408"/>
            <a:ext cx="10972800" cy="365760"/>
          </a:xfrm>
          <a:prstGeom prst="rect">
            <a:avLst/>
          </a:prstGeom>
          <a:noFill/>
        </p:spPr>
        <p:txBody>
          <a:bodyPr wrap="square">
            <a:spAutoFit/>
          </a:bodyPr>
          <a:lstStyle/>
          <a:p>
            <a:pPr algn="l"/>
            <a:r>
              <a:rPr sz="1400" b="0">
                <a:solidFill>
                  <a:srgbClr val="555555"/>
                </a:solidFill>
                <a:latin typeface="Merriweather"/>
              </a:rPr>
              <a:t>Bias = where your shots centre. Variance = how much they scatter. Retraining on fresh data = throwing again.</a:t>
            </a:r>
          </a:p>
        </p:txBody>
      </p:sp>
      <p:sp>
        <p:nvSpPr>
          <p:cNvPr id="4" name="Rectangle 3"/>
          <p:cNvSpPr/>
          <p:nvPr/>
        </p:nvSpPr>
        <p:spPr>
          <a:xfrm>
            <a:off x="548640" y="1691640"/>
            <a:ext cx="2697480" cy="3017520"/>
          </a:xfrm>
          <a:prstGeom prst="rect">
            <a:avLst/>
          </a:prstGeom>
          <a:solidFill>
            <a:srgbClr val="FBF6E9"/>
          </a:solidFill>
          <a:ln w="12700">
            <a:solidFill>
              <a:srgbClr val="FBF6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08660" y="1984248"/>
            <a:ext cx="2377440" cy="23774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2327148"/>
            <a:ext cx="1691640" cy="16916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94460" y="2670048"/>
            <a:ext cx="1005840" cy="10058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37360" y="3012948"/>
            <a:ext cx="320040" cy="3200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28800" y="3104388"/>
            <a:ext cx="137160" cy="13716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47672" y="3186684"/>
            <a:ext cx="137160" cy="13716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728216" y="3223260"/>
            <a:ext cx="137160" cy="13716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11095" y="2985516"/>
            <a:ext cx="137160" cy="13716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709928" y="3040380"/>
            <a:ext cx="137160" cy="13716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00600"/>
            <a:ext cx="2514600" cy="365760"/>
          </a:xfrm>
          <a:prstGeom prst="rect">
            <a:avLst/>
          </a:prstGeom>
          <a:noFill/>
        </p:spPr>
        <p:txBody>
          <a:bodyPr wrap="square">
            <a:spAutoFit/>
          </a:bodyPr>
          <a:lstStyle/>
          <a:p>
            <a:pPr algn="l"/>
            <a:r>
              <a:rPr sz="1200" b="1">
                <a:solidFill>
                  <a:srgbClr val="361A54"/>
                </a:solidFill>
                <a:latin typeface="Archivo Black"/>
              </a:rPr>
              <a:t>LOW BIAS · LOW VAR</a:t>
            </a:r>
          </a:p>
        </p:txBody>
      </p:sp>
      <p:sp>
        <p:nvSpPr>
          <p:cNvPr id="15" name="TextBox 14"/>
          <p:cNvSpPr txBox="1"/>
          <p:nvPr/>
        </p:nvSpPr>
        <p:spPr>
          <a:xfrm>
            <a:off x="658368" y="5166360"/>
            <a:ext cx="2514600" cy="777240"/>
          </a:xfrm>
          <a:prstGeom prst="rect">
            <a:avLst/>
          </a:prstGeom>
          <a:noFill/>
        </p:spPr>
        <p:txBody>
          <a:bodyPr wrap="square">
            <a:spAutoFit/>
          </a:bodyPr>
          <a:lstStyle/>
          <a:p>
            <a:pPr algn="l"/>
            <a:r>
              <a:rPr sz="1150" b="0">
                <a:solidFill>
                  <a:srgbClr val="333333"/>
                </a:solidFill>
                <a:latin typeface="Merriweather"/>
              </a:rPr>
              <a:t>The model you want.</a:t>
            </a:r>
          </a:p>
        </p:txBody>
      </p:sp>
      <p:sp>
        <p:nvSpPr>
          <p:cNvPr id="16" name="Rectangle 15"/>
          <p:cNvSpPr/>
          <p:nvPr/>
        </p:nvSpPr>
        <p:spPr>
          <a:xfrm>
            <a:off x="3456432" y="1691640"/>
            <a:ext cx="2697480" cy="3017520"/>
          </a:xfrm>
          <a:prstGeom prst="rect">
            <a:avLst/>
          </a:prstGeom>
          <a:solidFill>
            <a:srgbClr val="FBF6E9"/>
          </a:solidFill>
          <a:ln w="12700">
            <a:solidFill>
              <a:srgbClr val="FBF6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6452" y="1984248"/>
            <a:ext cx="2377440" cy="23774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959352" y="2327148"/>
            <a:ext cx="1691640" cy="16916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302252" y="2670048"/>
            <a:ext cx="1005840" cy="10058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645152" y="3012948"/>
            <a:ext cx="320040" cy="3200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12080" y="2720340"/>
            <a:ext cx="137160" cy="1371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30952" y="2802636"/>
            <a:ext cx="137160" cy="1371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11496" y="2839212"/>
            <a:ext cx="137160" cy="1371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94376" y="2601468"/>
            <a:ext cx="137160" cy="1371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93208" y="2656332"/>
            <a:ext cx="137160" cy="1371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4800600"/>
            <a:ext cx="2514600" cy="365760"/>
          </a:xfrm>
          <a:prstGeom prst="rect">
            <a:avLst/>
          </a:prstGeom>
          <a:noFill/>
        </p:spPr>
        <p:txBody>
          <a:bodyPr wrap="square">
            <a:spAutoFit/>
          </a:bodyPr>
          <a:lstStyle/>
          <a:p>
            <a:pPr algn="l"/>
            <a:r>
              <a:rPr sz="1200" b="1">
                <a:solidFill>
                  <a:srgbClr val="361A54"/>
                </a:solidFill>
                <a:latin typeface="Archivo Black"/>
              </a:rPr>
              <a:t>HIGH BIAS · LOW VAR</a:t>
            </a:r>
          </a:p>
        </p:txBody>
      </p:sp>
      <p:sp>
        <p:nvSpPr>
          <p:cNvPr id="27" name="TextBox 26"/>
          <p:cNvSpPr txBox="1"/>
          <p:nvPr/>
        </p:nvSpPr>
        <p:spPr>
          <a:xfrm>
            <a:off x="3566160" y="5166360"/>
            <a:ext cx="2514600" cy="777240"/>
          </a:xfrm>
          <a:prstGeom prst="rect">
            <a:avLst/>
          </a:prstGeom>
          <a:noFill/>
        </p:spPr>
        <p:txBody>
          <a:bodyPr wrap="square">
            <a:spAutoFit/>
          </a:bodyPr>
          <a:lstStyle/>
          <a:p>
            <a:pPr algn="l"/>
            <a:r>
              <a:rPr sz="1150" b="0">
                <a:solidFill>
                  <a:srgbClr val="333333"/>
                </a:solidFill>
                <a:latin typeface="Merriweather"/>
              </a:rPr>
              <a:t>Consistently wrong — underfit.</a:t>
            </a:r>
          </a:p>
        </p:txBody>
      </p:sp>
      <p:sp>
        <p:nvSpPr>
          <p:cNvPr id="28" name="Rectangle 27"/>
          <p:cNvSpPr/>
          <p:nvPr/>
        </p:nvSpPr>
        <p:spPr>
          <a:xfrm>
            <a:off x="6364224" y="1691640"/>
            <a:ext cx="2697480" cy="3017520"/>
          </a:xfrm>
          <a:prstGeom prst="rect">
            <a:avLst/>
          </a:prstGeom>
          <a:solidFill>
            <a:srgbClr val="FBF6E9"/>
          </a:solidFill>
          <a:ln w="12700">
            <a:solidFill>
              <a:srgbClr val="FBF6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24244" y="1984248"/>
            <a:ext cx="2377440" cy="23774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67144" y="2327148"/>
            <a:ext cx="1691640" cy="16916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210044" y="2670048"/>
            <a:ext cx="1005840" cy="10058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52944" y="3012948"/>
            <a:ext cx="320040" cy="3200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11312" y="3195828"/>
            <a:ext cx="137160" cy="1371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141464" y="3396996"/>
            <a:ext cx="137160" cy="1371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790688" y="2537460"/>
            <a:ext cx="137160" cy="1371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51776" y="2692908"/>
            <a:ext cx="137160" cy="1371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900416" y="3607308"/>
            <a:ext cx="137160" cy="1371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73952" y="4800600"/>
            <a:ext cx="2514600" cy="365760"/>
          </a:xfrm>
          <a:prstGeom prst="rect">
            <a:avLst/>
          </a:prstGeom>
          <a:noFill/>
        </p:spPr>
        <p:txBody>
          <a:bodyPr wrap="square">
            <a:spAutoFit/>
          </a:bodyPr>
          <a:lstStyle/>
          <a:p>
            <a:pPr algn="l"/>
            <a:r>
              <a:rPr sz="1200" b="1">
                <a:solidFill>
                  <a:srgbClr val="361A54"/>
                </a:solidFill>
                <a:latin typeface="Archivo Black"/>
              </a:rPr>
              <a:t>LOW BIAS · HIGH VAR</a:t>
            </a:r>
          </a:p>
        </p:txBody>
      </p:sp>
      <p:sp>
        <p:nvSpPr>
          <p:cNvPr id="39" name="TextBox 38"/>
          <p:cNvSpPr txBox="1"/>
          <p:nvPr/>
        </p:nvSpPr>
        <p:spPr>
          <a:xfrm>
            <a:off x="6473952" y="5166360"/>
            <a:ext cx="2514600" cy="777240"/>
          </a:xfrm>
          <a:prstGeom prst="rect">
            <a:avLst/>
          </a:prstGeom>
          <a:noFill/>
        </p:spPr>
        <p:txBody>
          <a:bodyPr wrap="square">
            <a:spAutoFit/>
          </a:bodyPr>
          <a:lstStyle/>
          <a:p>
            <a:pPr algn="l"/>
            <a:r>
              <a:rPr sz="1150" b="0">
                <a:solidFill>
                  <a:srgbClr val="333333"/>
                </a:solidFill>
                <a:latin typeface="Merriweather"/>
              </a:rPr>
              <a:t>Right on average, unreliable — overfit.</a:t>
            </a:r>
          </a:p>
        </p:txBody>
      </p:sp>
      <p:sp>
        <p:nvSpPr>
          <p:cNvPr id="40" name="Rectangle 39"/>
          <p:cNvSpPr/>
          <p:nvPr/>
        </p:nvSpPr>
        <p:spPr>
          <a:xfrm>
            <a:off x="9272016" y="1691640"/>
            <a:ext cx="2697480" cy="3017520"/>
          </a:xfrm>
          <a:prstGeom prst="rect">
            <a:avLst/>
          </a:prstGeom>
          <a:solidFill>
            <a:srgbClr val="FBF6E9"/>
          </a:solidFill>
          <a:ln w="12700">
            <a:solidFill>
              <a:srgbClr val="FBF6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432036" y="1984248"/>
            <a:ext cx="2377440" cy="23774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774936" y="2327148"/>
            <a:ext cx="1691640" cy="16916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117836" y="2670048"/>
            <a:ext cx="1005840" cy="10058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60736" y="3012948"/>
            <a:ext cx="320040" cy="320040"/>
          </a:xfrm>
          <a:prstGeom prst="ellipse">
            <a:avLst/>
          </a:prstGeom>
          <a:no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393424" y="2875788"/>
            <a:ext cx="137160" cy="137160"/>
          </a:xfrm>
          <a:prstGeom prst="ellipse">
            <a:avLst/>
          </a:prstGeom>
          <a:solidFill>
            <a:srgbClr val="361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597896" y="3104388"/>
            <a:ext cx="137160" cy="137160"/>
          </a:xfrm>
          <a:prstGeom prst="ellipse">
            <a:avLst/>
          </a:prstGeom>
          <a:solidFill>
            <a:srgbClr val="361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055096" y="2327148"/>
            <a:ext cx="137160" cy="137160"/>
          </a:xfrm>
          <a:prstGeom prst="ellipse">
            <a:avLst/>
          </a:prstGeom>
          <a:solidFill>
            <a:srgbClr val="361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780776" y="2528315"/>
            <a:ext cx="137160" cy="137160"/>
          </a:xfrm>
          <a:prstGeom prst="ellipse">
            <a:avLst/>
          </a:prstGeom>
          <a:solidFill>
            <a:srgbClr val="361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265408" y="3195828"/>
            <a:ext cx="137160" cy="137160"/>
          </a:xfrm>
          <a:prstGeom prst="ellipse">
            <a:avLst/>
          </a:prstGeom>
          <a:solidFill>
            <a:srgbClr val="361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81744" y="4800600"/>
            <a:ext cx="2514600" cy="365760"/>
          </a:xfrm>
          <a:prstGeom prst="rect">
            <a:avLst/>
          </a:prstGeom>
          <a:noFill/>
        </p:spPr>
        <p:txBody>
          <a:bodyPr wrap="square">
            <a:spAutoFit/>
          </a:bodyPr>
          <a:lstStyle/>
          <a:p>
            <a:pPr algn="l"/>
            <a:r>
              <a:rPr sz="1200" b="1">
                <a:solidFill>
                  <a:srgbClr val="361A54"/>
                </a:solidFill>
                <a:latin typeface="Archivo Black"/>
              </a:rPr>
              <a:t>HIGH BIAS · HIGH VAR</a:t>
            </a:r>
          </a:p>
        </p:txBody>
      </p:sp>
      <p:sp>
        <p:nvSpPr>
          <p:cNvPr id="51" name="TextBox 50"/>
          <p:cNvSpPr txBox="1"/>
          <p:nvPr/>
        </p:nvSpPr>
        <p:spPr>
          <a:xfrm>
            <a:off x="9381744" y="5166360"/>
            <a:ext cx="2514600" cy="777240"/>
          </a:xfrm>
          <a:prstGeom prst="rect">
            <a:avLst/>
          </a:prstGeom>
          <a:noFill/>
        </p:spPr>
        <p:txBody>
          <a:bodyPr wrap="square">
            <a:spAutoFit/>
          </a:bodyPr>
          <a:lstStyle/>
          <a:p>
            <a:pPr algn="l"/>
            <a:r>
              <a:rPr sz="1150" b="0">
                <a:solidFill>
                  <a:srgbClr val="333333"/>
                </a:solidFill>
                <a:latin typeface="Merriweather"/>
              </a:rPr>
              <a:t>Scattered and off-target.</a:t>
            </a:r>
          </a:p>
        </p:txBody>
      </p:sp>
      <p:sp>
        <p:nvSpPr>
          <p:cNvPr id="52" name="Rectangle 51"/>
          <p:cNvSpPr/>
          <p:nvPr/>
        </p:nvSpPr>
        <p:spPr>
          <a:xfrm>
            <a:off x="548640" y="1691640"/>
            <a:ext cx="2697480" cy="64008"/>
          </a:xfrm>
          <a:prstGeom prst="rect">
            <a:avLst/>
          </a:prstGeom>
          <a:solidFill>
            <a:srgbClr val="4EA72E"/>
          </a:solidFill>
          <a:ln w="12700">
            <a:solidFill>
              <a:srgbClr val="4EA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456432" y="1691640"/>
            <a:ext cx="2697480" cy="64008"/>
          </a:xfrm>
          <a:prstGeom prst="rect">
            <a:avLst/>
          </a:prstGeom>
          <a:solidFill>
            <a:srgbClr val="E97132"/>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64224" y="1691640"/>
            <a:ext cx="2697480" cy="64008"/>
          </a:xfrm>
          <a:prstGeom prst="rect">
            <a:avLst/>
          </a:prstGeom>
          <a:solidFill>
            <a:srgbClr val="A02B93"/>
          </a:solidFill>
          <a:ln w="1270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272016" y="1691640"/>
            <a:ext cx="2697480" cy="64008"/>
          </a:xfrm>
          <a:prstGeom prst="rect">
            <a:avLst/>
          </a:prstGeom>
          <a:solidFill>
            <a:srgbClr val="361A54"/>
          </a:solidFill>
          <a:ln w="12700">
            <a:solidFill>
              <a:srgbClr val="361A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6172200"/>
            <a:ext cx="11091672" cy="548640"/>
          </a:xfrm>
          <a:prstGeom prst="rect">
            <a:avLst/>
          </a:prstGeom>
          <a:noFill/>
        </p:spPr>
        <p:txBody>
          <a:bodyPr wrap="square">
            <a:spAutoFit/>
          </a:bodyPr>
          <a:lstStyle/>
          <a:p>
            <a:pPr algn="l"/>
            <a:r>
              <a:rPr sz="1250" b="0">
                <a:solidFill>
                  <a:srgbClr val="555555"/>
                </a:solidFill>
                <a:latin typeface="Merriweather"/>
              </a:rPr>
              <a:t>Each dot = the model you get from ONE training sample. Bias moves the cluster; variance spreads it. Error counts both — bias as its square.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915" name="Google Shape;915;p4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XOR, solved by hand.</a:t>
            </a:r>
          </a:p>
        </p:txBody>
      </p:sp>
      <p:sp>
        <p:nvSpPr>
          <p:cNvPr id="916" name="Google Shape;916;p4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Two hidden neurons and a combiner — the network redraws the space.</a:t>
            </a:r>
          </a:p>
        </p:txBody>
      </p:sp>
      <p:sp>
        <p:nvSpPr>
          <p:cNvPr id="917" name="Google Shape;917;p47"/>
          <p:cNvSpPr/>
          <p:nvPr/>
        </p:nvSpPr>
        <p:spPr>
          <a:xfrm>
            <a:off x="54864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7"/>
          <p:cNvSpPr/>
          <p:nvPr/>
        </p:nvSpPr>
        <p:spPr>
          <a:xfrm>
            <a:off x="548640" y="1828800"/>
            <a:ext cx="5422392" cy="64008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7"/>
          <p:cNvSpPr/>
          <p:nvPr/>
        </p:nvSpPr>
        <p:spPr>
          <a:xfrm>
            <a:off x="82296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THE TABLE</a:t>
            </a:r>
          </a:p>
        </p:txBody>
      </p:sp>
      <p:sp>
        <p:nvSpPr>
          <p:cNvPr id="920" name="Google Shape;920;p47"/>
          <p:cNvSpPr/>
          <p:nvPr/>
        </p:nvSpPr>
        <p:spPr>
          <a:xfrm>
            <a:off x="82296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400"/>
              <a:buFont typeface="Archivo Black"/>
              <a:buNone/>
            </a:pPr>
            <a:r>
              <a:rPr b="1" i="0" lang="en-US" sz="1400" u="none" cap="none" strike="noStrike">
                <a:solidFill>
                  <a:srgbClr val="E97132"/>
                </a:solidFill>
                <a:latin typeface="Archivo Black"/>
                <a:ea typeface="Archivo Black"/>
                <a:cs typeface="Archivo Black"/>
                <a:sym typeface="Archivo Black"/>
              </a:rPr>
              <a:t>Four points, three columns.</a:t>
            </a:r>
          </a:p>
        </p:txBody>
      </p:sp>
      <p:sp>
        <p:nvSpPr>
          <p:cNvPr id="921" name="Google Shape;921;p47"/>
          <p:cNvSpPr/>
          <p:nvPr/>
        </p:nvSpPr>
        <p:spPr>
          <a:xfrm>
            <a:off x="82296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450" u="none" cap="none" strike="noStrike">
                <a:solidFill>
                  <a:srgbClr val="333333"/>
                </a:solidFill>
                <a:latin typeface="Consolas"/>
                <a:ea typeface="Merriweather"/>
                <a:cs typeface="Merriweather"/>
                <a:sym typeface="Merriweather"/>
              </a:rPr>
              <a:t>x₁ x₂    h₁=OR   h₂=AND   out=h₁−h₂</a:t>
            </a:r>
          </a:p>
          <a:p>
            <a:pPr indent="0" lvl="0" marL="0" marR="0" rtl="0" algn="l">
              <a:spcBef>
                <a:spcPts val="0"/>
              </a:spcBef>
              <a:spcAft>
                <a:spcPts val="0"/>
              </a:spcAft>
              <a:buClr>
                <a:srgbClr val="333333"/>
              </a:buClr>
              <a:buSzPts val="1250"/>
              <a:buFont typeface="Merriweather"/>
              <a:buNone/>
            </a:pPr>
            <a:r>
              <a:rPr b="0" i="0" lang="en-US" sz="1450" u="none" cap="none" strike="noStrike">
                <a:solidFill>
                  <a:srgbClr val="333333"/>
                </a:solidFill>
                <a:latin typeface="Consolas"/>
                <a:ea typeface="Merriweather"/>
                <a:cs typeface="Merriweather"/>
                <a:sym typeface="Merriweather"/>
              </a:rPr>
              <a:t>0  0      0       0         0</a:t>
            </a:r>
          </a:p>
          <a:p>
            <a:pPr indent="0" lvl="0" marL="0" marR="0" rtl="0" algn="l">
              <a:spcBef>
                <a:spcPts val="0"/>
              </a:spcBef>
              <a:spcAft>
                <a:spcPts val="0"/>
              </a:spcAft>
              <a:buClr>
                <a:srgbClr val="333333"/>
              </a:buClr>
              <a:buSzPts val="1250"/>
              <a:buFont typeface="Merriweather"/>
              <a:buNone/>
            </a:pPr>
            <a:r>
              <a:rPr b="0" i="0" lang="en-US" sz="1450" u="none" cap="none" strike="noStrike">
                <a:solidFill>
                  <a:srgbClr val="333333"/>
                </a:solidFill>
                <a:latin typeface="Consolas"/>
                <a:ea typeface="Merriweather"/>
                <a:cs typeface="Merriweather"/>
                <a:sym typeface="Merriweather"/>
              </a:rPr>
              <a:t>0  1      1       0         1</a:t>
            </a:r>
          </a:p>
          <a:p>
            <a:pPr indent="0" lvl="0" marL="0" marR="0" rtl="0" algn="l">
              <a:spcBef>
                <a:spcPts val="0"/>
              </a:spcBef>
              <a:spcAft>
                <a:spcPts val="0"/>
              </a:spcAft>
              <a:buClr>
                <a:srgbClr val="333333"/>
              </a:buClr>
              <a:buSzPts val="1250"/>
              <a:buFont typeface="Merriweather"/>
              <a:buNone/>
            </a:pPr>
            <a:r>
              <a:rPr b="0" i="0" lang="en-US" sz="1450" u="none" cap="none" strike="noStrike">
                <a:solidFill>
                  <a:srgbClr val="333333"/>
                </a:solidFill>
                <a:latin typeface="Consolas"/>
                <a:ea typeface="Merriweather"/>
                <a:cs typeface="Merriweather"/>
                <a:sym typeface="Merriweather"/>
              </a:rPr>
              <a:t>1  0      1       0         1</a:t>
            </a:r>
          </a:p>
          <a:p>
            <a:pPr indent="0" lvl="0" marL="0" marR="0" rtl="0" algn="l">
              <a:spcBef>
                <a:spcPts val="0"/>
              </a:spcBef>
              <a:spcAft>
                <a:spcPts val="0"/>
              </a:spcAft>
              <a:buClr>
                <a:srgbClr val="333333"/>
              </a:buClr>
              <a:buSzPts val="1250"/>
              <a:buFont typeface="Merriweather"/>
              <a:buNone/>
            </a:pPr>
            <a:r>
              <a:rPr b="0" i="0" lang="en-US" sz="1450" u="none" cap="none" strike="noStrike">
                <a:solidFill>
                  <a:srgbClr val="333333"/>
                </a:solidFill>
                <a:latin typeface="Consolas"/>
                <a:ea typeface="Merriweather"/>
                <a:cs typeface="Merriweather"/>
                <a:sym typeface="Merriweather"/>
              </a:rPr>
              <a:t>1  1      1       1         0</a:t>
            </a:r>
          </a:p>
        </p:txBody>
      </p:sp>
      <p:sp>
        <p:nvSpPr>
          <p:cNvPr id="922" name="Google Shape;922;p47"/>
          <p:cNvSpPr/>
          <p:nvPr/>
        </p:nvSpPr>
        <p:spPr>
          <a:xfrm>
            <a:off x="73152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7"/>
          <p:cNvSpPr/>
          <p:nvPr/>
        </p:nvSpPr>
        <p:spPr>
          <a:xfrm>
            <a:off x="73152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500" u="none" cap="none" strike="noStrike">
                <a:solidFill>
                  <a:srgbClr val="361A54"/>
                </a:solidFill>
                <a:latin typeface="Consolas"/>
                <a:ea typeface="Consolas"/>
                <a:cs typeface="Consolas"/>
                <a:sym typeface="Consolas"/>
              </a:rPr>
              <a:t>out = h₁ − h₂  →  0, 1, 1, 0 ✓</a:t>
            </a:r>
          </a:p>
        </p:txBody>
      </p:sp>
      <p:sp>
        <p:nvSpPr>
          <p:cNvPr id="924" name="Google Shape;924;p47"/>
          <p:cNvSpPr/>
          <p:nvPr/>
        </p:nvSpPr>
        <p:spPr>
          <a:xfrm>
            <a:off x="621792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7"/>
          <p:cNvSpPr/>
          <p:nvPr/>
        </p:nvSpPr>
        <p:spPr>
          <a:xfrm>
            <a:off x="6217920" y="1828800"/>
            <a:ext cx="5422392" cy="64008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7"/>
          <p:cNvSpPr/>
          <p:nvPr/>
        </p:nvSpPr>
        <p:spPr>
          <a:xfrm>
            <a:off x="649224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WHY IT WORKS</a:t>
            </a:r>
          </a:p>
        </p:txBody>
      </p:sp>
      <p:sp>
        <p:nvSpPr>
          <p:cNvPr id="927" name="Google Shape;927;p47"/>
          <p:cNvSpPr/>
          <p:nvPr/>
        </p:nvSpPr>
        <p:spPr>
          <a:xfrm>
            <a:off x="649224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400"/>
              <a:buFont typeface="Archivo Black"/>
              <a:buNone/>
            </a:pPr>
            <a:r>
              <a:rPr b="1" i="0" lang="en-US" sz="1400" u="none" cap="none" strike="noStrike">
                <a:solidFill>
                  <a:srgbClr val="A02B93"/>
                </a:solidFill>
                <a:latin typeface="Archivo Black"/>
                <a:ea typeface="Archivo Black"/>
                <a:cs typeface="Archivo Black"/>
                <a:sym typeface="Archivo Black"/>
              </a:rPr>
              <a:t>Each hidden neuron draws ONE line.</a:t>
            </a:r>
          </a:p>
        </p:txBody>
      </p:sp>
      <p:sp>
        <p:nvSpPr>
          <p:cNvPr id="928" name="Google Shape;928;p47"/>
          <p:cNvSpPr/>
          <p:nvPr/>
        </p:nvSpPr>
        <p:spPr>
          <a:xfrm>
            <a:off x="649224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350" u="none" cap="none" strike="noStrike">
                <a:solidFill>
                  <a:srgbClr val="333333"/>
                </a:solidFill>
                <a:latin typeface="Merriweather"/>
                <a:ea typeface="Merriweather"/>
                <a:cs typeface="Merriweather"/>
                <a:sym typeface="Merriweather"/>
              </a:rPr>
              <a:t>h₁ fires when at least one input is on — one straight cut.</a:t>
            </a:r>
          </a:p>
          <a:p>
            <a:pPr indent="0" lvl="0" marL="0" marR="0" rtl="0" algn="l">
              <a:spcBef>
                <a:spcPts val="0"/>
              </a:spcBef>
              <a:spcAft>
                <a:spcPts val="0"/>
              </a:spcAft>
              <a:buClr>
                <a:srgbClr val="333333"/>
              </a:buClr>
              <a:buSzPts val="1250"/>
              <a:buFont typeface="Merriweather"/>
              <a:buNone/>
            </a:pPr>
            <a:r>
              <a:rPr b="0" i="0" lang="en-US" sz="1350" u="none" cap="none" strike="noStrike">
                <a:solidFill>
                  <a:srgbClr val="333333"/>
                </a:solidFill>
                <a:latin typeface="Merriweather"/>
                <a:ea typeface="Merriweather"/>
                <a:cs typeface="Merriweather"/>
                <a:sym typeface="Merriweather"/>
              </a:rPr>
              <a:t>h₂ fires only when both are on — a second straight cut.</a:t>
            </a:r>
          </a:p>
          <a:p>
            <a:pPr indent="0" lvl="0" marL="0" marR="0" rtl="0" algn="l">
              <a:spcBef>
                <a:spcPts val="0"/>
              </a:spcBef>
              <a:spcAft>
                <a:spcPts val="0"/>
              </a:spcAft>
              <a:buClr>
                <a:srgbClr val="333333"/>
              </a:buClr>
              <a:buSzPts val="1250"/>
              <a:buFont typeface="Merriweather"/>
              <a:buNone/>
            </a:pPr>
            <a:r>
              <a:rPr b="0" i="0" lang="en-US" sz="1350" u="none" cap="none" strike="noStrike">
                <a:solidFill>
                  <a:srgbClr val="333333"/>
                </a:solidFill>
                <a:latin typeface="Merriweather"/>
                <a:ea typeface="Merriweather"/>
                <a:cs typeface="Merriweather"/>
                <a:sym typeface="Merriweather"/>
              </a:rPr>
              <a:t>The output combines the half-planes: 'at least one, but not both.'</a:t>
            </a:r>
          </a:p>
          <a:p>
            <a:pPr indent="0" lvl="0" marL="0" marR="0" rtl="0" algn="l">
              <a:spcBef>
                <a:spcPts val="0"/>
              </a:spcBef>
              <a:spcAft>
                <a:spcPts val="0"/>
              </a:spcAft>
              <a:buClr>
                <a:srgbClr val="333333"/>
              </a:buClr>
              <a:buSzPts val="1250"/>
              <a:buFont typeface="Merriweather"/>
              <a:buNone/>
            </a:pPr>
            <a:r>
              <a:rPr b="0" i="0" lang="en-US" sz="1350" u="none" cap="none" strike="noStrike">
                <a:solidFill>
                  <a:srgbClr val="333333"/>
                </a:solidFill>
                <a:latin typeface="Merriweather"/>
                <a:ea typeface="Merriweather"/>
                <a:cs typeface="Merriweather"/>
                <a:sym typeface="Merriweather"/>
              </a:rPr>
              <a:t>In (h₁, h₂) coordinates the classes are now linearly separable — the hidden layer moved the points.</a:t>
            </a:r>
          </a:p>
        </p:txBody>
      </p:sp>
      <p:sp>
        <p:nvSpPr>
          <p:cNvPr id="929" name="Google Shape;929;p47"/>
          <p:cNvSpPr/>
          <p:nvPr/>
        </p:nvSpPr>
        <p:spPr>
          <a:xfrm>
            <a:off x="640080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7"/>
          <p:cNvSpPr/>
          <p:nvPr/>
        </p:nvSpPr>
        <p:spPr>
          <a:xfrm>
            <a:off x="640080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500" u="none" cap="none" strike="noStrike">
                <a:solidFill>
                  <a:srgbClr val="361A54"/>
                </a:solidFill>
                <a:latin typeface="Consolas"/>
                <a:ea typeface="Consolas"/>
                <a:cs typeface="Consolas"/>
                <a:sym typeface="Consolas"/>
              </a:rPr>
              <a:t>hidden layer = change of coordinates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338" name="Google Shape;338;p26"/>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Why non-linearity is non-negotiable.</a:t>
            </a:r>
          </a:p>
        </p:txBody>
      </p:sp>
      <p:sp>
        <p:nvSpPr>
          <p:cNvPr id="339" name="Google Shape;339;p26"/>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The recurring pilot question — settled by one line of algebra.</a:t>
            </a:r>
          </a:p>
        </p:txBody>
      </p:sp>
      <p:sp>
        <p:nvSpPr>
          <p:cNvPr id="340" name="Google Shape;340;p26"/>
          <p:cNvSpPr/>
          <p:nvPr/>
        </p:nvSpPr>
        <p:spPr>
          <a:xfrm>
            <a:off x="1371600" y="1783080"/>
            <a:ext cx="9418320" cy="7772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p:nvPr/>
        </p:nvSpPr>
        <p:spPr>
          <a:xfrm>
            <a:off x="1371600" y="1783080"/>
            <a:ext cx="941832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2200"/>
              <a:buFont typeface="Consolas"/>
              <a:buNone/>
            </a:pPr>
            <a:r>
              <a:rPr b="1" i="0" lang="en-US" sz="1600" u="none" cap="none" strike="noStrike">
                <a:solidFill>
                  <a:srgbClr val="FDD633"/>
                </a:solidFill>
                <a:latin typeface="Consolas"/>
                <a:ea typeface="Consolas"/>
                <a:cs typeface="Consolas"/>
                <a:sym typeface="Consolas"/>
              </a:rPr>
              <a:t>W₂(W₁x + b₁) + b₂  =  (W₂W₁)x + (W₂b₁ + b₂)  =  W′x + b′</a:t>
            </a:r>
          </a:p>
        </p:txBody>
      </p:sp>
      <p:sp>
        <p:nvSpPr>
          <p:cNvPr id="342" name="Google Shape;342;p26"/>
          <p:cNvSpPr/>
          <p:nvPr/>
        </p:nvSpPr>
        <p:spPr>
          <a:xfrm>
            <a:off x="406908"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406908" y="292608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6"/>
          <p:cNvSpPr/>
          <p:nvPr/>
        </p:nvSpPr>
        <p:spPr>
          <a:xfrm>
            <a:off x="635508"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COLLAPSE</a:t>
            </a:r>
          </a:p>
        </p:txBody>
      </p:sp>
      <p:sp>
        <p:nvSpPr>
          <p:cNvPr id="345" name="Google Shape;345;p26"/>
          <p:cNvSpPr/>
          <p:nvPr/>
        </p:nvSpPr>
        <p:spPr>
          <a:xfrm>
            <a:off x="635508"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Linear of linear = linear.</a:t>
            </a:r>
          </a:p>
        </p:txBody>
      </p:sp>
      <p:sp>
        <p:nvSpPr>
          <p:cNvPr id="346" name="Google Shape;346;p26"/>
          <p:cNvSpPr/>
          <p:nvPr/>
        </p:nvSpPr>
        <p:spPr>
          <a:xfrm>
            <a:off x="635508"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Two stacked linear layers multiply into ONE matrix W′ = W₂W₁. By induction, a hundred layers collapse exactly the same way.</a:t>
            </a:r>
          </a:p>
        </p:txBody>
      </p:sp>
      <p:sp>
        <p:nvSpPr>
          <p:cNvPr id="347" name="Google Shape;347;p26"/>
          <p:cNvSpPr/>
          <p:nvPr/>
        </p:nvSpPr>
        <p:spPr>
          <a:xfrm>
            <a:off x="4265676"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
          <p:cNvSpPr/>
          <p:nvPr/>
        </p:nvSpPr>
        <p:spPr>
          <a:xfrm>
            <a:off x="4265676" y="292608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6"/>
          <p:cNvSpPr/>
          <p:nvPr/>
        </p:nvSpPr>
        <p:spPr>
          <a:xfrm>
            <a:off x="4494276"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COSTUME</a:t>
            </a:r>
          </a:p>
        </p:txBody>
      </p:sp>
      <p:sp>
        <p:nvSpPr>
          <p:cNvPr id="350" name="Google Shape;350;p26"/>
          <p:cNvSpPr/>
          <p:nvPr/>
        </p:nvSpPr>
        <p:spPr>
          <a:xfrm>
            <a:off x="4494276"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100 layers, one line.</a:t>
            </a:r>
          </a:p>
        </p:txBody>
      </p:sp>
      <p:sp>
        <p:nvSpPr>
          <p:cNvPr id="351" name="Google Shape;351;p26"/>
          <p:cNvSpPr/>
          <p:nvPr/>
        </p:nvSpPr>
        <p:spPr>
          <a:xfrm>
            <a:off x="4494276"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Without σ, the deepest network you can afford still draws a single straight boundary. Depth bought you nothing.</a:t>
            </a:r>
          </a:p>
        </p:txBody>
      </p:sp>
      <p:sp>
        <p:nvSpPr>
          <p:cNvPr id="352" name="Google Shape;352;p26"/>
          <p:cNvSpPr/>
          <p:nvPr/>
        </p:nvSpPr>
        <p:spPr>
          <a:xfrm>
            <a:off x="8124444"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8124444" y="292608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6"/>
          <p:cNvSpPr/>
          <p:nvPr/>
        </p:nvSpPr>
        <p:spPr>
          <a:xfrm>
            <a:off x="8353044"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THE FIX</a:t>
            </a:r>
          </a:p>
        </p:txBody>
      </p:sp>
      <p:sp>
        <p:nvSpPr>
          <p:cNvPr id="355" name="Google Shape;355;p26"/>
          <p:cNvSpPr/>
          <p:nvPr/>
        </p:nvSpPr>
        <p:spPr>
          <a:xfrm>
            <a:off x="8353044"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σ breaks the multiplication.</a:t>
            </a:r>
          </a:p>
        </p:txBody>
      </p:sp>
      <p:sp>
        <p:nvSpPr>
          <p:cNvPr id="356" name="Google Shape;356;p26"/>
          <p:cNvSpPr/>
          <p:nvPr/>
        </p:nvSpPr>
        <p:spPr>
          <a:xfrm>
            <a:off x="8353044"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A non-linearity between layers stops the matrices merging. That is where curved boundaries — and deep learning — come from.</a:t>
            </a:r>
          </a:p>
        </p:txBody>
      </p:sp>
      <p:sp>
        <p:nvSpPr>
          <p:cNvPr id="357" name="TextBox 356"/>
          <p:cNvSpPr txBox="1"/>
          <p:nvPr/>
        </p:nvSpPr>
        <p:spPr>
          <a:xfrm>
            <a:off x="548640" y="6108192"/>
            <a:ext cx="11091672" cy="548640"/>
          </a:xfrm>
          <a:prstGeom prst="rect">
            <a:avLst/>
          </a:prstGeom>
          <a:noFill/>
        </p:spPr>
        <p:txBody>
          <a:bodyPr wrap="square">
            <a:spAutoFit/>
          </a:bodyPr>
          <a:lstStyle/>
          <a:p>
            <a:pPr algn="l"/>
            <a:r>
              <a:rPr sz="1250" b="0">
                <a:solidFill>
                  <a:srgbClr val="555555"/>
                </a:solidFill>
                <a:latin typeface="Merriweather"/>
              </a:rPr>
              <a:t>This is why the single neuron failed XOR — and why ReLU between Dense layers fixes 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915" name="Google Shape;915;p47"/>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Forward pass, with actual numbers.</a:t>
            </a:r>
          </a:p>
        </p:txBody>
      </p:sp>
      <p:sp>
        <p:nvSpPr>
          <p:cNvPr id="916" name="Google Shape;916;p47"/>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A 2-2-1 network small enough to run in your head. Keep it — we train it in section 05.</a:t>
            </a:r>
          </a:p>
        </p:txBody>
      </p:sp>
      <p:sp>
        <p:nvSpPr>
          <p:cNvPr id="917" name="Google Shape;917;p47"/>
          <p:cNvSpPr/>
          <p:nvPr/>
        </p:nvSpPr>
        <p:spPr>
          <a:xfrm>
            <a:off x="54864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7"/>
          <p:cNvSpPr/>
          <p:nvPr/>
        </p:nvSpPr>
        <p:spPr>
          <a:xfrm>
            <a:off x="548640" y="1828800"/>
            <a:ext cx="5422392" cy="64008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7"/>
          <p:cNvSpPr/>
          <p:nvPr/>
        </p:nvSpPr>
        <p:spPr>
          <a:xfrm>
            <a:off x="82296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THE NETWORK</a:t>
            </a:r>
          </a:p>
        </p:txBody>
      </p:sp>
      <p:sp>
        <p:nvSpPr>
          <p:cNvPr id="920" name="Google Shape;920;p47"/>
          <p:cNvSpPr/>
          <p:nvPr/>
        </p:nvSpPr>
        <p:spPr>
          <a:xfrm>
            <a:off x="82296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1400"/>
              <a:buFont typeface="Archivo Black"/>
              <a:buNone/>
            </a:pPr>
            <a:r>
              <a:rPr b="1" i="0" lang="en-US" sz="1400" u="none" cap="none" strike="noStrike">
                <a:solidFill>
                  <a:srgbClr val="E97132"/>
                </a:solidFill>
                <a:latin typeface="Archivo Black"/>
                <a:ea typeface="Archivo Black"/>
                <a:cs typeface="Archivo Black"/>
                <a:sym typeface="Archivo Black"/>
              </a:rPr>
              <a:t>Weights chosen to be hand-checkable.</a:t>
            </a:r>
          </a:p>
        </p:txBody>
      </p:sp>
      <p:sp>
        <p:nvSpPr>
          <p:cNvPr id="921" name="Google Shape;921;p47"/>
          <p:cNvSpPr/>
          <p:nvPr/>
        </p:nvSpPr>
        <p:spPr>
          <a:xfrm>
            <a:off x="82296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inputs   x = (1, 2)      biases = 0</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h₁:  w₁ = 1.0   w₂ = −1.0   (x → h₁)</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h₂:  w₃ = 0.5   w₄ = 1.0    (x → h₂)</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out: w₅ = 2.0   w₆ = 0.4    (h → ŷ)</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target   y = 3</a:t>
            </a:r>
          </a:p>
        </p:txBody>
      </p:sp>
      <p:sp>
        <p:nvSpPr>
          <p:cNvPr id="922" name="Google Shape;922;p47"/>
          <p:cNvSpPr/>
          <p:nvPr/>
        </p:nvSpPr>
        <p:spPr>
          <a:xfrm>
            <a:off x="73152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7"/>
          <p:cNvSpPr/>
          <p:nvPr/>
        </p:nvSpPr>
        <p:spPr>
          <a:xfrm>
            <a:off x="73152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400" u="none" cap="none" strike="noStrike">
                <a:solidFill>
                  <a:srgbClr val="361A54"/>
                </a:solidFill>
                <a:latin typeface="Consolas"/>
                <a:ea typeface="Consolas"/>
                <a:cs typeface="Consolas"/>
                <a:sym typeface="Consolas"/>
              </a:rPr>
              <a:t>activation: ReLU = max(0, x)</a:t>
            </a:r>
          </a:p>
        </p:txBody>
      </p:sp>
      <p:sp>
        <p:nvSpPr>
          <p:cNvPr id="924" name="Google Shape;924;p47"/>
          <p:cNvSpPr/>
          <p:nvPr/>
        </p:nvSpPr>
        <p:spPr>
          <a:xfrm>
            <a:off x="6217920" y="1828800"/>
            <a:ext cx="5422392" cy="429768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7"/>
          <p:cNvSpPr/>
          <p:nvPr/>
        </p:nvSpPr>
        <p:spPr>
          <a:xfrm>
            <a:off x="6217920" y="1828800"/>
            <a:ext cx="5422392" cy="64008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7"/>
          <p:cNvSpPr/>
          <p:nvPr/>
        </p:nvSpPr>
        <p:spPr>
          <a:xfrm>
            <a:off x="6492240" y="1892808"/>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chivo Black"/>
              <a:buNone/>
            </a:pPr>
            <a:r>
              <a:rPr b="1" i="0" lang="en-US" sz="2200" u="none" cap="none" strike="noStrike">
                <a:solidFill>
                  <a:srgbClr val="FFFFFF"/>
                </a:solidFill>
                <a:latin typeface="Archivo Black"/>
                <a:ea typeface="Archivo Black"/>
                <a:cs typeface="Archivo Black"/>
                <a:sym typeface="Archivo Black"/>
              </a:rPr>
              <a:t>THE PASS</a:t>
            </a:r>
          </a:p>
        </p:txBody>
      </p:sp>
      <p:sp>
        <p:nvSpPr>
          <p:cNvPr id="927" name="Google Shape;927;p47"/>
          <p:cNvSpPr/>
          <p:nvPr/>
        </p:nvSpPr>
        <p:spPr>
          <a:xfrm>
            <a:off x="6492240" y="26060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1400"/>
              <a:buFont typeface="Archivo Black"/>
              <a:buNone/>
            </a:pPr>
            <a:r>
              <a:rPr b="1" i="0" lang="en-US" sz="1400" u="none" cap="none" strike="noStrike">
                <a:solidFill>
                  <a:srgbClr val="A02B93"/>
                </a:solidFill>
                <a:latin typeface="Archivo Black"/>
                <a:ea typeface="Archivo Black"/>
                <a:cs typeface="Archivo Black"/>
                <a:sym typeface="Archivo Black"/>
              </a:rPr>
              <a:t>Three computations, one loss.</a:t>
            </a:r>
          </a:p>
        </p:txBody>
      </p:sp>
      <p:sp>
        <p:nvSpPr>
          <p:cNvPr id="928" name="Google Shape;928;p47"/>
          <p:cNvSpPr/>
          <p:nvPr/>
        </p:nvSpPr>
        <p:spPr>
          <a:xfrm>
            <a:off x="6492240" y="3017520"/>
            <a:ext cx="48463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h₁ = ReLU(1·1 + (−1)·2) = ReLU(−1) = 0</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h₂ = ReLU(0.5·1 + 1·2) = ReLU(2.5) = 2.5</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ŷ  = 2·0 + 0.4·2.5 = 1.0</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
            </a:r>
          </a:p>
          <a:p>
            <a:pPr indent="0" lvl="0" marL="0" marR="0" rtl="0" algn="l">
              <a:spcBef>
                <a:spcPts val="0"/>
              </a:spcBef>
              <a:spcAft>
                <a:spcPts val="0"/>
              </a:spcAft>
              <a:buClr>
                <a:srgbClr val="333333"/>
              </a:buClr>
              <a:buSzPts val="1250"/>
              <a:buFont typeface="Merriweather"/>
              <a:buNone/>
            </a:pPr>
            <a:r>
              <a:rPr b="0" i="0" lang="en-US" sz="1400" u="none" cap="none" strike="noStrike">
                <a:solidFill>
                  <a:srgbClr val="333333"/>
                </a:solidFill>
                <a:latin typeface="Consolas"/>
                <a:ea typeface="Merriweather"/>
                <a:cs typeface="Merriweather"/>
                <a:sym typeface="Merriweather"/>
              </a:rPr>
              <a:t>L  = (ŷ − y)² = (1 − 3)² = 4</a:t>
            </a:r>
          </a:p>
        </p:txBody>
      </p:sp>
      <p:sp>
        <p:nvSpPr>
          <p:cNvPr id="929" name="Google Shape;929;p47"/>
          <p:cNvSpPr/>
          <p:nvPr/>
        </p:nvSpPr>
        <p:spPr>
          <a:xfrm>
            <a:off x="6400800" y="5440680"/>
            <a:ext cx="5056632" cy="5943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7"/>
          <p:cNvSpPr/>
          <p:nvPr/>
        </p:nvSpPr>
        <p:spPr>
          <a:xfrm>
            <a:off x="6400800" y="5440680"/>
            <a:ext cx="505663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61A54"/>
              </a:buClr>
              <a:buSzPts val="1300"/>
              <a:buFont typeface="Consolas"/>
              <a:buNone/>
            </a:pPr>
            <a:r>
              <a:rPr b="1" i="0" lang="en-US" sz="1250" u="none" cap="none" strike="noStrike">
                <a:solidFill>
                  <a:srgbClr val="361A54"/>
                </a:solidFill>
                <a:latin typeface="Consolas"/>
                <a:ea typeface="Consolas"/>
                <a:cs typeface="Consolas"/>
                <a:sym typeface="Consolas"/>
              </a:rPr>
              <a:t>numbers are illustrative — picked for hands, not realism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338" name="Google Shape;338;p26"/>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Regularisation, concretely.</a:t>
            </a:r>
          </a:p>
        </p:txBody>
      </p:sp>
      <p:sp>
        <p:nvSpPr>
          <p:cNvPr id="339" name="Google Shape;339;p26"/>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A penalty on weight size, added to the loss. λ is a dial you tune on validation.</a:t>
            </a:r>
          </a:p>
        </p:txBody>
      </p:sp>
      <p:sp>
        <p:nvSpPr>
          <p:cNvPr id="340" name="Google Shape;340;p26"/>
          <p:cNvSpPr/>
          <p:nvPr/>
        </p:nvSpPr>
        <p:spPr>
          <a:xfrm>
            <a:off x="1371600" y="1783080"/>
            <a:ext cx="9418320" cy="77724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p:nvPr/>
        </p:nvSpPr>
        <p:spPr>
          <a:xfrm>
            <a:off x="1371600" y="1783080"/>
            <a:ext cx="941832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2200"/>
              <a:buFont typeface="Consolas"/>
              <a:buNone/>
            </a:pPr>
            <a:r>
              <a:rPr b="1" i="0" lang="en-US" sz="1500" u="none" cap="none" strike="noStrike">
                <a:solidFill>
                  <a:srgbClr val="FDD633"/>
                </a:solidFill>
                <a:latin typeface="Consolas"/>
                <a:ea typeface="Consolas"/>
                <a:cs typeface="Consolas"/>
                <a:sym typeface="Consolas"/>
              </a:rPr>
              <a:t>L_total = L_data + λ·Σw²   (L2)        L_total = L_data + λ·Σ|w|   (L1)</a:t>
            </a:r>
          </a:p>
        </p:txBody>
      </p:sp>
      <p:sp>
        <p:nvSpPr>
          <p:cNvPr id="342" name="Google Shape;342;p26"/>
          <p:cNvSpPr/>
          <p:nvPr/>
        </p:nvSpPr>
        <p:spPr>
          <a:xfrm>
            <a:off x="406908"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406908" y="2926080"/>
            <a:ext cx="3657600" cy="5029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6"/>
          <p:cNvSpPr/>
          <p:nvPr/>
        </p:nvSpPr>
        <p:spPr>
          <a:xfrm>
            <a:off x="635508"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λ = 0</a:t>
            </a:r>
          </a:p>
        </p:txBody>
      </p:sp>
      <p:sp>
        <p:nvSpPr>
          <p:cNvPr id="345" name="Google Shape;345;p26"/>
          <p:cNvSpPr/>
          <p:nvPr/>
        </p:nvSpPr>
        <p:spPr>
          <a:xfrm>
            <a:off x="635508"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Pure data fit.</a:t>
            </a:r>
          </a:p>
        </p:txBody>
      </p:sp>
      <p:sp>
        <p:nvSpPr>
          <p:cNvPr id="346" name="Google Shape;346;p26"/>
          <p:cNvSpPr/>
          <p:nvPr/>
        </p:nvSpPr>
        <p:spPr>
          <a:xfrm>
            <a:off x="635508"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No penalty: the model may use extreme weights and wiggly boundaries. Overfitting risk at its maximum.</a:t>
            </a:r>
          </a:p>
        </p:txBody>
      </p:sp>
      <p:sp>
        <p:nvSpPr>
          <p:cNvPr id="347" name="Google Shape;347;p26"/>
          <p:cNvSpPr/>
          <p:nvPr/>
        </p:nvSpPr>
        <p:spPr>
          <a:xfrm>
            <a:off x="4265676"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6"/>
          <p:cNvSpPr/>
          <p:nvPr/>
        </p:nvSpPr>
        <p:spPr>
          <a:xfrm>
            <a:off x="4265676" y="2926080"/>
            <a:ext cx="3657600" cy="5029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6"/>
          <p:cNvSpPr/>
          <p:nvPr/>
        </p:nvSpPr>
        <p:spPr>
          <a:xfrm>
            <a:off x="4494276"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L2</a:t>
            </a:r>
          </a:p>
        </p:txBody>
      </p:sp>
      <p:sp>
        <p:nvSpPr>
          <p:cNvPr id="350" name="Google Shape;350;p26"/>
          <p:cNvSpPr/>
          <p:nvPr/>
        </p:nvSpPr>
        <p:spPr>
          <a:xfrm>
            <a:off x="4494276"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Shrink everything a little.</a:t>
            </a:r>
          </a:p>
        </p:txBody>
      </p:sp>
      <p:sp>
        <p:nvSpPr>
          <p:cNvPr id="351" name="Google Shape;351;p26"/>
          <p:cNvSpPr/>
          <p:nvPr/>
        </p:nvSpPr>
        <p:spPr>
          <a:xfrm>
            <a:off x="4494276"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Big weights cost quadratically, so the model prefers many small ones — smoother, calmer functions.</a:t>
            </a:r>
          </a:p>
        </p:txBody>
      </p:sp>
      <p:sp>
        <p:nvSpPr>
          <p:cNvPr id="352" name="Google Shape;352;p26"/>
          <p:cNvSpPr/>
          <p:nvPr/>
        </p:nvSpPr>
        <p:spPr>
          <a:xfrm>
            <a:off x="8124444" y="2926080"/>
            <a:ext cx="3657600" cy="310896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8124444" y="2926080"/>
            <a:ext cx="3657600" cy="5029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6"/>
          <p:cNvSpPr/>
          <p:nvPr/>
        </p:nvSpPr>
        <p:spPr>
          <a:xfrm>
            <a:off x="8353044" y="299008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chivo Black"/>
              <a:buNone/>
            </a:pPr>
            <a:r>
              <a:rPr b="1" i="0" lang="en-US" sz="1500" u="none" cap="none" strike="noStrike">
                <a:solidFill>
                  <a:srgbClr val="FFFFFF"/>
                </a:solidFill>
                <a:latin typeface="Archivo Black"/>
                <a:ea typeface="Archivo Black"/>
                <a:cs typeface="Archivo Black"/>
                <a:sym typeface="Archivo Black"/>
              </a:rPr>
              <a:t>L1</a:t>
            </a:r>
          </a:p>
        </p:txBody>
      </p:sp>
      <p:sp>
        <p:nvSpPr>
          <p:cNvPr id="355" name="Google Shape;355;p26"/>
          <p:cNvSpPr/>
          <p:nvPr/>
        </p:nvSpPr>
        <p:spPr>
          <a:xfrm>
            <a:off x="8353044" y="35661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400"/>
              <a:buFont typeface="Archivo Black"/>
              <a:buNone/>
            </a:pPr>
            <a:r>
              <a:rPr b="1" i="0" lang="en-US" sz="1400" u="none" cap="none" strike="noStrike">
                <a:solidFill>
                  <a:srgbClr val="361A54"/>
                </a:solidFill>
                <a:latin typeface="Archivo Black"/>
                <a:ea typeface="Archivo Black"/>
                <a:cs typeface="Archivo Black"/>
                <a:sym typeface="Archivo Black"/>
              </a:rPr>
              <a:t>Switch features off.</a:t>
            </a:r>
          </a:p>
        </p:txBody>
      </p:sp>
      <p:sp>
        <p:nvSpPr>
          <p:cNvPr id="356" name="Google Shape;356;p26"/>
          <p:cNvSpPr/>
          <p:nvPr/>
        </p:nvSpPr>
        <p:spPr>
          <a:xfrm>
            <a:off x="8353044" y="4023360"/>
            <a:ext cx="320040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150"/>
              <a:buFont typeface="Merriweather"/>
              <a:buNone/>
            </a:pPr>
            <a:r>
              <a:rPr b="0" i="0" lang="en-US" sz="1400" u="none" cap="none" strike="noStrike">
                <a:solidFill>
                  <a:srgbClr val="333333"/>
                </a:solidFill>
                <a:latin typeface="Merriweather"/>
                <a:ea typeface="Merriweather"/>
                <a:cs typeface="Merriweather"/>
                <a:sym typeface="Merriweather"/>
              </a:rPr>
              <a:t>The constant pull drives some weights to exactly ZERO — built-in feature selection.</a:t>
            </a:r>
          </a:p>
        </p:txBody>
      </p:sp>
      <p:sp>
        <p:nvSpPr>
          <p:cNvPr id="357" name="TextBox 356"/>
          <p:cNvSpPr txBox="1"/>
          <p:nvPr/>
        </p:nvSpPr>
        <p:spPr>
          <a:xfrm>
            <a:off x="548640" y="6108192"/>
            <a:ext cx="11091672" cy="548640"/>
          </a:xfrm>
          <a:prstGeom prst="rect">
            <a:avLst/>
          </a:prstGeom>
          <a:noFill/>
        </p:spPr>
        <p:txBody>
          <a:bodyPr wrap="square">
            <a:spAutoFit/>
          </a:bodyPr>
          <a:lstStyle/>
          <a:p>
            <a:pPr algn="l"/>
            <a:r>
              <a:rPr sz="1250" b="0">
                <a:solidFill>
                  <a:srgbClr val="555555"/>
                </a:solidFill>
                <a:latin typeface="Merriweather"/>
              </a:rPr>
              <a:t>Worked check (λ = 0.01, same data loss 0.20): weights (10, −9) → total 0.20 + 1.81 = 2.01.  Weights (1.2, 0.8) → 0.20 + 0.02 = 0.22. L2 picks the calm model.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548640"/>
          </a:xfrm>
          <a:prstGeom prst="rect">
            <a:avLst/>
          </a:prstGeom>
          <a:noFill/>
        </p:spPr>
        <p:txBody>
          <a:bodyPr wrap="square">
            <a:spAutoFit/>
          </a:bodyPr>
          <a:lstStyle/>
          <a:p>
            <a:pPr algn="l"/>
            <a:r>
              <a:rPr sz="2600" b="1">
                <a:solidFill>
                  <a:srgbClr val="361A54"/>
                </a:solidFill>
                <a:latin typeface="Archivo Black"/>
              </a:rPr>
              <a:t>What is a gradient? One dimension first.</a:t>
            </a:r>
          </a:p>
        </p:txBody>
      </p:sp>
      <p:sp>
        <p:nvSpPr>
          <p:cNvPr id="3" name="TextBox 2"/>
          <p:cNvSpPr txBox="1"/>
          <p:nvPr/>
        </p:nvSpPr>
        <p:spPr>
          <a:xfrm>
            <a:off x="548640" y="978408"/>
            <a:ext cx="10972800" cy="365760"/>
          </a:xfrm>
          <a:prstGeom prst="rect">
            <a:avLst/>
          </a:prstGeom>
          <a:noFill/>
        </p:spPr>
        <p:txBody>
          <a:bodyPr wrap="square">
            <a:spAutoFit/>
          </a:bodyPr>
          <a:lstStyle/>
          <a:p>
            <a:pPr algn="l"/>
            <a:r>
              <a:rPr sz="1400" b="0">
                <a:solidFill>
                  <a:srgbClr val="555555"/>
                </a:solidFill>
                <a:latin typeface="Merriweather"/>
              </a:rPr>
              <a:t>One weight, one loss curve. The gradient is just the slope where you stand.</a:t>
            </a:r>
          </a:p>
        </p:txBody>
      </p:sp>
      <p:sp>
        <p:nvSpPr>
          <p:cNvPr id="4" name="Rectangle 3"/>
          <p:cNvSpPr/>
          <p:nvPr/>
        </p:nvSpPr>
        <p:spPr>
          <a:xfrm>
            <a:off x="548640" y="1737360"/>
            <a:ext cx="5486400" cy="4160520"/>
          </a:xfrm>
          <a:prstGeom prst="rect">
            <a:avLst/>
          </a:prstGeom>
          <a:solidFill>
            <a:srgbClr val="FBF6E9"/>
          </a:solidFill>
          <a:ln w="12700">
            <a:solidFill>
              <a:srgbClr val="FBF6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960120" y="2057400"/>
            <a:ext cx="0" cy="3383280"/>
          </a:xfrm>
          <a:prstGeom prst="line">
            <a:avLst/>
          </a:prstGeom>
          <a:ln w="15240">
            <a:solidFill>
              <a:srgbClr val="555555"/>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60120" y="5440680"/>
            <a:ext cx="4800600" cy="0"/>
          </a:xfrm>
          <a:prstGeom prst="line">
            <a:avLst/>
          </a:prstGeom>
          <a:ln w="15240">
            <a:solidFill>
              <a:srgbClr val="55555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532120" y="5504688"/>
            <a:ext cx="457200" cy="274320"/>
          </a:xfrm>
          <a:prstGeom prst="rect">
            <a:avLst/>
          </a:prstGeom>
          <a:noFill/>
        </p:spPr>
        <p:txBody>
          <a:bodyPr wrap="square">
            <a:spAutoFit/>
          </a:bodyPr>
          <a:lstStyle/>
          <a:p>
            <a:pPr algn="l"/>
            <a:r>
              <a:rPr sz="1200" b="0">
                <a:solidFill>
                  <a:srgbClr val="555555"/>
                </a:solidFill>
                <a:latin typeface="Merriweather"/>
              </a:rPr>
              <a:t>w</a:t>
            </a:r>
          </a:p>
        </p:txBody>
      </p:sp>
      <p:sp>
        <p:nvSpPr>
          <p:cNvPr id="8" name="TextBox 7"/>
          <p:cNvSpPr txBox="1"/>
          <p:nvPr/>
        </p:nvSpPr>
        <p:spPr>
          <a:xfrm>
            <a:off x="621792" y="1847088"/>
            <a:ext cx="822960" cy="274320"/>
          </a:xfrm>
          <a:prstGeom prst="rect">
            <a:avLst/>
          </a:prstGeom>
          <a:noFill/>
        </p:spPr>
        <p:txBody>
          <a:bodyPr wrap="square">
            <a:spAutoFit/>
          </a:bodyPr>
          <a:lstStyle/>
          <a:p>
            <a:pPr algn="l"/>
            <a:r>
              <a:rPr sz="1200" b="0">
                <a:solidFill>
                  <a:srgbClr val="555555"/>
                </a:solidFill>
                <a:latin typeface="Merriweather"/>
              </a:rPr>
              <a:t>L(w)</a:t>
            </a:r>
          </a:p>
        </p:txBody>
      </p:sp>
      <p:cxnSp>
        <p:nvCxnSpPr>
          <p:cNvPr id="9" name="Connector 8"/>
          <p:cNvCxnSpPr/>
          <p:nvPr/>
        </p:nvCxnSpPr>
        <p:spPr>
          <a:xfrm>
            <a:off x="1234440" y="2240280"/>
            <a:ext cx="146304" cy="36535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80744" y="2605633"/>
            <a:ext cx="146304" cy="340157"/>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27048" y="2945790"/>
            <a:ext cx="146304" cy="314960"/>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73352" y="3260750"/>
            <a:ext cx="146304" cy="28976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19656" y="3550513"/>
            <a:ext cx="146304" cy="264567"/>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65960" y="3815080"/>
            <a:ext cx="146304" cy="23936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12264" y="4054449"/>
            <a:ext cx="146304" cy="21417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258568" y="4268622"/>
            <a:ext cx="146304" cy="188976"/>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04872" y="4457598"/>
            <a:ext cx="146304" cy="16377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551176" y="4621377"/>
            <a:ext cx="146304" cy="13858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697480" y="4759960"/>
            <a:ext cx="146304" cy="113385"/>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843784" y="4873345"/>
            <a:ext cx="146304" cy="8818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90088" y="4961534"/>
            <a:ext cx="146304" cy="62992"/>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36392" y="5024526"/>
            <a:ext cx="146304" cy="37795"/>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82696" y="5062321"/>
            <a:ext cx="146304" cy="1259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429000" y="5062321"/>
            <a:ext cx="146304" cy="1259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575304" y="5024526"/>
            <a:ext cx="146304" cy="37795"/>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21608" y="4961534"/>
            <a:ext cx="146304" cy="62992"/>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867912" y="4873345"/>
            <a:ext cx="146304" cy="8818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014216" y="4759959"/>
            <a:ext cx="146304" cy="113386"/>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160520" y="4621377"/>
            <a:ext cx="146304" cy="138582"/>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06824" y="4457598"/>
            <a:ext cx="146304" cy="163779"/>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53128" y="4268622"/>
            <a:ext cx="146304" cy="188976"/>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599432" y="4054449"/>
            <a:ext cx="146304" cy="21417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745736" y="3815079"/>
            <a:ext cx="146304" cy="239370"/>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892040" y="3550513"/>
            <a:ext cx="146304" cy="264566"/>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5038344" y="3260750"/>
            <a:ext cx="146304" cy="289763"/>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184648" y="2945790"/>
            <a:ext cx="146304" cy="314960"/>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330952" y="2605633"/>
            <a:ext cx="146304" cy="340157"/>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477256" y="2240279"/>
            <a:ext cx="146304" cy="365354"/>
          </a:xfrm>
          <a:prstGeom prst="line">
            <a:avLst/>
          </a:prstGeom>
          <a:ln w="22860">
            <a:solidFill>
              <a:srgbClr val="361A54"/>
            </a:solidFill>
          </a:ln>
          <a:effectLst/>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847088" y="3661957"/>
            <a:ext cx="146304" cy="146304"/>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864608" y="3661957"/>
            <a:ext cx="146304" cy="14630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355848" y="5001768"/>
            <a:ext cx="146304" cy="146304"/>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88720" y="3017520"/>
            <a:ext cx="1737360" cy="502920"/>
          </a:xfrm>
          <a:prstGeom prst="rect">
            <a:avLst/>
          </a:prstGeom>
          <a:noFill/>
        </p:spPr>
        <p:txBody>
          <a:bodyPr wrap="square">
            <a:spAutoFit/>
          </a:bodyPr>
          <a:lstStyle/>
          <a:p>
            <a:pPr algn="l"/>
            <a:r>
              <a:rPr sz="1050" b="1">
                <a:solidFill>
                  <a:srgbClr val="A02B93"/>
                </a:solidFill>
                <a:latin typeface="Merriweather"/>
              </a:rPr>
              <a:t>gradient &lt; 0</a:t>
            </a:r>
          </a:p>
        </p:txBody>
      </p:sp>
      <p:sp>
        <p:nvSpPr>
          <p:cNvPr id="43" name="TextBox 42"/>
          <p:cNvSpPr txBox="1"/>
          <p:nvPr/>
        </p:nvSpPr>
        <p:spPr>
          <a:xfrm>
            <a:off x="4572000" y="3017520"/>
            <a:ext cx="1737360" cy="502920"/>
          </a:xfrm>
          <a:prstGeom prst="rect">
            <a:avLst/>
          </a:prstGeom>
          <a:noFill/>
        </p:spPr>
        <p:txBody>
          <a:bodyPr wrap="square">
            <a:spAutoFit/>
          </a:bodyPr>
          <a:lstStyle/>
          <a:p>
            <a:pPr algn="l"/>
            <a:r>
              <a:rPr sz="1050" b="1">
                <a:solidFill>
                  <a:srgbClr val="E97132"/>
                </a:solidFill>
                <a:latin typeface="Merriweather"/>
              </a:rPr>
              <a:t>gradient &gt; 0</a:t>
            </a:r>
          </a:p>
        </p:txBody>
      </p:sp>
      <p:sp>
        <p:nvSpPr>
          <p:cNvPr id="44" name="TextBox 43"/>
          <p:cNvSpPr txBox="1"/>
          <p:nvPr/>
        </p:nvSpPr>
        <p:spPr>
          <a:xfrm>
            <a:off x="2880360" y="5230368"/>
            <a:ext cx="1463040" cy="365760"/>
          </a:xfrm>
          <a:prstGeom prst="rect">
            <a:avLst/>
          </a:prstGeom>
          <a:noFill/>
        </p:spPr>
        <p:txBody>
          <a:bodyPr wrap="square">
            <a:spAutoFit/>
          </a:bodyPr>
          <a:lstStyle/>
          <a:p>
            <a:pPr algn="l"/>
            <a:r>
              <a:rPr sz="1050" b="1">
                <a:solidFill>
                  <a:srgbClr val="4EA72E"/>
                </a:solidFill>
                <a:latin typeface="Merriweather"/>
              </a:rPr>
              <a:t>gradient ≈ 0</a:t>
            </a:r>
          </a:p>
        </p:txBody>
      </p:sp>
      <p:sp>
        <p:nvSpPr>
          <p:cNvPr id="45" name="Rectangle 44"/>
          <p:cNvSpPr/>
          <p:nvPr/>
        </p:nvSpPr>
        <p:spPr>
          <a:xfrm>
            <a:off x="6400800" y="1874519"/>
            <a:ext cx="292608" cy="292608"/>
          </a:xfrm>
          <a:prstGeom prst="rect">
            <a:avLst/>
          </a:prstGeom>
          <a:solidFill>
            <a:srgbClr val="E97132"/>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2280" y="1828800"/>
            <a:ext cx="4937760" cy="411480"/>
          </a:xfrm>
          <a:prstGeom prst="rect">
            <a:avLst/>
          </a:prstGeom>
          <a:noFill/>
        </p:spPr>
        <p:txBody>
          <a:bodyPr wrap="square">
            <a:spAutoFit/>
          </a:bodyPr>
          <a:lstStyle/>
          <a:p>
            <a:pPr algn="l"/>
            <a:r>
              <a:rPr sz="1350" b="1">
                <a:solidFill>
                  <a:srgbClr val="361A54"/>
                </a:solidFill>
                <a:latin typeface="Archivo Black"/>
              </a:rPr>
              <a:t>Standing on the right slope: gradient &gt; 0.</a:t>
            </a:r>
          </a:p>
        </p:txBody>
      </p:sp>
      <p:sp>
        <p:nvSpPr>
          <p:cNvPr id="47" name="TextBox 46"/>
          <p:cNvSpPr txBox="1"/>
          <p:nvPr/>
        </p:nvSpPr>
        <p:spPr>
          <a:xfrm>
            <a:off x="6812280" y="2258568"/>
            <a:ext cx="4937760" cy="868680"/>
          </a:xfrm>
          <a:prstGeom prst="rect">
            <a:avLst/>
          </a:prstGeom>
          <a:noFill/>
        </p:spPr>
        <p:txBody>
          <a:bodyPr wrap="square">
            <a:spAutoFit/>
          </a:bodyPr>
          <a:lstStyle/>
          <a:p>
            <a:pPr algn="l"/>
            <a:r>
              <a:rPr sz="1300" b="0">
                <a:solidFill>
                  <a:srgbClr val="333333"/>
                </a:solidFill>
                <a:latin typeface="Merriweather"/>
              </a:rPr>
              <a:t>Loss climbs to the right — so step LEFT. Subtracting a positive moves you left.</a:t>
            </a:r>
          </a:p>
        </p:txBody>
      </p:sp>
      <p:sp>
        <p:nvSpPr>
          <p:cNvPr id="48" name="Rectangle 47"/>
          <p:cNvSpPr/>
          <p:nvPr/>
        </p:nvSpPr>
        <p:spPr>
          <a:xfrm>
            <a:off x="6400800" y="3246120"/>
            <a:ext cx="292608" cy="292608"/>
          </a:xfrm>
          <a:prstGeom prst="rect">
            <a:avLst/>
          </a:prstGeom>
          <a:solidFill>
            <a:srgbClr val="A02B93"/>
          </a:solidFill>
          <a:ln w="1270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12280" y="3200400"/>
            <a:ext cx="4937760" cy="411480"/>
          </a:xfrm>
          <a:prstGeom prst="rect">
            <a:avLst/>
          </a:prstGeom>
          <a:noFill/>
        </p:spPr>
        <p:txBody>
          <a:bodyPr wrap="square">
            <a:spAutoFit/>
          </a:bodyPr>
          <a:lstStyle/>
          <a:p>
            <a:pPr algn="l"/>
            <a:r>
              <a:rPr sz="1350" b="1">
                <a:solidFill>
                  <a:srgbClr val="361A54"/>
                </a:solidFill>
                <a:latin typeface="Archivo Black"/>
              </a:rPr>
              <a:t>Standing on the left slope: gradient &lt; 0.</a:t>
            </a:r>
          </a:p>
        </p:txBody>
      </p:sp>
      <p:sp>
        <p:nvSpPr>
          <p:cNvPr id="50" name="TextBox 49"/>
          <p:cNvSpPr txBox="1"/>
          <p:nvPr/>
        </p:nvSpPr>
        <p:spPr>
          <a:xfrm>
            <a:off x="6812280" y="3630168"/>
            <a:ext cx="4937760" cy="868680"/>
          </a:xfrm>
          <a:prstGeom prst="rect">
            <a:avLst/>
          </a:prstGeom>
          <a:noFill/>
        </p:spPr>
        <p:txBody>
          <a:bodyPr wrap="square">
            <a:spAutoFit/>
          </a:bodyPr>
          <a:lstStyle/>
          <a:p>
            <a:pPr algn="l"/>
            <a:r>
              <a:rPr sz="1300" b="0">
                <a:solidFill>
                  <a:srgbClr val="333333"/>
                </a:solidFill>
                <a:latin typeface="Merriweather"/>
              </a:rPr>
              <a:t>Subtracting a negative moves you RIGHT — still downhill. The sign does the steering.</a:t>
            </a:r>
          </a:p>
        </p:txBody>
      </p:sp>
      <p:sp>
        <p:nvSpPr>
          <p:cNvPr id="51" name="Rectangle 50"/>
          <p:cNvSpPr/>
          <p:nvPr/>
        </p:nvSpPr>
        <p:spPr>
          <a:xfrm>
            <a:off x="6400800" y="4617720"/>
            <a:ext cx="292608" cy="292608"/>
          </a:xfrm>
          <a:prstGeom prst="rect">
            <a:avLst/>
          </a:prstGeom>
          <a:solidFill>
            <a:srgbClr val="4EA72E"/>
          </a:solidFill>
          <a:ln w="12700">
            <a:solidFill>
              <a:srgbClr val="4EA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12280" y="4572000"/>
            <a:ext cx="4937760" cy="411480"/>
          </a:xfrm>
          <a:prstGeom prst="rect">
            <a:avLst/>
          </a:prstGeom>
          <a:noFill/>
        </p:spPr>
        <p:txBody>
          <a:bodyPr wrap="square">
            <a:spAutoFit/>
          </a:bodyPr>
          <a:lstStyle/>
          <a:p>
            <a:pPr algn="l"/>
            <a:r>
              <a:rPr sz="1350" b="1">
                <a:solidFill>
                  <a:srgbClr val="361A54"/>
                </a:solidFill>
                <a:latin typeface="Archivo Black"/>
              </a:rPr>
              <a:t>At the bottom: gradient ≈ 0.</a:t>
            </a:r>
          </a:p>
        </p:txBody>
      </p:sp>
      <p:sp>
        <p:nvSpPr>
          <p:cNvPr id="53" name="TextBox 52"/>
          <p:cNvSpPr txBox="1"/>
          <p:nvPr/>
        </p:nvSpPr>
        <p:spPr>
          <a:xfrm>
            <a:off x="6812280" y="5001768"/>
            <a:ext cx="4937760" cy="868680"/>
          </a:xfrm>
          <a:prstGeom prst="rect">
            <a:avLst/>
          </a:prstGeom>
          <a:noFill/>
        </p:spPr>
        <p:txBody>
          <a:bodyPr wrap="square">
            <a:spAutoFit/>
          </a:bodyPr>
          <a:lstStyle/>
          <a:p>
            <a:pPr algn="l"/>
            <a:r>
              <a:rPr sz="1300" b="0">
                <a:solidFill>
                  <a:srgbClr val="333333"/>
                </a:solidFill>
                <a:latin typeface="Merriweather"/>
              </a:rPr>
              <a:t>No push in either direction — the update stops itself. That is convergence.</a:t>
            </a:r>
          </a:p>
        </p:txBody>
      </p:sp>
      <p:sp>
        <p:nvSpPr>
          <p:cNvPr id="54" name="TextBox 53"/>
          <p:cNvSpPr txBox="1"/>
          <p:nvPr/>
        </p:nvSpPr>
        <p:spPr>
          <a:xfrm>
            <a:off x="548640" y="6108192"/>
            <a:ext cx="11091672" cy="548640"/>
          </a:xfrm>
          <a:prstGeom prst="rect">
            <a:avLst/>
          </a:prstGeom>
          <a:noFill/>
        </p:spPr>
        <p:txBody>
          <a:bodyPr wrap="square">
            <a:spAutoFit/>
          </a:bodyPr>
          <a:lstStyle/>
          <a:p>
            <a:pPr algn="l"/>
            <a:r>
              <a:rPr sz="1250" b="0">
                <a:solidFill>
                  <a:srgbClr val="555555"/>
                </a:solidFill>
                <a:latin typeface="Merriweather"/>
              </a:rPr>
              <a:t>The rule never changes: step OPPOSITE the slope. In a million dimensions it is exactly the same move — one slope per weight.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858" name="Google Shape;858;p45"/>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Gradient descent by hand — watch it converge.</a:t>
            </a:r>
          </a:p>
        </p:txBody>
      </p:sp>
      <p:sp>
        <p:nvSpPr>
          <p:cNvPr id="859" name="Google Shape;859;p45"/>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The update rule, run three times on a loss you can differentiate in your head.</a:t>
            </a:r>
          </a:p>
        </p:txBody>
      </p:sp>
      <p:sp>
        <p:nvSpPr>
          <p:cNvPr id="860" name="Google Shape;860;p45"/>
          <p:cNvSpPr/>
          <p:nvPr/>
        </p:nvSpPr>
        <p:spPr>
          <a:xfrm>
            <a:off x="1371600" y="1828800"/>
            <a:ext cx="9418320" cy="128016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371600" y="1828800"/>
            <a:ext cx="941832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3000"/>
              <a:buFont typeface="Consolas"/>
              <a:buNone/>
            </a:pPr>
            <a:r>
              <a:rPr b="1" i="0" lang="en-US" sz="1700" u="none" cap="none" strike="noStrike">
                <a:solidFill>
                  <a:srgbClr val="FDD633"/>
                </a:solidFill>
                <a:latin typeface="Consolas"/>
                <a:ea typeface="Consolas"/>
                <a:cs typeface="Consolas"/>
                <a:sym typeface="Consolas"/>
              </a:rPr>
              <a:t>L(w) = (w − 3)²      dL/dw = 2(w − 3)      w₀ = 0      η = 0.25</a:t>
            </a:r>
          </a:p>
        </p:txBody>
      </p:sp>
      <p:sp>
        <p:nvSpPr>
          <p:cNvPr id="862" name="Google Shape;862;p45"/>
          <p:cNvSpPr/>
          <p:nvPr/>
        </p:nvSpPr>
        <p:spPr>
          <a:xfrm>
            <a:off x="51663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5"/>
          <p:cNvSpPr/>
          <p:nvPr/>
        </p:nvSpPr>
        <p:spPr>
          <a:xfrm>
            <a:off x="516636" y="3474720"/>
            <a:ext cx="91440" cy="14173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5"/>
          <p:cNvSpPr/>
          <p:nvPr/>
        </p:nvSpPr>
        <p:spPr>
          <a:xfrm>
            <a:off x="74523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800"/>
              <a:buFont typeface="Consolas"/>
              <a:buNone/>
            </a:pPr>
            <a:r>
              <a:rPr b="1" i="0" lang="en-US" sz="2200" u="none" cap="none" strike="noStrike">
                <a:solidFill>
                  <a:srgbClr val="E97132"/>
                </a:solidFill>
                <a:latin typeface="Consolas"/>
                <a:ea typeface="Consolas"/>
                <a:cs typeface="Consolas"/>
                <a:sym typeface="Consolas"/>
              </a:rPr>
              <a:t>w₁ = 1.5</a:t>
            </a:r>
          </a:p>
        </p:txBody>
      </p:sp>
      <p:sp>
        <p:nvSpPr>
          <p:cNvPr id="865" name="Google Shape;865;p45"/>
          <p:cNvSpPr/>
          <p:nvPr/>
        </p:nvSpPr>
        <p:spPr>
          <a:xfrm>
            <a:off x="74523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0 − 0.25·2(0 − 3) = 0 + 1.5</a:t>
            </a:r>
          </a:p>
        </p:txBody>
      </p:sp>
      <p:sp>
        <p:nvSpPr>
          <p:cNvPr id="866" name="Google Shape;866;p45"/>
          <p:cNvSpPr/>
          <p:nvPr/>
        </p:nvSpPr>
        <p:spPr>
          <a:xfrm>
            <a:off x="335127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5"/>
          <p:cNvSpPr/>
          <p:nvPr/>
        </p:nvSpPr>
        <p:spPr>
          <a:xfrm>
            <a:off x="3351276" y="3474720"/>
            <a:ext cx="91440" cy="14173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5"/>
          <p:cNvSpPr/>
          <p:nvPr/>
        </p:nvSpPr>
        <p:spPr>
          <a:xfrm>
            <a:off x="357987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800"/>
              <a:buFont typeface="Consolas"/>
              <a:buNone/>
            </a:pPr>
            <a:r>
              <a:rPr b="1" i="0" lang="en-US" sz="2200" u="none" cap="none" strike="noStrike">
                <a:solidFill>
                  <a:srgbClr val="4EA72E"/>
                </a:solidFill>
                <a:latin typeface="Consolas"/>
                <a:ea typeface="Consolas"/>
                <a:cs typeface="Consolas"/>
                <a:sym typeface="Consolas"/>
              </a:rPr>
              <a:t>w₂ = 2.25</a:t>
            </a:r>
          </a:p>
        </p:txBody>
      </p:sp>
      <p:sp>
        <p:nvSpPr>
          <p:cNvPr id="869" name="Google Shape;869;p45"/>
          <p:cNvSpPr/>
          <p:nvPr/>
        </p:nvSpPr>
        <p:spPr>
          <a:xfrm>
            <a:off x="357987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1.5 − 0.25·2(1.5 − 3)</a:t>
            </a:r>
          </a:p>
        </p:txBody>
      </p:sp>
      <p:sp>
        <p:nvSpPr>
          <p:cNvPr id="870" name="Google Shape;870;p45"/>
          <p:cNvSpPr/>
          <p:nvPr/>
        </p:nvSpPr>
        <p:spPr>
          <a:xfrm>
            <a:off x="618591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5"/>
          <p:cNvSpPr/>
          <p:nvPr/>
        </p:nvSpPr>
        <p:spPr>
          <a:xfrm>
            <a:off x="6185916" y="3474720"/>
            <a:ext cx="91440" cy="14173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5"/>
          <p:cNvSpPr/>
          <p:nvPr/>
        </p:nvSpPr>
        <p:spPr>
          <a:xfrm>
            <a:off x="641451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800"/>
              <a:buFont typeface="Consolas"/>
              <a:buNone/>
            </a:pPr>
            <a:r>
              <a:rPr b="1" i="0" lang="en-US" sz="2200" u="none" cap="none" strike="noStrike">
                <a:solidFill>
                  <a:srgbClr val="A02B93"/>
                </a:solidFill>
                <a:latin typeface="Consolas"/>
                <a:ea typeface="Consolas"/>
                <a:cs typeface="Consolas"/>
                <a:sym typeface="Consolas"/>
              </a:rPr>
              <a:t>w₃ ≈ 2.63</a:t>
            </a:r>
          </a:p>
        </p:txBody>
      </p:sp>
      <p:sp>
        <p:nvSpPr>
          <p:cNvPr id="873" name="Google Shape;873;p45"/>
          <p:cNvSpPr/>
          <p:nvPr/>
        </p:nvSpPr>
        <p:spPr>
          <a:xfrm>
            <a:off x="641451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2.25 − 0.25·2(2.25 − 3)</a:t>
            </a:r>
          </a:p>
        </p:txBody>
      </p:sp>
      <p:sp>
        <p:nvSpPr>
          <p:cNvPr id="874" name="Google Shape;874;p45"/>
          <p:cNvSpPr/>
          <p:nvPr/>
        </p:nvSpPr>
        <p:spPr>
          <a:xfrm>
            <a:off x="902055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5"/>
          <p:cNvSpPr/>
          <p:nvPr/>
        </p:nvSpPr>
        <p:spPr>
          <a:xfrm>
            <a:off x="9020556" y="3474720"/>
            <a:ext cx="91440" cy="1417320"/>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5"/>
          <p:cNvSpPr/>
          <p:nvPr/>
        </p:nvSpPr>
        <p:spPr>
          <a:xfrm>
            <a:off x="924915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82FF"/>
              </a:buClr>
              <a:buSzPts val="2800"/>
              <a:buFont typeface="Consolas"/>
              <a:buNone/>
            </a:pPr>
            <a:r>
              <a:rPr b="1" i="0" lang="en-US" sz="2200" u="none" cap="none" strike="noStrike">
                <a:solidFill>
                  <a:srgbClr val="BA82FF"/>
                </a:solidFill>
                <a:latin typeface="Consolas"/>
                <a:ea typeface="Consolas"/>
                <a:cs typeface="Consolas"/>
                <a:sym typeface="Consolas"/>
              </a:rPr>
              <a:t>→ 3</a:t>
            </a:r>
          </a:p>
        </p:txBody>
      </p:sp>
      <p:sp>
        <p:nvSpPr>
          <p:cNvPr id="877" name="Google Shape;877;p45"/>
          <p:cNvSpPr/>
          <p:nvPr/>
        </p:nvSpPr>
        <p:spPr>
          <a:xfrm>
            <a:off x="924915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every step halves the gap to the minimum</a:t>
            </a:r>
          </a:p>
        </p:txBody>
      </p:sp>
      <p:sp>
        <p:nvSpPr>
          <p:cNvPr id="878" name="Google Shape;878;p45"/>
          <p:cNvSpPr/>
          <p:nvPr/>
        </p:nvSpPr>
        <p:spPr>
          <a:xfrm>
            <a:off x="548640" y="5257800"/>
            <a:ext cx="109728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One-minute homework: rerun with η = 1.1 — the same rule EXPLODES. Step size is a real decision; that is why the learning rate is a hyperparameter.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763" name="Google Shape;763;p40"/>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The problem backprop solves: who is to blame?</a:t>
            </a:r>
          </a:p>
        </p:txBody>
      </p:sp>
      <p:sp>
        <p:nvSpPr>
          <p:cNvPr id="764" name="Google Shape;764;p40"/>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400" u="none" cap="none" strike="noStrike">
                <a:solidFill>
                  <a:srgbClr val="555555"/>
                </a:solidFill>
                <a:latin typeface="Merriweather"/>
                <a:ea typeface="Merriweather"/>
                <a:cs typeface="Merriweather"/>
                <a:sym typeface="Merriweather"/>
              </a:rPr>
              <a:t>One error number. Millions of weights. Which weight caused how much of it?</a:t>
            </a:r>
          </a:p>
        </p:txBody>
      </p:sp>
      <p:sp>
        <p:nvSpPr>
          <p:cNvPr id="765" name="Google Shape;765;p40"/>
          <p:cNvSpPr/>
          <p:nvPr/>
        </p:nvSpPr>
        <p:spPr>
          <a:xfrm>
            <a:off x="406908"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0"/>
          <p:cNvSpPr/>
          <p:nvPr/>
        </p:nvSpPr>
        <p:spPr>
          <a:xfrm>
            <a:off x="406908" y="1783080"/>
            <a:ext cx="3657600" cy="54864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0"/>
          <p:cNvSpPr/>
          <p:nvPr/>
        </p:nvSpPr>
        <p:spPr>
          <a:xfrm>
            <a:off x="635508"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01</a:t>
            </a:r>
            <a:endParaRPr b="0" i="0" sz="2000" u="none" cap="none" strike="noStrike">
              <a:solidFill>
                <a:schemeClr val="dk1"/>
              </a:solidFill>
              <a:latin typeface="Calibri"/>
              <a:ea typeface="Calibri"/>
              <a:cs typeface="Calibri"/>
              <a:sym typeface="Calibri"/>
            </a:endParaRPr>
          </a:p>
        </p:txBody>
      </p:sp>
      <p:sp>
        <p:nvSpPr>
          <p:cNvPr id="768" name="Google Shape;768;p40"/>
          <p:cNvSpPr/>
          <p:nvPr/>
        </p:nvSpPr>
        <p:spPr>
          <a:xfrm>
            <a:off x="635508"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The naive answer</a:t>
            </a:r>
          </a:p>
        </p:txBody>
      </p:sp>
      <p:sp>
        <p:nvSpPr>
          <p:cNvPr id="769" name="Google Shape;769;p40"/>
          <p:cNvSpPr/>
          <p:nvPr/>
        </p:nvSpPr>
        <p:spPr>
          <a:xfrm>
            <a:off x="635508"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Wiggle each weight, re-run the network, measure the change. Cost: one forward pass PER WEIGHT — millions of passes for a single update.</a:t>
            </a:r>
          </a:p>
        </p:txBody>
      </p:sp>
      <p:sp>
        <p:nvSpPr>
          <p:cNvPr id="770" name="Google Shape;770;p40"/>
          <p:cNvSpPr/>
          <p:nvPr/>
        </p:nvSpPr>
        <p:spPr>
          <a:xfrm>
            <a:off x="4265676"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0"/>
          <p:cNvSpPr/>
          <p:nvPr/>
        </p:nvSpPr>
        <p:spPr>
          <a:xfrm>
            <a:off x="4265676" y="1783080"/>
            <a:ext cx="3657600" cy="54864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0"/>
          <p:cNvSpPr/>
          <p:nvPr/>
        </p:nvSpPr>
        <p:spPr>
          <a:xfrm>
            <a:off x="4494276"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02</a:t>
            </a:r>
            <a:endParaRPr b="0" i="0" sz="2000" u="none" cap="none" strike="noStrike">
              <a:solidFill>
                <a:schemeClr val="dk1"/>
              </a:solidFill>
              <a:latin typeface="Calibri"/>
              <a:ea typeface="Calibri"/>
              <a:cs typeface="Calibri"/>
              <a:sym typeface="Calibri"/>
            </a:endParaRPr>
          </a:p>
        </p:txBody>
      </p:sp>
      <p:sp>
        <p:nvSpPr>
          <p:cNvPr id="773" name="Google Shape;773;p40"/>
          <p:cNvSpPr/>
          <p:nvPr/>
        </p:nvSpPr>
        <p:spPr>
          <a:xfrm>
            <a:off x="4494276"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The backprop answer</a:t>
            </a:r>
          </a:p>
        </p:txBody>
      </p:sp>
      <p:sp>
        <p:nvSpPr>
          <p:cNvPr id="774" name="Google Shape;774;p40"/>
          <p:cNvSpPr/>
          <p:nvPr/>
        </p:nvSpPr>
        <p:spPr>
          <a:xfrm>
            <a:off x="4494276"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One backward sweep of the chain rule computes EVERY ∂L/∂w exactly — for roughly the cost of one extra forward pass.</a:t>
            </a:r>
          </a:p>
        </p:txBody>
      </p:sp>
      <p:sp>
        <p:nvSpPr>
          <p:cNvPr id="775" name="Google Shape;775;p40"/>
          <p:cNvSpPr/>
          <p:nvPr/>
        </p:nvSpPr>
        <p:spPr>
          <a:xfrm>
            <a:off x="8124444" y="1783080"/>
            <a:ext cx="3657600" cy="4206240"/>
          </a:xfrm>
          <a:prstGeom prst="rect">
            <a:avLst/>
          </a:prstGeom>
          <a:solidFill>
            <a:srgbClr val="FFFFFF"/>
          </a:solidFill>
          <a:ln cap="flat" cmpd="sng" w="9525">
            <a:solidFill>
              <a:srgbClr val="DAD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0"/>
          <p:cNvSpPr/>
          <p:nvPr/>
        </p:nvSpPr>
        <p:spPr>
          <a:xfrm>
            <a:off x="8124444" y="1783080"/>
            <a:ext cx="3657600" cy="54864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0"/>
          <p:cNvSpPr/>
          <p:nvPr/>
        </p:nvSpPr>
        <p:spPr>
          <a:xfrm>
            <a:off x="8353044" y="1856232"/>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chivo Black"/>
              <a:buNone/>
            </a:pPr>
            <a:r>
              <a:rPr b="1" i="0" lang="en-US" sz="2000" u="none" cap="none" strike="noStrike">
                <a:solidFill>
                  <a:srgbClr val="FFFFFF"/>
                </a:solidFill>
                <a:latin typeface="Archivo Black"/>
                <a:ea typeface="Archivo Black"/>
                <a:cs typeface="Archivo Black"/>
                <a:sym typeface="Archivo Black"/>
              </a:rPr>
              <a:t>03</a:t>
            </a:r>
            <a:endParaRPr b="0" i="0" sz="2000" u="none" cap="none" strike="noStrike">
              <a:solidFill>
                <a:schemeClr val="dk1"/>
              </a:solidFill>
              <a:latin typeface="Calibri"/>
              <a:ea typeface="Calibri"/>
              <a:cs typeface="Calibri"/>
              <a:sym typeface="Calibri"/>
            </a:endParaRPr>
          </a:p>
        </p:txBody>
      </p:sp>
      <p:sp>
        <p:nvSpPr>
          <p:cNvPr id="778" name="Google Shape;778;p40"/>
          <p:cNvSpPr/>
          <p:nvPr/>
        </p:nvSpPr>
        <p:spPr>
          <a:xfrm>
            <a:off x="8353044" y="256032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1800"/>
              <a:buFont typeface="Archivo Black"/>
              <a:buNone/>
            </a:pPr>
            <a:r>
              <a:rPr b="1" i="0" lang="en-US" sz="1800" u="none" cap="none" strike="noStrike">
                <a:solidFill>
                  <a:srgbClr val="361A54"/>
                </a:solidFill>
                <a:latin typeface="Archivo Black"/>
                <a:ea typeface="Archivo Black"/>
                <a:cs typeface="Archivo Black"/>
                <a:sym typeface="Archivo Black"/>
              </a:rPr>
              <a:t>Why it matters</a:t>
            </a:r>
          </a:p>
        </p:txBody>
      </p:sp>
      <p:sp>
        <p:nvSpPr>
          <p:cNvPr id="779" name="Google Shape;779;p40"/>
          <p:cNvSpPr/>
          <p:nvPr/>
        </p:nvSpPr>
        <p:spPr>
          <a:xfrm>
            <a:off x="8353044" y="3200400"/>
            <a:ext cx="3200400" cy="2651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500" u="none" cap="none" strike="noStrike">
                <a:solidFill>
                  <a:srgbClr val="333333"/>
                </a:solidFill>
                <a:latin typeface="Merriweather"/>
                <a:ea typeface="Merriweather"/>
                <a:cs typeface="Merriweather"/>
                <a:sym typeface="Merriweather"/>
              </a:rPr>
              <a:t>That efficiency is why deep learning is possible at all. The same algorithm runs our 6-weight toy and a 70-billion-weight LLM.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blipFill>
          <a:blip r:embed="rId3">
            <a:alphaModFix/>
          </a:blip>
          <a:stretch>
            <a:fillRect/>
          </a:stretch>
        </a:blipFill>
      </p:bgPr>
    </p:bg>
    <p:spTree>
      <p:nvGrpSpPr>
        <p:cNvPr id="1" name=""/>
        <p:cNvGrpSpPr/>
        <p:nvPr/>
      </p:nvGrpSpPr>
      <p:grpSpPr/>
      <p:sp>
        <p:nvSpPr>
          <p:cNvPr id="858" name="Google Shape;858;p45"/>
          <p:cNvSpPr/>
          <p:nvPr/>
        </p:nvSpPr>
        <p:spPr>
          <a:xfrm>
            <a:off x="548640" y="411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1A54"/>
              </a:buClr>
              <a:buSzPts val="2600"/>
              <a:buFont typeface="Archivo Black"/>
              <a:buNone/>
            </a:pPr>
            <a:r>
              <a:rPr b="1" i="0" lang="en-US" sz="2600" u="none" cap="none" strike="noStrike">
                <a:solidFill>
                  <a:srgbClr val="361A54"/>
                </a:solidFill>
                <a:latin typeface="Archivo Black"/>
                <a:ea typeface="Archivo Black"/>
                <a:cs typeface="Archivo Black"/>
                <a:sym typeface="Archivo Black"/>
              </a:rPr>
              <a:t>Backprop by hand — one weight of our tiny network.</a:t>
            </a:r>
          </a:p>
        </p:txBody>
      </p:sp>
      <p:sp>
        <p:nvSpPr>
          <p:cNvPr id="859" name="Google Shape;859;p45"/>
          <p:cNvSpPr/>
          <p:nvPr/>
        </p:nvSpPr>
        <p:spPr>
          <a:xfrm>
            <a:off x="548640" y="9784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Merriweather"/>
              <a:buNone/>
            </a:pPr>
            <a:r>
              <a:rPr b="0" i="1" lang="en-US" sz="1300" u="none" cap="none" strike="noStrike">
                <a:solidFill>
                  <a:srgbClr val="555555"/>
                </a:solidFill>
                <a:latin typeface="Merriweather"/>
                <a:ea typeface="Merriweather"/>
                <a:cs typeface="Merriweather"/>
                <a:sym typeface="Merriweather"/>
              </a:rPr>
              <a:t>From section 03: x = (1, 2) → h₁ = 0, h₂ = 2.5 → ŷ = 1, y = 3, L = 4. Follow w₃ (x₁ → h₂).</a:t>
            </a:r>
          </a:p>
        </p:txBody>
      </p:sp>
      <p:sp>
        <p:nvSpPr>
          <p:cNvPr id="860" name="Google Shape;860;p45"/>
          <p:cNvSpPr/>
          <p:nvPr/>
        </p:nvSpPr>
        <p:spPr>
          <a:xfrm>
            <a:off x="1371600" y="1828800"/>
            <a:ext cx="9418320" cy="1280160"/>
          </a:xfrm>
          <a:prstGeom prst="rect">
            <a:avLst/>
          </a:prstGeom>
          <a:solidFill>
            <a:srgbClr val="361A54"/>
          </a:solidFill>
          <a:ln cap="flat" cmpd="sng" w="12700">
            <a:solidFill>
              <a:srgbClr val="361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371600" y="1828800"/>
            <a:ext cx="941832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633"/>
              </a:buClr>
              <a:buSzPts val="3000"/>
              <a:buFont typeface="Consolas"/>
              <a:buNone/>
            </a:pPr>
            <a:r>
              <a:rPr b="1" i="0" lang="en-US" sz="2000" u="none" cap="none" strike="noStrike">
                <a:solidFill>
                  <a:srgbClr val="FDD633"/>
                </a:solidFill>
                <a:latin typeface="Consolas"/>
                <a:ea typeface="Consolas"/>
                <a:cs typeface="Consolas"/>
                <a:sym typeface="Consolas"/>
              </a:rPr>
              <a:t>∂L/∂w₃  =  ∂L/∂ŷ  ·  ∂ŷ/∂h₂  ·  ∂h₂/∂w₃</a:t>
            </a:r>
          </a:p>
        </p:txBody>
      </p:sp>
      <p:sp>
        <p:nvSpPr>
          <p:cNvPr id="862" name="Google Shape;862;p45"/>
          <p:cNvSpPr/>
          <p:nvPr/>
        </p:nvSpPr>
        <p:spPr>
          <a:xfrm>
            <a:off x="51663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5"/>
          <p:cNvSpPr/>
          <p:nvPr/>
        </p:nvSpPr>
        <p:spPr>
          <a:xfrm>
            <a:off x="516636" y="3474720"/>
            <a:ext cx="91440" cy="141732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5"/>
          <p:cNvSpPr/>
          <p:nvPr/>
        </p:nvSpPr>
        <p:spPr>
          <a:xfrm>
            <a:off x="74523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7132"/>
              </a:buClr>
              <a:buSzPts val="2800"/>
              <a:buFont typeface="Consolas"/>
              <a:buNone/>
            </a:pPr>
            <a:r>
              <a:rPr b="1" i="0" lang="en-US" sz="2400" u="none" cap="none" strike="noStrike">
                <a:solidFill>
                  <a:srgbClr val="E97132"/>
                </a:solidFill>
                <a:latin typeface="Consolas"/>
                <a:ea typeface="Consolas"/>
                <a:cs typeface="Consolas"/>
                <a:sym typeface="Consolas"/>
              </a:rPr>
              <a:t>−4</a:t>
            </a:r>
          </a:p>
        </p:txBody>
      </p:sp>
      <p:sp>
        <p:nvSpPr>
          <p:cNvPr id="865" name="Google Shape;865;p45"/>
          <p:cNvSpPr/>
          <p:nvPr/>
        </p:nvSpPr>
        <p:spPr>
          <a:xfrm>
            <a:off x="74523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∂L/∂ŷ = 2(ŷ − y) = 2(1 − 3)</a:t>
            </a:r>
          </a:p>
        </p:txBody>
      </p:sp>
      <p:sp>
        <p:nvSpPr>
          <p:cNvPr id="866" name="Google Shape;866;p45"/>
          <p:cNvSpPr/>
          <p:nvPr/>
        </p:nvSpPr>
        <p:spPr>
          <a:xfrm>
            <a:off x="335127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5"/>
          <p:cNvSpPr/>
          <p:nvPr/>
        </p:nvSpPr>
        <p:spPr>
          <a:xfrm>
            <a:off x="3351276" y="3474720"/>
            <a:ext cx="91440" cy="1417320"/>
          </a:xfrm>
          <a:prstGeom prst="rect">
            <a:avLst/>
          </a:prstGeom>
          <a:solidFill>
            <a:srgbClr val="4EA72E"/>
          </a:solidFill>
          <a:ln cap="flat" cmpd="sng" w="12700">
            <a:solidFill>
              <a:srgbClr val="4EA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5"/>
          <p:cNvSpPr/>
          <p:nvPr/>
        </p:nvSpPr>
        <p:spPr>
          <a:xfrm>
            <a:off x="357987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A72E"/>
              </a:buClr>
              <a:buSzPts val="2800"/>
              <a:buFont typeface="Consolas"/>
              <a:buNone/>
            </a:pPr>
            <a:r>
              <a:rPr b="1" i="0" lang="en-US" sz="2400" u="none" cap="none" strike="noStrike">
                <a:solidFill>
                  <a:srgbClr val="4EA72E"/>
                </a:solidFill>
                <a:latin typeface="Consolas"/>
                <a:ea typeface="Consolas"/>
                <a:cs typeface="Consolas"/>
                <a:sym typeface="Consolas"/>
              </a:rPr>
              <a:t>0.4</a:t>
            </a:r>
          </a:p>
        </p:txBody>
      </p:sp>
      <p:sp>
        <p:nvSpPr>
          <p:cNvPr id="869" name="Google Shape;869;p45"/>
          <p:cNvSpPr/>
          <p:nvPr/>
        </p:nvSpPr>
        <p:spPr>
          <a:xfrm>
            <a:off x="357987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∂ŷ/∂h₂ = w₆ — just the weight</a:t>
            </a:r>
          </a:p>
        </p:txBody>
      </p:sp>
      <p:sp>
        <p:nvSpPr>
          <p:cNvPr id="870" name="Google Shape;870;p45"/>
          <p:cNvSpPr/>
          <p:nvPr/>
        </p:nvSpPr>
        <p:spPr>
          <a:xfrm>
            <a:off x="618591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5"/>
          <p:cNvSpPr/>
          <p:nvPr/>
        </p:nvSpPr>
        <p:spPr>
          <a:xfrm>
            <a:off x="6185916" y="3474720"/>
            <a:ext cx="91440" cy="1417320"/>
          </a:xfrm>
          <a:prstGeom prst="rect">
            <a:avLst/>
          </a:prstGeom>
          <a:solidFill>
            <a:srgbClr val="A02B93"/>
          </a:solidFill>
          <a:ln cap="flat" cmpd="sng" w="12700">
            <a:solidFill>
              <a:srgbClr val="A02B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5"/>
          <p:cNvSpPr/>
          <p:nvPr/>
        </p:nvSpPr>
        <p:spPr>
          <a:xfrm>
            <a:off x="641451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2B93"/>
              </a:buClr>
              <a:buSzPts val="2800"/>
              <a:buFont typeface="Consolas"/>
              <a:buNone/>
            </a:pPr>
            <a:r>
              <a:rPr b="1" i="0" lang="en-US" sz="2400" u="none" cap="none" strike="noStrike">
                <a:solidFill>
                  <a:srgbClr val="A02B93"/>
                </a:solidFill>
                <a:latin typeface="Consolas"/>
                <a:ea typeface="Consolas"/>
                <a:cs typeface="Consolas"/>
                <a:sym typeface="Consolas"/>
              </a:rPr>
              <a:t>1</a:t>
            </a:r>
          </a:p>
        </p:txBody>
      </p:sp>
      <p:sp>
        <p:nvSpPr>
          <p:cNvPr id="873" name="Google Shape;873;p45"/>
          <p:cNvSpPr/>
          <p:nvPr/>
        </p:nvSpPr>
        <p:spPr>
          <a:xfrm>
            <a:off x="641451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100" u="none" cap="none" strike="noStrike">
                <a:solidFill>
                  <a:srgbClr val="333333"/>
                </a:solidFill>
                <a:latin typeface="Merriweather"/>
                <a:ea typeface="Merriweather"/>
                <a:cs typeface="Merriweather"/>
                <a:sym typeface="Merriweather"/>
              </a:rPr>
              <a:t>∂h₂/∂w₃ = x₁, ReLU on (slope 1)</a:t>
            </a:r>
          </a:p>
        </p:txBody>
      </p:sp>
      <p:sp>
        <p:nvSpPr>
          <p:cNvPr id="874" name="Google Shape;874;p45"/>
          <p:cNvSpPr/>
          <p:nvPr/>
        </p:nvSpPr>
        <p:spPr>
          <a:xfrm>
            <a:off x="9020556" y="3474720"/>
            <a:ext cx="2651760" cy="1417320"/>
          </a:xfrm>
          <a:prstGeom prst="rect">
            <a:avLst/>
          </a:prstGeom>
          <a:solidFill>
            <a:srgbClr val="FBF6E9"/>
          </a:solidFill>
          <a:ln cap="flat" cmpd="sng" w="12700">
            <a:solidFill>
              <a:srgbClr val="FBF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5"/>
          <p:cNvSpPr/>
          <p:nvPr/>
        </p:nvSpPr>
        <p:spPr>
          <a:xfrm>
            <a:off x="9020556" y="3474720"/>
            <a:ext cx="91440" cy="1417320"/>
          </a:xfrm>
          <a:prstGeom prst="rect">
            <a:avLst/>
          </a:prstGeom>
          <a:solidFill>
            <a:srgbClr val="BA82FF"/>
          </a:solidFill>
          <a:ln cap="flat" cmpd="sng" w="12700">
            <a:solidFill>
              <a:srgbClr val="BA8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5"/>
          <p:cNvSpPr/>
          <p:nvPr/>
        </p:nvSpPr>
        <p:spPr>
          <a:xfrm>
            <a:off x="9249156" y="365760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82FF"/>
              </a:buClr>
              <a:buSzPts val="2800"/>
              <a:buFont typeface="Consolas"/>
              <a:buNone/>
            </a:pPr>
            <a:r>
              <a:rPr b="1" i="0" lang="en-US" sz="2400" u="none" cap="none" strike="noStrike">
                <a:solidFill>
                  <a:srgbClr val="BA82FF"/>
                </a:solidFill>
                <a:latin typeface="Consolas"/>
                <a:ea typeface="Consolas"/>
                <a:cs typeface="Consolas"/>
                <a:sym typeface="Consolas"/>
              </a:rPr>
              <a:t>−1.6</a:t>
            </a:r>
          </a:p>
        </p:txBody>
      </p:sp>
      <p:sp>
        <p:nvSpPr>
          <p:cNvPr id="877" name="Google Shape;877;p45"/>
          <p:cNvSpPr/>
          <p:nvPr/>
        </p:nvSpPr>
        <p:spPr>
          <a:xfrm>
            <a:off x="9249156" y="425196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200"/>
              <a:buFont typeface="Merriweather"/>
              <a:buNone/>
            </a:pPr>
            <a:r>
              <a:rPr b="0" i="0" lang="en-US" sz="1050" u="none" cap="none" strike="noStrike">
                <a:solidFill>
                  <a:srgbClr val="333333"/>
                </a:solidFill>
                <a:latin typeface="Merriweather"/>
                <a:ea typeface="Merriweather"/>
                <a:cs typeface="Merriweather"/>
                <a:sym typeface="Merriweather"/>
              </a:rPr>
              <a:t>product → w₃ ← 0.5 − 0.1·(−1.6) = 0.66</a:t>
            </a:r>
          </a:p>
        </p:txBody>
      </p:sp>
      <p:sp>
        <p:nvSpPr>
          <p:cNvPr id="878" name="Google Shape;878;p45"/>
          <p:cNvSpPr/>
          <p:nvPr/>
        </p:nvSpPr>
        <p:spPr>
          <a:xfrm>
            <a:off x="548640" y="5257800"/>
            <a:ext cx="109728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300"/>
              <a:buFont typeface="Merriweather"/>
              <a:buNone/>
            </a:pPr>
            <a:r>
              <a:rPr b="0" i="1" lang="en-US" sz="1350" u="none" cap="none" strike="noStrike">
                <a:solidFill>
                  <a:srgbClr val="555555"/>
                </a:solidFill>
                <a:latin typeface="Merriweather"/>
                <a:ea typeface="Merriweather"/>
                <a:cs typeface="Merriweather"/>
                <a:sym typeface="Merriweather"/>
              </a:rPr>
              <a:t>And h₁? Its ReLU was OFF (input −1 → slope 0). No gradient flows through a dead unit — w₁, w₂ and w₅ get zero blame this step.</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