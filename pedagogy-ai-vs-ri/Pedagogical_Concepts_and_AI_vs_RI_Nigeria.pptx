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6858000" cx="12192000"/>
  <p:notesSz cx="6858000" cy="9144000"/>
  <p:embeddedFontLst>
    <p:embeddedFont>
      <p:font typeface="Nunito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Nunit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Nunito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Nunito-bold.fntdata"/><Relationship Id="rId14" Type="http://schemas.openxmlformats.org/officeDocument/2006/relationships/slide" Target="slides/slide8.xml"/><Relationship Id="rId58" Type="http://schemas.openxmlformats.org/officeDocument/2006/relationships/font" Target="fonts/Nunito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session, two parts: Part 1 Pedagogical Concepts (30 min) + Part 2 AI vs RI Activities (30 min). Week 1 splits the parts around lunch: close Part 1 on the recap slide, reopen after lunch with the Part 2 title slide. Week 2 runs them back-to-back.</a:t>
            </a:r>
            <a:endParaRPr/>
          </a:p>
        </p:txBody>
      </p:sp>
      <p:sp>
        <p:nvSpPr>
          <p:cNvPr id="246" name="Google Shape;246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4" name="Google Shape;414;p1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3" name="Google Shape;473;p1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1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p14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9" name="Google Shape;539;p14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Talk-through, not a handout (~3 min): read the two filled rows aloud, then ask the room to propose the missing Understand/Apply and Evaluate/Create entries verbally. Do not distribute paper.</a:t>
            </a:r>
            <a:endParaRPr/>
          </a:p>
        </p:txBody>
      </p:sp>
      <p:sp>
        <p:nvSpPr>
          <p:cNvPr id="559" name="Google Shape;559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 2 opener. If delivering after the lunch split, re-anchor quickly with the two-ladders recap on the next slide before moving into the toolkit.</a:t>
            </a:r>
            <a:endParaRPr/>
          </a:p>
        </p:txBody>
      </p:sp>
      <p:sp>
        <p:nvSpPr>
          <p:cNvPr id="581" name="Google Shape;581;p17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7" name="Google Shape;597;p18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Gloss if asked: the Conversational Framework is Diana Laurillard's (UCL) taxonomy of learning-activity types (acquisition, discussion, practice, production...). One sentence only — Bloom is today's focus. GCSB = Google Cloud Skills Boost, where students do the online Spotlight activities.</a:t>
            </a:r>
            <a:endParaRPr/>
          </a:p>
        </p:txBody>
      </p:sp>
      <p:sp>
        <p:nvSpPr>
          <p:cNvPr id="639" name="Google Shape;639;p19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4" name="Google Shape;654;p20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21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link explicit here (it returns as takeaway 02): longer formats climb Bloom — Short activities sit around Understand/Apply, Medium around Analyze/Evaluate, Long (with notebooks) reach Create.</a:t>
            </a:r>
            <a:endParaRPr/>
          </a:p>
        </p:txBody>
      </p:sp>
      <p:sp>
        <p:nvSpPr>
          <p:cNvPr id="688" name="Google Shape;688;p22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p23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3" name="Google Shape;743;p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p24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0" name="Google Shape;760;p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1" name="Google Shape;761;p25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p26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7" name="Google Shape;797;p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8" name="Google Shape;798;p27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p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p28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6" name="Google Shape;836;p29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4" name="Google Shape;854;p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p30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3" name="Google Shape;873;p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4" name="Google Shape;874;p31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6" name="Google Shape;896;p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 before delivery: this QR code is still the PILOT Mentimeter. Build the Nigeria Mentimeter from the 10-question 'Quizz' bank (classify: AI or RI + Bloom level) in the AI vs RI activities Drive folder, then replace this QR. Timing: cap the live run at ~5 questions (~5 min) — the full bank of 10 does not fit the 30-min half.</a:t>
            </a:r>
            <a:endParaRPr/>
          </a:p>
        </p:txBody>
      </p:sp>
      <p:sp>
        <p:nvSpPr>
          <p:cNvPr id="897" name="Google Shape;897;p32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3f6b7876707_0_2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3" name="Google Shape;903;g3f6b7876707_0_2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A = AI Activity / Apply.</a:t>
            </a:r>
            <a:endParaRPr/>
          </a:p>
        </p:txBody>
      </p:sp>
      <p:sp>
        <p:nvSpPr>
          <p:cNvPr id="904" name="Google Shape;904;g3f6b7876707_0_2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f6b7876707_0_3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5" name="Google Shape;915;g3f6b7876707_0_3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A = AI Activity / Apply. A coding task executing a known, specified procedure (the BPE algorithm). RI/Apply: wrong type (pure tech, no stakeholders) and an impossible pairing (Apply is cognitive). AI/Respond: impossible pairing (Respond is affective). AI/Create: level too high; implementing a given algorithm is applying a procedure, not designing a new scheme.</a:t>
            </a:r>
            <a:endParaRPr/>
          </a:p>
        </p:txBody>
      </p:sp>
      <p:sp>
        <p:nvSpPr>
          <p:cNvPr id="916" name="Google Shape;916;g3f6b7876707_0_3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f6b7876707_0_3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7" name="Google Shape;927;g3f6b7876707_0_3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B = RI Activity / Respond.</a:t>
            </a:r>
            <a:endParaRPr/>
          </a:p>
        </p:txBody>
      </p:sp>
      <p:sp>
        <p:nvSpPr>
          <p:cNvPr id="928" name="Google Shape;928;g3f6b7876707_0_3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6b7876707_0_3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g3f6b7876707_0_3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B = RI Activity / Respond. Participants engage with a provided framing (the Fair Trade analogy) in a structured discussion: that is Responding. AI/Value: wrong type and impossible pairing (Value is affective). RI/Value: level too high; the discussion is scaffolded by a given analogy, no own position is demanded yet. AI/Analyze: wrong type; no model, code or measurement is touched.</a:t>
            </a:r>
            <a:endParaRPr/>
          </a:p>
        </p:txBody>
      </p:sp>
      <p:sp>
        <p:nvSpPr>
          <p:cNvPr id="940" name="Google Shape;940;g3f6b7876707_0_3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f6b7876707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g3f6b7876707_0_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B = AI Activity / Analyze.</a:t>
            </a:r>
            <a:endParaRPr/>
          </a:p>
        </p:txBody>
      </p:sp>
      <p:sp>
        <p:nvSpPr>
          <p:cNvPr id="952" name="Google Shape;952;g3f6b7876707_0_3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3f6b7876707_0_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3" name="Google Shape;963;g3f6b7876707_0_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B = AI Activity / Analyze. Differentiating and diagnosing patterns across cases is textbook Analyze. AI/Apply: level too low, nothing is executed; the work is comparison and diagnosis. RI/Value: wrong type; purely technical, no human-impact dimension. AI/Value: impossible pairing (Value is affective).</a:t>
            </a:r>
            <a:endParaRPr/>
          </a:p>
        </p:txBody>
      </p:sp>
      <p:sp>
        <p:nvSpPr>
          <p:cNvPr id="964" name="Google Shape;964;g3f6b7876707_0_3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3f6b7876707_0_3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g3f6b7876707_0_3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D = RI Activity / Value.</a:t>
            </a:r>
            <a:endParaRPr/>
          </a:p>
        </p:txBody>
      </p:sp>
      <p:sp>
        <p:nvSpPr>
          <p:cNvPr id="976" name="Google Shape;976;g3f6b7876707_0_3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f6b7876707_0_3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7" name="Google Shape;987;g3f6b7876707_0_3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D = RI Activity / Value. Articulating what the idea means for your own institution is attaching worth to it: Valuing. AI/Understand: wrong type; the task is about significance for your community, not how the tech works. RI/Respond: level too low; participants must own a position. AI/Respond: wrong type and impossible pairing.</a:t>
            </a:r>
            <a:endParaRPr/>
          </a:p>
        </p:txBody>
      </p:sp>
      <p:sp>
        <p:nvSpPr>
          <p:cNvPr id="988" name="Google Shape;988;g3f6b7876707_0_3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3f6b7876707_0_3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9" name="Google Shape;999;g3f6b7876707_0_3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A = AI Activity / Apply.</a:t>
            </a:r>
            <a:endParaRPr/>
          </a:p>
        </p:txBody>
      </p:sp>
      <p:sp>
        <p:nvSpPr>
          <p:cNvPr id="1000" name="Google Shape;1000;g3f6b7876707_0_3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3f6b7876707_0_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1" name="Google Shape;1011;g3f6b7876707_0_3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A = AI Activity / Apply. Carrying out estimation procedures and running an experiment: Apply. RI/Respond: wrong type; a compute-budget exercise with no stakeholder reflection. AI/Understand: level too low; participants calculate and experiment, not just explain. AI/Organize: impossible pairing (Organize is affective).</a:t>
            </a:r>
            <a:endParaRPr/>
          </a:p>
        </p:txBody>
      </p:sp>
      <p:sp>
        <p:nvSpPr>
          <p:cNvPr id="1012" name="Google Shape;1012;g3f6b7876707_0_3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f6b7876707_0_4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g3f6b7876707_0_4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C = RI Activity / Organize.</a:t>
            </a:r>
            <a:endParaRPr/>
          </a:p>
        </p:txBody>
      </p:sp>
      <p:sp>
        <p:nvSpPr>
          <p:cNvPr id="1024" name="Google Shape;1024;g3f6b7876707_0_4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3f6b7876707_0_4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g3f6b7876707_0_4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C = RI Activity / Organize. Turning a representation gap into a concrete inclusion proposal means prioritising and integrating values into a plan of action: Organization. AI/Analyze: wrong type; the gap is about communities and representation, not model mechanics. RI/Respond: level too low; a structured proposal is demanded. AI/Organize: impossible pairing and wrong type.</a:t>
            </a:r>
            <a:endParaRPr/>
          </a:p>
        </p:txBody>
      </p:sp>
      <p:sp>
        <p:nvSpPr>
          <p:cNvPr id="1036" name="Google Shape;1036;g3f6b7876707_0_4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f6b7876707_0_4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g3f6b7876707_0_4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B = AI Activity / Apply.</a:t>
            </a:r>
            <a:endParaRPr/>
          </a:p>
        </p:txBody>
      </p:sp>
      <p:sp>
        <p:nvSpPr>
          <p:cNvPr id="1048" name="Google Shape;1048;g3f6b7876707_0_4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f6b7876707_0_4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9" name="Google Shape;1059;g3f6b7876707_0_4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B = AI Activity / Apply. Hands-on implementation of a known technique on a dataset: Apply. AI/Understand: level too low; building and fine-tuning, not explaining. RI/Apply: wrong type (a technical build, despite the local-language dataset) and impossible pairing. AI/Value: impossible pairing (Value is affective).</a:t>
            </a:r>
            <a:endParaRPr/>
          </a:p>
        </p:txBody>
      </p:sp>
      <p:sp>
        <p:nvSpPr>
          <p:cNvPr id="1060" name="Google Shape;1060;g3f6b7876707_0_4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f6b7876707_0_4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1" name="Google Shape;1071;g3f6b7876707_0_4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D = RI Activity / Value.</a:t>
            </a:r>
            <a:endParaRPr/>
          </a:p>
        </p:txBody>
      </p:sp>
      <p:sp>
        <p:nvSpPr>
          <p:cNvPr id="1072" name="Google Shape;1072;g3f6b7876707_0_4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3f6b7876707_0_4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3" name="Google Shape;1083;g3f6b7876707_0_4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D = RI Activity / Value. Each role must adopt and defend a position about what matters (patient safety, duty of care, accountability): committing to worth is Valuing. AI/Analyze: tempting because the premise contains a technical flaw (no validation set), but the task is the human-impact negotiation. AI/Value: impossible pairing. RI/Respond: level too low; participants advocate and defend value positions in role.</a:t>
            </a:r>
            <a:endParaRPr/>
          </a:p>
        </p:txBody>
      </p:sp>
      <p:sp>
        <p:nvSpPr>
          <p:cNvPr id="1084" name="Google Shape;1084;g3f6b7876707_0_4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g3f6b7876707_0_4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5" name="Google Shape;1095;g3f6b7876707_0_4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B = AI Activity / Create.</a:t>
            </a:r>
            <a:endParaRPr/>
          </a:p>
        </p:txBody>
      </p:sp>
      <p:sp>
        <p:nvSpPr>
          <p:cNvPr id="1096" name="Google Shape;1096;g3f6b7876707_0_4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f6b7876707_0_4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7" name="Google Shape;1107;g3f6b7876707_0_4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B = AI Activity / Create. Producing and justifying a new design for a new task is Create. AI/Apply: level too low; no given recipe is executed, the architecture is the participant's own construction. RI/Analyze: wrong type (design is technical) and impossible pairing (Analyze is cognitive). AI/Organize: impossible pairing (Organize is affective).</a:t>
            </a:r>
            <a:endParaRPr/>
          </a:p>
        </p:txBody>
      </p:sp>
      <p:sp>
        <p:nvSpPr>
          <p:cNvPr id="1108" name="Google Shape;1108;g3f6b7876707_0_4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f6b7876707_0_4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9" name="Google Shape;1119;g3f6b7876707_0_4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Give the room about 45 seconds; vote A/B/C/D by show of hands. Correct answer (revealed in green on the next slide): D = RI Activity / Organize.</a:t>
            </a:r>
            <a:endParaRPr/>
          </a:p>
        </p:txBody>
      </p:sp>
      <p:sp>
        <p:nvSpPr>
          <p:cNvPr id="1120" name="Google Shape;1120;g3f6b7876707_0_4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g3f6b7876707_0_5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1" name="Google Shape;1131;g3f6b7876707_0_5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Correct: D = RI Activity / Organize. Reconciling multiple stakeholders' interests into one coherent engagement plan is integrating values into a system: Organization. AI/Create: wrong type; nothing technical is built, the deliverable is a stakeholder-and-values plan. RI/Respond: level too low; the plan must synthesise competing interests. RI/Value: slightly too low; several stakeholders' values are organised into a structured plan, not just one commitment.</a:t>
            </a:r>
            <a:endParaRPr/>
          </a:p>
        </p:txBody>
      </p:sp>
      <p:sp>
        <p:nvSpPr>
          <p:cNvPr id="1132" name="Google Shape;1132;g3f6b7876707_0_5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4" name="Google Shape;1144;p34:notes"/>
          <p:cNvSpPr txBox="1"/>
          <p:nvPr>
            <p:ph idx="12" type="sldNum"/>
          </p:nvPr>
        </p:nvSpPr>
        <p:spPr>
          <a:xfrm>
            <a:off x="3884613" y="8685213"/>
            <a:ext cx="29721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1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1" name="Google Shape;121;p20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3" name="Google Shape;123;p20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4" name="Google Shape;134;p2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9" name="Google Shape;139;p2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0" name="Google Shape;140;p2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5" name="Google Shape;145;p24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6" name="Google Shape;146;p24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147" name="Google Shape;147;p2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2" name="Google Shape;152;p25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3" name="Google Shape;173;p30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4" name="Google Shape;174;p3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5" name="Google Shape;175;p3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79" name="Google Shape;179;p31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80" name="Google Shape;180;p3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1" name="Google Shape;181;p3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2" name="Google Shape;182;p3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186" name="Google Shape;186;p32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88" name="Google Shape;188;p32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2" name="Google Shape;192;p33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93" name="Google Shape;193;p33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4" name="Google Shape;194;p33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839788" y="1681163"/>
            <a:ext cx="51579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4"/>
          <p:cNvSpPr txBox="1"/>
          <p:nvPr>
            <p:ph idx="2" type="body"/>
          </p:nvPr>
        </p:nvSpPr>
        <p:spPr>
          <a:xfrm>
            <a:off x="839788" y="2505075"/>
            <a:ext cx="51579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00" name="Google Shape;200;p34"/>
          <p:cNvSpPr txBox="1"/>
          <p:nvPr>
            <p:ph idx="3" type="body"/>
          </p:nvPr>
        </p:nvSpPr>
        <p:spPr>
          <a:xfrm>
            <a:off x="6172200" y="1681163"/>
            <a:ext cx="51831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1" name="Google Shape;201;p34"/>
          <p:cNvSpPr txBox="1"/>
          <p:nvPr>
            <p:ph idx="4" type="body"/>
          </p:nvPr>
        </p:nvSpPr>
        <p:spPr>
          <a:xfrm>
            <a:off x="6172200" y="2505075"/>
            <a:ext cx="5183100" cy="36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2" name="Google Shape;212;p36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7" name="Google Shape;217;p37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18" name="Google Shape;218;p37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839788" y="457200"/>
            <a:ext cx="3932100" cy="160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3" name="Google Shape;223;p38"/>
          <p:cNvSpPr/>
          <p:nvPr>
            <p:ph idx="2" type="pic"/>
          </p:nvPr>
        </p:nvSpPr>
        <p:spPr>
          <a:xfrm>
            <a:off x="5183188" y="987425"/>
            <a:ext cx="61725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9pPr>
          </a:lstStyle>
          <a:p/>
        </p:txBody>
      </p:sp>
      <p:sp>
        <p:nvSpPr>
          <p:cNvPr id="225" name="Google Shape;225;p38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 rot="5400000">
            <a:off x="4075950" y="-1100943"/>
            <a:ext cx="40401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237" name="Google Shape;237;p40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0" name="Google Shape;90;p15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1" name="Google Shape;91;p15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15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838200" y="577516"/>
            <a:ext cx="10515600" cy="1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838200" y="2136807"/>
            <a:ext cx="10515600" cy="40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29"/>
          <p:cNvSpPr txBox="1"/>
          <p:nvPr>
            <p:ph idx="10" type="dt"/>
          </p:nvPr>
        </p:nvSpPr>
        <p:spPr>
          <a:xfrm>
            <a:off x="8382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29"/>
          <p:cNvSpPr txBox="1"/>
          <p:nvPr>
            <p:ph idx="11" type="ftr"/>
          </p:nvPr>
        </p:nvSpPr>
        <p:spPr>
          <a:xfrm>
            <a:off x="4038600" y="6492875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610600" y="649287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Z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3"/>
          <p:cNvSpPr txBox="1"/>
          <p:nvPr/>
        </p:nvSpPr>
        <p:spPr>
          <a:xfrm>
            <a:off x="753525" y="2999025"/>
            <a:ext cx="107691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t/>
            </a:r>
            <a:endParaRPr b="1" sz="5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7BEAE"/>
              </a:buClr>
              <a:buSzPts val="1400"/>
              <a:buFont typeface="Calibri"/>
              <a:buNone/>
            </a:pPr>
            <a:r>
              <a:rPr b="1" i="0" lang="en-ZA" sz="5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PEDAGOGICAL CONCEPTS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50" name="Google Shape;25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141" y="383197"/>
            <a:ext cx="2033076" cy="83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8440" y="535714"/>
            <a:ext cx="2613661" cy="5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9010" y="5669280"/>
            <a:ext cx="188383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43"/>
          <p:cNvGrpSpPr/>
          <p:nvPr/>
        </p:nvGrpSpPr>
        <p:grpSpPr>
          <a:xfrm>
            <a:off x="763050" y="5899750"/>
            <a:ext cx="6501258" cy="410463"/>
            <a:chOff x="763050" y="5899750"/>
            <a:chExt cx="6501258" cy="410463"/>
          </a:xfrm>
        </p:grpSpPr>
        <p:sp>
          <p:nvSpPr>
            <p:cNvPr id="254" name="Google Shape;254;p43"/>
            <p:cNvSpPr/>
            <p:nvPr/>
          </p:nvSpPr>
          <p:spPr>
            <a:xfrm>
              <a:off x="763050" y="5899750"/>
              <a:ext cx="29553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43"/>
            <p:cNvSpPr txBox="1"/>
            <p:nvPr/>
          </p:nvSpPr>
          <p:spPr>
            <a:xfrm>
              <a:off x="902397" y="5959075"/>
              <a:ext cx="26766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/>
                <a:buNone/>
              </a:pPr>
              <a:r>
                <a:rPr b="1" i="0" lang="en-ZA" sz="175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Nigeria </a:t>
              </a:r>
              <a:r>
                <a:rPr b="1" lang="en-ZA" sz="1750">
                  <a:solidFill>
                    <a:schemeClr val="dk2"/>
                  </a:solidFill>
                </a:rPr>
                <a:t>-</a:t>
              </a:r>
              <a:r>
                <a:rPr b="1" i="0" lang="en-ZA" sz="175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 Aug 2026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3"/>
            <p:cNvSpPr/>
            <p:nvPr/>
          </p:nvSpPr>
          <p:spPr>
            <a:xfrm>
              <a:off x="3928308" y="5906113"/>
              <a:ext cx="33360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3"/>
            <p:cNvSpPr txBox="1"/>
            <p:nvPr/>
          </p:nvSpPr>
          <p:spPr>
            <a:xfrm>
              <a:off x="3974350" y="5975050"/>
              <a:ext cx="3243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0"/>
                <a:buFont typeface="Arial"/>
                <a:buNone/>
              </a:pPr>
              <a:r>
                <a:rPr b="1" i="0" lang="en-ZA" sz="175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AI Research Foundations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8" name="Google Shape;258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4851" y="505175"/>
            <a:ext cx="1168078" cy="5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" name="Google Shape;265;p44"/>
          <p:cNvCxnSpPr/>
          <p:nvPr/>
        </p:nvCxnSpPr>
        <p:spPr>
          <a:xfrm>
            <a:off x="753533" y="1580827"/>
            <a:ext cx="10544731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6" name="Google Shape;266;p44"/>
          <p:cNvSpPr/>
          <p:nvPr/>
        </p:nvSpPr>
        <p:spPr>
          <a:xfrm>
            <a:off x="544481" y="576753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      What Level Were You Thinking At?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4"/>
          <p:cNvSpPr/>
          <p:nvPr/>
        </p:nvSpPr>
        <p:spPr>
          <a:xfrm>
            <a:off x="510753" y="1768184"/>
            <a:ext cx="9982800" cy="384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44"/>
          <p:cNvSpPr/>
          <p:nvPr/>
        </p:nvSpPr>
        <p:spPr>
          <a:xfrm>
            <a:off x="510753" y="1768190"/>
            <a:ext cx="109800" cy="29262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4"/>
          <p:cNvSpPr/>
          <p:nvPr/>
        </p:nvSpPr>
        <p:spPr>
          <a:xfrm>
            <a:off x="785073" y="1722470"/>
            <a:ext cx="731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8D1"/>
              </a:buClr>
              <a:buSzPts val="8000"/>
              <a:buFont typeface="Georgia"/>
              <a:buNone/>
            </a:pPr>
            <a:r>
              <a:rPr b="1" i="0" lang="en-ZA" sz="8000" u="none" cap="none" strike="noStrike">
                <a:solidFill>
                  <a:srgbClr val="E7E8D1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b="0" i="0" sz="8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4"/>
          <p:cNvSpPr/>
          <p:nvPr/>
        </p:nvSpPr>
        <p:spPr>
          <a:xfrm>
            <a:off x="1333713" y="245399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2200"/>
              <a:buFont typeface="Georgia"/>
              <a:buNone/>
            </a:pPr>
            <a:r>
              <a:rPr b="1" i="1" lang="en-ZA" sz="27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'Jide was hungry so she went looking for…'</a:t>
            </a:r>
            <a:endParaRPr b="0" i="0" sz="2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4"/>
          <p:cNvSpPr/>
          <p:nvPr/>
        </p:nvSpPr>
        <p:spPr>
          <a:xfrm>
            <a:off x="1333703" y="300263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600"/>
              <a:buFont typeface="Calibri"/>
              <a:buNone/>
            </a:pPr>
            <a:r>
              <a:rPr b="0" i="0" lang="en-ZA" sz="2100" u="none" cap="none" strike="noStrike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…and predicted the next word. What were you doing, cognitively?</a:t>
            </a:r>
            <a:endParaRPr b="0" i="0" sz="21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333703" y="3734169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600"/>
              <a:buFont typeface="Calibri"/>
              <a:buNone/>
            </a:pPr>
            <a:r>
              <a:rPr b="1" i="0" lang="en-ZA" sz="18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Recalling a fact?    Applying a rule?    Creating something new?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9526" y="152389"/>
            <a:ext cx="657125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6"/>
          <p:cNvSpPr/>
          <p:nvPr/>
        </p:nvSpPr>
        <p:spPr>
          <a:xfrm>
            <a:off x="704175" y="696871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Learning Objective 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6"/>
          <p:cNvSpPr/>
          <p:nvPr/>
        </p:nvSpPr>
        <p:spPr>
          <a:xfrm>
            <a:off x="1008031" y="1861186"/>
            <a:ext cx="9982800" cy="1082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ZA" sz="17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DEFINITION  A clear, specific statement describing what a learner is expected to be able to do by the end of a lesson, course, or activity </a:t>
            </a:r>
            <a:r>
              <a:rPr b="1" lang="en-ZA" sz="1700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 : </a:t>
            </a:r>
            <a:r>
              <a:rPr b="1" i="0" lang="en-ZA" sz="17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always starting with an action verb.  </a:t>
            </a:r>
            <a:endParaRPr b="0" i="0" sz="1600" u="none" cap="none" strike="noStrike">
              <a:solidFill>
                <a:srgbClr val="2C241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6"/>
          <p:cNvSpPr/>
          <p:nvPr/>
        </p:nvSpPr>
        <p:spPr>
          <a:xfrm flipH="1">
            <a:off x="824288" y="1843912"/>
            <a:ext cx="164400" cy="10821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46"/>
          <p:cNvSpPr txBox="1"/>
          <p:nvPr/>
        </p:nvSpPr>
        <p:spPr>
          <a:xfrm>
            <a:off x="824293" y="3375256"/>
            <a:ext cx="995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ZA" sz="1800" u="none" cap="none" strike="noStrike">
                <a:solidFill>
                  <a:srgbClr val="8B2E2E"/>
                </a:solidFill>
                <a:latin typeface="Nunito"/>
                <a:ea typeface="Nunito"/>
                <a:cs typeface="Nunito"/>
                <a:sym typeface="Nunito"/>
              </a:rPr>
              <a:t>Examples:</a:t>
            </a:r>
            <a:endParaRPr b="1" i="0" sz="1700" u="none" cap="none" strike="noStrike">
              <a:solidFill>
                <a:srgbClr val="8B2E2E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0" name="Google Shape;290;p46"/>
          <p:cNvSpPr txBox="1"/>
          <p:nvPr/>
        </p:nvSpPr>
        <p:spPr>
          <a:xfrm>
            <a:off x="712518" y="4169881"/>
            <a:ext cx="9950100" cy="1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2E2E"/>
              </a:buClr>
              <a:buSzPts val="2100"/>
              <a:buFont typeface="Nunito"/>
              <a:buChar char="●"/>
            </a:pPr>
            <a:r>
              <a:rPr b="0" i="0" lang="en-ZA" sz="1700" u="none" cap="none" strike="noStrike">
                <a:solidFill>
                  <a:srgbClr val="8B2E2E"/>
                </a:solidFill>
                <a:latin typeface="Nunito"/>
                <a:ea typeface="Nunito"/>
                <a:cs typeface="Nunito"/>
                <a:sym typeface="Nunito"/>
              </a:rPr>
              <a:t>By the end of this lesson, students will be able to understand tokenization and compare different tokenization methods. </a:t>
            </a:r>
            <a:endParaRPr b="0" i="0" sz="1700" u="none" cap="none" strike="noStrike">
              <a:solidFill>
                <a:srgbClr val="8B2E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8B2E2E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2E2E"/>
              </a:buClr>
              <a:buSzPts val="2300"/>
              <a:buFont typeface="Nunito"/>
              <a:buChar char="●"/>
            </a:pPr>
            <a:r>
              <a:rPr b="0" i="0" lang="en-ZA" sz="17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By the end of this course, students will be able to explain how the BPE algorithm builds a vocabulary step by step.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30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7" name="Google Shape;297;p47"/>
          <p:cNvCxnSpPr/>
          <p:nvPr/>
        </p:nvCxnSpPr>
        <p:spPr>
          <a:xfrm>
            <a:off x="753533" y="1580827"/>
            <a:ext cx="10544731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8" name="Google Shape;298;p47"/>
          <p:cNvSpPr/>
          <p:nvPr/>
        </p:nvSpPr>
        <p:spPr>
          <a:xfrm>
            <a:off x="617358" y="537004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Three Domains of Bloom's Taxonomy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7"/>
          <p:cNvSpPr/>
          <p:nvPr/>
        </p:nvSpPr>
        <p:spPr>
          <a:xfrm>
            <a:off x="320040" y="1916987"/>
            <a:ext cx="36576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7"/>
          <p:cNvSpPr/>
          <p:nvPr/>
        </p:nvSpPr>
        <p:spPr>
          <a:xfrm>
            <a:off x="320040" y="1916987"/>
            <a:ext cx="3657600" cy="10059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7"/>
          <p:cNvSpPr/>
          <p:nvPr/>
        </p:nvSpPr>
        <p:spPr>
          <a:xfrm>
            <a:off x="320040" y="2099867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ZA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COGNITIVE</a:t>
            </a:r>
            <a:endParaRPr b="0" i="0" sz="2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7"/>
          <p:cNvSpPr/>
          <p:nvPr/>
        </p:nvSpPr>
        <p:spPr>
          <a:xfrm>
            <a:off x="640080" y="3151427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 b="0" i="0" sz="2100" u="none" cap="none" strike="noStrike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rPr b="0" i="0" lang="en-ZA" sz="2100" u="none" cap="none" strike="noStrike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      How learners process knowledge </a:t>
            </a:r>
            <a:endParaRPr b="0" i="0" sz="21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7"/>
          <p:cNvSpPr/>
          <p:nvPr/>
        </p:nvSpPr>
        <p:spPr>
          <a:xfrm>
            <a:off x="1051560" y="4888787"/>
            <a:ext cx="2194500" cy="3657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B850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7"/>
          <p:cNvSpPr/>
          <p:nvPr/>
        </p:nvSpPr>
        <p:spPr>
          <a:xfrm>
            <a:off x="1462985" y="5700662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SCOPE TODAY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7"/>
          <p:cNvSpPr/>
          <p:nvPr/>
        </p:nvSpPr>
        <p:spPr>
          <a:xfrm>
            <a:off x="4251960" y="1916987"/>
            <a:ext cx="36576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7"/>
          <p:cNvSpPr/>
          <p:nvPr/>
        </p:nvSpPr>
        <p:spPr>
          <a:xfrm>
            <a:off x="4251960" y="1916987"/>
            <a:ext cx="3657600" cy="1005900"/>
          </a:xfrm>
          <a:prstGeom prst="rect">
            <a:avLst/>
          </a:prstGeom>
          <a:solidFill>
            <a:srgbClr val="5C8B7E"/>
          </a:solidFill>
          <a:ln cap="flat" cmpd="sng" w="12700">
            <a:solidFill>
              <a:srgbClr val="5C8B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7"/>
          <p:cNvSpPr/>
          <p:nvPr/>
        </p:nvSpPr>
        <p:spPr>
          <a:xfrm>
            <a:off x="4251960" y="2099867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ZA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AFFECTIVE</a:t>
            </a:r>
            <a:endParaRPr b="0" i="0" sz="2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7"/>
          <p:cNvSpPr/>
          <p:nvPr/>
        </p:nvSpPr>
        <p:spPr>
          <a:xfrm>
            <a:off x="4572000" y="3151427"/>
            <a:ext cx="3017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rPr b="0" i="0" lang="en-ZA" sz="2000" u="none" cap="none" strike="noStrike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How learners engage with values, attitudes and ethics </a:t>
            </a:r>
            <a:endParaRPr b="0" i="0" sz="2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7"/>
          <p:cNvSpPr/>
          <p:nvPr/>
        </p:nvSpPr>
        <p:spPr>
          <a:xfrm>
            <a:off x="4983480" y="4888787"/>
            <a:ext cx="2194500" cy="365700"/>
          </a:xfrm>
          <a:prstGeom prst="rect">
            <a:avLst/>
          </a:prstGeom>
          <a:solidFill>
            <a:srgbClr val="5C8B7E"/>
          </a:solidFill>
          <a:ln cap="flat" cmpd="sng" w="12700">
            <a:solidFill>
              <a:srgbClr val="5C8B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7"/>
          <p:cNvSpPr/>
          <p:nvPr/>
        </p:nvSpPr>
        <p:spPr>
          <a:xfrm>
            <a:off x="4983505" y="4888787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SCOPE TODAY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7"/>
          <p:cNvSpPr/>
          <p:nvPr/>
        </p:nvSpPr>
        <p:spPr>
          <a:xfrm>
            <a:off x="8183855" y="1916987"/>
            <a:ext cx="3657600" cy="3566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000000">
                <a:alpha val="705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7"/>
          <p:cNvSpPr/>
          <p:nvPr/>
        </p:nvSpPr>
        <p:spPr>
          <a:xfrm>
            <a:off x="8183880" y="1916987"/>
            <a:ext cx="3657600" cy="1005900"/>
          </a:xfrm>
          <a:prstGeom prst="rect">
            <a:avLst/>
          </a:prstGeom>
          <a:solidFill>
            <a:srgbClr val="5C4A3A"/>
          </a:solidFill>
          <a:ln cap="flat" cmpd="sng" w="12700">
            <a:solidFill>
              <a:srgbClr val="5C4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7"/>
          <p:cNvSpPr/>
          <p:nvPr/>
        </p:nvSpPr>
        <p:spPr>
          <a:xfrm>
            <a:off x="8183880" y="2099867"/>
            <a:ext cx="3657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ZA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PSYCHOMOTOR</a:t>
            </a:r>
            <a:endParaRPr b="0" i="0" sz="22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7"/>
          <p:cNvSpPr/>
          <p:nvPr/>
        </p:nvSpPr>
        <p:spPr>
          <a:xfrm>
            <a:off x="8694175" y="3151422"/>
            <a:ext cx="2827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ZA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learners develop physical skills through practice and hands-on experience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14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7"/>
          <p:cNvSpPr/>
          <p:nvPr/>
        </p:nvSpPr>
        <p:spPr>
          <a:xfrm>
            <a:off x="8458200" y="4980227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4A3A"/>
              </a:buClr>
              <a:buSzPts val="1100"/>
              <a:buFont typeface="Calibri"/>
              <a:buNone/>
            </a:pPr>
            <a:r>
              <a:rPr b="0" i="1" lang="en-ZA" sz="1100" u="none" cap="none" strike="noStrike">
                <a:solidFill>
                  <a:srgbClr val="5C4A3A"/>
                </a:solidFill>
                <a:latin typeface="Calibri"/>
                <a:ea typeface="Calibri"/>
                <a:cs typeface="Calibri"/>
                <a:sym typeface="Calibri"/>
              </a:rPr>
              <a:t>out of scope</a:t>
            </a:r>
            <a:endParaRPr b="0" i="0" sz="11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7"/>
          <p:cNvSpPr/>
          <p:nvPr/>
        </p:nvSpPr>
        <p:spPr>
          <a:xfrm>
            <a:off x="1051610" y="4888787"/>
            <a:ext cx="2194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ZA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SCOPE TODAY</a:t>
            </a:r>
            <a:endParaRPr b="0" i="0" sz="10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" y="7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3" name="Google Shape;323;p48"/>
          <p:cNvCxnSpPr/>
          <p:nvPr/>
        </p:nvCxnSpPr>
        <p:spPr>
          <a:xfrm>
            <a:off x="753533" y="1580827"/>
            <a:ext cx="10544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4" name="Google Shape;324;p48"/>
          <p:cNvSpPr/>
          <p:nvPr/>
        </p:nvSpPr>
        <p:spPr>
          <a:xfrm>
            <a:off x="497239" y="617082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The Cognitive Domain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8"/>
          <p:cNvSpPr/>
          <p:nvPr/>
        </p:nvSpPr>
        <p:spPr>
          <a:xfrm>
            <a:off x="612625" y="1921665"/>
            <a:ext cx="11247000" cy="73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8"/>
          <p:cNvSpPr/>
          <p:nvPr/>
        </p:nvSpPr>
        <p:spPr>
          <a:xfrm>
            <a:off x="777250" y="1854840"/>
            <a:ext cx="10789800" cy="8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85042"/>
              </a:buClr>
              <a:buSzPts val="1400"/>
              <a:buFont typeface="Calibri"/>
              <a:buNone/>
            </a:pPr>
            <a:r>
              <a:rPr b="1" i="0" lang="en-ZA" sz="1600" u="none" cap="none" strike="noStrike">
                <a:solidFill>
                  <a:srgbClr val="B85042"/>
                </a:solidFill>
                <a:latin typeface="Calibri"/>
                <a:ea typeface="Calibri"/>
                <a:cs typeface="Calibri"/>
                <a:sym typeface="Calibri"/>
              </a:rPr>
              <a:t>DEFINITION   </a:t>
            </a:r>
            <a:r>
              <a:rPr b="0" i="0" lang="en-ZA" sz="175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Describes how learners develop knowledge and skills, from remembering facts to creating original work.</a:t>
            </a:r>
            <a:endParaRPr b="0" i="0" sz="2000" u="none" cap="none" strike="noStrike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8"/>
          <p:cNvSpPr/>
          <p:nvPr/>
        </p:nvSpPr>
        <p:spPr>
          <a:xfrm>
            <a:off x="1965960" y="3017520"/>
            <a:ext cx="8229600" cy="420600"/>
          </a:xfrm>
          <a:prstGeom prst="rect">
            <a:avLst/>
          </a:prstGeom>
          <a:solidFill>
            <a:srgbClr val="8B2E2E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8"/>
          <p:cNvSpPr/>
          <p:nvPr/>
        </p:nvSpPr>
        <p:spPr>
          <a:xfrm>
            <a:off x="1965960" y="3017520"/>
            <a:ext cx="4114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8"/>
          <p:cNvSpPr/>
          <p:nvPr/>
        </p:nvSpPr>
        <p:spPr>
          <a:xfrm>
            <a:off x="6263640" y="3017520"/>
            <a:ext cx="3931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design, generate, invent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48"/>
          <p:cNvSpPr/>
          <p:nvPr/>
        </p:nvSpPr>
        <p:spPr>
          <a:xfrm>
            <a:off x="2468880" y="3493008"/>
            <a:ext cx="7223700" cy="420600"/>
          </a:xfrm>
          <a:prstGeom prst="rect">
            <a:avLst/>
          </a:prstGeom>
          <a:solidFill>
            <a:srgbClr val="B85042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8"/>
          <p:cNvSpPr/>
          <p:nvPr/>
        </p:nvSpPr>
        <p:spPr>
          <a:xfrm>
            <a:off x="2468880" y="3493008"/>
            <a:ext cx="3612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8"/>
          <p:cNvSpPr/>
          <p:nvPr/>
        </p:nvSpPr>
        <p:spPr>
          <a:xfrm>
            <a:off x="6263640" y="3493008"/>
            <a:ext cx="3429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judge, critique, defend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48"/>
          <p:cNvSpPr/>
          <p:nvPr/>
        </p:nvSpPr>
        <p:spPr>
          <a:xfrm>
            <a:off x="2971800" y="3968496"/>
            <a:ext cx="6217800" cy="420600"/>
          </a:xfrm>
          <a:prstGeom prst="rect">
            <a:avLst/>
          </a:prstGeom>
          <a:solidFill>
            <a:srgbClr val="D08F5A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8"/>
          <p:cNvSpPr/>
          <p:nvPr/>
        </p:nvSpPr>
        <p:spPr>
          <a:xfrm>
            <a:off x="2971800" y="3968496"/>
            <a:ext cx="31089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9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48"/>
          <p:cNvSpPr/>
          <p:nvPr/>
        </p:nvSpPr>
        <p:spPr>
          <a:xfrm>
            <a:off x="6263640" y="3968496"/>
            <a:ext cx="2926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compare, distinguish, examine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8"/>
          <p:cNvSpPr/>
          <p:nvPr/>
        </p:nvSpPr>
        <p:spPr>
          <a:xfrm>
            <a:off x="3474720" y="4443984"/>
            <a:ext cx="5212200" cy="420600"/>
          </a:xfrm>
          <a:prstGeom prst="rect">
            <a:avLst/>
          </a:prstGeom>
          <a:solidFill>
            <a:srgbClr val="C4A47C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8"/>
          <p:cNvSpPr/>
          <p:nvPr/>
        </p:nvSpPr>
        <p:spPr>
          <a:xfrm>
            <a:off x="3474720" y="4443984"/>
            <a:ext cx="2606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8"/>
          <p:cNvSpPr/>
          <p:nvPr/>
        </p:nvSpPr>
        <p:spPr>
          <a:xfrm>
            <a:off x="6263640" y="4443984"/>
            <a:ext cx="24231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execute, implement, use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8"/>
          <p:cNvSpPr/>
          <p:nvPr/>
        </p:nvSpPr>
        <p:spPr>
          <a:xfrm>
            <a:off x="3977640" y="4919472"/>
            <a:ext cx="4206300" cy="420600"/>
          </a:xfrm>
          <a:prstGeom prst="rect">
            <a:avLst/>
          </a:prstGeom>
          <a:solidFill>
            <a:srgbClr val="7A8FA0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8"/>
          <p:cNvSpPr/>
          <p:nvPr/>
        </p:nvSpPr>
        <p:spPr>
          <a:xfrm>
            <a:off x="3977640" y="4919472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48"/>
          <p:cNvSpPr/>
          <p:nvPr/>
        </p:nvSpPr>
        <p:spPr>
          <a:xfrm>
            <a:off x="6263650" y="4919475"/>
            <a:ext cx="21030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explain, summarize, classify</a:t>
            </a:r>
            <a:endParaRPr b="0" i="0" sz="13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8"/>
          <p:cNvSpPr/>
          <p:nvPr/>
        </p:nvSpPr>
        <p:spPr>
          <a:xfrm>
            <a:off x="4480560" y="5394960"/>
            <a:ext cx="3200400" cy="420600"/>
          </a:xfrm>
          <a:prstGeom prst="rect">
            <a:avLst/>
          </a:prstGeom>
          <a:solidFill>
            <a:srgbClr val="6B7B8C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48"/>
          <p:cNvSpPr/>
          <p:nvPr/>
        </p:nvSpPr>
        <p:spPr>
          <a:xfrm>
            <a:off x="4480560" y="5394960"/>
            <a:ext cx="1600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ZA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8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8"/>
          <p:cNvSpPr/>
          <p:nvPr/>
        </p:nvSpPr>
        <p:spPr>
          <a:xfrm>
            <a:off x="6263640" y="5394960"/>
            <a:ext cx="14172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1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recall, list, name</a:t>
            </a:r>
            <a:endParaRPr b="0" i="0" sz="15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9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7B2D3A"/>
          </a:solidFill>
          <a:ln cap="flat" cmpd="sng" w="16925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9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9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9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6B7B8B"/>
          </a:solidFill>
          <a:ln cap="flat" cmpd="sng" w="16925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9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 ·  L1</a:t>
            </a:r>
            <a:endParaRPr b="0" i="0" sz="1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9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remember and recall previously learned facts, concepts, or skills.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49"/>
          <p:cNvCxnSpPr/>
          <p:nvPr/>
        </p:nvCxnSpPr>
        <p:spPr>
          <a:xfrm>
            <a:off x="463296" y="3124424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49"/>
          <p:cNvSpPr/>
          <p:nvPr/>
        </p:nvSpPr>
        <p:spPr>
          <a:xfrm>
            <a:off x="487671" y="3643522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00"/>
              <a:buFont typeface="Calibri"/>
              <a:buNone/>
            </a:pPr>
            <a:r>
              <a:rPr b="1" i="0" lang="en-ZA" sz="2000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9"/>
          <p:cNvSpPr/>
          <p:nvPr/>
        </p:nvSpPr>
        <p:spPr>
          <a:xfrm>
            <a:off x="463196" y="3914544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20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 the five steps of the BPE algorithm used to create subword tokens from text data.</a:t>
            </a:r>
            <a:endParaRPr b="0" i="0" sz="20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9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9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9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6B7B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9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B8B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6B7B8B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9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9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7A8FA0"/>
          </a:solidFill>
          <a:ln cap="flat" cmpd="sng" w="16925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9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6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  ·  L2</a:t>
            </a:r>
            <a:endParaRPr b="0" i="0" sz="16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9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explain information in your own words, demonstrating understanding of its meaning.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49"/>
          <p:cNvCxnSpPr/>
          <p:nvPr/>
        </p:nvCxnSpPr>
        <p:spPr>
          <a:xfrm>
            <a:off x="6559196" y="3136174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49"/>
          <p:cNvSpPr/>
          <p:nvPr/>
        </p:nvSpPr>
        <p:spPr>
          <a:xfrm>
            <a:off x="6559296" y="3633068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00"/>
              <a:buFont typeface="Calibri"/>
              <a:buNone/>
            </a:pPr>
            <a:r>
              <a:rPr b="1" i="0" lang="en-ZA" sz="1900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9"/>
          <p:cNvSpPr/>
          <p:nvPr/>
        </p:nvSpPr>
        <p:spPr>
          <a:xfrm>
            <a:off x="6486146" y="4130955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ZA" sz="18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Explain why word-level tokenization struggles with unknown words.</a:t>
            </a:r>
            <a:endParaRPr b="0" i="0" sz="18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9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9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9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49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Summarize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9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7A8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49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8FA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7A8FA0"/>
                </a:solidFill>
                <a:latin typeface="Calibri"/>
                <a:ea typeface="Calibri"/>
                <a:cs typeface="Calibri"/>
                <a:sym typeface="Calibri"/>
              </a:rPr>
              <a:t>Describe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7B2D3A"/>
          </a:solidFill>
          <a:ln cap="flat" cmpd="sng" w="16925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50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50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0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C4A47D"/>
          </a:solidFill>
          <a:ln cap="flat" cmpd="sng" w="16925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0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6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APPLY  ·  L3</a:t>
            </a:r>
            <a:endParaRPr b="0" i="0" sz="16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50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apply knowledge in new situations by using what you know to solve problems.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9" name="Google Shape;389;p50"/>
          <p:cNvCxnSpPr/>
          <p:nvPr/>
        </p:nvCxnSpPr>
        <p:spPr>
          <a:xfrm>
            <a:off x="463196" y="3089274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0" name="Google Shape;390;p50"/>
          <p:cNvSpPr/>
          <p:nvPr/>
        </p:nvSpPr>
        <p:spPr>
          <a:xfrm>
            <a:off x="390146" y="357319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00"/>
              <a:buFont typeface="Calibri"/>
              <a:buNone/>
            </a:pPr>
            <a:r>
              <a:rPr b="1" i="0" lang="en-ZA" sz="1900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50"/>
          <p:cNvSpPr/>
          <p:nvPr/>
        </p:nvSpPr>
        <p:spPr>
          <a:xfrm>
            <a:off x="390146" y="3952055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ZA" sz="186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Apply the first three steps of the BPE algorithm to a small corpus.</a:t>
            </a:r>
            <a:endParaRPr b="0" i="0" sz="1867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50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0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Implement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50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0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Use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50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C4A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50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A4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C4A47D"/>
                </a:solidFill>
                <a:latin typeface="Calibri"/>
                <a:ea typeface="Calibri"/>
                <a:cs typeface="Calibri"/>
                <a:sym typeface="Calibri"/>
              </a:rPr>
              <a:t>Solve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50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0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D08E5A"/>
          </a:solidFill>
          <a:ln cap="flat" cmpd="sng" w="16925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0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6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ANALYZE  ·  L4</a:t>
            </a:r>
            <a:endParaRPr b="0" i="0" sz="16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50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break complex information into parts and examine how those parts connect and relate to each other.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2" name="Google Shape;402;p50"/>
          <p:cNvCxnSpPr/>
          <p:nvPr/>
        </p:nvCxnSpPr>
        <p:spPr>
          <a:xfrm>
            <a:off x="6559296" y="3089270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3" name="Google Shape;403;p50"/>
          <p:cNvSpPr/>
          <p:nvPr/>
        </p:nvSpPr>
        <p:spPr>
          <a:xfrm>
            <a:off x="6556484" y="3578495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00"/>
              <a:buFont typeface="Calibri"/>
              <a:buNone/>
            </a:pPr>
            <a:r>
              <a:rPr b="1" i="0" lang="en-ZA" sz="1800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0"/>
          <p:cNvSpPr/>
          <p:nvPr/>
        </p:nvSpPr>
        <p:spPr>
          <a:xfrm>
            <a:off x="6559196" y="3952043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867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Distinguish between the OOV problem in word-level tokenization and the long sequence problem in character-level tokenization. </a:t>
            </a:r>
            <a:endParaRPr b="0" i="0" sz="1867" u="none" cap="none" strike="noStrike">
              <a:solidFill>
                <a:srgbClr val="55555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50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0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50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0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Distinguish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0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D08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0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08E5A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D08E5A"/>
                </a:solidFill>
                <a:latin typeface="Calibri"/>
                <a:ea typeface="Calibri"/>
                <a:cs typeface="Calibri"/>
                <a:sym typeface="Calibri"/>
              </a:rPr>
              <a:t>Examine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1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7B2D3A"/>
          </a:solidFill>
          <a:ln cap="flat" cmpd="sng" w="16925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1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Cognitive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51"/>
          <p:cNvSpPr/>
          <p:nvPr/>
        </p:nvSpPr>
        <p:spPr>
          <a:xfrm>
            <a:off x="255563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1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B75041"/>
          </a:solidFill>
          <a:ln cap="flat" cmpd="sng" w="16925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1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8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EVALUATE  ·  L5</a:t>
            </a:r>
            <a:endParaRPr b="0" i="0" sz="18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51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ability to make informed judgments using criteria and standards to assess the quality or validity of something.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2" name="Google Shape;422;p51"/>
          <p:cNvCxnSpPr/>
          <p:nvPr/>
        </p:nvCxnSpPr>
        <p:spPr>
          <a:xfrm>
            <a:off x="463196" y="328854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3" name="Google Shape;423;p51"/>
          <p:cNvSpPr/>
          <p:nvPr/>
        </p:nvSpPr>
        <p:spPr>
          <a:xfrm>
            <a:off x="463296" y="3633068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00"/>
              <a:buFont typeface="Calibri"/>
              <a:buNone/>
            </a:pPr>
            <a:r>
              <a:rPr b="1" i="0" lang="en-ZA" sz="1800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51"/>
          <p:cNvSpPr/>
          <p:nvPr/>
        </p:nvSpPr>
        <p:spPr>
          <a:xfrm>
            <a:off x="390146" y="393801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ZA" sz="18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Evaluate whether removing emojis from review data is a good preprocessing choice for a sentiment analysis task.</a:t>
            </a:r>
            <a:endParaRPr b="0" i="0" sz="18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b="0" i="0" sz="18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51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1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Judge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51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1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Assess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51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B7504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51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5041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B75041"/>
                </a:solidFill>
                <a:latin typeface="Calibri"/>
                <a:ea typeface="Calibri"/>
                <a:cs typeface="Calibri"/>
                <a:sym typeface="Calibri"/>
              </a:rPr>
              <a:t>Argue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51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F2EAE1"/>
          </a:solidFill>
          <a:ln cap="flat" cmpd="sng" w="16925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1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8A2F2E"/>
          </a:solidFill>
          <a:ln cap="flat" cmpd="sng" w="16925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51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 ·  L6</a:t>
            </a:r>
            <a:endParaRPr b="0" i="0" sz="1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51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8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 highest level of thinking, involving combining elements to create something new, such as a product, plan, or idea.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51"/>
          <p:cNvCxnSpPr/>
          <p:nvPr/>
        </p:nvCxnSpPr>
        <p:spPr>
          <a:xfrm>
            <a:off x="6559296" y="32533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51"/>
          <p:cNvSpPr/>
          <p:nvPr/>
        </p:nvSpPr>
        <p:spPr>
          <a:xfrm>
            <a:off x="6559196" y="3631526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00"/>
              <a:buFont typeface="Calibri"/>
              <a:buNone/>
            </a:pPr>
            <a:r>
              <a:rPr b="1" i="0" lang="en-ZA" sz="1800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51"/>
          <p:cNvSpPr/>
          <p:nvPr/>
        </p:nvSpPr>
        <p:spPr>
          <a:xfrm>
            <a:off x="6559296" y="3900025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8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Design a 2D embedding map for ten words from your own language community.</a:t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51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1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51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51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51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A2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1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2F2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A2F2E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25" y="563575"/>
            <a:ext cx="12192000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52"/>
          <p:cNvCxnSpPr/>
          <p:nvPr/>
        </p:nvCxnSpPr>
        <p:spPr>
          <a:xfrm>
            <a:off x="753533" y="2194975"/>
            <a:ext cx="10544731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1" name="Google Shape;451;p52"/>
          <p:cNvSpPr/>
          <p:nvPr/>
        </p:nvSpPr>
        <p:spPr>
          <a:xfrm>
            <a:off x="457200" y="1017476"/>
            <a:ext cx="11247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2418"/>
              </a:buClr>
              <a:buSzPts val="3600"/>
              <a:buFont typeface="Georgia"/>
              <a:buNone/>
            </a:pPr>
            <a:r>
              <a:rPr b="1" i="0" lang="en-ZA" sz="3600" u="none" cap="none" strike="noStrike">
                <a:solidFill>
                  <a:srgbClr val="2C2418"/>
                </a:solidFill>
                <a:latin typeface="Georgia"/>
                <a:ea typeface="Georgia"/>
                <a:cs typeface="Georgia"/>
                <a:sym typeface="Georgia"/>
              </a:rPr>
              <a:t>The Affective Domain</a:t>
            </a:r>
            <a:endParaRPr b="0" i="0" sz="36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52"/>
          <p:cNvSpPr/>
          <p:nvPr/>
        </p:nvSpPr>
        <p:spPr>
          <a:xfrm>
            <a:off x="457200" y="2397735"/>
            <a:ext cx="11247000" cy="731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7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52"/>
          <p:cNvSpPr/>
          <p:nvPr/>
        </p:nvSpPr>
        <p:spPr>
          <a:xfrm>
            <a:off x="671732" y="2548963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B7E"/>
              </a:buClr>
              <a:buSzPts val="1400"/>
              <a:buFont typeface="Calibri"/>
              <a:buNone/>
            </a:pPr>
            <a:r>
              <a:rPr b="1" i="0" lang="en-ZA" sz="1800" u="none" cap="none" strike="noStrike">
                <a:solidFill>
                  <a:srgbClr val="5C8B7E"/>
                </a:solidFill>
                <a:latin typeface="Calibri"/>
                <a:ea typeface="Calibri"/>
                <a:cs typeface="Calibri"/>
                <a:sym typeface="Calibri"/>
              </a:rPr>
              <a:t>DEFINITION   </a:t>
            </a:r>
            <a:r>
              <a:rPr b="0" i="0" lang="en-ZA" sz="1800" u="none" cap="none" strike="noStrike">
                <a:solidFill>
                  <a:srgbClr val="2C2418"/>
                </a:solidFill>
                <a:latin typeface="Calibri"/>
                <a:ea typeface="Calibri"/>
                <a:cs typeface="Calibri"/>
                <a:sym typeface="Calibri"/>
              </a:rPr>
              <a:t>The affective domain is about how learners develop values and ethics, from receiving information to internalizing it as part of their behaviour.</a:t>
            </a:r>
            <a:endParaRPr b="0" i="0" sz="1800" u="none" cap="none" strike="noStrike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B7E"/>
              </a:buClr>
              <a:buSzPts val="14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C24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52"/>
          <p:cNvSpPr/>
          <p:nvPr/>
        </p:nvSpPr>
        <p:spPr>
          <a:xfrm>
            <a:off x="2878018" y="3702376"/>
            <a:ext cx="5486400" cy="530400"/>
          </a:xfrm>
          <a:prstGeom prst="rect">
            <a:avLst/>
          </a:prstGeom>
          <a:solidFill>
            <a:srgbClr val="244D44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2"/>
          <p:cNvSpPr/>
          <p:nvPr/>
        </p:nvSpPr>
        <p:spPr>
          <a:xfrm>
            <a:off x="2878018" y="3702376"/>
            <a:ext cx="2633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Internalize</a:t>
            </a:r>
            <a:endParaRPr b="0" i="0" sz="1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2"/>
          <p:cNvSpPr/>
          <p:nvPr/>
        </p:nvSpPr>
        <p:spPr>
          <a:xfrm>
            <a:off x="5648650" y="3702376"/>
            <a:ext cx="27159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embody, act consistently</a:t>
            </a:r>
            <a:endParaRPr b="0" i="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52"/>
          <p:cNvSpPr/>
          <p:nvPr/>
        </p:nvSpPr>
        <p:spPr>
          <a:xfrm>
            <a:off x="3220918" y="4305880"/>
            <a:ext cx="4800600" cy="530400"/>
          </a:xfrm>
          <a:prstGeom prst="rect">
            <a:avLst/>
          </a:prstGeom>
          <a:solidFill>
            <a:srgbClr val="3D6B5F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2"/>
          <p:cNvSpPr/>
          <p:nvPr/>
        </p:nvSpPr>
        <p:spPr>
          <a:xfrm>
            <a:off x="3220918" y="4305880"/>
            <a:ext cx="23043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Organize</a:t>
            </a:r>
            <a:endParaRPr b="0" i="0" sz="1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52"/>
          <p:cNvSpPr/>
          <p:nvPr/>
        </p:nvSpPr>
        <p:spPr>
          <a:xfrm>
            <a:off x="5662366" y="4305880"/>
            <a:ext cx="2359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integrate, prioritize</a:t>
            </a:r>
            <a:endParaRPr b="0" i="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52"/>
          <p:cNvSpPr/>
          <p:nvPr/>
        </p:nvSpPr>
        <p:spPr>
          <a:xfrm>
            <a:off x="3563818" y="4909384"/>
            <a:ext cx="4114800" cy="530400"/>
          </a:xfrm>
          <a:prstGeom prst="rect">
            <a:avLst/>
          </a:prstGeom>
          <a:solidFill>
            <a:srgbClr val="5C8B7E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2"/>
          <p:cNvSpPr/>
          <p:nvPr/>
        </p:nvSpPr>
        <p:spPr>
          <a:xfrm>
            <a:off x="3563818" y="4909384"/>
            <a:ext cx="1975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52"/>
          <p:cNvSpPr/>
          <p:nvPr/>
        </p:nvSpPr>
        <p:spPr>
          <a:xfrm>
            <a:off x="5676082" y="4909384"/>
            <a:ext cx="20025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advocate, commit</a:t>
            </a:r>
            <a:endParaRPr b="0" i="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52"/>
          <p:cNvSpPr/>
          <p:nvPr/>
        </p:nvSpPr>
        <p:spPr>
          <a:xfrm>
            <a:off x="3906718" y="5512888"/>
            <a:ext cx="3429000" cy="530400"/>
          </a:xfrm>
          <a:prstGeom prst="rect">
            <a:avLst/>
          </a:prstGeom>
          <a:solidFill>
            <a:srgbClr val="7FA08F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2"/>
          <p:cNvSpPr/>
          <p:nvPr/>
        </p:nvSpPr>
        <p:spPr>
          <a:xfrm>
            <a:off x="3906718" y="5512888"/>
            <a:ext cx="1645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52"/>
          <p:cNvSpPr/>
          <p:nvPr/>
        </p:nvSpPr>
        <p:spPr>
          <a:xfrm>
            <a:off x="5689798" y="5512888"/>
            <a:ext cx="1645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react, comply</a:t>
            </a:r>
            <a:endParaRPr b="0" i="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52"/>
          <p:cNvSpPr/>
          <p:nvPr/>
        </p:nvSpPr>
        <p:spPr>
          <a:xfrm>
            <a:off x="4249618" y="6116392"/>
            <a:ext cx="2743200" cy="530400"/>
          </a:xfrm>
          <a:prstGeom prst="rect">
            <a:avLst/>
          </a:prstGeom>
          <a:solidFill>
            <a:srgbClr val="9DB4A6"/>
          </a:solidFill>
          <a:ln cap="flat" cmpd="sng" w="12700">
            <a:solidFill>
              <a:srgbClr val="FAF7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2"/>
          <p:cNvSpPr/>
          <p:nvPr/>
        </p:nvSpPr>
        <p:spPr>
          <a:xfrm>
            <a:off x="4249618" y="6116392"/>
            <a:ext cx="13167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endParaRPr b="0" i="0" sz="170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52"/>
          <p:cNvSpPr/>
          <p:nvPr/>
        </p:nvSpPr>
        <p:spPr>
          <a:xfrm>
            <a:off x="5703514" y="6116392"/>
            <a:ext cx="1289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1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attend, observe</a:t>
            </a:r>
            <a:endParaRPr b="0" i="0" u="none" cap="none" strike="noStrike">
              <a:solidFill>
                <a:srgbClr val="C0791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52"/>
          <p:cNvSpPr txBox="1"/>
          <p:nvPr/>
        </p:nvSpPr>
        <p:spPr>
          <a:xfrm>
            <a:off x="1090725" y="3707875"/>
            <a:ext cx="15402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ZA" u="none" cap="none" strike="noStrike">
                <a:solidFill>
                  <a:srgbClr val="134F5C"/>
                </a:solidFill>
                <a:latin typeface="Calibri"/>
                <a:ea typeface="Calibri"/>
                <a:cs typeface="Calibri"/>
                <a:sym typeface="Calibri"/>
              </a:rPr>
              <a:t>Higher-order →</a:t>
            </a:r>
            <a:endParaRPr b="0" i="0" u="none" cap="none" strike="noStrike">
              <a:solidFill>
                <a:srgbClr val="134F5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3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2E5E4E"/>
          </a:solidFill>
          <a:ln cap="flat" cmpd="sng" w="16925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3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53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3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809F90"/>
          </a:solidFill>
          <a:ln cap="flat" cmpd="sng" w="16925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3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RECEIVE  ·  L1</a:t>
            </a:r>
            <a:endParaRPr b="0" i="0" sz="1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53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become aware of an attitude, behaviour, or value and show willingness to pay attention to it.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53"/>
          <p:cNvCxnSpPr/>
          <p:nvPr/>
        </p:nvCxnSpPr>
        <p:spPr>
          <a:xfrm>
            <a:off x="463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2" name="Google Shape;482;p53"/>
          <p:cNvSpPr/>
          <p:nvPr/>
        </p:nvSpPr>
        <p:spPr>
          <a:xfrm>
            <a:off x="463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00"/>
              <a:buFont typeface="Calibri"/>
              <a:buNone/>
            </a:pPr>
            <a:r>
              <a:rPr b="1" i="0" lang="en-ZA" sz="1900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53"/>
          <p:cNvSpPr/>
          <p:nvPr/>
        </p:nvSpPr>
        <p:spPr>
          <a:xfrm>
            <a:off x="463296" y="325526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9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Listen to a community member describe how they use an AI tool in daily life. </a:t>
            </a:r>
            <a:endParaRPr b="0" i="0" sz="19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53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53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Attend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53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53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Observe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53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809F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53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9F90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809F90"/>
                </a:solidFill>
                <a:latin typeface="Calibri"/>
                <a:ea typeface="Calibri"/>
                <a:cs typeface="Calibri"/>
                <a:sym typeface="Calibri"/>
              </a:rPr>
              <a:t>Notice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53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53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5C8A7D"/>
          </a:solidFill>
          <a:ln cap="flat" cmpd="sng" w="16925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53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  ·  L2</a:t>
            </a:r>
            <a:endParaRPr b="0" i="0" sz="1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53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respond to a value or attitude and demonstrate active participation.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4" name="Google Shape;494;p53"/>
          <p:cNvCxnSpPr/>
          <p:nvPr/>
        </p:nvCxnSpPr>
        <p:spPr>
          <a:xfrm>
            <a:off x="6559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53"/>
          <p:cNvSpPr/>
          <p:nvPr/>
        </p:nvSpPr>
        <p:spPr>
          <a:xfrm>
            <a:off x="6559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00"/>
              <a:buFont typeface="Calibri"/>
              <a:buNone/>
            </a:pPr>
            <a:r>
              <a:rPr b="1" i="0" lang="en-ZA" sz="1900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3"/>
          <p:cNvSpPr/>
          <p:nvPr/>
        </p:nvSpPr>
        <p:spPr>
          <a:xfrm>
            <a:off x="6559296" y="3255267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8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Discuss how a community is affected when an AI model does not understand their language.</a:t>
            </a:r>
            <a:endParaRPr b="0" i="0" sz="18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53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53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Discuss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53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53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Contribute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53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5C8A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53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8A7D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5C8A7D"/>
                </a:solidFill>
                <a:latin typeface="Calibri"/>
                <a:ea typeface="Calibri"/>
                <a:cs typeface="Calibri"/>
                <a:sym typeface="Calibri"/>
              </a:rPr>
              <a:t>Share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4"/>
          <p:cNvSpPr/>
          <p:nvPr/>
        </p:nvSpPr>
        <p:spPr>
          <a:xfrm>
            <a:off x="0" y="0"/>
            <a:ext cx="12192000" cy="1097100"/>
          </a:xfrm>
          <a:prstGeom prst="rect">
            <a:avLst/>
          </a:prstGeom>
          <a:solidFill>
            <a:srgbClr val="2E5E4E"/>
          </a:solidFill>
          <a:ln cap="flat" cmpd="sng" w="16925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54"/>
          <p:cNvSpPr/>
          <p:nvPr/>
        </p:nvSpPr>
        <p:spPr>
          <a:xfrm>
            <a:off x="487680" y="0"/>
            <a:ext cx="8534400" cy="109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33"/>
              <a:buFont typeface="Calibri"/>
              <a:buNone/>
            </a:pPr>
            <a:r>
              <a:rPr b="1" i="0" lang="en-ZA" sz="29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29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54"/>
          <p:cNvSpPr/>
          <p:nvPr/>
        </p:nvSpPr>
        <p:spPr>
          <a:xfrm>
            <a:off x="243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54"/>
          <p:cNvSpPr/>
          <p:nvPr/>
        </p:nvSpPr>
        <p:spPr>
          <a:xfrm>
            <a:off x="390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44685E"/>
          </a:solidFill>
          <a:ln cap="flat" cmpd="sng" w="16925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54"/>
          <p:cNvSpPr/>
          <p:nvPr/>
        </p:nvSpPr>
        <p:spPr>
          <a:xfrm>
            <a:off x="390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7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  ·  L3</a:t>
            </a:r>
            <a:endParaRPr b="0" i="0" sz="17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54"/>
          <p:cNvSpPr/>
          <p:nvPr/>
        </p:nvSpPr>
        <p:spPr>
          <a:xfrm>
            <a:off x="463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recognise and demonstrate a value through their involvement or commitment, showing that they care about it.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4" name="Google Shape;514;p54"/>
          <p:cNvCxnSpPr/>
          <p:nvPr/>
        </p:nvCxnSpPr>
        <p:spPr>
          <a:xfrm>
            <a:off x="463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5" name="Google Shape;515;p54"/>
          <p:cNvSpPr/>
          <p:nvPr/>
        </p:nvSpPr>
        <p:spPr>
          <a:xfrm>
            <a:off x="463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00"/>
              <a:buFont typeface="Calibri"/>
              <a:buNone/>
            </a:pPr>
            <a:r>
              <a:rPr b="1" i="0" lang="en-ZA" sz="1900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4"/>
          <p:cNvSpPr/>
          <p:nvPr/>
        </p:nvSpPr>
        <p:spPr>
          <a:xfrm>
            <a:off x="463196" y="3557992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rPr b="0" i="0" lang="en-ZA" sz="19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Advocate for community members having a say in how their language and culture are represented in AI.</a:t>
            </a:r>
            <a:endParaRPr b="0" i="0" sz="19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54"/>
          <p:cNvSpPr/>
          <p:nvPr/>
        </p:nvSpPr>
        <p:spPr>
          <a:xfrm>
            <a:off x="463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4"/>
          <p:cNvSpPr/>
          <p:nvPr/>
        </p:nvSpPr>
        <p:spPr>
          <a:xfrm>
            <a:off x="463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Advocate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54"/>
          <p:cNvSpPr/>
          <p:nvPr/>
        </p:nvSpPr>
        <p:spPr>
          <a:xfrm>
            <a:off x="2218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4"/>
          <p:cNvSpPr/>
          <p:nvPr/>
        </p:nvSpPr>
        <p:spPr>
          <a:xfrm>
            <a:off x="2218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4"/>
          <p:cNvSpPr/>
          <p:nvPr/>
        </p:nvSpPr>
        <p:spPr>
          <a:xfrm>
            <a:off x="3974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446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54"/>
          <p:cNvSpPr/>
          <p:nvPr/>
        </p:nvSpPr>
        <p:spPr>
          <a:xfrm>
            <a:off x="3974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685E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44685E"/>
                </a:solidFill>
                <a:latin typeface="Calibri"/>
                <a:ea typeface="Calibri"/>
                <a:cs typeface="Calibri"/>
                <a:sym typeface="Calibri"/>
              </a:rPr>
              <a:t>Justify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4"/>
          <p:cNvSpPr/>
          <p:nvPr/>
        </p:nvSpPr>
        <p:spPr>
          <a:xfrm>
            <a:off x="6339840" y="1280161"/>
            <a:ext cx="5608500" cy="49989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6925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  <a:effectLst>
            <a:outerShdw blurRad="84667" rotWithShape="0" algn="bl" dir="2700000" dist="33867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4"/>
          <p:cNvSpPr/>
          <p:nvPr/>
        </p:nvSpPr>
        <p:spPr>
          <a:xfrm>
            <a:off x="6486144" y="1426465"/>
            <a:ext cx="2682300" cy="438900"/>
          </a:xfrm>
          <a:prstGeom prst="roundRect">
            <a:avLst>
              <a:gd fmla="val 22222" name="adj"/>
            </a:avLst>
          </a:prstGeom>
          <a:solidFill>
            <a:srgbClr val="275749"/>
          </a:solidFill>
          <a:ln cap="flat" cmpd="sng" w="16925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4"/>
          <p:cNvSpPr/>
          <p:nvPr/>
        </p:nvSpPr>
        <p:spPr>
          <a:xfrm>
            <a:off x="6486144" y="1426465"/>
            <a:ext cx="26823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33"/>
              <a:buFont typeface="Calibri"/>
              <a:buNone/>
            </a:pPr>
            <a:r>
              <a:rPr b="1" i="0" lang="en-ZA" sz="133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ORGANIZE  ·  L4</a:t>
            </a:r>
            <a:endParaRPr b="0" i="0" sz="133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4"/>
          <p:cNvSpPr/>
          <p:nvPr/>
        </p:nvSpPr>
        <p:spPr>
          <a:xfrm>
            <a:off x="6559296" y="1962914"/>
            <a:ext cx="5169600" cy="8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0" i="1" lang="en-ZA" sz="1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determine priorities and resolve conflicts between different values, developing a personal value system.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7" name="Google Shape;527;p54"/>
          <p:cNvCxnSpPr/>
          <p:nvPr/>
        </p:nvCxnSpPr>
        <p:spPr>
          <a:xfrm>
            <a:off x="6559296" y="2901699"/>
            <a:ext cx="5169600" cy="0"/>
          </a:xfrm>
          <a:prstGeom prst="straightConnector1">
            <a:avLst/>
          </a:prstGeom>
          <a:noFill/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8" name="Google Shape;528;p54"/>
          <p:cNvSpPr/>
          <p:nvPr/>
        </p:nvSpPr>
        <p:spPr>
          <a:xfrm>
            <a:off x="6559296" y="2987043"/>
            <a:ext cx="5169600" cy="2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00"/>
              <a:buFont typeface="Calibri"/>
              <a:buNone/>
            </a:pPr>
            <a:r>
              <a:rPr b="1" i="0" lang="en-ZA" sz="1900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54"/>
          <p:cNvSpPr/>
          <p:nvPr/>
        </p:nvSpPr>
        <p:spPr>
          <a:xfrm>
            <a:off x="6559196" y="3557992"/>
            <a:ext cx="51696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9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ZA" sz="1967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Prioritize local languages over convenience when choosing training data for an African AI project.</a:t>
            </a:r>
            <a:endParaRPr b="0" i="0" sz="19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A2E"/>
              </a:buClr>
              <a:buSzPts val="1267"/>
              <a:buFont typeface="Calibri"/>
              <a:buNone/>
            </a:pPr>
            <a:r>
              <a:t/>
            </a:r>
            <a:endParaRPr b="0" i="0" sz="1967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4"/>
          <p:cNvSpPr/>
          <p:nvPr/>
        </p:nvSpPr>
        <p:spPr>
          <a:xfrm>
            <a:off x="6559296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54"/>
          <p:cNvSpPr/>
          <p:nvPr/>
        </p:nvSpPr>
        <p:spPr>
          <a:xfrm>
            <a:off x="6559296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Prioritize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54"/>
          <p:cNvSpPr/>
          <p:nvPr/>
        </p:nvSpPr>
        <p:spPr>
          <a:xfrm>
            <a:off x="8314944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4"/>
          <p:cNvSpPr/>
          <p:nvPr/>
        </p:nvSpPr>
        <p:spPr>
          <a:xfrm>
            <a:off x="8314944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Integrate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54"/>
          <p:cNvSpPr/>
          <p:nvPr/>
        </p:nvSpPr>
        <p:spPr>
          <a:xfrm>
            <a:off x="10070592" y="5669286"/>
            <a:ext cx="1658100" cy="4023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700">
            <a:solidFill>
              <a:srgbClr val="2757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54"/>
          <p:cNvSpPr/>
          <p:nvPr/>
        </p:nvSpPr>
        <p:spPr>
          <a:xfrm>
            <a:off x="10070592" y="5669286"/>
            <a:ext cx="1658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5749"/>
              </a:buClr>
              <a:buSzPts val="1267"/>
              <a:buFont typeface="Calibri"/>
              <a:buNone/>
            </a:pPr>
            <a:r>
              <a:rPr b="0" i="0" lang="en-ZA" sz="1267" u="none" cap="none" strike="noStrike">
                <a:solidFill>
                  <a:srgbClr val="275749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sz="12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"/>
          <p:cNvSpPr/>
          <p:nvPr/>
        </p:nvSpPr>
        <p:spPr>
          <a:xfrm>
            <a:off x="0" y="0"/>
            <a:ext cx="12356700" cy="1112100"/>
          </a:xfrm>
          <a:prstGeom prst="rect">
            <a:avLst/>
          </a:prstGeom>
          <a:solidFill>
            <a:srgbClr val="2E5E4E"/>
          </a:solidFill>
          <a:ln cap="flat" cmpd="sng" w="17150">
            <a:solidFill>
              <a:srgbClr val="2E5E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55"/>
          <p:cNvSpPr/>
          <p:nvPr/>
        </p:nvSpPr>
        <p:spPr>
          <a:xfrm>
            <a:off x="494270" y="0"/>
            <a:ext cx="86496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3"/>
              <a:buFont typeface="Calibri"/>
              <a:buNone/>
            </a:pPr>
            <a:r>
              <a:rPr b="1" i="0" lang="en-ZA" sz="2973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Affective Domain</a:t>
            </a:r>
            <a:endParaRPr b="0" i="0" sz="29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55"/>
          <p:cNvSpPr/>
          <p:nvPr/>
        </p:nvSpPr>
        <p:spPr>
          <a:xfrm>
            <a:off x="2965619" y="1297459"/>
            <a:ext cx="6425700" cy="5066400"/>
          </a:xfrm>
          <a:prstGeom prst="roundRect">
            <a:avLst>
              <a:gd fmla="val 2927" name="adj"/>
            </a:avLst>
          </a:prstGeom>
          <a:solidFill>
            <a:srgbClr val="E6F0EC"/>
          </a:solidFill>
          <a:ln cap="flat" cmpd="sng" w="17150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  <a:effectLst>
            <a:outerShdw blurRad="85811" rotWithShape="0" algn="bl" dir="2700000" dist="34324">
              <a:srgbClr val="000000">
                <a:alpha val="10196"/>
              </a:srgbClr>
            </a:outerShdw>
          </a:effectLst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55"/>
          <p:cNvSpPr/>
          <p:nvPr/>
        </p:nvSpPr>
        <p:spPr>
          <a:xfrm>
            <a:off x="3113900" y="1445741"/>
            <a:ext cx="2718600" cy="444600"/>
          </a:xfrm>
          <a:prstGeom prst="roundRect">
            <a:avLst>
              <a:gd fmla="val 22222" name="adj"/>
            </a:avLst>
          </a:prstGeom>
          <a:solidFill>
            <a:srgbClr val="23241E"/>
          </a:solidFill>
          <a:ln cap="flat" cmpd="sng" w="17150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5"/>
          <p:cNvSpPr/>
          <p:nvPr/>
        </p:nvSpPr>
        <p:spPr>
          <a:xfrm>
            <a:off x="3113900" y="1445741"/>
            <a:ext cx="27186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1"/>
              <a:buFont typeface="Calibri"/>
              <a:buNone/>
            </a:pPr>
            <a:r>
              <a:rPr b="1" i="0" lang="en-ZA" sz="175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INTERNALIZE  ·  L5</a:t>
            </a:r>
            <a:endParaRPr b="0" i="0" sz="175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5"/>
          <p:cNvSpPr/>
          <p:nvPr/>
        </p:nvSpPr>
        <p:spPr>
          <a:xfrm>
            <a:off x="3188040" y="1989438"/>
            <a:ext cx="5980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16"/>
              <a:buFont typeface="Calibri"/>
              <a:buNone/>
            </a:pPr>
            <a:r>
              <a:rPr b="0" i="1" lang="en-ZA" sz="1916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Students act consistently with their internalized beliefs, making the value a natural part of their behaviour.</a:t>
            </a:r>
            <a:endParaRPr b="0" i="0" sz="19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55"/>
          <p:cNvCxnSpPr/>
          <p:nvPr/>
        </p:nvCxnSpPr>
        <p:spPr>
          <a:xfrm>
            <a:off x="3188040" y="2940908"/>
            <a:ext cx="5980500" cy="0"/>
          </a:xfrm>
          <a:prstGeom prst="straightConnector1">
            <a:avLst/>
          </a:prstGeom>
          <a:noFill/>
          <a:ln cap="flat" cmpd="sng" w="1287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55"/>
          <p:cNvSpPr/>
          <p:nvPr/>
        </p:nvSpPr>
        <p:spPr>
          <a:xfrm>
            <a:off x="3188040" y="3027405"/>
            <a:ext cx="59805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16"/>
              <a:buFont typeface="Calibri"/>
              <a:buNone/>
            </a:pPr>
            <a:r>
              <a:rPr b="1" i="0" lang="en-ZA" sz="1916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 b="0" i="0" sz="191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5"/>
          <p:cNvSpPr/>
          <p:nvPr/>
        </p:nvSpPr>
        <p:spPr>
          <a:xfrm>
            <a:off x="3188040" y="3299254"/>
            <a:ext cx="5980500" cy="11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84"/>
              <a:buFont typeface="Calibri"/>
              <a:buNone/>
            </a:pPr>
            <a:r>
              <a:rPr b="0" i="0" lang="en-ZA" sz="1884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Embody the habit of asking who is affected by your AI tool before asking how well it performs.</a:t>
            </a:r>
            <a:endParaRPr b="0" i="0" sz="18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5"/>
          <p:cNvSpPr/>
          <p:nvPr/>
        </p:nvSpPr>
        <p:spPr>
          <a:xfrm>
            <a:off x="3188040" y="5745892"/>
            <a:ext cx="1927800" cy="4077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875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5"/>
          <p:cNvSpPr/>
          <p:nvPr/>
        </p:nvSpPr>
        <p:spPr>
          <a:xfrm>
            <a:off x="3188040" y="5745892"/>
            <a:ext cx="192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84"/>
              <a:buFont typeface="Calibri"/>
              <a:buNone/>
            </a:pPr>
            <a:r>
              <a:rPr b="0" i="0" lang="en-ZA" sz="1284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Embody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5"/>
          <p:cNvSpPr/>
          <p:nvPr/>
        </p:nvSpPr>
        <p:spPr>
          <a:xfrm>
            <a:off x="5214546" y="5745892"/>
            <a:ext cx="1927800" cy="4077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875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5"/>
          <p:cNvSpPr/>
          <p:nvPr/>
        </p:nvSpPr>
        <p:spPr>
          <a:xfrm>
            <a:off x="5214546" y="5745892"/>
            <a:ext cx="192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84"/>
              <a:buFont typeface="Calibri"/>
              <a:buNone/>
            </a:pPr>
            <a:r>
              <a:rPr b="0" i="0" lang="en-ZA" sz="1284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Maintain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55"/>
          <p:cNvSpPr/>
          <p:nvPr/>
        </p:nvSpPr>
        <p:spPr>
          <a:xfrm>
            <a:off x="7241052" y="5745892"/>
            <a:ext cx="1927800" cy="407700"/>
          </a:xfrm>
          <a:prstGeom prst="roundRect">
            <a:avLst>
              <a:gd fmla="val 18182" name="adj"/>
            </a:avLst>
          </a:prstGeom>
          <a:solidFill>
            <a:srgbClr val="F5F5F5"/>
          </a:solidFill>
          <a:ln cap="flat" cmpd="sng" w="12875">
            <a:solidFill>
              <a:srgbClr val="2324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550" lIns="123550" spcFirstLastPara="1" rIns="123550" wrap="square" tIns="123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5"/>
          <p:cNvSpPr/>
          <p:nvPr/>
        </p:nvSpPr>
        <p:spPr>
          <a:xfrm>
            <a:off x="7241052" y="5745892"/>
            <a:ext cx="1927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41E"/>
              </a:buClr>
              <a:buSzPts val="1284"/>
              <a:buFont typeface="Calibri"/>
              <a:buNone/>
            </a:pPr>
            <a:r>
              <a:rPr b="0" i="0" lang="en-ZA" sz="1284" u="none" cap="none" strike="noStrike">
                <a:solidFill>
                  <a:srgbClr val="23241E"/>
                </a:solidFill>
                <a:latin typeface="Calibri"/>
                <a:ea typeface="Calibri"/>
                <a:cs typeface="Calibri"/>
                <a:sym typeface="Calibri"/>
              </a:rPr>
              <a:t>Influence</a:t>
            </a:r>
            <a:endParaRPr b="0" i="0" sz="12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1" name="Google Shape;56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00" y="-10118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6"/>
          <p:cNvSpPr/>
          <p:nvPr/>
        </p:nvSpPr>
        <p:spPr>
          <a:xfrm>
            <a:off x="609550" y="266384"/>
            <a:ext cx="109728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700"/>
              <a:buFont typeface="Georgia"/>
              <a:buNone/>
            </a:pPr>
            <a:r>
              <a:rPr b="1" i="0" lang="en-ZA" sz="2900" u="none" cap="none" strike="noStrike">
                <a:solidFill>
                  <a:srgbClr val="1A1A2E"/>
                </a:solidFill>
                <a:latin typeface="Georgia"/>
                <a:ea typeface="Georgia"/>
                <a:cs typeface="Georgia"/>
                <a:sym typeface="Georgia"/>
              </a:rPr>
              <a:t>Online vs. Classroom Learning Objectives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56"/>
          <p:cNvSpPr/>
          <p:nvPr/>
        </p:nvSpPr>
        <p:spPr>
          <a:xfrm>
            <a:off x="609600" y="1202788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1" lang="en-ZA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learning objective of online learning is to build basic knowledge, while the learning objective of classroom learning is to develop deeper thinking and more complex skills. </a:t>
            </a:r>
            <a:endParaRPr b="0" i="1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6"/>
          <p:cNvSpPr/>
          <p:nvPr/>
        </p:nvSpPr>
        <p:spPr>
          <a:xfrm>
            <a:off x="356413" y="1938041"/>
            <a:ext cx="5303700" cy="4238100"/>
          </a:xfrm>
          <a:prstGeom prst="rect">
            <a:avLst/>
          </a:prstGeom>
          <a:solidFill>
            <a:srgbClr val="F8F4F0"/>
          </a:solidFill>
          <a:ln cap="flat" cmpd="sng" w="16925">
            <a:solidFill>
              <a:srgbClr val="E0D8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56"/>
          <p:cNvSpPr/>
          <p:nvPr/>
        </p:nvSpPr>
        <p:spPr>
          <a:xfrm>
            <a:off x="351692" y="1926336"/>
            <a:ext cx="5303700" cy="6339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6"/>
          <p:cNvSpPr/>
          <p:nvPr/>
        </p:nvSpPr>
        <p:spPr>
          <a:xfrm>
            <a:off x="557784" y="1950720"/>
            <a:ext cx="5120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COURSES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56"/>
          <p:cNvSpPr/>
          <p:nvPr/>
        </p:nvSpPr>
        <p:spPr>
          <a:xfrm>
            <a:off x="499413" y="2669957"/>
            <a:ext cx="1828800" cy="292800"/>
          </a:xfrm>
          <a:prstGeom prst="rect">
            <a:avLst/>
          </a:prstGeom>
          <a:solidFill>
            <a:srgbClr val="8B203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6"/>
          <p:cNvSpPr/>
          <p:nvPr/>
        </p:nvSpPr>
        <p:spPr>
          <a:xfrm>
            <a:off x="440806" y="2669957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Remember (L1)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56"/>
          <p:cNvSpPr/>
          <p:nvPr/>
        </p:nvSpPr>
        <p:spPr>
          <a:xfrm>
            <a:off x="499475" y="3278203"/>
            <a:ext cx="50559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ZA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List the types of tokenization: sentence-level, word-level, character-level, and subword tokenization.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56"/>
          <p:cNvSpPr/>
          <p:nvPr/>
        </p:nvSpPr>
        <p:spPr>
          <a:xfrm>
            <a:off x="589080" y="5547452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56"/>
          <p:cNvSpPr/>
          <p:nvPr/>
        </p:nvSpPr>
        <p:spPr>
          <a:xfrm>
            <a:off x="6547050" y="1926325"/>
            <a:ext cx="5303700" cy="4343700"/>
          </a:xfrm>
          <a:prstGeom prst="rect">
            <a:avLst/>
          </a:prstGeom>
          <a:solidFill>
            <a:srgbClr val="F0F5F3"/>
          </a:solidFill>
          <a:ln cap="flat" cmpd="sng" w="16925">
            <a:solidFill>
              <a:srgbClr val="C8DD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56"/>
          <p:cNvSpPr/>
          <p:nvPr/>
        </p:nvSpPr>
        <p:spPr>
          <a:xfrm>
            <a:off x="6548511" y="1926336"/>
            <a:ext cx="5303700" cy="6339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6"/>
          <p:cNvSpPr/>
          <p:nvPr/>
        </p:nvSpPr>
        <p:spPr>
          <a:xfrm>
            <a:off x="6761871" y="1950720"/>
            <a:ext cx="5120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Z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CLASSROOM SESSIONS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56"/>
          <p:cNvSpPr/>
          <p:nvPr/>
        </p:nvSpPr>
        <p:spPr>
          <a:xfrm>
            <a:off x="6696222" y="2706624"/>
            <a:ext cx="1828800" cy="292800"/>
          </a:xfrm>
          <a:prstGeom prst="rect">
            <a:avLst/>
          </a:prstGeom>
          <a:solidFill>
            <a:srgbClr val="2D6A5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6"/>
          <p:cNvSpPr/>
          <p:nvPr/>
        </p:nvSpPr>
        <p:spPr>
          <a:xfrm>
            <a:off x="6731391" y="2706624"/>
            <a:ext cx="182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ZA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Analyze (L4)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6661050" y="3259943"/>
            <a:ext cx="4876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ZA" sz="2800" u="none" cap="none" strike="noStrik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Compare how two tokenizers split a word and identify which one better preserves its meaning.</a:t>
            </a:r>
            <a:endParaRPr b="0" i="0" sz="28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1F29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56"/>
          <p:cNvSpPr/>
          <p:nvPr/>
        </p:nvSpPr>
        <p:spPr>
          <a:xfrm>
            <a:off x="6661060" y="5538335"/>
            <a:ext cx="48768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57"/>
          <p:cNvSpPr txBox="1"/>
          <p:nvPr/>
        </p:nvSpPr>
        <p:spPr>
          <a:xfrm>
            <a:off x="753534" y="2999033"/>
            <a:ext cx="9398400" cy="2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8000"/>
              <a:buFont typeface="Georgia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8000"/>
              <a:buFont typeface="Georgia"/>
              <a:buNone/>
            </a:pPr>
            <a:r>
              <a:rPr b="1" i="0" lang="en-ZA" sz="8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vs RI Activities</a:t>
            </a:r>
            <a:endParaRPr/>
          </a:p>
        </p:txBody>
      </p:sp>
      <p:pic>
        <p:nvPicPr>
          <p:cNvPr id="585" name="Google Shape;58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84141" y="383197"/>
            <a:ext cx="2033076" cy="83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08440" y="535714"/>
            <a:ext cx="2613661" cy="574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59010" y="5669280"/>
            <a:ext cx="1883834" cy="762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8" name="Google Shape;588;p57"/>
          <p:cNvGrpSpPr/>
          <p:nvPr/>
        </p:nvGrpSpPr>
        <p:grpSpPr>
          <a:xfrm>
            <a:off x="763050" y="5899750"/>
            <a:ext cx="6501258" cy="410463"/>
            <a:chOff x="763050" y="5899750"/>
            <a:chExt cx="6501258" cy="410463"/>
          </a:xfrm>
        </p:grpSpPr>
        <p:sp>
          <p:nvSpPr>
            <p:cNvPr id="589" name="Google Shape;589;p57"/>
            <p:cNvSpPr/>
            <p:nvPr/>
          </p:nvSpPr>
          <p:spPr>
            <a:xfrm>
              <a:off x="763050" y="5899750"/>
              <a:ext cx="29553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57"/>
            <p:cNvSpPr txBox="1"/>
            <p:nvPr/>
          </p:nvSpPr>
          <p:spPr>
            <a:xfrm>
              <a:off x="902397" y="5959075"/>
              <a:ext cx="26766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ZA" sz="1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Nigeria · Aug 2026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57"/>
            <p:cNvSpPr/>
            <p:nvPr/>
          </p:nvSpPr>
          <p:spPr>
            <a:xfrm>
              <a:off x="3928308" y="5906113"/>
              <a:ext cx="3336000" cy="404100"/>
            </a:xfrm>
            <a:prstGeom prst="roundRect">
              <a:avLst>
                <a:gd fmla="val 50000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57"/>
            <p:cNvSpPr txBox="1"/>
            <p:nvPr/>
          </p:nvSpPr>
          <p:spPr>
            <a:xfrm>
              <a:off x="3974350" y="5975050"/>
              <a:ext cx="3243900" cy="25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ZA" sz="1700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AI Research Foundations</a:t>
              </a:r>
              <a:endPara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93" name="Google Shape;593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24851" y="505175"/>
            <a:ext cx="1168078" cy="59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25" y="2178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58"/>
          <p:cNvSpPr/>
          <p:nvPr/>
        </p:nvSpPr>
        <p:spPr>
          <a:xfrm>
            <a:off x="282697" y="485807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Two domains, two ladders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58"/>
          <p:cNvSpPr/>
          <p:nvPr/>
        </p:nvSpPr>
        <p:spPr>
          <a:xfrm>
            <a:off x="487680" y="1741722"/>
            <a:ext cx="5547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rPr b="1" i="0" lang="en-ZA" sz="19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COGNITIVE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58"/>
          <p:cNvSpPr/>
          <p:nvPr/>
        </p:nvSpPr>
        <p:spPr>
          <a:xfrm>
            <a:off x="6156960" y="1741689"/>
            <a:ext cx="5547300" cy="31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AFFECTIVE 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58"/>
          <p:cNvSpPr/>
          <p:nvPr/>
        </p:nvSpPr>
        <p:spPr>
          <a:xfrm>
            <a:off x="487680" y="2131833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8"/>
          <p:cNvSpPr/>
          <p:nvPr/>
        </p:nvSpPr>
        <p:spPr>
          <a:xfrm>
            <a:off x="633984" y="2156217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Remember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8"/>
          <p:cNvSpPr/>
          <p:nvPr/>
        </p:nvSpPr>
        <p:spPr>
          <a:xfrm>
            <a:off x="2255520" y="2156217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Retrieve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8"/>
          <p:cNvSpPr/>
          <p:nvPr/>
        </p:nvSpPr>
        <p:spPr>
          <a:xfrm>
            <a:off x="487680" y="2643897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8"/>
          <p:cNvSpPr/>
          <p:nvPr/>
        </p:nvSpPr>
        <p:spPr>
          <a:xfrm>
            <a:off x="633984" y="2668281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Understand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8"/>
          <p:cNvSpPr/>
          <p:nvPr/>
        </p:nvSpPr>
        <p:spPr>
          <a:xfrm>
            <a:off x="2255520" y="2668281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Explain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8"/>
          <p:cNvSpPr/>
          <p:nvPr/>
        </p:nvSpPr>
        <p:spPr>
          <a:xfrm>
            <a:off x="487680" y="3155961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8"/>
          <p:cNvSpPr/>
          <p:nvPr/>
        </p:nvSpPr>
        <p:spPr>
          <a:xfrm>
            <a:off x="633984" y="3180345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8"/>
          <p:cNvSpPr/>
          <p:nvPr/>
        </p:nvSpPr>
        <p:spPr>
          <a:xfrm>
            <a:off x="2255520" y="3180345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Execute a procedure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8"/>
          <p:cNvSpPr/>
          <p:nvPr/>
        </p:nvSpPr>
        <p:spPr>
          <a:xfrm>
            <a:off x="487680" y="3668025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8"/>
          <p:cNvSpPr/>
          <p:nvPr/>
        </p:nvSpPr>
        <p:spPr>
          <a:xfrm>
            <a:off x="633984" y="3692409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58"/>
          <p:cNvSpPr/>
          <p:nvPr/>
        </p:nvSpPr>
        <p:spPr>
          <a:xfrm>
            <a:off x="2255520" y="3692409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Tune hyperparameters; compare training curves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58"/>
          <p:cNvSpPr/>
          <p:nvPr/>
        </p:nvSpPr>
        <p:spPr>
          <a:xfrm>
            <a:off x="487680" y="4180089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8"/>
          <p:cNvSpPr/>
          <p:nvPr/>
        </p:nvSpPr>
        <p:spPr>
          <a:xfrm>
            <a:off x="2255520" y="4204473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Judge competing design choices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58"/>
          <p:cNvSpPr/>
          <p:nvPr/>
        </p:nvSpPr>
        <p:spPr>
          <a:xfrm>
            <a:off x="487680" y="4692153"/>
            <a:ext cx="5547300" cy="4389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8"/>
          <p:cNvSpPr/>
          <p:nvPr/>
        </p:nvSpPr>
        <p:spPr>
          <a:xfrm>
            <a:off x="633984" y="4716537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8"/>
          <p:cNvSpPr/>
          <p:nvPr/>
        </p:nvSpPr>
        <p:spPr>
          <a:xfrm>
            <a:off x="2255520" y="4716537"/>
            <a:ext cx="36576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Design an MLP architecture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8"/>
          <p:cNvSpPr/>
          <p:nvPr/>
        </p:nvSpPr>
        <p:spPr>
          <a:xfrm>
            <a:off x="6156960" y="2131833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8"/>
          <p:cNvSpPr/>
          <p:nvPr/>
        </p:nvSpPr>
        <p:spPr>
          <a:xfrm>
            <a:off x="6303264" y="2156217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Receive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8"/>
          <p:cNvSpPr/>
          <p:nvPr/>
        </p:nvSpPr>
        <p:spPr>
          <a:xfrm>
            <a:off x="8107680" y="2156217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Listen / attend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8"/>
          <p:cNvSpPr/>
          <p:nvPr/>
        </p:nvSpPr>
        <p:spPr>
          <a:xfrm>
            <a:off x="6156960" y="2643897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8"/>
          <p:cNvSpPr/>
          <p:nvPr/>
        </p:nvSpPr>
        <p:spPr>
          <a:xfrm>
            <a:off x="6303264" y="2668281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8"/>
          <p:cNvSpPr/>
          <p:nvPr/>
        </p:nvSpPr>
        <p:spPr>
          <a:xfrm>
            <a:off x="8107680" y="2668281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React / participate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58"/>
          <p:cNvSpPr/>
          <p:nvPr/>
        </p:nvSpPr>
        <p:spPr>
          <a:xfrm>
            <a:off x="6156960" y="3155961"/>
            <a:ext cx="5547300" cy="4389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8"/>
          <p:cNvSpPr/>
          <p:nvPr/>
        </p:nvSpPr>
        <p:spPr>
          <a:xfrm>
            <a:off x="6303264" y="3180345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58"/>
          <p:cNvSpPr/>
          <p:nvPr/>
        </p:nvSpPr>
        <p:spPr>
          <a:xfrm>
            <a:off x="8107680" y="3180345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Demonstrate commitment to something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58"/>
          <p:cNvSpPr/>
          <p:nvPr/>
        </p:nvSpPr>
        <p:spPr>
          <a:xfrm>
            <a:off x="6156960" y="3668025"/>
            <a:ext cx="5547300" cy="4389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8"/>
          <p:cNvSpPr/>
          <p:nvPr/>
        </p:nvSpPr>
        <p:spPr>
          <a:xfrm>
            <a:off x="6303264" y="3692409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Organize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58"/>
          <p:cNvSpPr/>
          <p:nvPr/>
        </p:nvSpPr>
        <p:spPr>
          <a:xfrm>
            <a:off x="8107680" y="3692409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Integrate different values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8"/>
          <p:cNvSpPr/>
          <p:nvPr/>
        </p:nvSpPr>
        <p:spPr>
          <a:xfrm>
            <a:off x="6156960" y="4180089"/>
            <a:ext cx="5547300" cy="4389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8"/>
          <p:cNvSpPr/>
          <p:nvPr/>
        </p:nvSpPr>
        <p:spPr>
          <a:xfrm>
            <a:off x="6303264" y="4204473"/>
            <a:ext cx="18288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Internalize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8"/>
          <p:cNvSpPr/>
          <p:nvPr/>
        </p:nvSpPr>
        <p:spPr>
          <a:xfrm>
            <a:off x="8107680" y="4204473"/>
            <a:ext cx="34749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b="0" i="0" lang="en-ZA" sz="15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Integrate values into professional practice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58"/>
          <p:cNvSpPr/>
          <p:nvPr/>
        </p:nvSpPr>
        <p:spPr>
          <a:xfrm>
            <a:off x="634004" y="4204491"/>
            <a:ext cx="1646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7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Evaluate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Google Shape;641;p59"/>
          <p:cNvPicPr preferRelativeResize="0"/>
          <p:nvPr/>
        </p:nvPicPr>
        <p:blipFill rotWithShape="1">
          <a:blip r:embed="rId3">
            <a:alphaModFix/>
          </a:blip>
          <a:srcRect b="1810" l="-450" r="450" t="-181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9"/>
          <p:cNvSpPr/>
          <p:nvPr/>
        </p:nvSpPr>
        <p:spPr>
          <a:xfrm>
            <a:off x="487680" y="628386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UCL Lecturer Toolkit 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9"/>
          <p:cNvSpPr/>
          <p:nvPr/>
        </p:nvSpPr>
        <p:spPr>
          <a:xfrm>
            <a:off x="1860625" y="2262651"/>
            <a:ext cx="3657600" cy="38940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59"/>
          <p:cNvSpPr/>
          <p:nvPr/>
        </p:nvSpPr>
        <p:spPr>
          <a:xfrm>
            <a:off x="2104473" y="2567444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35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01 (GCSB)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59"/>
          <p:cNvSpPr/>
          <p:nvPr/>
        </p:nvSpPr>
        <p:spPr>
          <a:xfrm>
            <a:off x="2165433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4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Before class - Online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9"/>
          <p:cNvSpPr/>
          <p:nvPr/>
        </p:nvSpPr>
        <p:spPr>
          <a:xfrm>
            <a:off x="2165433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Students complete the Spotlight activities on Google Cloud Skills Boost. Each one is tagged with a Conversational Framework verb and a Bloom level.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59"/>
          <p:cNvSpPr/>
          <p:nvPr/>
        </p:nvSpPr>
        <p:spPr>
          <a:xfrm>
            <a:off x="6289600" y="2262651"/>
            <a:ext cx="3657600" cy="38940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59"/>
          <p:cNvSpPr/>
          <p:nvPr/>
        </p:nvSpPr>
        <p:spPr>
          <a:xfrm>
            <a:off x="6533450" y="2567450"/>
            <a:ext cx="49869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33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02 (Extend - UCL)</a:t>
            </a:r>
            <a:endParaRPr sz="700"/>
          </a:p>
        </p:txBody>
      </p:sp>
      <p:sp>
        <p:nvSpPr>
          <p:cNvPr id="649" name="Google Shape;649;p59"/>
          <p:cNvSpPr/>
          <p:nvPr/>
        </p:nvSpPr>
        <p:spPr>
          <a:xfrm>
            <a:off x="6594411" y="3725684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3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In class - Activity menu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59"/>
          <p:cNvSpPr/>
          <p:nvPr/>
        </p:nvSpPr>
        <p:spPr>
          <a:xfrm>
            <a:off x="6594411" y="4640084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The lecturer builds the session from the toolkit's pool of AI (cognitive) and RI (affective) activities </a:t>
            </a:r>
            <a:r>
              <a:rPr lang="en-ZA" sz="1900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ZA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all on UCL Extend.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Google Shape;65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60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Toolkit on UCL Extend</a:t>
            </a:r>
            <a:endParaRPr/>
          </a:p>
        </p:txBody>
      </p:sp>
      <p:sp>
        <p:nvSpPr>
          <p:cNvPr id="658" name="Google Shape;658;p60"/>
          <p:cNvSpPr/>
          <p:nvPr/>
        </p:nvSpPr>
        <p:spPr>
          <a:xfrm>
            <a:off x="812521" y="1600200"/>
            <a:ext cx="9456300" cy="3611880"/>
          </a:xfrm>
          <a:prstGeom prst="roundRect">
            <a:avLst>
              <a:gd fmla="val 1980" name="adj"/>
            </a:avLst>
          </a:prstGeom>
          <a:solidFill>
            <a:schemeClr val="dk2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60"/>
          <p:cNvSpPr/>
          <p:nvPr/>
        </p:nvSpPr>
        <p:spPr>
          <a:xfrm>
            <a:off x="1129588" y="1828800"/>
            <a:ext cx="8822400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UCL Extend  ·  extend.ucl.ac.uk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Session 0  …  Session 9        (one course page per session)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Session guide — handbook-style wrap-around material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AI activities   ·  Short / Medium / Long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RI activities   ·  Short / Medium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├── Slides — ready-to-present lecturer deck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2F3"/>
              </a:buClr>
              <a:buSzPts val="1500"/>
              <a:buFont typeface="Courier New"/>
              <a:buNone/>
            </a:pPr>
            <a:r>
              <a:rPr b="1" i="0" lang="en-ZA" sz="1800" u="none" cap="none" strike="noStrike">
                <a:solidFill>
                  <a:srgbClr val="E7E2F3"/>
                </a:solidFill>
                <a:latin typeface="Courier New"/>
                <a:ea typeface="Courier New"/>
                <a:cs typeface="Courier New"/>
                <a:sym typeface="Courier New"/>
              </a:rPr>
              <a:t>│      └── Notebooks — Student + Teacher (.ipynb)</a:t>
            </a:r>
            <a:endParaRPr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61"/>
          <p:cNvSpPr/>
          <p:nvPr/>
        </p:nvSpPr>
        <p:spPr>
          <a:xfrm>
            <a:off x="413500" y="2149876"/>
            <a:ext cx="3666000" cy="3594000"/>
          </a:xfrm>
          <a:prstGeom prst="roundRect">
            <a:avLst>
              <a:gd fmla="val 3279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61"/>
          <p:cNvSpPr/>
          <p:nvPr/>
        </p:nvSpPr>
        <p:spPr>
          <a:xfrm>
            <a:off x="743276" y="2489525"/>
            <a:ext cx="717900" cy="739500"/>
          </a:xfrm>
          <a:prstGeom prst="ellipse">
            <a:avLst/>
          </a:prstGeom>
          <a:solidFill>
            <a:srgbClr val="2E1B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8" name="Google Shape;66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68" y="2689123"/>
            <a:ext cx="330165" cy="3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61"/>
          <p:cNvSpPr/>
          <p:nvPr/>
        </p:nvSpPr>
        <p:spPr>
          <a:xfrm>
            <a:off x="743276" y="3368639"/>
            <a:ext cx="308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300"/>
              <a:buFont typeface="Cambria"/>
              <a:buNone/>
            </a:pPr>
            <a:r>
              <a:rPr b="1" i="0" lang="en-ZA" sz="23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Slides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1"/>
          <p:cNvSpPr/>
          <p:nvPr/>
        </p:nvSpPr>
        <p:spPr>
          <a:xfrm>
            <a:off x="743276" y="3785463"/>
            <a:ext cx="308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600"/>
              <a:buFont typeface="Calibri"/>
              <a:buNone/>
            </a:pPr>
            <a:r>
              <a:rPr b="1" i="0" lang="en-ZA" sz="16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10 decks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61"/>
          <p:cNvSpPr/>
          <p:nvPr/>
        </p:nvSpPr>
        <p:spPr>
          <a:xfrm>
            <a:off x="743276" y="4147854"/>
            <a:ext cx="30651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None/>
            </a:pPr>
            <a:r>
              <a:rPr b="0" i="0" lang="en-ZA" sz="20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One ready-to-present lecturer deck for every session, 0 through 9.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61"/>
          <p:cNvSpPr/>
          <p:nvPr/>
        </p:nvSpPr>
        <p:spPr>
          <a:xfrm>
            <a:off x="4370825" y="2149875"/>
            <a:ext cx="3666000" cy="3594000"/>
          </a:xfrm>
          <a:prstGeom prst="roundRect">
            <a:avLst>
              <a:gd fmla="val 3279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61"/>
          <p:cNvSpPr/>
          <p:nvPr/>
        </p:nvSpPr>
        <p:spPr>
          <a:xfrm>
            <a:off x="4700593" y="2489525"/>
            <a:ext cx="717900" cy="739500"/>
          </a:xfrm>
          <a:prstGeom prst="ellipse">
            <a:avLst/>
          </a:prstGeom>
          <a:solidFill>
            <a:srgbClr val="2E1B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74" name="Google Shape;67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94385" y="2689123"/>
            <a:ext cx="330165" cy="3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61"/>
          <p:cNvSpPr/>
          <p:nvPr/>
        </p:nvSpPr>
        <p:spPr>
          <a:xfrm>
            <a:off x="4700593" y="3368639"/>
            <a:ext cx="308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300"/>
              <a:buFont typeface="Cambria"/>
              <a:buNone/>
            </a:pPr>
            <a:r>
              <a:rPr b="1" i="0" lang="en-ZA" sz="23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Learning Activities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61"/>
          <p:cNvSpPr/>
          <p:nvPr/>
        </p:nvSpPr>
        <p:spPr>
          <a:xfrm>
            <a:off x="4700593" y="3823991"/>
            <a:ext cx="308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600"/>
              <a:buFont typeface="Calibri"/>
              <a:buNone/>
            </a:pPr>
            <a:r>
              <a:rPr b="1" i="0" lang="en-ZA" sz="16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10 session pages</a:t>
            </a:r>
            <a:endParaRPr/>
          </a:p>
        </p:txBody>
      </p:sp>
      <p:sp>
        <p:nvSpPr>
          <p:cNvPr id="677" name="Google Shape;677;p61"/>
          <p:cNvSpPr/>
          <p:nvPr/>
        </p:nvSpPr>
        <p:spPr>
          <a:xfrm>
            <a:off x="4700593" y="4147854"/>
            <a:ext cx="30651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None/>
            </a:pPr>
            <a:r>
              <a:rPr b="0" i="0" lang="en-ZA" sz="19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AI and Responsible Innovation activities for each session, in Short, Medium and Long formats, wrapped in handbook-style guidance.</a:t>
            </a:r>
            <a:endParaRPr sz="1600"/>
          </a:p>
        </p:txBody>
      </p:sp>
      <p:sp>
        <p:nvSpPr>
          <p:cNvPr id="678" name="Google Shape;678;p61"/>
          <p:cNvSpPr/>
          <p:nvPr/>
        </p:nvSpPr>
        <p:spPr>
          <a:xfrm>
            <a:off x="8328125" y="2149877"/>
            <a:ext cx="3666000" cy="3594000"/>
          </a:xfrm>
          <a:prstGeom prst="roundRect">
            <a:avLst>
              <a:gd fmla="val 3279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61"/>
          <p:cNvSpPr/>
          <p:nvPr/>
        </p:nvSpPr>
        <p:spPr>
          <a:xfrm>
            <a:off x="8657910" y="2489525"/>
            <a:ext cx="717900" cy="739500"/>
          </a:xfrm>
          <a:prstGeom prst="ellipse">
            <a:avLst/>
          </a:prstGeom>
          <a:solidFill>
            <a:srgbClr val="2E1B5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80" name="Google Shape;680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51702" y="2689123"/>
            <a:ext cx="330165" cy="340058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61"/>
          <p:cNvSpPr/>
          <p:nvPr/>
        </p:nvSpPr>
        <p:spPr>
          <a:xfrm>
            <a:off x="8657910" y="3368639"/>
            <a:ext cx="30843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300"/>
              <a:buFont typeface="Cambria"/>
              <a:buNone/>
            </a:pPr>
            <a:r>
              <a:rPr b="1" i="0" lang="en-ZA" sz="23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Notebooks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61"/>
          <p:cNvSpPr/>
          <p:nvPr/>
        </p:nvSpPr>
        <p:spPr>
          <a:xfrm>
            <a:off x="8657910" y="3823991"/>
            <a:ext cx="30843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600"/>
              <a:buFont typeface="Calibri"/>
              <a:buNone/>
            </a:pPr>
            <a:r>
              <a:rPr b="1" i="0" lang="en-ZA" sz="16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21 files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61"/>
          <p:cNvSpPr/>
          <p:nvPr/>
        </p:nvSpPr>
        <p:spPr>
          <a:xfrm>
            <a:off x="8657910" y="4147854"/>
            <a:ext cx="3065100" cy="9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None/>
            </a:pPr>
            <a:r>
              <a:rPr b="0" i="0" lang="en-ZA" sz="20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Jupyter labs for the AI Long activities </a:t>
            </a:r>
            <a:r>
              <a:rPr lang="en-ZA" sz="2000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ZA" sz="20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 in Student and Teacher versions  plus real datasets.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1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One home for everything </a:t>
            </a: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: </a:t>
            </a: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UCL Extend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62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Toolkit activities: AI &amp; RI</a:t>
            </a:r>
            <a:endParaRPr/>
          </a:p>
        </p:txBody>
      </p:sp>
      <p:sp>
        <p:nvSpPr>
          <p:cNvPr id="692" name="Google Shape;692;p62"/>
          <p:cNvSpPr/>
          <p:nvPr/>
        </p:nvSpPr>
        <p:spPr>
          <a:xfrm>
            <a:off x="668233" y="2465667"/>
            <a:ext cx="5292000" cy="2781900"/>
          </a:xfrm>
          <a:prstGeom prst="roundRect">
            <a:avLst>
              <a:gd fmla="val 2985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62"/>
          <p:cNvSpPr/>
          <p:nvPr/>
        </p:nvSpPr>
        <p:spPr>
          <a:xfrm>
            <a:off x="993900" y="2806100"/>
            <a:ext cx="705600" cy="670500"/>
          </a:xfrm>
          <a:prstGeom prst="ellipse">
            <a:avLst/>
          </a:prstGeom>
          <a:solidFill>
            <a:srgbClr val="3F6FB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94" name="Google Shape;69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4415" y="2987156"/>
            <a:ext cx="324580" cy="30846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62"/>
          <p:cNvSpPr/>
          <p:nvPr/>
        </p:nvSpPr>
        <p:spPr>
          <a:xfrm>
            <a:off x="1862341" y="2806104"/>
            <a:ext cx="3844500" cy="4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400"/>
              <a:buFont typeface="Cambria"/>
              <a:buNone/>
            </a:pPr>
            <a:r>
              <a:rPr b="1" i="0" lang="en-ZA" sz="24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AI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62"/>
          <p:cNvSpPr/>
          <p:nvPr/>
        </p:nvSpPr>
        <p:spPr>
          <a:xfrm>
            <a:off x="1862341" y="3096826"/>
            <a:ext cx="384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1" i="0" lang="en-ZA" sz="17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Technical skills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62"/>
          <p:cNvSpPr/>
          <p:nvPr/>
        </p:nvSpPr>
        <p:spPr>
          <a:xfrm>
            <a:off x="1048177" y="3561890"/>
            <a:ext cx="45504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Machine-learning foundations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Embeddings and neural networks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Mini-hackathons and end-to-end labs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Formats: Short - Medium - Long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Long activities come with lab notebooks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62"/>
          <p:cNvSpPr/>
          <p:nvPr/>
        </p:nvSpPr>
        <p:spPr>
          <a:xfrm>
            <a:off x="6168367" y="2465667"/>
            <a:ext cx="5292000" cy="2781900"/>
          </a:xfrm>
          <a:prstGeom prst="roundRect">
            <a:avLst>
              <a:gd fmla="val 2985" name="adj"/>
            </a:avLst>
          </a:prstGeom>
          <a:solidFill>
            <a:srgbClr val="F5F2FA"/>
          </a:solidFill>
          <a:ln>
            <a:noFill/>
          </a:ln>
          <a:effectLst>
            <a:outerShdw blurRad="118533" rotWithShape="0" algn="bl" dir="5400000" dist="508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62"/>
          <p:cNvSpPr/>
          <p:nvPr/>
        </p:nvSpPr>
        <p:spPr>
          <a:xfrm>
            <a:off x="6494033" y="2806101"/>
            <a:ext cx="705600" cy="670500"/>
          </a:xfrm>
          <a:prstGeom prst="ellipse">
            <a:avLst/>
          </a:prstGeom>
          <a:solidFill>
            <a:srgbClr val="B582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00" name="Google Shape;700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84548" y="2987156"/>
            <a:ext cx="324580" cy="308465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62"/>
          <p:cNvSpPr/>
          <p:nvPr/>
        </p:nvSpPr>
        <p:spPr>
          <a:xfrm>
            <a:off x="7362474" y="2843490"/>
            <a:ext cx="38445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2400"/>
              <a:buFont typeface="Cambria"/>
              <a:buNone/>
            </a:pPr>
            <a:r>
              <a:rPr b="1" i="0" lang="en-ZA" sz="2400" u="none" cap="none" strike="noStrike">
                <a:solidFill>
                  <a:srgbClr val="2E1B52"/>
                </a:solidFill>
                <a:latin typeface="Cambria"/>
                <a:ea typeface="Cambria"/>
                <a:cs typeface="Cambria"/>
                <a:sym typeface="Cambria"/>
              </a:rPr>
              <a:t>RI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62"/>
          <p:cNvSpPr/>
          <p:nvPr/>
        </p:nvSpPr>
        <p:spPr>
          <a:xfrm>
            <a:off x="7362474" y="3096826"/>
            <a:ext cx="38445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alibri"/>
              <a:buNone/>
            </a:pPr>
            <a:r>
              <a:rPr b="1" i="0" lang="en-ZA" sz="1700" u="none" cap="none" strike="noStrike">
                <a:solidFill>
                  <a:srgbClr val="B5821A"/>
                </a:solidFill>
                <a:latin typeface="Calibri"/>
                <a:ea typeface="Calibri"/>
                <a:cs typeface="Calibri"/>
                <a:sym typeface="Calibri"/>
              </a:rPr>
              <a:t>Responsible innovation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62"/>
          <p:cNvSpPr/>
          <p:nvPr/>
        </p:nvSpPr>
        <p:spPr>
          <a:xfrm>
            <a:off x="6548310" y="3561890"/>
            <a:ext cx="45504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13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Ethics and responsibility in AI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Societal impact and fairness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Reflection and structured discussion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Formats: Short - Medium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13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A3A3A"/>
              </a:buClr>
              <a:buSzPts val="1700"/>
              <a:buFont typeface="Calibri"/>
              <a:buChar char="•"/>
            </a:pPr>
            <a:r>
              <a:rPr b="0" i="0" lang="en-ZA" sz="17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Facilitation guides</a:t>
            </a:r>
            <a:endParaRPr b="0" i="0" sz="1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725" y="70051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63"/>
          <p:cNvSpPr/>
          <p:nvPr/>
        </p:nvSpPr>
        <p:spPr>
          <a:xfrm>
            <a:off x="487680" y="314721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Long labs &amp; notebooks</a:t>
            </a:r>
            <a:endParaRPr/>
          </a:p>
        </p:txBody>
      </p:sp>
      <p:sp>
        <p:nvSpPr>
          <p:cNvPr id="711" name="Google Shape;711;p63"/>
          <p:cNvSpPr/>
          <p:nvPr/>
        </p:nvSpPr>
        <p:spPr>
          <a:xfrm>
            <a:off x="291512" y="1718975"/>
            <a:ext cx="492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1" i="0" lang="en-ZA" sz="21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AI Long activity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63"/>
          <p:cNvSpPr/>
          <p:nvPr/>
        </p:nvSpPr>
        <p:spPr>
          <a:xfrm>
            <a:off x="6189863" y="1718975"/>
            <a:ext cx="5118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700"/>
              <a:buFont typeface="Calibri"/>
              <a:buNone/>
            </a:pPr>
            <a:r>
              <a:rPr b="1" i="0" lang="en-ZA" sz="2100" u="none" cap="none" strike="noStrike">
                <a:solidFill>
                  <a:srgbClr val="2E1B52"/>
                </a:solidFill>
                <a:latin typeface="Calibri"/>
                <a:ea typeface="Calibri"/>
                <a:cs typeface="Calibri"/>
                <a:sym typeface="Calibri"/>
              </a:rPr>
              <a:t>Lab notebook  ·  Student + Teacher</a:t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63"/>
          <p:cNvSpPr/>
          <p:nvPr/>
        </p:nvSpPr>
        <p:spPr>
          <a:xfrm>
            <a:off x="170733" y="2548486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63"/>
          <p:cNvSpPr/>
          <p:nvPr/>
        </p:nvSpPr>
        <p:spPr>
          <a:xfrm>
            <a:off x="360312" y="2591158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3"/>
          <p:cNvSpPr/>
          <p:nvPr/>
        </p:nvSpPr>
        <p:spPr>
          <a:xfrm>
            <a:off x="360312" y="2591158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9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1.7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63"/>
          <p:cNvSpPr/>
          <p:nvPr/>
        </p:nvSpPr>
        <p:spPr>
          <a:xfrm>
            <a:off x="1450391" y="2548486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9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Machine-learning lab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63"/>
          <p:cNvSpPr/>
          <p:nvPr/>
        </p:nvSpPr>
        <p:spPr>
          <a:xfrm>
            <a:off x="5431548" y="2548486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3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63"/>
          <p:cNvSpPr/>
          <p:nvPr/>
        </p:nvSpPr>
        <p:spPr>
          <a:xfrm>
            <a:off x="6189863" y="2548486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8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1.7  </a:t>
            </a:r>
            <a:r>
              <a:rPr b="0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63"/>
          <p:cNvSpPr/>
          <p:nvPr/>
        </p:nvSpPr>
        <p:spPr>
          <a:xfrm>
            <a:off x="360312" y="3170277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63"/>
          <p:cNvSpPr/>
          <p:nvPr/>
        </p:nvSpPr>
        <p:spPr>
          <a:xfrm>
            <a:off x="360312" y="3170277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9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2.6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63"/>
          <p:cNvSpPr/>
          <p:nvPr/>
        </p:nvSpPr>
        <p:spPr>
          <a:xfrm>
            <a:off x="1450391" y="3127605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9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Mini-hackathon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63"/>
          <p:cNvSpPr/>
          <p:nvPr/>
        </p:nvSpPr>
        <p:spPr>
          <a:xfrm>
            <a:off x="5431548" y="3127605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3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63"/>
          <p:cNvSpPr/>
          <p:nvPr/>
        </p:nvSpPr>
        <p:spPr>
          <a:xfrm>
            <a:off x="6189863" y="3127605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8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2.6  </a:t>
            </a:r>
            <a:r>
              <a:rPr b="0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63"/>
          <p:cNvSpPr/>
          <p:nvPr/>
        </p:nvSpPr>
        <p:spPr>
          <a:xfrm>
            <a:off x="170733" y="3706725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63"/>
          <p:cNvSpPr/>
          <p:nvPr/>
        </p:nvSpPr>
        <p:spPr>
          <a:xfrm>
            <a:off x="360312" y="3749397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63"/>
          <p:cNvSpPr/>
          <p:nvPr/>
        </p:nvSpPr>
        <p:spPr>
          <a:xfrm>
            <a:off x="360312" y="3749397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9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2.7A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63"/>
          <p:cNvSpPr/>
          <p:nvPr/>
        </p:nvSpPr>
        <p:spPr>
          <a:xfrm>
            <a:off x="1450391" y="3706725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9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Small-embeddings lab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63"/>
          <p:cNvSpPr/>
          <p:nvPr/>
        </p:nvSpPr>
        <p:spPr>
          <a:xfrm>
            <a:off x="5431548" y="3706725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3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63"/>
          <p:cNvSpPr/>
          <p:nvPr/>
        </p:nvSpPr>
        <p:spPr>
          <a:xfrm>
            <a:off x="6189863" y="3706725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8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2.7A  </a:t>
            </a:r>
            <a:r>
              <a:rPr b="0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63"/>
          <p:cNvSpPr/>
          <p:nvPr/>
        </p:nvSpPr>
        <p:spPr>
          <a:xfrm>
            <a:off x="360312" y="4328516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63"/>
          <p:cNvSpPr/>
          <p:nvPr/>
        </p:nvSpPr>
        <p:spPr>
          <a:xfrm>
            <a:off x="360312" y="4328516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9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3.7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63"/>
          <p:cNvSpPr/>
          <p:nvPr/>
        </p:nvSpPr>
        <p:spPr>
          <a:xfrm>
            <a:off x="1450391" y="4285844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9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Neural Network Training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63"/>
          <p:cNvSpPr/>
          <p:nvPr/>
        </p:nvSpPr>
        <p:spPr>
          <a:xfrm>
            <a:off x="5431548" y="4285844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3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3"/>
          <p:cNvSpPr/>
          <p:nvPr/>
        </p:nvSpPr>
        <p:spPr>
          <a:xfrm>
            <a:off x="6189863" y="4285844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8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3.7  </a:t>
            </a:r>
            <a:r>
              <a:rPr b="0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63"/>
          <p:cNvSpPr/>
          <p:nvPr/>
        </p:nvSpPr>
        <p:spPr>
          <a:xfrm>
            <a:off x="170733" y="4864964"/>
            <a:ext cx="11118900" cy="518100"/>
          </a:xfrm>
          <a:prstGeom prst="rect">
            <a:avLst/>
          </a:prstGeom>
          <a:solidFill>
            <a:srgbClr val="F7F5F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63"/>
          <p:cNvSpPr/>
          <p:nvPr/>
        </p:nvSpPr>
        <p:spPr>
          <a:xfrm>
            <a:off x="360312" y="4907636"/>
            <a:ext cx="900300" cy="432900"/>
          </a:xfrm>
          <a:prstGeom prst="roundRect">
            <a:avLst>
              <a:gd fmla="val 14085" name="adj"/>
            </a:avLst>
          </a:prstGeom>
          <a:solidFill>
            <a:srgbClr val="FBF1D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63"/>
          <p:cNvSpPr/>
          <p:nvPr/>
        </p:nvSpPr>
        <p:spPr>
          <a:xfrm>
            <a:off x="360312" y="4907636"/>
            <a:ext cx="9003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821A"/>
              </a:buClr>
              <a:buSzPts val="1700"/>
              <a:buFont typeface="Courier New"/>
              <a:buNone/>
            </a:pPr>
            <a:r>
              <a:rPr b="1" i="0" lang="en-ZA" sz="1900" u="none" cap="none" strike="noStrike">
                <a:solidFill>
                  <a:srgbClr val="B5821A"/>
                </a:solidFill>
                <a:latin typeface="Courier New"/>
                <a:ea typeface="Courier New"/>
                <a:cs typeface="Courier New"/>
                <a:sym typeface="Courier New"/>
              </a:rPr>
              <a:t>4.6A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63"/>
          <p:cNvSpPr/>
          <p:nvPr/>
        </p:nvSpPr>
        <p:spPr>
          <a:xfrm>
            <a:off x="1450391" y="4864964"/>
            <a:ext cx="383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6FB0"/>
              </a:buClr>
              <a:buSzPts val="1700"/>
              <a:buFont typeface="Calibri"/>
              <a:buNone/>
            </a:pPr>
            <a:r>
              <a:rPr b="0" i="0" lang="en-ZA" sz="1900" u="none" cap="none" strike="noStrike">
                <a:solidFill>
                  <a:srgbClr val="3F6FB0"/>
                </a:solidFill>
                <a:latin typeface="Calibri"/>
                <a:ea typeface="Calibri"/>
                <a:cs typeface="Calibri"/>
                <a:sym typeface="Calibri"/>
              </a:rPr>
              <a:t>From-embeddings lab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63"/>
          <p:cNvSpPr/>
          <p:nvPr/>
        </p:nvSpPr>
        <p:spPr>
          <a:xfrm>
            <a:off x="5431548" y="4864964"/>
            <a:ext cx="5688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A92E"/>
              </a:buClr>
              <a:buSzPts val="2100"/>
              <a:buFont typeface="Calibri"/>
              <a:buNone/>
            </a:pPr>
            <a:r>
              <a:rPr b="1" i="0" lang="en-ZA" sz="2300" u="none" cap="none" strike="noStrike">
                <a:solidFill>
                  <a:srgbClr val="E0A92E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63"/>
          <p:cNvSpPr/>
          <p:nvPr/>
        </p:nvSpPr>
        <p:spPr>
          <a:xfrm>
            <a:off x="6189863" y="4864964"/>
            <a:ext cx="5023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1B52"/>
              </a:buClr>
              <a:buSzPts val="1600"/>
              <a:buFont typeface="Courier New"/>
              <a:buNone/>
            </a:pPr>
            <a:r>
              <a:rPr b="1" i="0" lang="en-ZA" sz="1800" u="none" cap="none" strike="noStrike">
                <a:solidFill>
                  <a:srgbClr val="2E1B52"/>
                </a:solidFill>
                <a:latin typeface="Courier New"/>
                <a:ea typeface="Courier New"/>
                <a:cs typeface="Courier New"/>
                <a:sym typeface="Courier New"/>
              </a:rPr>
              <a:t>4.6A  </a:t>
            </a:r>
            <a:r>
              <a:rPr b="0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Lab notebook  · 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Student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b="1" i="0" lang="en-ZA" sz="1800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r>
              <a:rPr b="0" i="0" lang="en-ZA" sz="1800" u="none" cap="none" strike="noStrike">
                <a:solidFill>
                  <a:srgbClr val="8A8A98"/>
                </a:solidFill>
                <a:latin typeface="Calibri"/>
                <a:ea typeface="Calibri"/>
                <a:cs typeface="Calibri"/>
                <a:sym typeface="Calibri"/>
              </a:rPr>
              <a:t>  .ipynb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4"/>
          <p:cNvSpPr/>
          <p:nvPr/>
        </p:nvSpPr>
        <p:spPr>
          <a:xfrm>
            <a:off x="501213" y="759640"/>
            <a:ext cx="8534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The Two Pillars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4"/>
          <p:cNvSpPr/>
          <p:nvPr/>
        </p:nvSpPr>
        <p:spPr>
          <a:xfrm>
            <a:off x="487675" y="2012300"/>
            <a:ext cx="5547300" cy="30573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64"/>
          <p:cNvSpPr/>
          <p:nvPr/>
        </p:nvSpPr>
        <p:spPr>
          <a:xfrm>
            <a:off x="792480" y="2256151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4"/>
          <p:cNvSpPr/>
          <p:nvPr/>
        </p:nvSpPr>
        <p:spPr>
          <a:xfrm>
            <a:off x="792480" y="2865751"/>
            <a:ext cx="499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Cognitive domain  -  Technical  -  Hands-on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4"/>
          <p:cNvSpPr/>
          <p:nvPr/>
        </p:nvSpPr>
        <p:spPr>
          <a:xfrm>
            <a:off x="792480" y="3292471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rPr b="0" i="1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“How does it work?”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64"/>
          <p:cNvSpPr/>
          <p:nvPr/>
        </p:nvSpPr>
        <p:spPr>
          <a:xfrm>
            <a:off x="792480" y="3921801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Asks learners to implement, compute, train, compare, or design something technical.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64"/>
          <p:cNvSpPr/>
          <p:nvPr/>
        </p:nvSpPr>
        <p:spPr>
          <a:xfrm>
            <a:off x="6156975" y="2012299"/>
            <a:ext cx="5547300" cy="30573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64"/>
          <p:cNvSpPr/>
          <p:nvPr/>
        </p:nvSpPr>
        <p:spPr>
          <a:xfrm>
            <a:off x="6461760" y="2256151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64"/>
          <p:cNvSpPr/>
          <p:nvPr/>
        </p:nvSpPr>
        <p:spPr>
          <a:xfrm>
            <a:off x="6461760" y="2865751"/>
            <a:ext cx="499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rPr b="1" i="0" lang="en-ZA" sz="13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Affective domain  -  Ethical  -  Reflective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64"/>
          <p:cNvSpPr/>
          <p:nvPr/>
        </p:nvSpPr>
        <p:spPr>
          <a:xfrm>
            <a:off x="6461760" y="3395546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rPr b="0" i="1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“Who does it affect - and why does that matter?”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64"/>
          <p:cNvSpPr/>
          <p:nvPr/>
        </p:nvSpPr>
        <p:spPr>
          <a:xfrm>
            <a:off x="6431185" y="3986551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9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Asks learners to reflect, discuss, evaluate values, map stakeholders, or surface missing voices.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8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5"/>
          <p:cNvSpPr/>
          <p:nvPr/>
        </p:nvSpPr>
        <p:spPr>
          <a:xfrm>
            <a:off x="518280" y="570307"/>
            <a:ext cx="85344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1 - Build Your Own SLM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5"/>
          <p:cNvSpPr/>
          <p:nvPr/>
        </p:nvSpPr>
        <p:spPr>
          <a:xfrm>
            <a:off x="5182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65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65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65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65"/>
          <p:cNvSpPr/>
          <p:nvPr/>
        </p:nvSpPr>
        <p:spPr>
          <a:xfrm>
            <a:off x="761867" y="4007066"/>
            <a:ext cx="4998900" cy="12783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65"/>
          <p:cNvSpPr/>
          <p:nvPr/>
        </p:nvSpPr>
        <p:spPr>
          <a:xfrm>
            <a:off x="975367" y="4145367"/>
            <a:ext cx="46329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Experiment with N-grams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Build a probabilistic next-word predictor and test its limits on a small corpus.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65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5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5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5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65"/>
          <p:cNvSpPr/>
          <p:nvPr/>
        </p:nvSpPr>
        <p:spPr>
          <a:xfrm>
            <a:off x="6431167" y="4007033"/>
            <a:ext cx="4998900" cy="12783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5"/>
          <p:cNvSpPr/>
          <p:nvPr/>
        </p:nvSpPr>
        <p:spPr>
          <a:xfrm>
            <a:off x="6644767" y="4096967"/>
            <a:ext cx="4632900" cy="9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Applying a local ethical lens to the trolley problem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Explore your own ethical framework: thoughts, feelings, and values.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6"/>
          <p:cNvSpPr/>
          <p:nvPr/>
        </p:nvSpPr>
        <p:spPr>
          <a:xfrm>
            <a:off x="487667" y="653033"/>
            <a:ext cx="112443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2 - Represent Your Language Data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6"/>
          <p:cNvSpPr/>
          <p:nvPr/>
        </p:nvSpPr>
        <p:spPr>
          <a:xfrm>
            <a:off x="487680" y="2385848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66"/>
          <p:cNvSpPr/>
          <p:nvPr/>
        </p:nvSpPr>
        <p:spPr>
          <a:xfrm>
            <a:off x="792480" y="2629688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6"/>
          <p:cNvSpPr/>
          <p:nvPr/>
        </p:nvSpPr>
        <p:spPr>
          <a:xfrm>
            <a:off x="792480" y="3666008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6"/>
          <p:cNvSpPr/>
          <p:nvPr/>
        </p:nvSpPr>
        <p:spPr>
          <a:xfrm>
            <a:off x="792480" y="4153688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6"/>
          <p:cNvSpPr/>
          <p:nvPr/>
        </p:nvSpPr>
        <p:spPr>
          <a:xfrm>
            <a:off x="792467" y="4017003"/>
            <a:ext cx="4998900" cy="14316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66"/>
          <p:cNvSpPr/>
          <p:nvPr/>
        </p:nvSpPr>
        <p:spPr>
          <a:xfrm>
            <a:off x="975367" y="3726967"/>
            <a:ext cx="4632900" cy="15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Implement a BPE Tokenizer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Iteratively merge subword tokens on a small corpus to see how modern tokenizers learn.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66"/>
          <p:cNvSpPr/>
          <p:nvPr/>
        </p:nvSpPr>
        <p:spPr>
          <a:xfrm>
            <a:off x="6156960" y="2385848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66"/>
          <p:cNvSpPr/>
          <p:nvPr/>
        </p:nvSpPr>
        <p:spPr>
          <a:xfrm>
            <a:off x="6461760" y="2629688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6"/>
          <p:cNvSpPr/>
          <p:nvPr/>
        </p:nvSpPr>
        <p:spPr>
          <a:xfrm>
            <a:off x="6461760" y="4153688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6"/>
          <p:cNvSpPr/>
          <p:nvPr/>
        </p:nvSpPr>
        <p:spPr>
          <a:xfrm>
            <a:off x="6461767" y="4017200"/>
            <a:ext cx="4998900" cy="14316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6"/>
          <p:cNvSpPr/>
          <p:nvPr/>
        </p:nvSpPr>
        <p:spPr>
          <a:xfrm>
            <a:off x="6644633" y="3928230"/>
            <a:ext cx="4632900" cy="126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Whose voice is missing?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Reflect on the exclusion introduced by dataset selection when training LLMs.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0" name="Google Shape;80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1823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67"/>
          <p:cNvSpPr/>
          <p:nvPr/>
        </p:nvSpPr>
        <p:spPr>
          <a:xfrm>
            <a:off x="487667" y="644667"/>
            <a:ext cx="114813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3 - Design &amp; Train Neural Networks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67"/>
          <p:cNvSpPr/>
          <p:nvPr/>
        </p:nvSpPr>
        <p:spPr>
          <a:xfrm>
            <a:off x="4876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67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67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67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7"/>
          <p:cNvSpPr/>
          <p:nvPr/>
        </p:nvSpPr>
        <p:spPr>
          <a:xfrm>
            <a:off x="792467" y="3828870"/>
            <a:ext cx="4998900" cy="15696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67"/>
          <p:cNvSpPr/>
          <p:nvPr/>
        </p:nvSpPr>
        <p:spPr>
          <a:xfrm>
            <a:off x="975367" y="3889736"/>
            <a:ext cx="46329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Mitigate Overfitting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Apply early stopping, dropout and regularization to build models that generalise.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67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67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67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67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67"/>
          <p:cNvSpPr/>
          <p:nvPr/>
        </p:nvSpPr>
        <p:spPr>
          <a:xfrm>
            <a:off x="6461767" y="3787588"/>
            <a:ext cx="4998900" cy="15696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67"/>
          <p:cNvSpPr/>
          <p:nvPr/>
        </p:nvSpPr>
        <p:spPr>
          <a:xfrm>
            <a:off x="6644767" y="3909620"/>
            <a:ext cx="4632900" cy="12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Anticipating risks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What can be learned from the challenges identified for LLMs in the research literature?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" name="Google Shape;81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00" y="105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8"/>
          <p:cNvSpPr/>
          <p:nvPr/>
        </p:nvSpPr>
        <p:spPr>
          <a:xfrm>
            <a:off x="302167" y="722600"/>
            <a:ext cx="122709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4 - Discover the Transformer Architecture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68"/>
          <p:cNvSpPr/>
          <p:nvPr/>
        </p:nvSpPr>
        <p:spPr>
          <a:xfrm>
            <a:off x="4876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68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8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68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68"/>
          <p:cNvSpPr/>
          <p:nvPr/>
        </p:nvSpPr>
        <p:spPr>
          <a:xfrm>
            <a:off x="871300" y="3704328"/>
            <a:ext cx="4998900" cy="14451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68"/>
          <p:cNvSpPr/>
          <p:nvPr/>
        </p:nvSpPr>
        <p:spPr>
          <a:xfrm>
            <a:off x="1105921" y="3735184"/>
            <a:ext cx="4632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Lab: Implement Masked Multi-Head Attention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Extend a single attention head and investigate which dependencies different heads capture.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68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68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8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8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68"/>
          <p:cNvSpPr/>
          <p:nvPr/>
        </p:nvSpPr>
        <p:spPr>
          <a:xfrm>
            <a:off x="6461767" y="3704330"/>
            <a:ext cx="4998900" cy="14451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68"/>
          <p:cNvSpPr/>
          <p:nvPr/>
        </p:nvSpPr>
        <p:spPr>
          <a:xfrm>
            <a:off x="6644633" y="3476795"/>
            <a:ext cx="4632900" cy="16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Community values and meaning in an automated world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How do human interactions create shared meaning, and what may be lost when automated?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38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7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69"/>
          <p:cNvSpPr/>
          <p:nvPr/>
        </p:nvSpPr>
        <p:spPr>
          <a:xfrm>
            <a:off x="487665" y="516133"/>
            <a:ext cx="95496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5 - Fine-Tune Your Model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9"/>
          <p:cNvSpPr/>
          <p:nvPr/>
        </p:nvSpPr>
        <p:spPr>
          <a:xfrm>
            <a:off x="48768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9"/>
          <p:cNvSpPr/>
          <p:nvPr/>
        </p:nvSpPr>
        <p:spPr>
          <a:xfrm>
            <a:off x="79248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9"/>
          <p:cNvSpPr/>
          <p:nvPr/>
        </p:nvSpPr>
        <p:spPr>
          <a:xfrm>
            <a:off x="79248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69"/>
          <p:cNvSpPr/>
          <p:nvPr/>
        </p:nvSpPr>
        <p:spPr>
          <a:xfrm>
            <a:off x="79248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69"/>
          <p:cNvSpPr/>
          <p:nvPr/>
        </p:nvSpPr>
        <p:spPr>
          <a:xfrm>
            <a:off x="792467" y="3851508"/>
            <a:ext cx="4998900" cy="16461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69"/>
          <p:cNvSpPr/>
          <p:nvPr/>
        </p:nvSpPr>
        <p:spPr>
          <a:xfrm>
            <a:off x="975367" y="3915206"/>
            <a:ext cx="46329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How will your model respond?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Work out by hand how to format prompts for different tasks.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69"/>
          <p:cNvSpPr/>
          <p:nvPr/>
        </p:nvSpPr>
        <p:spPr>
          <a:xfrm>
            <a:off x="6156960" y="2438400"/>
            <a:ext cx="5547300" cy="35967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69"/>
          <p:cNvSpPr/>
          <p:nvPr/>
        </p:nvSpPr>
        <p:spPr>
          <a:xfrm>
            <a:off x="6461760" y="2682240"/>
            <a:ext cx="49989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69"/>
          <p:cNvSpPr/>
          <p:nvPr/>
        </p:nvSpPr>
        <p:spPr>
          <a:xfrm>
            <a:off x="6461760" y="3718560"/>
            <a:ext cx="499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69"/>
          <p:cNvSpPr/>
          <p:nvPr/>
        </p:nvSpPr>
        <p:spPr>
          <a:xfrm>
            <a:off x="6461760" y="4206240"/>
            <a:ext cx="4998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9"/>
          <p:cNvSpPr/>
          <p:nvPr/>
        </p:nvSpPr>
        <p:spPr>
          <a:xfrm>
            <a:off x="6461767" y="3816917"/>
            <a:ext cx="4998900" cy="17067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9"/>
          <p:cNvSpPr/>
          <p:nvPr/>
        </p:nvSpPr>
        <p:spPr>
          <a:xfrm>
            <a:off x="6644633" y="3941382"/>
            <a:ext cx="4632900" cy="15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Imagining AI in cultural contexts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Write a short story exploring local values and meanings around AI in your context.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7" name="Google Shape;85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0"/>
          <p:cNvSpPr/>
          <p:nvPr/>
        </p:nvSpPr>
        <p:spPr>
          <a:xfrm>
            <a:off x="487667" y="387300"/>
            <a:ext cx="97335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Course 7 - Accelerate Your Model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0"/>
          <p:cNvSpPr/>
          <p:nvPr/>
        </p:nvSpPr>
        <p:spPr>
          <a:xfrm>
            <a:off x="487667" y="1959258"/>
            <a:ext cx="5547300" cy="40761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70"/>
          <p:cNvSpPr/>
          <p:nvPr/>
        </p:nvSpPr>
        <p:spPr>
          <a:xfrm>
            <a:off x="792467" y="2235581"/>
            <a:ext cx="4998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70"/>
          <p:cNvSpPr/>
          <p:nvPr/>
        </p:nvSpPr>
        <p:spPr>
          <a:xfrm>
            <a:off x="792467" y="3409952"/>
            <a:ext cx="4998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70"/>
          <p:cNvSpPr/>
          <p:nvPr/>
        </p:nvSpPr>
        <p:spPr>
          <a:xfrm>
            <a:off x="792467" y="3962598"/>
            <a:ext cx="49989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70"/>
          <p:cNvSpPr/>
          <p:nvPr/>
        </p:nvSpPr>
        <p:spPr>
          <a:xfrm>
            <a:off x="792467" y="3402773"/>
            <a:ext cx="4998900" cy="1807500"/>
          </a:xfrm>
          <a:prstGeom prst="rect">
            <a:avLst/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70"/>
          <p:cNvSpPr/>
          <p:nvPr/>
        </p:nvSpPr>
        <p:spPr>
          <a:xfrm>
            <a:off x="975333" y="3205710"/>
            <a:ext cx="4632900" cy="157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Smart numbers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Reason through how lower-precision numbers let you train bigger, more powerful models.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6156957" y="1959258"/>
            <a:ext cx="5547300" cy="40761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70"/>
          <p:cNvSpPr/>
          <p:nvPr/>
        </p:nvSpPr>
        <p:spPr>
          <a:xfrm>
            <a:off x="6461757" y="2235581"/>
            <a:ext cx="4998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900"/>
              <a:buFont typeface="Georgia"/>
              <a:buNone/>
            </a:pPr>
            <a:r>
              <a:rPr b="1" i="0" lang="en-ZA" sz="29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RI Activities</a:t>
            </a:r>
            <a:endParaRPr b="0" i="0" sz="2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70"/>
          <p:cNvSpPr/>
          <p:nvPr/>
        </p:nvSpPr>
        <p:spPr>
          <a:xfrm>
            <a:off x="6461757" y="3409952"/>
            <a:ext cx="4998900" cy="4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2000"/>
              <a:buFont typeface="Georgia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70"/>
          <p:cNvSpPr/>
          <p:nvPr/>
        </p:nvSpPr>
        <p:spPr>
          <a:xfrm>
            <a:off x="6461757" y="3962598"/>
            <a:ext cx="49989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70"/>
          <p:cNvSpPr/>
          <p:nvPr/>
        </p:nvSpPr>
        <p:spPr>
          <a:xfrm>
            <a:off x="6461767" y="3356443"/>
            <a:ext cx="4998900" cy="1865100"/>
          </a:xfrm>
          <a:prstGeom prst="rect">
            <a:avLst/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70"/>
          <p:cNvSpPr/>
          <p:nvPr/>
        </p:nvSpPr>
        <p:spPr>
          <a:xfrm>
            <a:off x="6644767" y="3361480"/>
            <a:ext cx="4632900" cy="15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ZA" sz="19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Environmental impacts of LLMs 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ZA" sz="15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Map how stakeholders are affected by the environmental costs of fine-tuning LLMs.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Google Shape;87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1"/>
          <p:cNvSpPr/>
          <p:nvPr/>
        </p:nvSpPr>
        <p:spPr>
          <a:xfrm>
            <a:off x="487680" y="1225290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Classify an Activity, AI? RI? Which level?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71"/>
          <p:cNvSpPr/>
          <p:nvPr/>
        </p:nvSpPr>
        <p:spPr>
          <a:xfrm>
            <a:off x="487680" y="2536336"/>
            <a:ext cx="5547300" cy="24993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487680" y="2536336"/>
            <a:ext cx="5547300" cy="390000"/>
          </a:xfrm>
          <a:prstGeom prst="rect">
            <a:avLst/>
          </a:prstGeom>
          <a:solidFill>
            <a:srgbClr val="0E6E8A"/>
          </a:solidFill>
          <a:ln cap="flat" cmpd="sng" w="16925">
            <a:solidFill>
              <a:srgbClr val="0E6E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670560" y="2585104"/>
            <a:ext cx="51816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71"/>
          <p:cNvSpPr/>
          <p:nvPr/>
        </p:nvSpPr>
        <p:spPr>
          <a:xfrm>
            <a:off x="572534" y="3084989"/>
            <a:ext cx="5340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Georgia"/>
              <a:buNone/>
            </a:pPr>
            <a:r>
              <a:rPr b="0" i="1" lang="en-ZA" sz="18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“Train a convolutional neural network to classify maize leaf images as healthy, blighted, or rust-infected using a labelled dataset of 5,000 photographs from Kenyan smallholder farms”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71"/>
          <p:cNvSpPr/>
          <p:nvPr/>
        </p:nvSpPr>
        <p:spPr>
          <a:xfrm>
            <a:off x="731520" y="4365136"/>
            <a:ext cx="914400" cy="390000"/>
          </a:xfrm>
          <a:prstGeom prst="roundRect">
            <a:avLst>
              <a:gd fmla="val 37500" name="adj"/>
            </a:avLst>
          </a:prstGeom>
          <a:solidFill>
            <a:srgbClr val="E3EEF3"/>
          </a:solidFill>
          <a:ln cap="flat" cmpd="sng" w="16925">
            <a:solidFill>
              <a:srgbClr val="E3EE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71"/>
          <p:cNvSpPr/>
          <p:nvPr/>
        </p:nvSpPr>
        <p:spPr>
          <a:xfrm>
            <a:off x="731520" y="4365136"/>
            <a:ext cx="914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E8A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0E6E8A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1"/>
          <p:cNvSpPr/>
          <p:nvPr/>
        </p:nvSpPr>
        <p:spPr>
          <a:xfrm>
            <a:off x="1767840" y="4365136"/>
            <a:ext cx="1463100" cy="390000"/>
          </a:xfrm>
          <a:prstGeom prst="roundRect">
            <a:avLst>
              <a:gd fmla="val 37500" name="adj"/>
            </a:avLst>
          </a:prstGeom>
          <a:solidFill>
            <a:srgbClr val="F4F2F8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71"/>
          <p:cNvSpPr/>
          <p:nvPr/>
        </p:nvSpPr>
        <p:spPr>
          <a:xfrm>
            <a:off x="1767840" y="4365136"/>
            <a:ext cx="1463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Apply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71"/>
          <p:cNvSpPr/>
          <p:nvPr/>
        </p:nvSpPr>
        <p:spPr>
          <a:xfrm>
            <a:off x="6156960" y="2536336"/>
            <a:ext cx="5547300" cy="24993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1"/>
          <p:cNvSpPr/>
          <p:nvPr/>
        </p:nvSpPr>
        <p:spPr>
          <a:xfrm>
            <a:off x="6156960" y="2536336"/>
            <a:ext cx="5547300" cy="390000"/>
          </a:xfrm>
          <a:prstGeom prst="rect">
            <a:avLst/>
          </a:prstGeom>
          <a:solidFill>
            <a:srgbClr val="B45309"/>
          </a:solidFill>
          <a:ln cap="flat" cmpd="sng" w="16925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71"/>
          <p:cNvSpPr/>
          <p:nvPr/>
        </p:nvSpPr>
        <p:spPr>
          <a:xfrm>
            <a:off x="6339840" y="2585104"/>
            <a:ext cx="51816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Z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Example 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71"/>
          <p:cNvSpPr/>
          <p:nvPr/>
        </p:nvSpPr>
        <p:spPr>
          <a:xfrm>
            <a:off x="6400800" y="3024016"/>
            <a:ext cx="51816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Georgia"/>
              <a:buNone/>
            </a:pPr>
            <a:r>
              <a:rPr b="0" i="1" lang="en-ZA" sz="19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“If your model misdiagnoses a smallholder farmer's only crop, who bears the cost?”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71"/>
          <p:cNvSpPr/>
          <p:nvPr/>
        </p:nvSpPr>
        <p:spPr>
          <a:xfrm>
            <a:off x="6400800" y="4365136"/>
            <a:ext cx="914400" cy="390000"/>
          </a:xfrm>
          <a:prstGeom prst="roundRect">
            <a:avLst>
              <a:gd fmla="val 37500" name="adj"/>
            </a:avLst>
          </a:prstGeom>
          <a:solidFill>
            <a:srgbClr val="FDF1E0"/>
          </a:solidFill>
          <a:ln cap="flat" cmpd="sng" w="16925">
            <a:solidFill>
              <a:srgbClr val="FDF1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71"/>
          <p:cNvSpPr/>
          <p:nvPr/>
        </p:nvSpPr>
        <p:spPr>
          <a:xfrm>
            <a:off x="6400800" y="4365136"/>
            <a:ext cx="914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1500"/>
              <a:buFont typeface="Calibri"/>
              <a:buNone/>
            </a:pPr>
            <a:r>
              <a:rPr b="1" i="0" lang="en-ZA" sz="15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RI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71"/>
          <p:cNvSpPr/>
          <p:nvPr/>
        </p:nvSpPr>
        <p:spPr>
          <a:xfrm>
            <a:off x="7437120" y="4365136"/>
            <a:ext cx="1463100" cy="390000"/>
          </a:xfrm>
          <a:prstGeom prst="roundRect">
            <a:avLst>
              <a:gd fmla="val 37500" name="adj"/>
            </a:avLst>
          </a:prstGeom>
          <a:solidFill>
            <a:srgbClr val="F4F2F8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71"/>
          <p:cNvSpPr/>
          <p:nvPr/>
        </p:nvSpPr>
        <p:spPr>
          <a:xfrm>
            <a:off x="7437120" y="4365136"/>
            <a:ext cx="14631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1500"/>
              <a:buFont typeface="Calibri"/>
              <a:buNone/>
            </a:pPr>
            <a:r>
              <a:rPr b="0" i="0" lang="en-ZA" sz="15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Respond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9" name="Google Shape;899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2"/>
          <p:cNvSpPr txBox="1"/>
          <p:nvPr/>
        </p:nvSpPr>
        <p:spPr>
          <a:xfrm>
            <a:off x="86125" y="2691817"/>
            <a:ext cx="116937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AI Activity or RI Activity?</a:t>
            </a:r>
            <a:endParaRPr b="1" sz="4000">
              <a:solidFill>
                <a:srgbClr val="2C1458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n-ZA" sz="4000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Which level in Bloom’s Taxonomy?</a:t>
            </a:r>
            <a:endParaRPr b="1" sz="4000">
              <a:solidFill>
                <a:srgbClr val="2C1458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06" name="Google Shape;90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3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1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908" name="Google Shape;908;p73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“Implement a BPE tokenizer from scratch and test it on isiZulu text.”</a:t>
            </a:r>
            <a:endParaRPr sz="1500"/>
          </a:p>
        </p:txBody>
      </p:sp>
      <p:sp>
        <p:nvSpPr>
          <p:cNvPr id="909" name="Google Shape;909;p73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910" name="Google Shape;910;p73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Apply</a:t>
            </a:r>
            <a:endParaRPr sz="1500"/>
          </a:p>
        </p:txBody>
      </p:sp>
      <p:sp>
        <p:nvSpPr>
          <p:cNvPr id="911" name="Google Shape;911;p73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Respond</a:t>
            </a:r>
            <a:endParaRPr sz="1500"/>
          </a:p>
        </p:txBody>
      </p:sp>
      <p:sp>
        <p:nvSpPr>
          <p:cNvPr id="912" name="Google Shape;912;p73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Create</a:t>
            </a:r>
            <a:endParaRPr sz="1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18" name="Google Shape;91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74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1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920" name="Google Shape;920;p74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“Implement a BPE tokenizer from scratch and test it on isiZulu text.”</a:t>
            </a:r>
            <a:endParaRPr sz="1500"/>
          </a:p>
        </p:txBody>
      </p:sp>
      <p:sp>
        <p:nvSpPr>
          <p:cNvPr id="921" name="Google Shape;921;p74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   ✓  AI Activity / Apply</a:t>
            </a:r>
            <a:endParaRPr sz="1500"/>
          </a:p>
        </p:txBody>
      </p:sp>
      <p:sp>
        <p:nvSpPr>
          <p:cNvPr id="922" name="Google Shape;922;p74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Apply</a:t>
            </a:r>
            <a:endParaRPr sz="1500"/>
          </a:p>
        </p:txBody>
      </p:sp>
      <p:sp>
        <p:nvSpPr>
          <p:cNvPr id="923" name="Google Shape;923;p74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Respond</a:t>
            </a:r>
            <a:endParaRPr sz="1500"/>
          </a:p>
        </p:txBody>
      </p:sp>
      <p:sp>
        <p:nvSpPr>
          <p:cNvPr id="924" name="Google Shape;924;p74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Create</a:t>
            </a:r>
            <a:endParaRPr sz="1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30" name="Google Shape;930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75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2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932" name="Google Shape;932;p75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“Discuss who owns the data when companies scrape African language websites. Use the Fair Trade analogy to propose a governance model.”</a:t>
            </a:r>
            <a:endParaRPr sz="1500"/>
          </a:p>
        </p:txBody>
      </p:sp>
      <p:sp>
        <p:nvSpPr>
          <p:cNvPr id="933" name="Google Shape;933;p75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  <p:sp>
        <p:nvSpPr>
          <p:cNvPr id="934" name="Google Shape;934;p75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935" name="Google Shape;935;p75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  <p:sp>
        <p:nvSpPr>
          <p:cNvPr id="936" name="Google Shape;936;p75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42" name="Google Shape;942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76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2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944" name="Google Shape;944;p76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“Discuss who owns the data when companies scrape African language websites. Use the Fair Trade analogy to propose a governance model.”</a:t>
            </a:r>
            <a:endParaRPr sz="1500"/>
          </a:p>
        </p:txBody>
      </p:sp>
      <p:sp>
        <p:nvSpPr>
          <p:cNvPr id="945" name="Google Shape;945;p76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  <p:sp>
        <p:nvSpPr>
          <p:cNvPr id="946" name="Google Shape;946;p76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  ✓  RI Activity / Respond</a:t>
            </a:r>
            <a:endParaRPr sz="1500"/>
          </a:p>
        </p:txBody>
      </p:sp>
      <p:sp>
        <p:nvSpPr>
          <p:cNvPr id="947" name="Google Shape;947;p76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  <p:sp>
        <p:nvSpPr>
          <p:cNvPr id="948" name="Google Shape;948;p76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54" name="Google Shape;954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7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3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956" name="Google Shape;956;p77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“Compare models trained for 10, 400, and 1000 epochs. Identify overfitting and underfitting in the loss curves.”</a:t>
            </a:r>
            <a:endParaRPr sz="1500"/>
          </a:p>
        </p:txBody>
      </p:sp>
      <p:sp>
        <p:nvSpPr>
          <p:cNvPr id="957" name="Google Shape;957;p77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958" name="Google Shape;958;p77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  <p:sp>
        <p:nvSpPr>
          <p:cNvPr id="959" name="Google Shape;959;p77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  <p:sp>
        <p:nvSpPr>
          <p:cNvPr id="960" name="Google Shape;960;p77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66" name="Google Shape;966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8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3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968" name="Google Shape;968;p78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“Compare models trained for 10, 400, and 1000 epochs. Identify overfitting and underfitting in the loss curves.”</a:t>
            </a:r>
            <a:endParaRPr sz="1500"/>
          </a:p>
        </p:txBody>
      </p:sp>
      <p:sp>
        <p:nvSpPr>
          <p:cNvPr id="969" name="Google Shape;969;p78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970" name="Google Shape;970;p78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  ✓  AI Activity / Analyze</a:t>
            </a:r>
            <a:endParaRPr sz="1500"/>
          </a:p>
        </p:txBody>
      </p:sp>
      <p:sp>
        <p:nvSpPr>
          <p:cNvPr id="971" name="Google Shape;971;p78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  <p:sp>
        <p:nvSpPr>
          <p:cNvPr id="972" name="Google Shape;972;p78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78" name="Google Shape;978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9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4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980" name="Google Shape;980;p79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“Watch the Masakhane video on low-resource languages. Write a paragraph on what 'harnessing potential' means for your institution.”</a:t>
            </a:r>
            <a:endParaRPr sz="1500"/>
          </a:p>
        </p:txBody>
      </p:sp>
      <p:sp>
        <p:nvSpPr>
          <p:cNvPr id="981" name="Google Shape;981;p79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Understand</a:t>
            </a:r>
            <a:endParaRPr sz="1500"/>
          </a:p>
        </p:txBody>
      </p:sp>
      <p:sp>
        <p:nvSpPr>
          <p:cNvPr id="982" name="Google Shape;982;p79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983" name="Google Shape;983;p79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Respond</a:t>
            </a:r>
            <a:endParaRPr sz="1500"/>
          </a:p>
        </p:txBody>
      </p:sp>
      <p:sp>
        <p:nvSpPr>
          <p:cNvPr id="984" name="Google Shape;984;p79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90" name="Google Shape;99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1" name="Google Shape;991;p80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4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992" name="Google Shape;992;p80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“Watch the Masakhane video on low-resource languages. Write a paragraph on what 'harnessing potential' means for your institution.”</a:t>
            </a:r>
            <a:endParaRPr sz="1500"/>
          </a:p>
        </p:txBody>
      </p:sp>
      <p:sp>
        <p:nvSpPr>
          <p:cNvPr id="993" name="Google Shape;993;p80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Understand</a:t>
            </a:r>
            <a:endParaRPr sz="1500"/>
          </a:p>
        </p:txBody>
      </p:sp>
      <p:sp>
        <p:nvSpPr>
          <p:cNvPr id="994" name="Google Shape;994;p80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995" name="Google Shape;995;p80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Respond</a:t>
            </a:r>
            <a:endParaRPr sz="1500"/>
          </a:p>
        </p:txBody>
      </p:sp>
      <p:sp>
        <p:nvSpPr>
          <p:cNvPr id="996" name="Google Shape;996;p80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   ✓  RI Activity / Value</a:t>
            </a:r>
            <a:endParaRPr sz="15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02" name="Google Shape;100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1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5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1004" name="Google Shape;1004;p81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“Estimate the FLOPs needed to fine-tune an SLM. Experiment with bfloat16 to reduce compute cost.”</a:t>
            </a:r>
            <a:endParaRPr sz="1500"/>
          </a:p>
        </p:txBody>
      </p:sp>
      <p:sp>
        <p:nvSpPr>
          <p:cNvPr id="1005" name="Google Shape;1005;p81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1006" name="Google Shape;1006;p81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007" name="Google Shape;1007;p81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Understand</a:t>
            </a:r>
            <a:endParaRPr sz="1500"/>
          </a:p>
        </p:txBody>
      </p:sp>
      <p:sp>
        <p:nvSpPr>
          <p:cNvPr id="1008" name="Google Shape;1008;p81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Organize</a:t>
            </a:r>
            <a:endParaRPr sz="1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14" name="Google Shape;101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82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5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1016" name="Google Shape;1016;p82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“Estimate the FLOPs needed to fine-tune an SLM. Experiment with bfloat16 to reduce compute cost.”</a:t>
            </a:r>
            <a:endParaRPr sz="1500"/>
          </a:p>
        </p:txBody>
      </p:sp>
      <p:sp>
        <p:nvSpPr>
          <p:cNvPr id="1017" name="Google Shape;1017;p82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A.   ✓  AI Activity / Apply</a:t>
            </a:r>
            <a:endParaRPr sz="1500"/>
          </a:p>
        </p:txBody>
      </p:sp>
      <p:sp>
        <p:nvSpPr>
          <p:cNvPr id="1018" name="Google Shape;1018;p82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019" name="Google Shape;1019;p82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Understand</a:t>
            </a:r>
            <a:endParaRPr sz="1500"/>
          </a:p>
        </p:txBody>
      </p:sp>
      <p:sp>
        <p:nvSpPr>
          <p:cNvPr id="1020" name="Google Shape;1020;p82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Organize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26" name="Google Shape;1026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83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6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1028" name="Google Shape;1028;p83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“Read Adebara et al. (2025). Identify three communities missing from a popular NLP benchmark and propose how to include them.”</a:t>
            </a:r>
            <a:endParaRPr sz="1500"/>
          </a:p>
        </p:txBody>
      </p:sp>
      <p:sp>
        <p:nvSpPr>
          <p:cNvPr id="1029" name="Google Shape;1029;p83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  <p:sp>
        <p:nvSpPr>
          <p:cNvPr id="1030" name="Google Shape;1030;p83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031" name="Google Shape;1031;p83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Organize</a:t>
            </a:r>
            <a:endParaRPr sz="1500"/>
          </a:p>
        </p:txBody>
      </p:sp>
      <p:sp>
        <p:nvSpPr>
          <p:cNvPr id="1032" name="Google Shape;1032;p83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Organize</a:t>
            </a:r>
            <a:endParaRPr sz="15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38" name="Google Shape;1038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84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6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1040" name="Google Shape;1040;p84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“Read Adebara et al. (2025). Identify three communities missing from a popular NLP benchmark and propose how to include them.”</a:t>
            </a:r>
            <a:endParaRPr sz="1500"/>
          </a:p>
        </p:txBody>
      </p:sp>
      <p:sp>
        <p:nvSpPr>
          <p:cNvPr id="1041" name="Google Shape;1041;p84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  <p:sp>
        <p:nvSpPr>
          <p:cNvPr id="1042" name="Google Shape;1042;p84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043" name="Google Shape;1043;p84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C.   ✓  RI Activity / Organize</a:t>
            </a:r>
            <a:endParaRPr sz="1500"/>
          </a:p>
        </p:txBody>
      </p:sp>
      <p:sp>
        <p:nvSpPr>
          <p:cNvPr id="1044" name="Google Shape;1044;p84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Organize</a:t>
            </a:r>
            <a:endParaRPr sz="15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50" name="Google Shape;105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85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7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1052" name="Google Shape;1052;p85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“Implement the LoRA adapter and fine-tune an SLM on a local language dataset.”</a:t>
            </a:r>
            <a:endParaRPr sz="1500"/>
          </a:p>
        </p:txBody>
      </p:sp>
      <p:sp>
        <p:nvSpPr>
          <p:cNvPr id="1053" name="Google Shape;1053;p85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Understand</a:t>
            </a:r>
            <a:endParaRPr sz="1500"/>
          </a:p>
        </p:txBody>
      </p:sp>
      <p:sp>
        <p:nvSpPr>
          <p:cNvPr id="1054" name="Google Shape;1054;p85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1055" name="Google Shape;1055;p85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Apply</a:t>
            </a:r>
            <a:endParaRPr sz="1500"/>
          </a:p>
        </p:txBody>
      </p:sp>
      <p:sp>
        <p:nvSpPr>
          <p:cNvPr id="1056" name="Google Shape;1056;p85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62" name="Google Shape;10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6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7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1064" name="Google Shape;1064;p86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“Implement the LoRA adapter and fine-tune an SLM on a local language dataset.”</a:t>
            </a:r>
            <a:endParaRPr sz="1500"/>
          </a:p>
        </p:txBody>
      </p:sp>
      <p:sp>
        <p:nvSpPr>
          <p:cNvPr id="1065" name="Google Shape;1065;p86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Understand</a:t>
            </a:r>
            <a:endParaRPr sz="1500"/>
          </a:p>
        </p:txBody>
      </p:sp>
      <p:sp>
        <p:nvSpPr>
          <p:cNvPr id="1066" name="Google Shape;1066;p86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  ✓  AI Activity / Apply</a:t>
            </a:r>
            <a:endParaRPr sz="1500"/>
          </a:p>
        </p:txBody>
      </p:sp>
      <p:sp>
        <p:nvSpPr>
          <p:cNvPr id="1067" name="Google Shape;1067;p86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Apply</a:t>
            </a:r>
            <a:endParaRPr sz="1500"/>
          </a:p>
        </p:txBody>
      </p:sp>
      <p:sp>
        <p:nvSpPr>
          <p:cNvPr id="1068" name="Google Shape;1068;p86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74" name="Google Shape;107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7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8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1076" name="Google Shape;1076;p87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“A Lagos hospital wants to deploy an AI diagnostic tool trained for 1000 epochs with no validation set. Role-play a meeting between the developer, a nurse, and a patient advocate.”</a:t>
            </a:r>
            <a:endParaRPr sz="1500"/>
          </a:p>
        </p:txBody>
      </p:sp>
      <p:sp>
        <p:nvSpPr>
          <p:cNvPr id="1077" name="Google Shape;1077;p87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  <p:sp>
        <p:nvSpPr>
          <p:cNvPr id="1078" name="Google Shape;1078;p87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  <p:sp>
        <p:nvSpPr>
          <p:cNvPr id="1079" name="Google Shape;1079;p87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080" name="Google Shape;1080;p87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86" name="Google Shape;108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88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8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1088" name="Google Shape;1088;p88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“A Lagos hospital wants to deploy an AI diagnostic tool trained for 1000 epochs with no validation set. Role-play a meeting between the developer, a nurse, and a patient advocate.”</a:t>
            </a:r>
            <a:endParaRPr sz="1500"/>
          </a:p>
        </p:txBody>
      </p:sp>
      <p:sp>
        <p:nvSpPr>
          <p:cNvPr id="1089" name="Google Shape;1089;p88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Analyze</a:t>
            </a:r>
            <a:endParaRPr sz="1500"/>
          </a:p>
        </p:txBody>
      </p:sp>
      <p:sp>
        <p:nvSpPr>
          <p:cNvPr id="1090" name="Google Shape;1090;p88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Value</a:t>
            </a:r>
            <a:endParaRPr sz="1500"/>
          </a:p>
        </p:txBody>
      </p:sp>
      <p:sp>
        <p:nvSpPr>
          <p:cNvPr id="1091" name="Google Shape;1091;p88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092" name="Google Shape;1092;p88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   ✓  RI Activity / Value</a:t>
            </a:r>
            <a:endParaRPr sz="15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98" name="Google Shape;1098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9" name="Google Shape;1099;p89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9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1100" name="Google Shape;1100;p89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“Design an MLP architecture for sentiment analysis on Twi product reviews. Justify your hidden layers and activation functions.”</a:t>
            </a:r>
            <a:endParaRPr sz="1500"/>
          </a:p>
        </p:txBody>
      </p:sp>
      <p:sp>
        <p:nvSpPr>
          <p:cNvPr id="1101" name="Google Shape;1101;p89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1102" name="Google Shape;1102;p89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Create</a:t>
            </a:r>
            <a:endParaRPr sz="1500"/>
          </a:p>
        </p:txBody>
      </p:sp>
      <p:sp>
        <p:nvSpPr>
          <p:cNvPr id="1103" name="Google Shape;1103;p89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Analyze</a:t>
            </a:r>
            <a:endParaRPr sz="1500"/>
          </a:p>
        </p:txBody>
      </p:sp>
      <p:sp>
        <p:nvSpPr>
          <p:cNvPr id="1104" name="Google Shape;1104;p89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Organize</a:t>
            </a:r>
            <a:endParaRPr sz="15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110" name="Google Shape;1110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0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9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1112" name="Google Shape;1112;p90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“Design an MLP architecture for sentiment analysis on Twi product reviews. Justify your hidden layers and activation functions.”</a:t>
            </a:r>
            <a:endParaRPr sz="1500"/>
          </a:p>
        </p:txBody>
      </p:sp>
      <p:sp>
        <p:nvSpPr>
          <p:cNvPr id="1113" name="Google Shape;1113;p90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Apply</a:t>
            </a:r>
            <a:endParaRPr sz="1500"/>
          </a:p>
        </p:txBody>
      </p:sp>
      <p:sp>
        <p:nvSpPr>
          <p:cNvPr id="1114" name="Google Shape;1114;p90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B.   ✓  AI Activity / Create</a:t>
            </a:r>
            <a:endParaRPr sz="1500"/>
          </a:p>
        </p:txBody>
      </p:sp>
      <p:sp>
        <p:nvSpPr>
          <p:cNvPr id="1115" name="Google Shape;1115;p90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Analyze</a:t>
            </a:r>
            <a:endParaRPr sz="1500"/>
          </a:p>
        </p:txBody>
      </p:sp>
      <p:sp>
        <p:nvSpPr>
          <p:cNvPr id="1116" name="Google Shape;1116;p90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Organize</a:t>
            </a:r>
            <a:endParaRPr sz="15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122" name="Google Shape;1122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1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10</a:t>
            </a:r>
            <a:r>
              <a:rPr b="0" i="0" lang="en-ZA" sz="2400" u="none" cap="none" strike="noStrike">
                <a:solidFill>
                  <a:srgbClr val="6B6B6B"/>
                </a:solidFill>
                <a:latin typeface="Georgia"/>
                <a:ea typeface="Georgia"/>
                <a:cs typeface="Georgia"/>
                <a:sym typeface="Georgia"/>
              </a:rPr>
              <a:t>  of 10  ·  AI or RI? Which level?</a:t>
            </a:r>
            <a:endParaRPr sz="1500"/>
          </a:p>
        </p:txBody>
      </p:sp>
      <p:sp>
        <p:nvSpPr>
          <p:cNvPr id="1124" name="Google Shape;1124;p91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“Map the stakeholders affected by a gendered chatbot deployed by a Nigerian bank. Design a two-page community engagement plan.”</a:t>
            </a:r>
            <a:endParaRPr sz="1500"/>
          </a:p>
        </p:txBody>
      </p:sp>
      <p:sp>
        <p:nvSpPr>
          <p:cNvPr id="1125" name="Google Shape;1125;p91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AI Activity / Create</a:t>
            </a:r>
            <a:endParaRPr sz="1500"/>
          </a:p>
        </p:txBody>
      </p:sp>
      <p:sp>
        <p:nvSpPr>
          <p:cNvPr id="1126" name="Google Shape;1126;p91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127" name="Google Shape;1127;p91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  <p:sp>
        <p:nvSpPr>
          <p:cNvPr id="1128" name="Google Shape;1128;p91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D.   </a:t>
            </a:r>
            <a:r>
              <a:rPr b="0" i="0" lang="en-ZA" sz="1900" u="none" cap="none" strike="noStrike">
                <a:solidFill>
                  <a:srgbClr val="2C1458"/>
                </a:solidFill>
                <a:latin typeface="Calibri"/>
                <a:ea typeface="Calibri"/>
                <a:cs typeface="Calibri"/>
                <a:sym typeface="Calibri"/>
              </a:rPr>
              <a:t>RI Activity / Organize</a:t>
            </a:r>
            <a:endParaRPr sz="1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134" name="Google Shape;113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5" name="Google Shape;1135;p92"/>
          <p:cNvSpPr/>
          <p:nvPr/>
        </p:nvSpPr>
        <p:spPr>
          <a:xfrm>
            <a:off x="484632" y="502920"/>
            <a:ext cx="11219700" cy="68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Question 10</a:t>
            </a:r>
            <a:r>
              <a:rPr b="1" i="0" lang="en-ZA" sz="4000" u="none" cap="none" strike="noStrike">
                <a:solidFill>
                  <a:srgbClr val="15803D"/>
                </a:solidFill>
                <a:latin typeface="Georgia"/>
                <a:ea typeface="Georgia"/>
                <a:cs typeface="Georgia"/>
                <a:sym typeface="Georgia"/>
              </a:rPr>
              <a:t>  ·  Answer</a:t>
            </a:r>
            <a:endParaRPr sz="1500"/>
          </a:p>
        </p:txBody>
      </p:sp>
      <p:sp>
        <p:nvSpPr>
          <p:cNvPr id="1136" name="Google Shape;1136;p92"/>
          <p:cNvSpPr/>
          <p:nvPr/>
        </p:nvSpPr>
        <p:spPr>
          <a:xfrm>
            <a:off x="484632" y="1417320"/>
            <a:ext cx="11219700" cy="1691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6575" lIns="274300" spcFirstLastPara="1" rIns="274300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ZA" sz="2000" u="none" cap="none" strike="noStrike">
                <a:solidFill>
                  <a:srgbClr val="2D2D2D"/>
                </a:solidFill>
                <a:latin typeface="Georgia"/>
                <a:ea typeface="Georgia"/>
                <a:cs typeface="Georgia"/>
                <a:sym typeface="Georgia"/>
              </a:rPr>
              <a:t>“Map the stakeholders affected by a gendered chatbot deployed by a Nigerian bank. Design a two-page community engagement plan.”</a:t>
            </a:r>
            <a:endParaRPr sz="1500"/>
          </a:p>
        </p:txBody>
      </p:sp>
      <p:sp>
        <p:nvSpPr>
          <p:cNvPr id="1137" name="Google Shape;1137;p92"/>
          <p:cNvSpPr/>
          <p:nvPr/>
        </p:nvSpPr>
        <p:spPr>
          <a:xfrm>
            <a:off x="48463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AI Activity / Create</a:t>
            </a:r>
            <a:endParaRPr sz="1500"/>
          </a:p>
        </p:txBody>
      </p:sp>
      <p:sp>
        <p:nvSpPr>
          <p:cNvPr id="1138" name="Google Shape;1138;p92"/>
          <p:cNvSpPr/>
          <p:nvPr/>
        </p:nvSpPr>
        <p:spPr>
          <a:xfrm>
            <a:off x="6336792" y="342900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B.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Respond</a:t>
            </a:r>
            <a:endParaRPr sz="1500"/>
          </a:p>
        </p:txBody>
      </p:sp>
      <p:sp>
        <p:nvSpPr>
          <p:cNvPr id="1139" name="Google Shape;1139;p92"/>
          <p:cNvSpPr/>
          <p:nvPr/>
        </p:nvSpPr>
        <p:spPr>
          <a:xfrm>
            <a:off x="48463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F4F2F8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C.   </a:t>
            </a:r>
            <a:r>
              <a:rPr b="0" i="0" lang="en-ZA" sz="1900" u="none" cap="none" strike="noStrike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RI Activity / Value</a:t>
            </a:r>
            <a:endParaRPr sz="1500"/>
          </a:p>
        </p:txBody>
      </p:sp>
      <p:sp>
        <p:nvSpPr>
          <p:cNvPr id="1140" name="Google Shape;1140;p92"/>
          <p:cNvSpPr/>
          <p:nvPr/>
        </p:nvSpPr>
        <p:spPr>
          <a:xfrm>
            <a:off x="6336792" y="4434840"/>
            <a:ext cx="5367600" cy="777300"/>
          </a:xfrm>
          <a:prstGeom prst="roundRect">
            <a:avLst>
              <a:gd fmla="val 16667" name="adj"/>
            </a:avLst>
          </a:prstGeom>
          <a:solidFill>
            <a:srgbClr val="15803D"/>
          </a:solidFill>
          <a:ln>
            <a:noFill/>
          </a:ln>
        </p:spPr>
        <p:txBody>
          <a:bodyPr anchorCtr="0" anchor="ctr" bIns="36575" lIns="137175" spcFirstLastPara="1" rIns="137175" wrap="square" tIns="36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ZA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D.   ✓  RI Activity / Organize</a:t>
            </a:r>
            <a:endParaRPr sz="15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6" name="Google Shape;114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93"/>
          <p:cNvSpPr/>
          <p:nvPr/>
        </p:nvSpPr>
        <p:spPr>
          <a:xfrm>
            <a:off x="487680" y="1097273"/>
            <a:ext cx="109728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4000"/>
              <a:buFont typeface="Georgia"/>
              <a:buNone/>
            </a:pPr>
            <a:r>
              <a:rPr b="1" i="0" lang="en-ZA" sz="4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Three takeaways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93"/>
          <p:cNvSpPr/>
          <p:nvPr/>
        </p:nvSpPr>
        <p:spPr>
          <a:xfrm>
            <a:off x="48768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93"/>
          <p:cNvSpPr/>
          <p:nvPr/>
        </p:nvSpPr>
        <p:spPr>
          <a:xfrm>
            <a:off x="73152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93"/>
          <p:cNvSpPr/>
          <p:nvPr/>
        </p:nvSpPr>
        <p:spPr>
          <a:xfrm>
            <a:off x="79248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Two domains, both essential.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93"/>
          <p:cNvSpPr/>
          <p:nvPr/>
        </p:nvSpPr>
        <p:spPr>
          <a:xfrm>
            <a:off x="79248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AI activities build technical skill in the cognitive domain. RI activities build ethical reasoning in the affective domain.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93"/>
          <p:cNvSpPr/>
          <p:nvPr/>
        </p:nvSpPr>
        <p:spPr>
          <a:xfrm>
            <a:off x="438912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93"/>
          <p:cNvSpPr/>
          <p:nvPr/>
        </p:nvSpPr>
        <p:spPr>
          <a:xfrm>
            <a:off x="463296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93"/>
          <p:cNvSpPr/>
          <p:nvPr/>
        </p:nvSpPr>
        <p:spPr>
          <a:xfrm>
            <a:off x="469392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Longer activities, higher levels.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93"/>
          <p:cNvSpPr/>
          <p:nvPr/>
        </p:nvSpPr>
        <p:spPr>
          <a:xfrm>
            <a:off x="469392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Bloom has two relevant domains: cognitive for AI, affective for RI. Longer activities target higher levels in both.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93"/>
          <p:cNvSpPr/>
          <p:nvPr/>
        </p:nvSpPr>
        <p:spPr>
          <a:xfrm>
            <a:off x="8290560" y="2499360"/>
            <a:ext cx="3657600" cy="3535500"/>
          </a:xfrm>
          <a:prstGeom prst="rect">
            <a:avLst/>
          </a:prstGeom>
          <a:solidFill>
            <a:srgbClr val="FFFFFF"/>
          </a:solidFill>
          <a:ln cap="flat" cmpd="sng" w="16925">
            <a:solidFill>
              <a:srgbClr val="E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69333" rotWithShape="0" algn="bl" dir="5400000" dist="33867">
              <a:srgbClr val="000000">
                <a:alpha val="5882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93"/>
          <p:cNvSpPr/>
          <p:nvPr/>
        </p:nvSpPr>
        <p:spPr>
          <a:xfrm>
            <a:off x="8534400" y="2804160"/>
            <a:ext cx="31701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6100"/>
              <a:buFont typeface="Georgia"/>
              <a:buNone/>
            </a:pPr>
            <a:r>
              <a:rPr b="1" i="0" lang="en-ZA" sz="61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6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93"/>
          <p:cNvSpPr/>
          <p:nvPr/>
        </p:nvSpPr>
        <p:spPr>
          <a:xfrm>
            <a:off x="8595360" y="3962400"/>
            <a:ext cx="304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1458"/>
              </a:buClr>
              <a:buSzPts val="2000"/>
              <a:buFont typeface="Georgia"/>
              <a:buNone/>
            </a:pPr>
            <a:r>
              <a:rPr b="1" i="0" lang="en-ZA" sz="2000" u="none" cap="none" strike="noStrike">
                <a:solidFill>
                  <a:srgbClr val="2C1458"/>
                </a:solidFill>
                <a:latin typeface="Georgia"/>
                <a:ea typeface="Georgia"/>
                <a:cs typeface="Georgia"/>
                <a:sym typeface="Georgia"/>
              </a:rPr>
              <a:t>Protect the pairing.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93"/>
          <p:cNvSpPr/>
          <p:nvPr/>
        </p:nvSpPr>
        <p:spPr>
          <a:xfrm>
            <a:off x="8595360" y="4876800"/>
            <a:ext cx="3048000" cy="103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500"/>
              <a:buFont typeface="Calibri"/>
              <a:buNone/>
            </a:pPr>
            <a:r>
              <a:rPr b="0" i="0" lang="en-ZA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Every toolkit session pairs AI and RI intentionally. As facilitators, protect that pairing in your own course delivery.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UCL AIMS Session 1">
      <a:dk1>
        <a:srgbClr val="000000"/>
      </a:dk1>
      <a:lt1>
        <a:srgbClr val="FFFFFF"/>
      </a:lt1>
      <a:dk2>
        <a:srgbClr val="361A54"/>
      </a:dk2>
      <a:lt2>
        <a:srgbClr val="E8E8E8"/>
      </a:lt2>
      <a:accent1>
        <a:srgbClr val="FDD633"/>
      </a:accent1>
      <a:accent2>
        <a:srgbClr val="E97132"/>
      </a:accent2>
      <a:accent3>
        <a:srgbClr val="BA82FF"/>
      </a:accent3>
      <a:accent4>
        <a:srgbClr val="993BFF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